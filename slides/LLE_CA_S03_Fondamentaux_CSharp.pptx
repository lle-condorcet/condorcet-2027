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1 min] Accueil. Annoncer : d'abord le QCM de la séance 2, ensuite les briques de base du langage qu'on utilise depuis le début sans les avoir expliquées.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[0:01 – 8 min] Coller le lien Forms du QCM S2 dans le chat. Couleur rouge : sans IA. Ce QCM compte. Pendant ce temps, ouvrir Rider sur incidenthub-demo, tag s03-etape1-valeur-reference, police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[0:09 – 2 min] Depuis la séance 1, on écrit des int, des string, des Analyst?, des $"…", des static, des override, sans les avoir vraiment expliqués. Aujourd'hui, on prend le temps. Chaque thème : une image, le code dans Rider, et ce que ça change pour la sécurité.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[0:11] Bloc de 12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[0:11 – 4 min] Deux façons de ranger une donnée. Type valeur (int, double, decimal, bool, DateTime, enum, struct) : la variable contient la valeur elle-même. Copier, c'est faire une photocopie : modifier la copie ne change pas l'original. Type référence (class, string, tableaux, List) : la variable contient l'adresse de l'objet. Copier, c'est donner l'adresse d'une maison : deux personnes, une seule maison ; si l'une repeint la porte, l'autre le voit. C'est pour ça que, dans IncidentHub, passer un incident à une méthode lui permet de le modifier. Cas particulier : string est un type référence, mais il se comporte comme une valeur, car on ne peut pas le modifier (on y revient au bloc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 6 min] Lancer la démo, lire la sortie. Faire prédire le résultat avant chaque ligne (réaction 👍 ou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[0:21] Bloc de 25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[0:21 – 3 min] Raconter. Premier vol d'Ariane 5. 37 secondes après le décollage, la fusée dévie et s'autodétruit. La cause, établie par la commission d'enquête : dans le logiciel de guidage, repris d'Ariane 4, une valeur liée à la vitesse horizontale, stockée sur 64 bits, est convertie en un entier sur 16 bits, qui ne peut pas dépasser 32 767. Ariane 5 allant beaucoup plus vite qu'Ariane 4, la valeur ne tient plus. Le programme s'arrête sur une erreur, le calculateur de secours (identique) aussi. Un nombre trop grand pour sa boîte. Coût estimé : plusieurs centaines de millions de dollars de charge utile perdue.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[0:24 – 4 min] Lire le tableau. Plus il y a d'octets, plus le nombre peut être grand. Les types qui commencent par u (unsigned, non signé) ne peuvent pas être négatifs, mais vont deux fois plus haut. Dans la vie courante : int pour un compteur, long pour un identifiant ou un nombre de millisecondes, byte pour une donnée binaire. Exemples IncidentHub : le nombre d'incidents d'un mois tient dans un int ; un horodatage en millisecondes depuis 1970 demande un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[0:28 – 4 min] Par défaut, C# ne prévient pas : int.MaxValue + 1 donne… le plus petit int possible, comme un compteur kilométrique qui repasse à zéro. Exemple réel : en décembre 2014, la vidéo Gangnam Style dépasse 2 147 483 647 vues, le maximum d'un int ; YouTube a dû passer son compteur en 64 bits. Plus grave : en 2015, la FAA (aviation américaine) impose de redémarrer régulièrement le Boeing 787, dont un compteur interne débordait après 248 jours de fonctionnement continu, avec risque de perte d'alimentation électrique. Le mot-clé checked demande à C# de lever une erreur (OverflowException) plutôt que de continuer avec un nombre faux. En sécurité, un dépassement non détecté est une faille classique (CWE-190).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[0:32 – 4 min] Les nombres à virgule ont aussi leurs pièges. float et double sont rapides mais approximatifs : ils stockent les nombres en binaire, et 0,1 ne s'écrit pas exactement en binaire, comme 1/3 ne s'écrit pas exactement en décimal (0,3333…). Résultat : 0,1 + 0,2 == 0,3 est faux en double. decimal est exact pour les nombres décimaux (28-29 chiffres), plus lent, et c'est le type de l'argent. Exemple réel : en 1991, pendant la guerre du Golfe, une batterie de missiles Patriot à Dhahran n'intercepte pas un missile Scud ; 28 soldats américains sont tués. La cause : une erreur d'arrondi sur le temps, qui s'accumulait depuis 100 heures de fonctionnement continu. Règle : de l'argent, des montants, des taux : decimal. Des mesures physiques, des calculs scientifiques : double.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[0:36 – 6 min] Lancer la démo, lire la sortie section par section. Faire prédire le résultat de int.MaxValue + 1 dans le chat avant de l'afficher.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[0:42] Bloc de 20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[0:42 – 2 min] Tony Hoare, prix Turing, a inventé la référence nulle en 1965 pour le langage ALGOL W. En 2009, à la conférence QCon, il présente ses excuses : « Je l'appelle mon erreur à un milliard de dollars ». null veut dire « il n'y a rien ». Le problème : on peut utiliser une variable null comme si elle contenait un objet, et le programme plante (NullReferenceException), parfois très loin de l'endroit où le null est apparu. C'est l'erreur la plus fréquente des programmes C#. Et en sécurité, un plantage peut être un déni de service (CWE-476).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[0:44 – 4 min] Depuis C# 8, on peut dire au compilateur si une variable a le droit d'être null. Analyst? (avec le point d'interrogation) : « peut être vide ». Analyst (sans) : « ne doit jamais être vide ». Exemple IncidentHub : un incident n'a pas toujours d'analyste (AssignedTo est un Analyst?), mais il a toujours un titre (Title est un string). Le compilateur vérifie alors pour nous : si on utilise AssignedTo sans vérifier, il affiche un avertissement. C'est comme une étiquette « fragile » sur un colis : elle ne casse rien, elle prévient.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[0:48 – 4 min] Lire le tableau. ?. : « si ce n'est pas null, continue ; sinon, donne null » (on ne plante pas). ?? : « si c'est null, prends cette valeur par défaut ». ??= : « si c'est null, remplis-le ». Et le !, le plus dangereux : il dit au compilateur « fais-moi confiance, ce n'est pas null ». Il fait disparaître l'avertissement, mais il ne vérifie rien : si la variable est null, le programme plante quand même. C'est comme arracher l'étiquette « fragile » du colis. À éviter, sauf quand on est vraiment sûr (et qu'on peut l'expliquer).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[0:52 – 6 min] Montrer l'avertissement de Rider (souligné jaune) avant de lancer. Puis le ! qui le fait disparaître, et le plantage à l'exécution.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[0:58] Bloc de 30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[0:58 – 4 min] La concaténation avec + : lisible pour deux morceaux, illisible au-delà. string.Format : des trous numérotés {0}, {1} remplis dans l'ordre ; c'est l'ancienne façon, encore très présente. L'interpolation $"…" (C# 6, 2015) : on écrit directement les variables entre accolades ; c'est la façon recommandée aujourd'hui. Dans les accolades, on peut ajouter un format après les deux-points : N2 pour deux décimales avec séparateur de milliers, dd/MM/yyyy pour une date. Attention sécurité : l'interpolation est faite pour l'affichage, jamais pour construire une requête SQL (c'est l'injection de Stanford, séance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 – 3 min] Le même nombre ne s'écrit pas pareil partout. En Belgique et en France, la virgule sépare les décimales ; aux États-Unis, c'est le point. Une date aussi : 14/10/2026 ici, 10/14/2026 aux États-Unis. .NET utilise la culture du poste. Piège classique : lire un fichier qui contient « 3.5 » sur un poste réglé en français fait planter ou donne un mauvais nombre. Règle : pour l'affichage, la culture de l'utilisateur ; pour les fichiers, les échanges et les API, la culture invariante (CultureInfo.InvariantCulture).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 – 3 min] Le nom d'une culture suit toujours le même schéma : la langue en minuscules, puis le pays en majuscules (norme BCP 47). fr-BE, c'est le français tel qu'on l'écrit en Belgique ; nl-BE, le néerlandais de Belgique. Faire remarquer trois choses dans le tableau. D'abord, dans un même pays, fr-BE et nl-BE n'ont pas le même séparateur de milliers : une espace d'un côté, un point de l'autre. Ensuite, en-US et en-GB parlent la même langue mais n'écrivent pas la date dans le même ordre. Enfin, le format C (monnaie) change le symbole, pas le montant : 85,50 € devient $85.50 sans aucune conversion, et le yen arrondit même à l'unité. La culture invariante n'appartient à aucun pays : elle est stable, identique sur toutes les machines, et c'est pour cela qu'on l'utilise pour les fichiers et les échanges. Tous les résultats du tableau ont été obtenus avec .NET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[1:08 – 3 min] Du plus large au plus précis. Un : par défaut, un programme .NET prend la culture du poste, celle que l'utilisateur a choisie dans Windows (Paramètres, Heure et langue, Région) ; sur un serveur, c'est celle du système ou du conteneur. Deux : on peut l'imposer pour tout le programme au démarrage, avec DefaultThreadCurrentCulture. Trois : on peut la donner pour un seul appel, en passant une culture à ToString ou à Parse ; c'est ce qu'on fait avec InvariantCulture pour lire un fichier. Quatre : dans une application web, la culture dépend de chaque visiteur. Le navigateur envoie un en-tête Accept-Language (fr-BE, par exemple), et ASP.NET Core choisit la culture de la requête avec UseRequestLocalization, parmi celles qu'on a autorisées. Préciser la différence entre CurrentCulture, qui gère les formats, et CurrentUICulture, qui choisit la langue des textes affichés. Dernier point : certaines images Docker, comme Alpine, activent le mode invariant ; le serveur n'a alors aucune culture, quel que soit le pays où il tourne.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 – 4 min] Le scénario est très courant : l'utilisateur est à Bruxelles, son navigateur est en fr-BE, mais le serveur tourne dans un conteneur réglé en en-US, ou en culture invariante. Première ligne : l'utilisateur tape 3,5 € dans un champ texte. Le serveur fait double.Parse avec sa propre culture ; en en-US, la virgule est le séparateur de milliers, elle est simplement ignorée et l'on obtient 35. Aucune erreur, aucun message : le coût est multiplié par dix. Deuxième ligne : la date 03/04/2026 veut dire 3 avril pour l'utilisateur, 4 mars pour le serveur. Troisième ligne : dans l'autre sens, le serveur formate 1234,5 avec sa culture et renvoie « 1,234.50 » ; un lecteur belge peut le lire comme un peu plus d'un euro. Le pire, c'est que tout fonctionne en développement, quand le poste et le serveur ont la même culture. Ensuite les quatre réponses en bas : échanger les données dans un format neutre (nombre JSON avec un point, date ISO 8601), lire avec InvariantCulture côté serveur, utiliser les bons champs HTML (input type number et date envoient toujours 3.5 et 2026-04-03, quelle que soit la langue du navigateur), et ne formater pour l'humain qu'au dernier moment, dans sa culture à lui.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 3 min] Parcourir le tableau avec le titre d'un incident. Point important : une chaîne ne se modifie jamais (elle est immuable). Trim() ne change pas le titre : il renvoie un nouveau titre. Il faut donc écrire titre = titre.Trim(). Pour construire un long texte morceau par morceau (un rapport), StringBuilder évite de recréer une chaîne à chaque ajout. Deux écritures pratiques : @"C:\logs" (verbatim : pas besoin de doubler les barres) et les raw string literals entre triples guillemets (C# 11), pour du JSON ou du texte sur plusieurs lignes.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[1:18 – 6 min] Lancer la démo. Insister sur l'immuabilité : appeler Trim() sans réaffecter et montrer que rien ne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 – 10 min] Pendant la pause : git checkout s03-etape5-static dans Rider.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 Bloc de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 – 4 min] Reprendre l'image de la séance 2. Un membre normal appartient à chaque objet : chaque client a son propre solde. Un membre static appartient à la classe elle-même, partagé par tous : le compteur des clients de la banque. On l'appelle par le nom de la classe, sans créer d'objet : Math.Max(a, b), DateTime.UtcNow, string.IsNullOrWhiteSpace(titre), int.MaxValue. Dans IncidentHub : un générateur de numéros INC-0001, INC-0002… est static, car le compteur est commun à tous les incidents. Une classe static ne contient que des membres static, comme une boîte à outils. Attention : une donnée static partagée et modifiable, c'est une variable globale ; à utiliser avec parcimonie.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[1:38 – 3 min] Une méthode d'extension est une méthode static, dans une classe static, dont le premier paramètre commence par this. Elle s'utilise ensuite comme si elle faisait partie du type. Exemple : on ne peut pas modifier l'enum Severity pour lui ajouter une méthode, mais on peut écrire ToLabel(this Severity s) et appeler severity.ToLabel() pour obtenir « Critique ». C'est ce que fait LINQ (Where, Select…), qu'on verra en séance EF Core : des méthodes d'extension sur les listes.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 – 5 min] Lancer la démo. Montrer que le compteur continue d'un incident à l'autre : c'est la même donnée pour tous.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[1:46] Bloc de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[1:46 – 5 min] En séance 2, on a vu le polymorphisme avec abstract. Voici le mécanisme complet, avec l'image d'une recette de famille. abstract : « chacun doit écrire sa propre recette » ; il n'y a pas de version par défaut (RoleName()). virtual : « voici la recette de grand-mère, vous pouvez l'adapter » ; il y a une version par défaut, qu'une classe fille peut remplacer (Signature()). override : « voici ma version » ; c'est la classe fille qui remplace. sealed : « on n'y touche plus » ; plus personne ne peut hériter ou redéfinir. Exemple célèbre : ToString() est virtual dans la classe object, dont héritent toutes les classes ; c'est pour ça qu'on peut la redéfinir partout. Piège : sans le mot override (avec new, ou rien), on masque la méthode au lieu de la remplacer, et le polymorphisme ne fonctionne 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[1:51 – 6 min] Lancer la démo : la même boucle sur une List&lt;User&gt; affiche des signatures différentes. Montrer l'erreur de compilation si on tente d'hériter de Reporter.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[1:57] Bloc de 12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[1:57 – 4 min] Un enum normal contient une seule valeur à la fois : un incident a une seule gravité. Mais certaines choses se combinent : les permissions d'un utilisateur (lire, commenter, assigner, clôturer). Image : une rangée d'interrupteurs, chacun allumé ou éteint. Chaque permission vaut une puissance de 2 (1, 2, 4, 8) : c'est un interrupteur différent. On allume avec | (le « ou » bit à bit), on teste avec HasFlag ou avec &amp;. Les administrateurs systèmes le connaissent déjà : chmod 7 sous Linux, c'est 4 (lecture) + 2 (écriture) + 1 (exécution). Au Q2, ces permissions deviendront des rôles et des politiques d'autorisation (Keycloak).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 – 5 min] Lancer la démo. Faire calculer dans le chat la valeur d'un Manager (All =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[2:06 – 15 min] Exercice en salles de sous-groupe (ou individuel avec réponses dans le chat). Six petits programmes, un par thème. Pour chacun : écrire ce qui s'affiche, et une phrase pour expliquer pourquoi. Sans IA et sans lancer le code : le but est de raisonner. Les tuteurs aident dans les salles. 10 minutes de travail, 5 minutes de correction (slide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[2:21 – 5 min] Corriger en faisant expliquer par les salles. Le 4 piège souvent : Trim() renvoie une nouvelle chaîne, t n'a pas changé. Le 2 : un byte va de 0 à 255, 255 + 1 repart à 0, sans erreur.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[2:26] Bloc de 8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[2:26 – 5 min] Situation fréquente : Rider affiche des avertissements jaunes de nullabilité, on demande à l'IA de les corriger. Une réponse très courante : ajouter des ! partout. Les avertissements disparaissent, le code compile sans un mot… et plante à l'exécution sur un incident non assigné. L'IA a obéi à la lettre : on lui a demandé de faire disparaître les avertissements, pas de gérer le cas null. Lancer la branche demo/s03-ia-nullable et montrer le plantage. La bonne demande : « Gère les cas où ces valeurs sont null ; n'utilise pas l'opérateur ! ». Ajuster à la sortie réellement capturée en préparation.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[2:31 – 2 min] Récapituler avec les images de la séance.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[2:33 – 6 min] Coller le lien Forms. Couleur rouge : sans IA. Le check-in de présence est dans le même formulaire.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[2:39] Fin. Exporter le QCM S2 (début de séance), le QCM S3 et le check-in.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81D"/>
        </a:solidFill>
      </p:bgPr>
    </p:bg>
    <p:spTree>
      <p:nvGrpSpPr>
        <p:cNvPr id="1" name=""/>
        <p:cNvGrpSpPr/>
        <p:nvPr/>
      </p:nvGrpSpPr>
      <p:grpSpPr>
        <a:xfrm>
          <a:off x="0" y="0"/>
          <a:ext cx="0" cy="0"/>
          <a:chOff x="0" y="0"/>
          <a:chExt cx="0" cy="0"/>
        </a:xfrm>
      </p:grpSpPr>
      <p:sp>
        <p:nvSpPr>
          <p:cNvPr id="2" name="Shape 0"/>
          <p:cNvSpPr/>
          <p:nvPr/>
        </p:nvSpPr>
        <p:spPr>
          <a:xfrm>
            <a:off x="640080" y="1737360"/>
            <a:ext cx="274320" cy="274320"/>
          </a:xfrm>
          <a:prstGeom prst="rect">
            <a:avLst/>
          </a:prstGeom>
          <a:solidFill>
            <a:srgbClr val="E8590C"/>
          </a:solidFill>
          <a:ln w="12700">
            <a:solidFill>
              <a:srgbClr val="E8590C"/>
            </a:solidFill>
            <a:prstDash val="solid"/>
          </a:ln>
        </p:spPr>
      </p:sp>
      <p:sp>
        <p:nvSpPr>
          <p:cNvPr id="3" name="Text 1"/>
          <p:cNvSpPr txBox="1"/>
          <p:nvPr/>
        </p:nvSpPr>
        <p:spPr>
          <a:xfrm>
            <a:off x="640080" y="2194560"/>
            <a:ext cx="10911535" cy="109728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Complément Application</a:t>
            </a:r>
            <a:endParaRPr lang="en-US" sz="5400" dirty="0"/>
          </a:p>
        </p:txBody>
      </p:sp>
      <p:sp>
        <p:nvSpPr>
          <p:cNvPr id="4" name="Text 2"/>
          <p:cNvSpPr txBox="1"/>
          <p:nvPr/>
        </p:nvSpPr>
        <p:spPr>
          <a:xfrm>
            <a:off x="640080" y="3291840"/>
            <a:ext cx="10911535" cy="640080"/>
          </a:xfrm>
          <a:prstGeom prst="rect">
            <a:avLst/>
          </a:prstGeom>
          <a:noFill/>
          <a:ln/>
        </p:spPr>
        <p:txBody>
          <a:bodyPr wrap="square" lIns="0" tIns="0" rIns="0" bIns="0" rtlCol="0" anchor="ctr"/>
          <a:lstStyle/>
          <a:p>
            <a:pPr indent="0" marL="0">
              <a:buNone/>
            </a:pPr>
            <a:r>
              <a:rPr lang="en-US" sz="2600" dirty="0">
                <a:solidFill>
                  <a:srgbClr val="C9CDD3"/>
                </a:solidFill>
                <a:latin typeface="Calibri" pitchFamily="34" charset="0"/>
                <a:ea typeface="Calibri" pitchFamily="34" charset="-122"/>
                <a:cs typeface="Calibri" pitchFamily="34" charset="-120"/>
              </a:rPr>
              <a:t>Séance 3 · Les fondamentaux de C#</a:t>
            </a:r>
            <a:endParaRPr lang="en-US" sz="2600" dirty="0"/>
          </a:p>
        </p:txBody>
      </p:sp>
      <p:sp>
        <p:nvSpPr>
          <p:cNvPr id="5" name="Text 3"/>
          <p:cNvSpPr txBox="1"/>
          <p:nvPr/>
        </p:nvSpPr>
        <p:spPr>
          <a:xfrm>
            <a:off x="640080" y="3931920"/>
            <a:ext cx="10911535" cy="548640"/>
          </a:xfrm>
          <a:prstGeom prst="rect">
            <a:avLst/>
          </a:prstGeom>
          <a:noFill/>
          <a:ln/>
        </p:spPr>
        <p:txBody>
          <a:bodyPr wrap="square" lIns="0" tIns="0" rIns="0" bIns="0" rtlCol="0" anchor="ctr"/>
          <a:lstStyle/>
          <a:p>
            <a:pPr indent="0" marL="0">
              <a:buNone/>
            </a:pPr>
            <a:r>
              <a:rPr lang="en-US" sz="1800" dirty="0">
                <a:solidFill>
                  <a:srgbClr val="9AA0A8"/>
                </a:solidFill>
                <a:latin typeface="Calibri" pitchFamily="34" charset="0"/>
                <a:ea typeface="Calibri" pitchFamily="34" charset="-122"/>
                <a:cs typeface="Calibri" pitchFamily="34" charset="-120"/>
              </a:rPr>
              <a:t>Types et limites · null · chaînes · static · virtual et override · [Flags]</a:t>
            </a:r>
            <a:endParaRPr lang="en-US" sz="1800" dirty="0"/>
          </a:p>
        </p:txBody>
      </p:sp>
      <p:sp>
        <p:nvSpPr>
          <p:cNvPr id="6" name="Text 4"/>
          <p:cNvSpPr txBox="1"/>
          <p:nvPr/>
        </p:nvSpPr>
        <p:spPr>
          <a:xfrm>
            <a:off x="640080" y="5486400"/>
            <a:ext cx="10911535" cy="365760"/>
          </a:xfrm>
          <a:prstGeom prst="rect">
            <a:avLst/>
          </a:prstGeom>
          <a:noFill/>
          <a:ln/>
        </p:spPr>
        <p:txBody>
          <a:bodyPr wrap="square" lIns="0" tIns="0" rIns="0" bIns="0" rtlCol="0" anchor="ctr"/>
          <a:lstStyle/>
          <a:p>
            <a:pPr indent="0" marL="0">
              <a:buNone/>
            </a:pPr>
            <a:r>
              <a:rPr lang="en-US" sz="1400" dirty="0">
                <a:solidFill>
                  <a:srgbClr val="9AA0A8"/>
                </a:solidFill>
                <a:latin typeface="Calibri" pitchFamily="34" charset="0"/>
                <a:ea typeface="Calibri" pitchFamily="34" charset="-122"/>
                <a:cs typeface="Calibri" pitchFamily="34" charset="-120"/>
              </a:rPr>
              <a:t>Ludwig Lebrun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POUR COMMENCER</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Le QCM de la séance 2 · 8 minutes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S3</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2</a:t>
            </a:r>
            <a:endParaRPr lang="en-US" sz="1000" dirty="0"/>
          </a:p>
        </p:txBody>
      </p:sp>
      <p:sp>
        <p:nvSpPr>
          <p:cNvPr id="8" name="Text 5"/>
          <p:cNvSpPr txBox="1"/>
          <p:nvPr/>
        </p:nvSpPr>
        <p:spPr>
          <a:xfrm>
            <a:off x="640080" y="1920240"/>
            <a:ext cx="10911535" cy="731520"/>
          </a:xfrm>
          <a:prstGeom prst="rect">
            <a:avLst/>
          </a:prstGeom>
          <a:noFill/>
          <a:ln/>
        </p:spPr>
        <p:txBody>
          <a:bodyPr wrap="square" lIns="0" tIns="0" rIns="0" bIns="0" rtlCol="0" anchor="ctr"/>
          <a:lstStyle/>
          <a:p>
            <a:pPr indent="0" marL="0">
              <a:buNone/>
            </a:pPr>
            <a:r>
              <a:rPr lang="en-US" sz="3000" b="1" dirty="0">
                <a:solidFill>
                  <a:srgbClr val="E8590C"/>
                </a:solidFill>
                <a:latin typeface="Arial" pitchFamily="34" charset="0"/>
                <a:ea typeface="Arial" pitchFamily="34" charset="-122"/>
                <a:cs typeface="Arial" pitchFamily="34" charset="-120"/>
              </a:rPr>
              <a:t>Lien dans le chat.</a:t>
            </a:r>
            <a:endParaRPr lang="en-US" sz="3000" dirty="0"/>
          </a:p>
        </p:txBody>
      </p:sp>
      <p:sp>
        <p:nvSpPr>
          <p:cNvPr id="9" name="Text 6"/>
          <p:cNvSpPr txBox="1"/>
          <p:nvPr/>
        </p:nvSpPr>
        <p:spPr>
          <a:xfrm>
            <a:off x="640080" y="2926080"/>
            <a:ext cx="7772400" cy="2286000"/>
          </a:xfrm>
          <a:prstGeom prst="rect">
            <a:avLst/>
          </a:prstGeom>
          <a:noFill/>
          <a:ln/>
        </p:spPr>
        <p:txBody>
          <a:bodyPr wrap="square" lIns="0" tIns="0" rIns="0" bIns="0" rtlCol="0" anchor="t"/>
          <a:lstStyle/>
          <a:p>
            <a:pPr marL="228600" indent="-228600">
              <a:spcAft>
                <a:spcPts val="800"/>
              </a:spcAft>
              <a:buSzPct val="100000"/>
              <a:buChar char="•"/>
            </a:pPr>
            <a:r>
              <a:rPr lang="en-US" sz="2100" dirty="0">
                <a:solidFill>
                  <a:srgbClr val="16181D"/>
                </a:solidFill>
                <a:latin typeface="Calibri" pitchFamily="34" charset="0"/>
                <a:ea typeface="Calibri" pitchFamily="34" charset="-122"/>
                <a:cs typeface="Calibri" pitchFamily="34" charset="-120"/>
              </a:rPr>
              <a:t>6 questions sur l'héritage, l'abstraction, les interfaces, le polymorphisme et la composition</a:t>
            </a:r>
            <a:endParaRPr lang="en-US" sz="2100" dirty="0"/>
          </a:p>
          <a:p>
            <a:pPr marL="228600" indent="-228600">
              <a:spcAft>
                <a:spcPts val="800"/>
              </a:spcAft>
              <a:buSzPct val="100000"/>
              <a:buChar char="•"/>
            </a:pPr>
            <a:r>
              <a:rPr lang="en-US" sz="2100" dirty="0">
                <a:solidFill>
                  <a:srgbClr val="16181D"/>
                </a:solidFill>
                <a:latin typeface="Calibri" pitchFamily="34" charset="0"/>
                <a:ea typeface="Calibri" pitchFamily="34" charset="-122"/>
                <a:cs typeface="Calibri" pitchFamily="34" charset="-120"/>
              </a:rPr>
              <a:t>Il compte pour la note</a:t>
            </a:r>
            <a:endParaRPr lang="en-US" sz="2100" dirty="0"/>
          </a:p>
          <a:p>
            <a:pPr marL="228600" indent="-228600">
              <a:spcAft>
                <a:spcPts val="800"/>
              </a:spcAft>
              <a:buSzPct val="100000"/>
              <a:buChar char="•"/>
            </a:pPr>
            <a:r>
              <a:rPr lang="en-US" sz="2100" dirty="0">
                <a:solidFill>
                  <a:srgbClr val="16181D"/>
                </a:solidFill>
                <a:latin typeface="Calibri" pitchFamily="34" charset="0"/>
                <a:ea typeface="Calibri" pitchFamily="34" charset="-122"/>
                <a:cs typeface="Calibri" pitchFamily="34" charset="-120"/>
              </a:rPr>
              <a:t>Couleur rouge : sans IA</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AUJOURD'HUI</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Les briques qu'on utilise depuis le début</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S3</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3</a:t>
            </a:r>
            <a:endParaRPr lang="en-US" sz="1000" dirty="0"/>
          </a:p>
        </p:txBody>
      </p:sp>
      <p:sp>
        <p:nvSpPr>
          <p:cNvPr id="8" name="Shape 5"/>
          <p:cNvSpPr/>
          <p:nvPr/>
        </p:nvSpPr>
        <p:spPr>
          <a:xfrm>
            <a:off x="640080" y="1828800"/>
            <a:ext cx="2560320" cy="1783080"/>
          </a:xfrm>
          <a:prstGeom prst="roundRect">
            <a:avLst>
              <a:gd name="adj" fmla="val 4103"/>
            </a:avLst>
          </a:prstGeom>
          <a:solidFill>
            <a:srgbClr val="F2F3F5"/>
          </a:solidFill>
          <a:ln w="12700">
            <a:solidFill>
              <a:srgbClr val="F2F3F5"/>
            </a:solidFill>
            <a:prstDash val="solid"/>
          </a:ln>
        </p:spPr>
      </p:sp>
      <p:sp>
        <p:nvSpPr>
          <p:cNvPr id="9" name="Text 6"/>
          <p:cNvSpPr txBox="1"/>
          <p:nvPr/>
        </p:nvSpPr>
        <p:spPr>
          <a:xfrm>
            <a:off x="868680" y="1965960"/>
            <a:ext cx="548640" cy="548640"/>
          </a:xfrm>
          <a:prstGeom prst="rect">
            <a:avLst/>
          </a:prstGeom>
          <a:noFill/>
          <a:ln/>
        </p:spPr>
        <p:txBody>
          <a:bodyPr wrap="square" lIns="0" tIns="0" rIns="0" bIns="0" rtlCol="0" anchor="ctr"/>
          <a:lstStyle/>
          <a:p>
            <a:pPr indent="0" marL="0">
              <a:buNone/>
            </a:pPr>
            <a:r>
              <a:rPr lang="en-US" sz="2600" b="1" dirty="0">
                <a:solidFill>
                  <a:srgbClr val="E8590C"/>
                </a:solidFill>
                <a:latin typeface="Arial" pitchFamily="34" charset="0"/>
                <a:ea typeface="Arial" pitchFamily="34" charset="-122"/>
                <a:cs typeface="Arial" pitchFamily="34" charset="-120"/>
              </a:rPr>
              <a:t>1</a:t>
            </a:r>
            <a:endParaRPr lang="en-US" sz="2600" dirty="0"/>
          </a:p>
        </p:txBody>
      </p:sp>
      <p:sp>
        <p:nvSpPr>
          <p:cNvPr id="10" name="Text 7"/>
          <p:cNvSpPr txBox="1"/>
          <p:nvPr/>
        </p:nvSpPr>
        <p:spPr>
          <a:xfrm>
            <a:off x="868680" y="2514600"/>
            <a:ext cx="2194560" cy="548640"/>
          </a:xfrm>
          <a:prstGeom prst="rect">
            <a:avLst/>
          </a:prstGeom>
          <a:noFill/>
          <a:ln/>
        </p:spPr>
        <p:txBody>
          <a:bodyPr wrap="square" lIns="0" tIns="0" rIns="0" bIns="0" rtlCol="0" anchor="t"/>
          <a:lstStyle/>
          <a:p>
            <a:pPr indent="0" marL="0">
              <a:buNone/>
            </a:pPr>
            <a:r>
              <a:rPr lang="en-US" sz="1600" b="1" dirty="0">
                <a:solidFill>
                  <a:srgbClr val="16181D"/>
                </a:solidFill>
                <a:latin typeface="Arial" pitchFamily="34" charset="0"/>
                <a:ea typeface="Arial" pitchFamily="34" charset="-122"/>
                <a:cs typeface="Arial" pitchFamily="34" charset="-120"/>
              </a:rPr>
              <a:t>Valeur ou référence</a:t>
            </a:r>
            <a:endParaRPr lang="en-US" sz="1600" dirty="0"/>
          </a:p>
        </p:txBody>
      </p:sp>
      <p:sp>
        <p:nvSpPr>
          <p:cNvPr id="11" name="Text 8"/>
          <p:cNvSpPr txBox="1"/>
          <p:nvPr/>
        </p:nvSpPr>
        <p:spPr>
          <a:xfrm>
            <a:off x="868680" y="3063240"/>
            <a:ext cx="2194560" cy="457200"/>
          </a:xfrm>
          <a:prstGeom prst="rect">
            <a:avLst/>
          </a:prstGeom>
          <a:noFill/>
          <a:ln/>
        </p:spPr>
        <p:txBody>
          <a:bodyPr wrap="square" lIns="0" tIns="0" rIns="0" bIns="0" rtlCol="0" anchor="t"/>
          <a:lstStyle/>
          <a:p>
            <a:pPr indent="0" marL="0">
              <a:buNone/>
            </a:pPr>
            <a:r>
              <a:rPr lang="en-US" sz="1300" i="1" dirty="0">
                <a:solidFill>
                  <a:srgbClr val="5F6670"/>
                </a:solidFill>
                <a:latin typeface="Calibri" pitchFamily="34" charset="0"/>
                <a:ea typeface="Calibri" pitchFamily="34" charset="-122"/>
                <a:cs typeface="Calibri" pitchFamily="34" charset="-120"/>
              </a:rPr>
              <a:t>la photocopie et l'adresse</a:t>
            </a:r>
            <a:endParaRPr lang="en-US" sz="1300" dirty="0"/>
          </a:p>
        </p:txBody>
      </p:sp>
      <p:sp>
        <p:nvSpPr>
          <p:cNvPr id="12" name="Shape 9"/>
          <p:cNvSpPr/>
          <p:nvPr/>
        </p:nvSpPr>
        <p:spPr>
          <a:xfrm>
            <a:off x="3383280" y="1828800"/>
            <a:ext cx="2560320" cy="1783080"/>
          </a:xfrm>
          <a:prstGeom prst="roundRect">
            <a:avLst>
              <a:gd name="adj" fmla="val 4103"/>
            </a:avLst>
          </a:prstGeom>
          <a:solidFill>
            <a:srgbClr val="16181D"/>
          </a:solidFill>
          <a:ln w="12700">
            <a:solidFill>
              <a:srgbClr val="16181D"/>
            </a:solidFill>
            <a:prstDash val="solid"/>
          </a:ln>
        </p:spPr>
      </p:sp>
      <p:sp>
        <p:nvSpPr>
          <p:cNvPr id="13" name="Text 10"/>
          <p:cNvSpPr txBox="1"/>
          <p:nvPr/>
        </p:nvSpPr>
        <p:spPr>
          <a:xfrm>
            <a:off x="3611880" y="1965960"/>
            <a:ext cx="548640" cy="548640"/>
          </a:xfrm>
          <a:prstGeom prst="rect">
            <a:avLst/>
          </a:prstGeom>
          <a:noFill/>
          <a:ln/>
        </p:spPr>
        <p:txBody>
          <a:bodyPr wrap="square" lIns="0" tIns="0" rIns="0" bIns="0" rtlCol="0" anchor="ctr"/>
          <a:lstStyle/>
          <a:p>
            <a:pPr indent="0" marL="0">
              <a:buNone/>
            </a:pPr>
            <a:r>
              <a:rPr lang="en-US" sz="2600" b="1" dirty="0">
                <a:solidFill>
                  <a:srgbClr val="E8590C"/>
                </a:solidFill>
                <a:latin typeface="Arial" pitchFamily="34" charset="0"/>
                <a:ea typeface="Arial" pitchFamily="34" charset="-122"/>
                <a:cs typeface="Arial" pitchFamily="34" charset="-120"/>
              </a:rPr>
              <a:t>2</a:t>
            </a:r>
            <a:endParaRPr lang="en-US" sz="2600" dirty="0"/>
          </a:p>
        </p:txBody>
      </p:sp>
      <p:sp>
        <p:nvSpPr>
          <p:cNvPr id="14" name="Text 11"/>
          <p:cNvSpPr txBox="1"/>
          <p:nvPr/>
        </p:nvSpPr>
        <p:spPr>
          <a:xfrm>
            <a:off x="3611880" y="2514600"/>
            <a:ext cx="2194560" cy="54864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Les nombres et leurs limites</a:t>
            </a:r>
            <a:endParaRPr lang="en-US" sz="1600" dirty="0"/>
          </a:p>
        </p:txBody>
      </p:sp>
      <p:sp>
        <p:nvSpPr>
          <p:cNvPr id="15" name="Text 12"/>
          <p:cNvSpPr txBox="1"/>
          <p:nvPr/>
        </p:nvSpPr>
        <p:spPr>
          <a:xfrm>
            <a:off x="3611880" y="3063240"/>
            <a:ext cx="2194560" cy="457200"/>
          </a:xfrm>
          <a:prstGeom prst="rect">
            <a:avLst/>
          </a:prstGeom>
          <a:noFill/>
          <a:ln/>
        </p:spPr>
        <p:txBody>
          <a:bodyPr wrap="square" lIns="0" tIns="0" rIns="0" bIns="0" rtlCol="0" anchor="t"/>
          <a:lstStyle/>
          <a:p>
            <a:pPr indent="0" marL="0">
              <a:buNone/>
            </a:pPr>
            <a:r>
              <a:rPr lang="en-US" sz="1300" i="1" dirty="0">
                <a:solidFill>
                  <a:srgbClr val="C9CDD3"/>
                </a:solidFill>
                <a:latin typeface="Calibri" pitchFamily="34" charset="0"/>
                <a:ea typeface="Calibri" pitchFamily="34" charset="-122"/>
                <a:cs typeface="Calibri" pitchFamily="34" charset="-120"/>
              </a:rPr>
              <a:t>Ariane 5</a:t>
            </a:r>
            <a:endParaRPr lang="en-US" sz="1300" dirty="0"/>
          </a:p>
        </p:txBody>
      </p:sp>
      <p:sp>
        <p:nvSpPr>
          <p:cNvPr id="16" name="Shape 13"/>
          <p:cNvSpPr/>
          <p:nvPr/>
        </p:nvSpPr>
        <p:spPr>
          <a:xfrm>
            <a:off x="6126480" y="1828800"/>
            <a:ext cx="2560320" cy="1783080"/>
          </a:xfrm>
          <a:prstGeom prst="roundRect">
            <a:avLst>
              <a:gd name="adj" fmla="val 4103"/>
            </a:avLst>
          </a:prstGeom>
          <a:solidFill>
            <a:srgbClr val="F2F3F5"/>
          </a:solidFill>
          <a:ln w="12700">
            <a:solidFill>
              <a:srgbClr val="F2F3F5"/>
            </a:solidFill>
            <a:prstDash val="solid"/>
          </a:ln>
        </p:spPr>
      </p:sp>
      <p:sp>
        <p:nvSpPr>
          <p:cNvPr id="17" name="Text 14"/>
          <p:cNvSpPr txBox="1"/>
          <p:nvPr/>
        </p:nvSpPr>
        <p:spPr>
          <a:xfrm>
            <a:off x="6355080" y="1965960"/>
            <a:ext cx="548640" cy="548640"/>
          </a:xfrm>
          <a:prstGeom prst="rect">
            <a:avLst/>
          </a:prstGeom>
          <a:noFill/>
          <a:ln/>
        </p:spPr>
        <p:txBody>
          <a:bodyPr wrap="square" lIns="0" tIns="0" rIns="0" bIns="0" rtlCol="0" anchor="ctr"/>
          <a:lstStyle/>
          <a:p>
            <a:pPr indent="0" marL="0">
              <a:buNone/>
            </a:pPr>
            <a:r>
              <a:rPr lang="en-US" sz="2600" b="1" dirty="0">
                <a:solidFill>
                  <a:srgbClr val="E8590C"/>
                </a:solidFill>
                <a:latin typeface="Arial" pitchFamily="34" charset="0"/>
                <a:ea typeface="Arial" pitchFamily="34" charset="-122"/>
                <a:cs typeface="Arial" pitchFamily="34" charset="-120"/>
              </a:rPr>
              <a:t>3</a:t>
            </a:r>
            <a:endParaRPr lang="en-US" sz="2600" dirty="0"/>
          </a:p>
        </p:txBody>
      </p:sp>
      <p:sp>
        <p:nvSpPr>
          <p:cNvPr id="18" name="Text 15"/>
          <p:cNvSpPr txBox="1"/>
          <p:nvPr/>
        </p:nvSpPr>
        <p:spPr>
          <a:xfrm>
            <a:off x="6355080" y="2514600"/>
            <a:ext cx="2194560" cy="548640"/>
          </a:xfrm>
          <a:prstGeom prst="rect">
            <a:avLst/>
          </a:prstGeom>
          <a:noFill/>
          <a:ln/>
        </p:spPr>
        <p:txBody>
          <a:bodyPr wrap="square" lIns="0" tIns="0" rIns="0" bIns="0" rtlCol="0" anchor="t"/>
          <a:lstStyle/>
          <a:p>
            <a:pPr indent="0" marL="0">
              <a:buNone/>
            </a:pPr>
            <a:r>
              <a:rPr lang="en-US" sz="1600" b="1" dirty="0">
                <a:solidFill>
                  <a:srgbClr val="16181D"/>
                </a:solidFill>
                <a:latin typeface="Arial" pitchFamily="34" charset="0"/>
                <a:ea typeface="Arial" pitchFamily="34" charset="-122"/>
                <a:cs typeface="Arial" pitchFamily="34" charset="-120"/>
              </a:rPr>
              <a:t>null</a:t>
            </a:r>
            <a:endParaRPr lang="en-US" sz="1600" dirty="0"/>
          </a:p>
        </p:txBody>
      </p:sp>
      <p:sp>
        <p:nvSpPr>
          <p:cNvPr id="19" name="Text 16"/>
          <p:cNvSpPr txBox="1"/>
          <p:nvPr/>
        </p:nvSpPr>
        <p:spPr>
          <a:xfrm>
            <a:off x="6355080" y="3063240"/>
            <a:ext cx="2194560" cy="457200"/>
          </a:xfrm>
          <a:prstGeom prst="rect">
            <a:avLst/>
          </a:prstGeom>
          <a:noFill/>
          <a:ln/>
        </p:spPr>
        <p:txBody>
          <a:bodyPr wrap="square" lIns="0" tIns="0" rIns="0" bIns="0" rtlCol="0" anchor="t"/>
          <a:lstStyle/>
          <a:p>
            <a:pPr indent="0" marL="0">
              <a:buNone/>
            </a:pPr>
            <a:r>
              <a:rPr lang="en-US" sz="1300" i="1" dirty="0">
                <a:solidFill>
                  <a:srgbClr val="5F6670"/>
                </a:solidFill>
                <a:latin typeface="Calibri" pitchFamily="34" charset="0"/>
                <a:ea typeface="Calibri" pitchFamily="34" charset="-122"/>
                <a:cs typeface="Calibri" pitchFamily="34" charset="-120"/>
              </a:rPr>
              <a:t>l'erreur à un milliard de dollars</a:t>
            </a:r>
            <a:endParaRPr lang="en-US" sz="1300" dirty="0"/>
          </a:p>
        </p:txBody>
      </p:sp>
      <p:sp>
        <p:nvSpPr>
          <p:cNvPr id="20" name="Shape 17"/>
          <p:cNvSpPr/>
          <p:nvPr/>
        </p:nvSpPr>
        <p:spPr>
          <a:xfrm>
            <a:off x="8869680" y="1828800"/>
            <a:ext cx="2560320" cy="1783080"/>
          </a:xfrm>
          <a:prstGeom prst="roundRect">
            <a:avLst>
              <a:gd name="adj" fmla="val 4103"/>
            </a:avLst>
          </a:prstGeom>
          <a:solidFill>
            <a:srgbClr val="F2F3F5"/>
          </a:solidFill>
          <a:ln w="12700">
            <a:solidFill>
              <a:srgbClr val="F2F3F5"/>
            </a:solidFill>
            <a:prstDash val="solid"/>
          </a:ln>
        </p:spPr>
      </p:sp>
      <p:sp>
        <p:nvSpPr>
          <p:cNvPr id="21" name="Text 18"/>
          <p:cNvSpPr txBox="1"/>
          <p:nvPr/>
        </p:nvSpPr>
        <p:spPr>
          <a:xfrm>
            <a:off x="9098280" y="1965960"/>
            <a:ext cx="548640" cy="548640"/>
          </a:xfrm>
          <a:prstGeom prst="rect">
            <a:avLst/>
          </a:prstGeom>
          <a:noFill/>
          <a:ln/>
        </p:spPr>
        <p:txBody>
          <a:bodyPr wrap="square" lIns="0" tIns="0" rIns="0" bIns="0" rtlCol="0" anchor="ctr"/>
          <a:lstStyle/>
          <a:p>
            <a:pPr indent="0" marL="0">
              <a:buNone/>
            </a:pPr>
            <a:r>
              <a:rPr lang="en-US" sz="2600" b="1" dirty="0">
                <a:solidFill>
                  <a:srgbClr val="E8590C"/>
                </a:solidFill>
                <a:latin typeface="Arial" pitchFamily="34" charset="0"/>
                <a:ea typeface="Arial" pitchFamily="34" charset="-122"/>
                <a:cs typeface="Arial" pitchFamily="34" charset="-120"/>
              </a:rPr>
              <a:t>4</a:t>
            </a:r>
            <a:endParaRPr lang="en-US" sz="2600" dirty="0"/>
          </a:p>
        </p:txBody>
      </p:sp>
      <p:sp>
        <p:nvSpPr>
          <p:cNvPr id="22" name="Text 19"/>
          <p:cNvSpPr txBox="1"/>
          <p:nvPr/>
        </p:nvSpPr>
        <p:spPr>
          <a:xfrm>
            <a:off x="9098280" y="2514600"/>
            <a:ext cx="2194560" cy="548640"/>
          </a:xfrm>
          <a:prstGeom prst="rect">
            <a:avLst/>
          </a:prstGeom>
          <a:noFill/>
          <a:ln/>
        </p:spPr>
        <p:txBody>
          <a:bodyPr wrap="square" lIns="0" tIns="0" rIns="0" bIns="0" rtlCol="0" anchor="t"/>
          <a:lstStyle/>
          <a:p>
            <a:pPr indent="0" marL="0">
              <a:buNone/>
            </a:pPr>
            <a:r>
              <a:rPr lang="en-US" sz="1600" b="1" dirty="0">
                <a:solidFill>
                  <a:srgbClr val="16181D"/>
                </a:solidFill>
                <a:latin typeface="Arial" pitchFamily="34" charset="0"/>
                <a:ea typeface="Arial" pitchFamily="34" charset="-122"/>
                <a:cs typeface="Arial" pitchFamily="34" charset="-120"/>
              </a:rPr>
              <a:t>Les chaînes</a:t>
            </a:r>
            <a:endParaRPr lang="en-US" sz="1600" dirty="0"/>
          </a:p>
        </p:txBody>
      </p:sp>
      <p:sp>
        <p:nvSpPr>
          <p:cNvPr id="23" name="Text 20"/>
          <p:cNvSpPr txBox="1"/>
          <p:nvPr/>
        </p:nvSpPr>
        <p:spPr>
          <a:xfrm>
            <a:off x="9098280" y="3063240"/>
            <a:ext cx="2194560" cy="457200"/>
          </a:xfrm>
          <a:prstGeom prst="rect">
            <a:avLst/>
          </a:prstGeom>
          <a:noFill/>
          <a:ln/>
        </p:spPr>
        <p:txBody>
          <a:bodyPr wrap="square" lIns="0" tIns="0" rIns="0" bIns="0" rtlCol="0" anchor="t"/>
          <a:lstStyle/>
          <a:p>
            <a:pPr indent="0" marL="0">
              <a:buNone/>
            </a:pPr>
            <a:r>
              <a:rPr lang="en-US" sz="1300" i="1" dirty="0">
                <a:solidFill>
                  <a:srgbClr val="5F6670"/>
                </a:solidFill>
                <a:latin typeface="Calibri" pitchFamily="34" charset="0"/>
                <a:ea typeface="Calibri" pitchFamily="34" charset="-122"/>
                <a:cs typeface="Calibri" pitchFamily="34" charset="-120"/>
              </a:rPr>
              <a:t>interpolation, formats, culture</a:t>
            </a:r>
            <a:endParaRPr lang="en-US" sz="1300" dirty="0"/>
          </a:p>
        </p:txBody>
      </p:sp>
      <p:sp>
        <p:nvSpPr>
          <p:cNvPr id="24" name="Shape 21"/>
          <p:cNvSpPr/>
          <p:nvPr/>
        </p:nvSpPr>
        <p:spPr>
          <a:xfrm>
            <a:off x="640080" y="3794760"/>
            <a:ext cx="2560320" cy="1783080"/>
          </a:xfrm>
          <a:prstGeom prst="roundRect">
            <a:avLst>
              <a:gd name="adj" fmla="val 4103"/>
            </a:avLst>
          </a:prstGeom>
          <a:solidFill>
            <a:srgbClr val="F2F3F5"/>
          </a:solidFill>
          <a:ln w="12700">
            <a:solidFill>
              <a:srgbClr val="F2F3F5"/>
            </a:solidFill>
            <a:prstDash val="solid"/>
          </a:ln>
        </p:spPr>
      </p:sp>
      <p:sp>
        <p:nvSpPr>
          <p:cNvPr id="25" name="Text 22"/>
          <p:cNvSpPr txBox="1"/>
          <p:nvPr/>
        </p:nvSpPr>
        <p:spPr>
          <a:xfrm>
            <a:off x="868680" y="3931920"/>
            <a:ext cx="548640" cy="548640"/>
          </a:xfrm>
          <a:prstGeom prst="rect">
            <a:avLst/>
          </a:prstGeom>
          <a:noFill/>
          <a:ln/>
        </p:spPr>
        <p:txBody>
          <a:bodyPr wrap="square" lIns="0" tIns="0" rIns="0" bIns="0" rtlCol="0" anchor="ctr"/>
          <a:lstStyle/>
          <a:p>
            <a:pPr indent="0" marL="0">
              <a:buNone/>
            </a:pPr>
            <a:r>
              <a:rPr lang="en-US" sz="2600" b="1" dirty="0">
                <a:solidFill>
                  <a:srgbClr val="E8590C"/>
                </a:solidFill>
                <a:latin typeface="Arial" pitchFamily="34" charset="0"/>
                <a:ea typeface="Arial" pitchFamily="34" charset="-122"/>
                <a:cs typeface="Arial" pitchFamily="34" charset="-120"/>
              </a:rPr>
              <a:t>5</a:t>
            </a:r>
            <a:endParaRPr lang="en-US" sz="2600" dirty="0"/>
          </a:p>
        </p:txBody>
      </p:sp>
      <p:sp>
        <p:nvSpPr>
          <p:cNvPr id="26" name="Text 23"/>
          <p:cNvSpPr txBox="1"/>
          <p:nvPr/>
        </p:nvSpPr>
        <p:spPr>
          <a:xfrm>
            <a:off x="868680" y="4480560"/>
            <a:ext cx="2194560" cy="548640"/>
          </a:xfrm>
          <a:prstGeom prst="rect">
            <a:avLst/>
          </a:prstGeom>
          <a:noFill/>
          <a:ln/>
        </p:spPr>
        <p:txBody>
          <a:bodyPr wrap="square" lIns="0" tIns="0" rIns="0" bIns="0" rtlCol="0" anchor="t"/>
          <a:lstStyle/>
          <a:p>
            <a:pPr indent="0" marL="0">
              <a:buNone/>
            </a:pPr>
            <a:r>
              <a:rPr lang="en-US" sz="1600" b="1" dirty="0">
                <a:solidFill>
                  <a:srgbClr val="16181D"/>
                </a:solidFill>
                <a:latin typeface="Arial" pitchFamily="34" charset="0"/>
                <a:ea typeface="Arial" pitchFamily="34" charset="-122"/>
                <a:cs typeface="Arial" pitchFamily="34" charset="-120"/>
              </a:rPr>
              <a:t>static</a:t>
            </a:r>
            <a:endParaRPr lang="en-US" sz="1600" dirty="0"/>
          </a:p>
        </p:txBody>
      </p:sp>
      <p:sp>
        <p:nvSpPr>
          <p:cNvPr id="27" name="Text 24"/>
          <p:cNvSpPr txBox="1"/>
          <p:nvPr/>
        </p:nvSpPr>
        <p:spPr>
          <a:xfrm>
            <a:off x="868680" y="5029200"/>
            <a:ext cx="2194560" cy="457200"/>
          </a:xfrm>
          <a:prstGeom prst="rect">
            <a:avLst/>
          </a:prstGeom>
          <a:noFill/>
          <a:ln/>
        </p:spPr>
        <p:txBody>
          <a:bodyPr wrap="square" lIns="0" tIns="0" rIns="0" bIns="0" rtlCol="0" anchor="t"/>
          <a:lstStyle/>
          <a:p>
            <a:pPr indent="0" marL="0">
              <a:buNone/>
            </a:pPr>
            <a:r>
              <a:rPr lang="en-US" sz="1300" i="1" dirty="0">
                <a:solidFill>
                  <a:srgbClr val="5F6670"/>
                </a:solidFill>
                <a:latin typeface="Calibri" pitchFamily="34" charset="0"/>
                <a:ea typeface="Calibri" pitchFamily="34" charset="-122"/>
                <a:cs typeface="Calibri" pitchFamily="34" charset="-120"/>
              </a:rPr>
              <a:t>ce qui appartient à la classe</a:t>
            </a:r>
            <a:endParaRPr lang="en-US" sz="1300" dirty="0"/>
          </a:p>
        </p:txBody>
      </p:sp>
      <p:sp>
        <p:nvSpPr>
          <p:cNvPr id="28" name="Shape 25"/>
          <p:cNvSpPr/>
          <p:nvPr/>
        </p:nvSpPr>
        <p:spPr>
          <a:xfrm>
            <a:off x="3383280" y="3794760"/>
            <a:ext cx="2560320" cy="1783080"/>
          </a:xfrm>
          <a:prstGeom prst="roundRect">
            <a:avLst>
              <a:gd name="adj" fmla="val 4103"/>
            </a:avLst>
          </a:prstGeom>
          <a:solidFill>
            <a:srgbClr val="F2F3F5"/>
          </a:solidFill>
          <a:ln w="12700">
            <a:solidFill>
              <a:srgbClr val="F2F3F5"/>
            </a:solidFill>
            <a:prstDash val="solid"/>
          </a:ln>
        </p:spPr>
      </p:sp>
      <p:sp>
        <p:nvSpPr>
          <p:cNvPr id="29" name="Text 26"/>
          <p:cNvSpPr txBox="1"/>
          <p:nvPr/>
        </p:nvSpPr>
        <p:spPr>
          <a:xfrm>
            <a:off x="3611880" y="3931920"/>
            <a:ext cx="548640" cy="548640"/>
          </a:xfrm>
          <a:prstGeom prst="rect">
            <a:avLst/>
          </a:prstGeom>
          <a:noFill/>
          <a:ln/>
        </p:spPr>
        <p:txBody>
          <a:bodyPr wrap="square" lIns="0" tIns="0" rIns="0" bIns="0" rtlCol="0" anchor="ctr"/>
          <a:lstStyle/>
          <a:p>
            <a:pPr indent="0" marL="0">
              <a:buNone/>
            </a:pPr>
            <a:r>
              <a:rPr lang="en-US" sz="2600" b="1" dirty="0">
                <a:solidFill>
                  <a:srgbClr val="E8590C"/>
                </a:solidFill>
                <a:latin typeface="Arial" pitchFamily="34" charset="0"/>
                <a:ea typeface="Arial" pitchFamily="34" charset="-122"/>
                <a:cs typeface="Arial" pitchFamily="34" charset="-120"/>
              </a:rPr>
              <a:t>6</a:t>
            </a:r>
            <a:endParaRPr lang="en-US" sz="2600" dirty="0"/>
          </a:p>
        </p:txBody>
      </p:sp>
      <p:sp>
        <p:nvSpPr>
          <p:cNvPr id="30" name="Text 27"/>
          <p:cNvSpPr txBox="1"/>
          <p:nvPr/>
        </p:nvSpPr>
        <p:spPr>
          <a:xfrm>
            <a:off x="3611880" y="4480560"/>
            <a:ext cx="2194560" cy="548640"/>
          </a:xfrm>
          <a:prstGeom prst="rect">
            <a:avLst/>
          </a:prstGeom>
          <a:noFill/>
          <a:ln/>
        </p:spPr>
        <p:txBody>
          <a:bodyPr wrap="square" lIns="0" tIns="0" rIns="0" bIns="0" rtlCol="0" anchor="t"/>
          <a:lstStyle/>
          <a:p>
            <a:pPr indent="0" marL="0">
              <a:buNone/>
            </a:pPr>
            <a:r>
              <a:rPr lang="en-US" sz="1600" b="1" dirty="0">
                <a:solidFill>
                  <a:srgbClr val="16181D"/>
                </a:solidFill>
                <a:latin typeface="Arial" pitchFamily="34" charset="0"/>
                <a:ea typeface="Arial" pitchFamily="34" charset="-122"/>
                <a:cs typeface="Arial" pitchFamily="34" charset="-120"/>
              </a:rPr>
              <a:t>virtual et override</a:t>
            </a:r>
            <a:endParaRPr lang="en-US" sz="1600" dirty="0"/>
          </a:p>
        </p:txBody>
      </p:sp>
      <p:sp>
        <p:nvSpPr>
          <p:cNvPr id="31" name="Text 28"/>
          <p:cNvSpPr txBox="1"/>
          <p:nvPr/>
        </p:nvSpPr>
        <p:spPr>
          <a:xfrm>
            <a:off x="3611880" y="5029200"/>
            <a:ext cx="2194560" cy="457200"/>
          </a:xfrm>
          <a:prstGeom prst="rect">
            <a:avLst/>
          </a:prstGeom>
          <a:noFill/>
          <a:ln/>
        </p:spPr>
        <p:txBody>
          <a:bodyPr wrap="square" lIns="0" tIns="0" rIns="0" bIns="0" rtlCol="0" anchor="t"/>
          <a:lstStyle/>
          <a:p>
            <a:pPr indent="0" marL="0">
              <a:buNone/>
            </a:pPr>
            <a:r>
              <a:rPr lang="en-US" sz="1300" i="1" dirty="0">
                <a:solidFill>
                  <a:srgbClr val="5F6670"/>
                </a:solidFill>
                <a:latin typeface="Calibri" pitchFamily="34" charset="0"/>
                <a:ea typeface="Calibri" pitchFamily="34" charset="-122"/>
                <a:cs typeface="Calibri" pitchFamily="34" charset="-120"/>
              </a:rPr>
              <a:t>la recette de famille</a:t>
            </a:r>
            <a:endParaRPr lang="en-US" sz="1300" dirty="0"/>
          </a:p>
        </p:txBody>
      </p:sp>
      <p:sp>
        <p:nvSpPr>
          <p:cNvPr id="32" name="Shape 29"/>
          <p:cNvSpPr/>
          <p:nvPr/>
        </p:nvSpPr>
        <p:spPr>
          <a:xfrm>
            <a:off x="6126480" y="3794760"/>
            <a:ext cx="2560320" cy="1783080"/>
          </a:xfrm>
          <a:prstGeom prst="roundRect">
            <a:avLst>
              <a:gd name="adj" fmla="val 4103"/>
            </a:avLst>
          </a:prstGeom>
          <a:solidFill>
            <a:srgbClr val="F2F3F5"/>
          </a:solidFill>
          <a:ln w="12700">
            <a:solidFill>
              <a:srgbClr val="F2F3F5"/>
            </a:solidFill>
            <a:prstDash val="solid"/>
          </a:ln>
        </p:spPr>
      </p:sp>
      <p:sp>
        <p:nvSpPr>
          <p:cNvPr id="33" name="Text 30"/>
          <p:cNvSpPr txBox="1"/>
          <p:nvPr/>
        </p:nvSpPr>
        <p:spPr>
          <a:xfrm>
            <a:off x="6355080" y="3931920"/>
            <a:ext cx="548640" cy="548640"/>
          </a:xfrm>
          <a:prstGeom prst="rect">
            <a:avLst/>
          </a:prstGeom>
          <a:noFill/>
          <a:ln/>
        </p:spPr>
        <p:txBody>
          <a:bodyPr wrap="square" lIns="0" tIns="0" rIns="0" bIns="0" rtlCol="0" anchor="ctr"/>
          <a:lstStyle/>
          <a:p>
            <a:pPr indent="0" marL="0">
              <a:buNone/>
            </a:pPr>
            <a:r>
              <a:rPr lang="en-US" sz="2600" b="1" dirty="0">
                <a:solidFill>
                  <a:srgbClr val="E8590C"/>
                </a:solidFill>
                <a:latin typeface="Arial" pitchFamily="34" charset="0"/>
                <a:ea typeface="Arial" pitchFamily="34" charset="-122"/>
                <a:cs typeface="Arial" pitchFamily="34" charset="-120"/>
              </a:rPr>
              <a:t>7</a:t>
            </a:r>
            <a:endParaRPr lang="en-US" sz="2600" dirty="0"/>
          </a:p>
        </p:txBody>
      </p:sp>
      <p:sp>
        <p:nvSpPr>
          <p:cNvPr id="34" name="Text 31"/>
          <p:cNvSpPr txBox="1"/>
          <p:nvPr/>
        </p:nvSpPr>
        <p:spPr>
          <a:xfrm>
            <a:off x="6355080" y="4480560"/>
            <a:ext cx="2194560" cy="548640"/>
          </a:xfrm>
          <a:prstGeom prst="rect">
            <a:avLst/>
          </a:prstGeom>
          <a:noFill/>
          <a:ln/>
        </p:spPr>
        <p:txBody>
          <a:bodyPr wrap="square" lIns="0" tIns="0" rIns="0" bIns="0" rtlCol="0" anchor="t"/>
          <a:lstStyle/>
          <a:p>
            <a:pPr indent="0" marL="0">
              <a:buNone/>
            </a:pPr>
            <a:r>
              <a:rPr lang="en-US" sz="1600" b="1" dirty="0">
                <a:solidFill>
                  <a:srgbClr val="16181D"/>
                </a:solidFill>
                <a:latin typeface="Arial" pitchFamily="34" charset="0"/>
                <a:ea typeface="Arial" pitchFamily="34" charset="-122"/>
                <a:cs typeface="Arial" pitchFamily="34" charset="-120"/>
              </a:rPr>
              <a:t>Les enum [Flags]</a:t>
            </a:r>
            <a:endParaRPr lang="en-US" sz="1600" dirty="0"/>
          </a:p>
        </p:txBody>
      </p:sp>
      <p:sp>
        <p:nvSpPr>
          <p:cNvPr id="35" name="Text 32"/>
          <p:cNvSpPr txBox="1"/>
          <p:nvPr/>
        </p:nvSpPr>
        <p:spPr>
          <a:xfrm>
            <a:off x="6355080" y="5029200"/>
            <a:ext cx="2194560" cy="457200"/>
          </a:xfrm>
          <a:prstGeom prst="rect">
            <a:avLst/>
          </a:prstGeom>
          <a:noFill/>
          <a:ln/>
        </p:spPr>
        <p:txBody>
          <a:bodyPr wrap="square" lIns="0" tIns="0" rIns="0" bIns="0" rtlCol="0" anchor="t"/>
          <a:lstStyle/>
          <a:p>
            <a:pPr indent="0" marL="0">
              <a:buNone/>
            </a:pPr>
            <a:r>
              <a:rPr lang="en-US" sz="1300" i="1" dirty="0">
                <a:solidFill>
                  <a:srgbClr val="5F6670"/>
                </a:solidFill>
                <a:latin typeface="Calibri" pitchFamily="34" charset="0"/>
                <a:ea typeface="Calibri" pitchFamily="34" charset="-122"/>
                <a:cs typeface="Calibri" pitchFamily="34" charset="-120"/>
              </a:rPr>
              <a:t>les interrupteurs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640080" y="1463040"/>
            <a:ext cx="2743200" cy="1280160"/>
          </a:xfrm>
          <a:prstGeom prst="rect">
            <a:avLst/>
          </a:prstGeom>
          <a:noFill/>
          <a:ln/>
        </p:spPr>
        <p:txBody>
          <a:bodyPr wrap="square" lIns="0" tIns="0" rIns="0" bIns="0" rtlCol="0" anchor="ctr"/>
          <a:lstStyle/>
          <a:p>
            <a:pPr indent="0" marL="0">
              <a:buNone/>
            </a:pPr>
            <a:r>
              <a:rPr lang="en-US" sz="9600" b="1" dirty="0">
                <a:solidFill>
                  <a:srgbClr val="E8590C"/>
                </a:solidFill>
                <a:latin typeface="Arial" pitchFamily="34" charset="0"/>
                <a:ea typeface="Arial" pitchFamily="34" charset="-122"/>
                <a:cs typeface="Arial" pitchFamily="34" charset="-120"/>
              </a:rPr>
              <a:t>01</a:t>
            </a:r>
            <a:endParaRPr lang="en-US" sz="9600" dirty="0"/>
          </a:p>
        </p:txBody>
      </p:sp>
      <p:sp>
        <p:nvSpPr>
          <p:cNvPr id="3" name="Text 1"/>
          <p:cNvSpPr txBox="1"/>
          <p:nvPr/>
        </p:nvSpPr>
        <p:spPr>
          <a:xfrm>
            <a:off x="640080" y="2834640"/>
            <a:ext cx="10911535" cy="10058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Valeur ou référence</a:t>
            </a:r>
            <a:endParaRPr lang="en-US" sz="4400" dirty="0"/>
          </a:p>
        </p:txBody>
      </p:sp>
      <p:sp>
        <p:nvSpPr>
          <p:cNvPr id="4" name="Text 2"/>
          <p:cNvSpPr txBox="1"/>
          <p:nvPr/>
        </p:nvSpPr>
        <p:spPr>
          <a:xfrm>
            <a:off x="640080" y="3840480"/>
            <a:ext cx="10911535" cy="731520"/>
          </a:xfrm>
          <a:prstGeom prst="rect">
            <a:avLst/>
          </a:prstGeom>
          <a:noFill/>
          <a:ln/>
        </p:spPr>
        <p:txBody>
          <a:bodyPr wrap="square" lIns="0" tIns="0" rIns="0" bIns="0" rtlCol="0" anchor="ctr"/>
          <a:lstStyle/>
          <a:p>
            <a:pPr indent="0" marL="0">
              <a:buNone/>
            </a:pPr>
            <a:r>
              <a:rPr lang="en-US" sz="2000" dirty="0">
                <a:solidFill>
                  <a:srgbClr val="C9CDD3"/>
                </a:solidFill>
                <a:latin typeface="Calibri" pitchFamily="34" charset="0"/>
                <a:ea typeface="Calibri" pitchFamily="34" charset="-122"/>
                <a:cs typeface="Calibri" pitchFamily="34" charset="-120"/>
              </a:rPr>
              <a:t>La photocopie et l'adresse</a:t>
            </a:r>
            <a:endParaRPr lang="en-US" sz="20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9AA0A8"/>
                </a:solidFill>
                <a:latin typeface="Calibri" pitchFamily="34" charset="0"/>
                <a:ea typeface="Calibri" pitchFamily="34" charset="-122"/>
                <a:cs typeface="Calibri" pitchFamily="34" charset="-120"/>
              </a:rPr>
              <a:t>Complément Application · S3</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9AA0A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VALEUR OU RÉFÉRENCE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Une photocopie, ou l'adresse d'une maison ?</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S3</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5</a:t>
            </a:r>
            <a:endParaRPr lang="en-US" sz="1000" dirty="0"/>
          </a:p>
        </p:txBody>
      </p:sp>
      <p:sp>
        <p:nvSpPr>
          <p:cNvPr id="8" name="Shape 5"/>
          <p:cNvSpPr/>
          <p:nvPr/>
        </p:nvSpPr>
        <p:spPr>
          <a:xfrm>
            <a:off x="640080" y="1783080"/>
            <a:ext cx="5303520" cy="3566160"/>
          </a:xfrm>
          <a:prstGeom prst="roundRect">
            <a:avLst>
              <a:gd name="adj" fmla="val 2051"/>
            </a:avLst>
          </a:prstGeom>
          <a:solidFill>
            <a:srgbClr val="F2F3F5"/>
          </a:solidFill>
          <a:ln w="12700">
            <a:solidFill>
              <a:srgbClr val="F2F3F5"/>
            </a:solidFill>
            <a:prstDash val="solid"/>
          </a:ln>
        </p:spPr>
      </p:sp>
      <p:sp>
        <p:nvSpPr>
          <p:cNvPr id="9" name="Text 6"/>
          <p:cNvSpPr txBox="1"/>
          <p:nvPr/>
        </p:nvSpPr>
        <p:spPr>
          <a:xfrm>
            <a:off x="960120" y="1920240"/>
            <a:ext cx="4754880" cy="457200"/>
          </a:xfrm>
          <a:prstGeom prst="rect">
            <a:avLst/>
          </a:prstGeom>
          <a:noFill/>
          <a:ln/>
        </p:spPr>
        <p:txBody>
          <a:bodyPr wrap="square" lIns="0" tIns="0" rIns="0" bIns="0" rtlCol="0" anchor="ctr"/>
          <a:lstStyle/>
          <a:p>
            <a:pPr indent="0" marL="0">
              <a:buNone/>
            </a:pPr>
            <a:r>
              <a:rPr lang="en-US" sz="1550" b="1" dirty="0">
                <a:solidFill>
                  <a:srgbClr val="16181D"/>
                </a:solidFill>
                <a:latin typeface="Arial" pitchFamily="34" charset="0"/>
                <a:ea typeface="Arial" pitchFamily="34" charset="-122"/>
                <a:cs typeface="Arial" pitchFamily="34" charset="-120"/>
              </a:rPr>
              <a:t>Un type valeur se copie comme une photocopie</a:t>
            </a:r>
            <a:endParaRPr lang="en-US" sz="1550" dirty="0"/>
          </a:p>
        </p:txBody>
      </p:sp>
      <p:sp>
        <p:nvSpPr>
          <p:cNvPr id="10" name="Shape 7"/>
          <p:cNvSpPr/>
          <p:nvPr/>
        </p:nvSpPr>
        <p:spPr>
          <a:xfrm>
            <a:off x="914400" y="2514600"/>
            <a:ext cx="4754880" cy="1737360"/>
          </a:xfrm>
          <a:prstGeom prst="roundRect">
            <a:avLst>
              <a:gd name="adj" fmla="val 4211"/>
            </a:avLst>
          </a:prstGeom>
          <a:solidFill>
            <a:srgbClr val="1E2127"/>
          </a:solidFill>
          <a:ln w="12700">
            <a:solidFill>
              <a:srgbClr val="1E2127"/>
            </a:solidFill>
            <a:prstDash val="solid"/>
          </a:ln>
        </p:spPr>
      </p:sp>
      <p:sp>
        <p:nvSpPr>
          <p:cNvPr id="11" name="Text 8"/>
          <p:cNvSpPr txBox="1"/>
          <p:nvPr/>
        </p:nvSpPr>
        <p:spPr>
          <a:xfrm>
            <a:off x="1188720" y="2743200"/>
            <a:ext cx="4206240" cy="1280160"/>
          </a:xfrm>
          <a:prstGeom prst="rect">
            <a:avLst/>
          </a:prstGeom>
          <a:noFill/>
          <a:ln/>
        </p:spPr>
        <p:txBody>
          <a:bodyPr wrap="square" lIns="0" tIns="0" rIns="0" bIns="0" rtlCol="0" anchor="t"/>
          <a:lstStyle/>
          <a:p>
            <a:pPr indent="0" marL="0">
              <a:buNone/>
            </a:pPr>
            <a:r>
              <a:rPr lang="en-US" sz="1500" dirty="0">
                <a:solidFill>
                  <a:srgbClr val="E6E6E6"/>
                </a:solidFill>
                <a:latin typeface="Consolas" pitchFamily="34" charset="0"/>
                <a:ea typeface="Consolas" pitchFamily="34" charset="-122"/>
                <a:cs typeface="Consolas" pitchFamily="34" charset="-120"/>
              </a:rPr>
              <a:t>int a = 10;</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int b = a;      // photocopie</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b = 99;</a:t>
            </a:r>
            <a:endParaRPr lang="en-US" sz="1500" dirty="0"/>
          </a:p>
          <a:p>
            <a:pPr indent="0" marL="0">
              <a:buNone/>
            </a:pPr>
            <a:r>
              <a:rPr lang="en-US" sz="1500" dirty="0">
                <a:solidFill>
                  <a:srgbClr val="8B929C"/>
                </a:solidFill>
                <a:latin typeface="Consolas" pitchFamily="34" charset="0"/>
                <a:ea typeface="Consolas" pitchFamily="34" charset="-122"/>
                <a:cs typeface="Consolas" pitchFamily="34" charset="-120"/>
              </a:rPr>
              <a:t>// a vaut toujours 10</a:t>
            </a:r>
            <a:endParaRPr lang="en-US" sz="1500" dirty="0"/>
          </a:p>
        </p:txBody>
      </p:sp>
      <p:sp>
        <p:nvSpPr>
          <p:cNvPr id="12" name="Text 9"/>
          <p:cNvSpPr txBox="1"/>
          <p:nvPr/>
        </p:nvSpPr>
        <p:spPr>
          <a:xfrm>
            <a:off x="960120" y="4434840"/>
            <a:ext cx="4754880" cy="731520"/>
          </a:xfrm>
          <a:prstGeom prst="rect">
            <a:avLst/>
          </a:prstGeom>
          <a:noFill/>
          <a:ln/>
        </p:spPr>
        <p:txBody>
          <a:bodyPr wrap="square" lIns="0" tIns="0" rIns="0" bIns="0" rtlCol="0" anchor="t"/>
          <a:lstStyle/>
          <a:p>
            <a:pPr indent="0" marL="0">
              <a:buNone/>
            </a:pPr>
            <a:r>
              <a:rPr lang="en-US" sz="1400" dirty="0">
                <a:solidFill>
                  <a:srgbClr val="5F6670"/>
                </a:solidFill>
                <a:latin typeface="Calibri" pitchFamily="34" charset="0"/>
                <a:ea typeface="Calibri" pitchFamily="34" charset="-122"/>
                <a:cs typeface="Calibri" pitchFamily="34" charset="-120"/>
              </a:rPr>
              <a:t>int, double, decimal, bool, DateTime, enum, struct</a:t>
            </a:r>
            <a:endParaRPr lang="en-US" sz="1400" dirty="0"/>
          </a:p>
        </p:txBody>
      </p:sp>
      <p:sp>
        <p:nvSpPr>
          <p:cNvPr id="13" name="Shape 10"/>
          <p:cNvSpPr/>
          <p:nvPr/>
        </p:nvSpPr>
        <p:spPr>
          <a:xfrm>
            <a:off x="6217920" y="1783080"/>
            <a:ext cx="5303520" cy="3566160"/>
          </a:xfrm>
          <a:prstGeom prst="roundRect">
            <a:avLst>
              <a:gd name="adj" fmla="val 2051"/>
            </a:avLst>
          </a:prstGeom>
          <a:solidFill>
            <a:srgbClr val="16181D"/>
          </a:solidFill>
          <a:ln w="12700">
            <a:solidFill>
              <a:srgbClr val="16181D"/>
            </a:solidFill>
            <a:prstDash val="solid"/>
          </a:ln>
        </p:spPr>
      </p:sp>
      <p:sp>
        <p:nvSpPr>
          <p:cNvPr id="14" name="Text 11"/>
          <p:cNvSpPr txBox="1"/>
          <p:nvPr/>
        </p:nvSpPr>
        <p:spPr>
          <a:xfrm>
            <a:off x="6537960" y="1920240"/>
            <a:ext cx="4754880" cy="457200"/>
          </a:xfrm>
          <a:prstGeom prst="rect">
            <a:avLst/>
          </a:prstGeom>
          <a:noFill/>
          <a:ln/>
        </p:spPr>
        <p:txBody>
          <a:bodyPr wrap="square" lIns="0" tIns="0" rIns="0" bIns="0" rtlCol="0" anchor="ctr"/>
          <a:lstStyle/>
          <a:p>
            <a:pPr indent="0" marL="0">
              <a:buNone/>
            </a:pPr>
            <a:r>
              <a:rPr lang="en-US" sz="1550" b="1" dirty="0">
                <a:solidFill>
                  <a:srgbClr val="E8590C"/>
                </a:solidFill>
                <a:latin typeface="Arial" pitchFamily="34" charset="0"/>
                <a:ea typeface="Arial" pitchFamily="34" charset="-122"/>
                <a:cs typeface="Arial" pitchFamily="34" charset="-120"/>
              </a:rPr>
              <a:t>Un type référence se copie comme une adresse</a:t>
            </a:r>
            <a:endParaRPr lang="en-US" sz="1550" dirty="0"/>
          </a:p>
        </p:txBody>
      </p:sp>
      <p:sp>
        <p:nvSpPr>
          <p:cNvPr id="15" name="Shape 12"/>
          <p:cNvSpPr/>
          <p:nvPr/>
        </p:nvSpPr>
        <p:spPr>
          <a:xfrm>
            <a:off x="6492240" y="2514600"/>
            <a:ext cx="4754880" cy="1737360"/>
          </a:xfrm>
          <a:prstGeom prst="roundRect">
            <a:avLst>
              <a:gd name="adj" fmla="val 4211"/>
            </a:avLst>
          </a:prstGeom>
          <a:solidFill>
            <a:srgbClr val="1E2127"/>
          </a:solidFill>
          <a:ln w="12700">
            <a:solidFill>
              <a:srgbClr val="1E2127"/>
            </a:solidFill>
            <a:prstDash val="solid"/>
          </a:ln>
        </p:spPr>
      </p:sp>
      <p:sp>
        <p:nvSpPr>
          <p:cNvPr id="16" name="Text 13"/>
          <p:cNvSpPr txBox="1"/>
          <p:nvPr/>
        </p:nvSpPr>
        <p:spPr>
          <a:xfrm>
            <a:off x="6766560" y="2743200"/>
            <a:ext cx="4206240" cy="1280160"/>
          </a:xfrm>
          <a:prstGeom prst="rect">
            <a:avLst/>
          </a:prstGeom>
          <a:noFill/>
          <a:ln/>
        </p:spPr>
        <p:txBody>
          <a:bodyPr wrap="square" lIns="0" tIns="0" rIns="0" bIns="0" rtlCol="0" anchor="t"/>
          <a:lstStyle/>
          <a:p>
            <a:pPr indent="0" marL="0">
              <a:buNone/>
            </a:pPr>
            <a:r>
              <a:rPr lang="en-US" sz="1500" dirty="0">
                <a:solidFill>
                  <a:srgbClr val="E6E6E6"/>
                </a:solidFill>
                <a:latin typeface="Consolas" pitchFamily="34" charset="0"/>
                <a:ea typeface="Consolas" pitchFamily="34" charset="-122"/>
                <a:cs typeface="Consolas" pitchFamily="34" charset="-120"/>
              </a:rPr>
              <a:t>var i1 = new Incident(...);</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var i2 = i1;    // même adresse</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i2.AssignTo(karim);</a:t>
            </a:r>
            <a:endParaRPr lang="en-US" sz="1500" dirty="0"/>
          </a:p>
          <a:p>
            <a:pPr indent="0" marL="0">
              <a:buNone/>
            </a:pPr>
            <a:r>
              <a:rPr lang="en-US" sz="1500" dirty="0">
                <a:solidFill>
                  <a:srgbClr val="8B929C"/>
                </a:solidFill>
                <a:latin typeface="Consolas" pitchFamily="34" charset="0"/>
                <a:ea typeface="Consolas" pitchFamily="34" charset="-122"/>
                <a:cs typeface="Consolas" pitchFamily="34" charset="-120"/>
              </a:rPr>
              <a:t>// i1 aussi est assigné</a:t>
            </a:r>
            <a:endParaRPr lang="en-US" sz="1500" dirty="0"/>
          </a:p>
        </p:txBody>
      </p:sp>
      <p:sp>
        <p:nvSpPr>
          <p:cNvPr id="17" name="Text 14"/>
          <p:cNvSpPr txBox="1"/>
          <p:nvPr/>
        </p:nvSpPr>
        <p:spPr>
          <a:xfrm>
            <a:off x="6537960" y="4434840"/>
            <a:ext cx="4754880" cy="731520"/>
          </a:xfrm>
          <a:prstGeom prst="rect">
            <a:avLst/>
          </a:prstGeom>
          <a:noFill/>
          <a:ln/>
        </p:spPr>
        <p:txBody>
          <a:bodyPr wrap="square" lIns="0" tIns="0" rIns="0" bIns="0" rtlCol="0" anchor="t"/>
          <a:lstStyle/>
          <a:p>
            <a:pPr indent="0" marL="0">
              <a:buNone/>
            </a:pPr>
            <a:r>
              <a:rPr lang="en-US" sz="1400" dirty="0">
                <a:solidFill>
                  <a:srgbClr val="C9CDD3"/>
                </a:solidFill>
                <a:latin typeface="Calibri" pitchFamily="34" charset="0"/>
                <a:ea typeface="Calibri" pitchFamily="34" charset="-122"/>
                <a:cs typeface="Calibri" pitchFamily="34" charset="-120"/>
              </a:rPr>
              <a:t>class, string, tableaux, List, et tous nos objets</a:t>
            </a:r>
            <a:endParaRPr lang="en-US" sz="1400" dirty="0"/>
          </a:p>
        </p:txBody>
      </p:sp>
      <p:sp>
        <p:nvSpPr>
          <p:cNvPr id="18" name="Text 15"/>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Microsoft Learn, « Types valeur » et « Types référence » (référence du langage C#).</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3F5"/>
        </a:solidFill>
      </p:bgPr>
    </p:bg>
    <p:spTree>
      <p:nvGrpSpPr>
        <p:cNvPr id="1" name=""/>
        <p:cNvGrpSpPr/>
        <p:nvPr/>
      </p:nvGrpSpPr>
      <p:grpSpPr>
        <a:xfrm>
          <a:off x="0" y="0"/>
          <a:ext cx="0" cy="0"/>
          <a:chOff x="0" y="0"/>
          <a:chExt cx="0" cy="0"/>
        </a:xfrm>
      </p:grpSpPr>
      <p:sp>
        <p:nvSpPr>
          <p:cNvPr id="2" name="Text 0"/>
          <p:cNvSpPr txBox="1"/>
          <p:nvPr/>
        </p:nvSpPr>
        <p:spPr>
          <a:xfrm>
            <a:off x="640080" y="1463040"/>
            <a:ext cx="3657600" cy="457200"/>
          </a:xfrm>
          <a:prstGeom prst="rect">
            <a:avLst/>
          </a:prstGeom>
          <a:noFill/>
          <a:ln/>
        </p:spPr>
        <p:txBody>
          <a:bodyPr wrap="square" lIns="0" tIns="0" rIns="0" bIns="0" rtlCol="0" anchor="ctr"/>
          <a:lstStyle/>
          <a:p>
            <a:pPr indent="0" marL="0">
              <a:buNone/>
            </a:pPr>
            <a:r>
              <a:rPr lang="en-US" sz="1600" b="1" spc="400" kern="0" dirty="0">
                <a:solidFill>
                  <a:srgbClr val="E8590C"/>
                </a:solidFill>
                <a:latin typeface="Calibri" pitchFamily="34" charset="0"/>
                <a:ea typeface="Calibri" pitchFamily="34" charset="-122"/>
                <a:cs typeface="Calibri" pitchFamily="34" charset="-120"/>
              </a:rPr>
              <a:t>RIDER</a:t>
            </a:r>
            <a:endParaRPr lang="en-US" sz="1600" dirty="0"/>
          </a:p>
        </p:txBody>
      </p:sp>
      <p:sp>
        <p:nvSpPr>
          <p:cNvPr id="3" name="Shape 1"/>
          <p:cNvSpPr/>
          <p:nvPr/>
        </p:nvSpPr>
        <p:spPr>
          <a:xfrm>
            <a:off x="640080" y="2011680"/>
            <a:ext cx="10911535" cy="1005840"/>
          </a:xfrm>
          <a:prstGeom prst="roundRect">
            <a:avLst>
              <a:gd name="adj" fmla="val 7273"/>
            </a:avLst>
          </a:prstGeom>
          <a:solidFill>
            <a:srgbClr val="1E2127"/>
          </a:solidFill>
          <a:ln w="12700">
            <a:solidFill>
              <a:srgbClr val="1E2127"/>
            </a:solidFill>
            <a:prstDash val="solid"/>
          </a:ln>
        </p:spPr>
      </p:sp>
      <p:sp>
        <p:nvSpPr>
          <p:cNvPr id="4" name="Text 2"/>
          <p:cNvSpPr txBox="1"/>
          <p:nvPr/>
        </p:nvSpPr>
        <p:spPr>
          <a:xfrm>
            <a:off x="1005840" y="2011680"/>
            <a:ext cx="10180015" cy="1005840"/>
          </a:xfrm>
          <a:prstGeom prst="rect">
            <a:avLst/>
          </a:prstGeom>
          <a:noFill/>
          <a:ln/>
        </p:spPr>
        <p:txBody>
          <a:bodyPr wrap="square" lIns="0" tIns="0" rIns="0" bIns="0" rtlCol="0" anchor="ctr"/>
          <a:lstStyle/>
          <a:p>
            <a:pPr indent="0" marL="0">
              <a:buNone/>
            </a:pPr>
            <a:r>
              <a:rPr lang="en-US" sz="2800" dirty="0">
                <a:solidFill>
                  <a:srgbClr val="E6E6E6"/>
                </a:solidFill>
                <a:latin typeface="Consolas" pitchFamily="34" charset="0"/>
                <a:ea typeface="Consolas" pitchFamily="34" charset="-122"/>
                <a:cs typeface="Consolas" pitchFamily="34" charset="-120"/>
              </a:rPr>
              <a:t>git checkout s03-etape1-valeur-reference</a:t>
            </a:r>
            <a:endParaRPr lang="en-US" sz="2800" dirty="0"/>
          </a:p>
        </p:txBody>
      </p:sp>
      <p:sp>
        <p:nvSpPr>
          <p:cNvPr id="5" name="Text 3"/>
          <p:cNvSpPr txBox="1"/>
          <p:nvPr/>
        </p:nvSpPr>
        <p:spPr>
          <a:xfrm>
            <a:off x="640080" y="3291840"/>
            <a:ext cx="10911535" cy="731520"/>
          </a:xfrm>
          <a:prstGeom prst="rect">
            <a:avLst/>
          </a:prstGeom>
          <a:noFill/>
          <a:ln/>
        </p:spPr>
        <p:txBody>
          <a:bodyPr wrap="square" lIns="0" tIns="0" rIns="0" bIns="0" rtlCol="0" anchor="t"/>
          <a:lstStyle/>
          <a:p>
            <a:pPr indent="0" marL="0">
              <a:buNone/>
            </a:pPr>
            <a:r>
              <a:rPr lang="en-US" sz="2400" b="1" dirty="0">
                <a:solidFill>
                  <a:srgbClr val="16181D"/>
                </a:solidFill>
                <a:latin typeface="Arial" pitchFamily="34" charset="0"/>
                <a:ea typeface="Arial" pitchFamily="34" charset="-122"/>
                <a:cs typeface="Arial" pitchFamily="34" charset="-120"/>
              </a:rPr>
              <a:t>Valeur et référence, en vrai</a:t>
            </a:r>
            <a:endParaRPr lang="en-US" sz="2400" dirty="0"/>
          </a:p>
        </p:txBody>
      </p:sp>
      <p:sp>
        <p:nvSpPr>
          <p:cNvPr id="6" name="Text 4"/>
          <p:cNvSpPr txBox="1"/>
          <p:nvPr/>
        </p:nvSpPr>
        <p:spPr>
          <a:xfrm>
            <a:off x="640080" y="4114800"/>
            <a:ext cx="4572000" cy="365760"/>
          </a:xfrm>
          <a:prstGeom prst="rect">
            <a:avLst/>
          </a:prstGeom>
          <a:noFill/>
          <a:ln/>
        </p:spPr>
        <p:txBody>
          <a:bodyPr wrap="square" lIns="0" tIns="0" rIns="0" bIns="0" rtlCol="0" anchor="ctr"/>
          <a:lstStyle/>
          <a:p>
            <a:pPr indent="0" marL="0">
              <a:buNone/>
            </a:pPr>
            <a:r>
              <a:rPr lang="en-US" sz="1300" b="1" spc="200" kern="0" dirty="0">
                <a:solidFill>
                  <a:srgbClr val="5F6670"/>
                </a:solidFill>
                <a:latin typeface="Calibri" pitchFamily="34" charset="0"/>
                <a:ea typeface="Calibri" pitchFamily="34" charset="-122"/>
                <a:cs typeface="Calibri" pitchFamily="34" charset="-120"/>
              </a:rPr>
              <a:t>CE QU'ON REGARDE</a:t>
            </a:r>
            <a:endParaRPr lang="en-US" sz="1300" dirty="0"/>
          </a:p>
        </p:txBody>
      </p:sp>
      <p:sp>
        <p:nvSpPr>
          <p:cNvPr id="7" name="Text 5"/>
          <p:cNvSpPr txBox="1"/>
          <p:nvPr/>
        </p:nvSpPr>
        <p:spPr>
          <a:xfrm>
            <a:off x="640080" y="4526280"/>
            <a:ext cx="10911535" cy="164592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Copier un int : deux valeurs indépendantes</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Copier une référence : deux variables, un seul objet</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struct (valeur) et class (référence) côte à côte</a:t>
            </a:r>
            <a:endParaRPr lang="en-US" sz="1800" dirty="0"/>
          </a:p>
        </p:txBody>
      </p:sp>
      <p:sp>
        <p:nvSpPr>
          <p:cNvPr id="8" name="Text 6"/>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640080" y="1463040"/>
            <a:ext cx="2743200" cy="1280160"/>
          </a:xfrm>
          <a:prstGeom prst="rect">
            <a:avLst/>
          </a:prstGeom>
          <a:noFill/>
          <a:ln/>
        </p:spPr>
        <p:txBody>
          <a:bodyPr wrap="square" lIns="0" tIns="0" rIns="0" bIns="0" rtlCol="0" anchor="ctr"/>
          <a:lstStyle/>
          <a:p>
            <a:pPr indent="0" marL="0">
              <a:buNone/>
            </a:pPr>
            <a:r>
              <a:rPr lang="en-US" sz="9600" b="1" dirty="0">
                <a:solidFill>
                  <a:srgbClr val="E8590C"/>
                </a:solidFill>
                <a:latin typeface="Arial" pitchFamily="34" charset="0"/>
                <a:ea typeface="Arial" pitchFamily="34" charset="-122"/>
                <a:cs typeface="Arial" pitchFamily="34" charset="-120"/>
              </a:rPr>
              <a:t>02</a:t>
            </a:r>
            <a:endParaRPr lang="en-US" sz="9600" dirty="0"/>
          </a:p>
        </p:txBody>
      </p:sp>
      <p:sp>
        <p:nvSpPr>
          <p:cNvPr id="3" name="Text 1"/>
          <p:cNvSpPr txBox="1"/>
          <p:nvPr/>
        </p:nvSpPr>
        <p:spPr>
          <a:xfrm>
            <a:off x="640080" y="2834640"/>
            <a:ext cx="10911535" cy="10058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Les nombres et leurs limites</a:t>
            </a:r>
            <a:endParaRPr lang="en-US" sz="4400" dirty="0"/>
          </a:p>
        </p:txBody>
      </p:sp>
      <p:sp>
        <p:nvSpPr>
          <p:cNvPr id="4" name="Text 2"/>
          <p:cNvSpPr txBox="1"/>
          <p:nvPr/>
        </p:nvSpPr>
        <p:spPr>
          <a:xfrm>
            <a:off x="640080" y="3840480"/>
            <a:ext cx="10911535" cy="731520"/>
          </a:xfrm>
          <a:prstGeom prst="rect">
            <a:avLst/>
          </a:prstGeom>
          <a:noFill/>
          <a:ln/>
        </p:spPr>
        <p:txBody>
          <a:bodyPr wrap="square" lIns="0" tIns="0" rIns="0" bIns="0" rtlCol="0" anchor="ctr"/>
          <a:lstStyle/>
          <a:p>
            <a:pPr indent="0" marL="0">
              <a:buNone/>
            </a:pPr>
            <a:r>
              <a:rPr lang="en-US" sz="2000" dirty="0">
                <a:solidFill>
                  <a:srgbClr val="C9CDD3"/>
                </a:solidFill>
                <a:latin typeface="Calibri" pitchFamily="34" charset="0"/>
                <a:ea typeface="Calibri" pitchFamily="34" charset="-122"/>
                <a:cs typeface="Calibri" pitchFamily="34" charset="-120"/>
              </a:rPr>
              <a:t>Chaque type a une taille, et donc un maximum</a:t>
            </a:r>
            <a:endParaRPr lang="en-US" sz="20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9AA0A8"/>
                </a:solidFill>
                <a:latin typeface="Calibri" pitchFamily="34" charset="0"/>
                <a:ea typeface="Calibri" pitchFamily="34" charset="-122"/>
                <a:cs typeface="Calibri" pitchFamily="34" charset="-120"/>
              </a:rPr>
              <a:t>Complément Application · S3</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9AA0A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640080" y="1097280"/>
            <a:ext cx="10911535" cy="457200"/>
          </a:xfrm>
          <a:prstGeom prst="rect">
            <a:avLst/>
          </a:prstGeom>
          <a:noFill/>
          <a:ln/>
        </p:spPr>
        <p:txBody>
          <a:bodyPr wrap="square" lIns="0" tIns="0" rIns="0" bIns="0" rtlCol="0" anchor="ctr"/>
          <a:lstStyle/>
          <a:p>
            <a:pPr indent="0" marL="0">
              <a:buNone/>
            </a:pPr>
            <a:r>
              <a:rPr lang="en-US" sz="1800" b="1" spc="300" kern="0" dirty="0">
                <a:solidFill>
                  <a:srgbClr val="E8590C"/>
                </a:solidFill>
                <a:latin typeface="Calibri" pitchFamily="34" charset="0"/>
                <a:ea typeface="Calibri" pitchFamily="34" charset="-122"/>
                <a:cs typeface="Calibri" pitchFamily="34" charset="-120"/>
              </a:rPr>
              <a:t>4 juin 1996</a:t>
            </a:r>
            <a:endParaRPr lang="en-US" sz="1800" dirty="0"/>
          </a:p>
        </p:txBody>
      </p:sp>
      <p:sp>
        <p:nvSpPr>
          <p:cNvPr id="3" name="Text 1"/>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9AA0A8"/>
                </a:solidFill>
                <a:latin typeface="Calibri" pitchFamily="34" charset="0"/>
                <a:ea typeface="Calibri" pitchFamily="34" charset="-122"/>
                <a:cs typeface="Calibri" pitchFamily="34" charset="-120"/>
              </a:rPr>
              <a:t>Complément Application · S3</a:t>
            </a:r>
            <a:endParaRPr lang="en-US" sz="1000" dirty="0"/>
          </a:p>
        </p:txBody>
      </p:sp>
      <p:sp>
        <p:nvSpPr>
          <p:cNvPr id="4" name="Text 2"/>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9AA0A8"/>
                </a:solidFill>
                <a:latin typeface="Calibri" pitchFamily="34" charset="0"/>
                <a:ea typeface="Calibri" pitchFamily="34" charset="-122"/>
                <a:cs typeface="Calibri" pitchFamily="34" charset="-120"/>
              </a:rPr>
              <a:t>8</a:t>
            </a:r>
            <a:endParaRPr lang="en-US" sz="1000" dirty="0"/>
          </a:p>
        </p:txBody>
      </p:sp>
      <p:sp>
        <p:nvSpPr>
          <p:cNvPr id="6" name="Text 3"/>
          <p:cNvSpPr txBox="1"/>
          <p:nvPr/>
        </p:nvSpPr>
        <p:spPr>
          <a:xfrm>
            <a:off x="640080" y="1645920"/>
            <a:ext cx="10911535" cy="1005840"/>
          </a:xfrm>
          <a:prstGeom prst="rect">
            <a:avLst/>
          </a:prstGeom>
          <a:noFill/>
          <a:ln/>
        </p:spPr>
        <p:txBody>
          <a:bodyPr wrap="square" lIns="0" tIns="0" rIns="0" bIns="0" rtlCol="0" anchor="t"/>
          <a:lstStyle/>
          <a:p>
            <a:pPr indent="0" marL="0">
              <a:buNone/>
            </a:pPr>
            <a:r>
              <a:rPr lang="en-US" sz="3600" b="1" dirty="0">
                <a:solidFill>
                  <a:srgbClr val="FFFFFF"/>
                </a:solidFill>
                <a:latin typeface="Arial" pitchFamily="34" charset="0"/>
                <a:ea typeface="Arial" pitchFamily="34" charset="-122"/>
                <a:cs typeface="Arial" pitchFamily="34" charset="-120"/>
              </a:rPr>
              <a:t>Ariane 5 explose 37 secondes après son premier décollage.</a:t>
            </a:r>
            <a:endParaRPr lang="en-US" sz="3600" dirty="0"/>
          </a:p>
        </p:txBody>
      </p:sp>
      <p:sp>
        <p:nvSpPr>
          <p:cNvPr id="7" name="Shape 4"/>
          <p:cNvSpPr/>
          <p:nvPr/>
        </p:nvSpPr>
        <p:spPr>
          <a:xfrm>
            <a:off x="640080" y="2926080"/>
            <a:ext cx="3474720" cy="2377440"/>
          </a:xfrm>
          <a:prstGeom prst="roundRect">
            <a:avLst>
              <a:gd name="adj" fmla="val 3077"/>
            </a:avLst>
          </a:prstGeom>
          <a:solidFill>
            <a:srgbClr val="2A2D34"/>
          </a:solidFill>
          <a:ln w="12700">
            <a:solidFill>
              <a:srgbClr val="2A2D34"/>
            </a:solidFill>
            <a:prstDash val="solid"/>
          </a:ln>
        </p:spPr>
      </p:sp>
      <p:sp>
        <p:nvSpPr>
          <p:cNvPr id="8" name="Text 5"/>
          <p:cNvSpPr txBox="1"/>
          <p:nvPr/>
        </p:nvSpPr>
        <p:spPr>
          <a:xfrm>
            <a:off x="914400" y="3108960"/>
            <a:ext cx="2926080" cy="457200"/>
          </a:xfrm>
          <a:prstGeom prst="rect">
            <a:avLst/>
          </a:prstGeom>
          <a:noFill/>
          <a:ln/>
        </p:spPr>
        <p:txBody>
          <a:bodyPr wrap="square" lIns="0" tIns="0" rIns="0" bIns="0" rtlCol="0" anchor="ctr"/>
          <a:lstStyle/>
          <a:p>
            <a:pPr indent="0" marL="0">
              <a:buNone/>
            </a:pPr>
            <a:r>
              <a:rPr lang="en-US" sz="1900" b="1" dirty="0">
                <a:solidFill>
                  <a:srgbClr val="E8590C"/>
                </a:solidFill>
                <a:latin typeface="Arial" pitchFamily="34" charset="0"/>
                <a:ea typeface="Arial" pitchFamily="34" charset="-122"/>
                <a:cs typeface="Arial" pitchFamily="34" charset="-120"/>
              </a:rPr>
              <a:t>La cause</a:t>
            </a:r>
            <a:endParaRPr lang="en-US" sz="1900" dirty="0"/>
          </a:p>
        </p:txBody>
      </p:sp>
      <p:sp>
        <p:nvSpPr>
          <p:cNvPr id="9" name="Text 6"/>
          <p:cNvSpPr txBox="1"/>
          <p:nvPr/>
        </p:nvSpPr>
        <p:spPr>
          <a:xfrm>
            <a:off x="914400" y="3657600"/>
            <a:ext cx="2926080" cy="15544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Une valeur liée à la vitesse, sur 64 bits, convertie en entier sur 16 bits.</a:t>
            </a:r>
            <a:endParaRPr lang="en-US" sz="1600" dirty="0"/>
          </a:p>
        </p:txBody>
      </p:sp>
      <p:sp>
        <p:nvSpPr>
          <p:cNvPr id="10" name="Shape 7"/>
          <p:cNvSpPr/>
          <p:nvPr/>
        </p:nvSpPr>
        <p:spPr>
          <a:xfrm>
            <a:off x="4343400" y="2926080"/>
            <a:ext cx="3474720" cy="2377440"/>
          </a:xfrm>
          <a:prstGeom prst="roundRect">
            <a:avLst>
              <a:gd name="adj" fmla="val 3077"/>
            </a:avLst>
          </a:prstGeom>
          <a:solidFill>
            <a:srgbClr val="E8590C"/>
          </a:solidFill>
          <a:ln w="12700">
            <a:solidFill>
              <a:srgbClr val="E8590C"/>
            </a:solidFill>
            <a:prstDash val="solid"/>
          </a:ln>
        </p:spPr>
      </p:sp>
      <p:sp>
        <p:nvSpPr>
          <p:cNvPr id="11" name="Text 8"/>
          <p:cNvSpPr txBox="1"/>
          <p:nvPr/>
        </p:nvSpPr>
        <p:spPr>
          <a:xfrm>
            <a:off x="4617720" y="3108960"/>
            <a:ext cx="2926080" cy="45720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La limite</a:t>
            </a:r>
            <a:endParaRPr lang="en-US" sz="1900" dirty="0"/>
          </a:p>
        </p:txBody>
      </p:sp>
      <p:sp>
        <p:nvSpPr>
          <p:cNvPr id="12" name="Text 9"/>
          <p:cNvSpPr txBox="1"/>
          <p:nvPr/>
        </p:nvSpPr>
        <p:spPr>
          <a:xfrm>
            <a:off x="4617720" y="3657600"/>
            <a:ext cx="2926080" cy="15544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Un entier signé sur 16 bits ne dépasse pas 32 767.</a:t>
            </a:r>
            <a:endParaRPr lang="en-US" sz="1600" dirty="0"/>
          </a:p>
        </p:txBody>
      </p:sp>
      <p:sp>
        <p:nvSpPr>
          <p:cNvPr id="13" name="Shape 10"/>
          <p:cNvSpPr/>
          <p:nvPr/>
        </p:nvSpPr>
        <p:spPr>
          <a:xfrm>
            <a:off x="8046720" y="2926080"/>
            <a:ext cx="3474720" cy="2377440"/>
          </a:xfrm>
          <a:prstGeom prst="roundRect">
            <a:avLst>
              <a:gd name="adj" fmla="val 3077"/>
            </a:avLst>
          </a:prstGeom>
          <a:solidFill>
            <a:srgbClr val="2A2D34"/>
          </a:solidFill>
          <a:ln w="12700">
            <a:solidFill>
              <a:srgbClr val="2A2D34"/>
            </a:solidFill>
            <a:prstDash val="solid"/>
          </a:ln>
        </p:spPr>
      </p:sp>
      <p:sp>
        <p:nvSpPr>
          <p:cNvPr id="14" name="Text 11"/>
          <p:cNvSpPr txBox="1"/>
          <p:nvPr/>
        </p:nvSpPr>
        <p:spPr>
          <a:xfrm>
            <a:off x="8321040" y="3108960"/>
            <a:ext cx="2926080" cy="457200"/>
          </a:xfrm>
          <a:prstGeom prst="rect">
            <a:avLst/>
          </a:prstGeom>
          <a:noFill/>
          <a:ln/>
        </p:spPr>
        <p:txBody>
          <a:bodyPr wrap="square" lIns="0" tIns="0" rIns="0" bIns="0" rtlCol="0" anchor="ctr"/>
          <a:lstStyle/>
          <a:p>
            <a:pPr indent="0" marL="0">
              <a:buNone/>
            </a:pPr>
            <a:r>
              <a:rPr lang="en-US" sz="1900" b="1" dirty="0">
                <a:solidFill>
                  <a:srgbClr val="E8590C"/>
                </a:solidFill>
                <a:latin typeface="Arial" pitchFamily="34" charset="0"/>
                <a:ea typeface="Arial" pitchFamily="34" charset="-122"/>
                <a:cs typeface="Arial" pitchFamily="34" charset="-120"/>
              </a:rPr>
              <a:t>Le piège</a:t>
            </a:r>
            <a:endParaRPr lang="en-US" sz="1900" dirty="0"/>
          </a:p>
        </p:txBody>
      </p:sp>
      <p:sp>
        <p:nvSpPr>
          <p:cNvPr id="15" name="Text 12"/>
          <p:cNvSpPr txBox="1"/>
          <p:nvPr/>
        </p:nvSpPr>
        <p:spPr>
          <a:xfrm>
            <a:off x="8321040" y="3657600"/>
            <a:ext cx="2926080" cy="15544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Le code venait d'Ariane 4, plus lente : là-bas, la valeur tenait.</a:t>
            </a:r>
            <a:endParaRPr lang="en-US" sz="1600" dirty="0"/>
          </a:p>
        </p:txBody>
      </p:sp>
      <p:sp>
        <p:nvSpPr>
          <p:cNvPr id="16" name="Text 13"/>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9AA0A8"/>
                </a:solidFill>
                <a:latin typeface="Calibri" pitchFamily="34" charset="0"/>
                <a:ea typeface="Calibri" pitchFamily="34" charset="-122"/>
                <a:cs typeface="Calibri" pitchFamily="34" charset="-120"/>
              </a:rPr>
              <a:t>Source : J.-L. Lions et al., « Ariane 5 Flight 501 Failure », rapport de la commission d'enquête, ESA/CNES, juillet 1996.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LES ENTIERS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Chaque type entier a une taille, et donc un maximum</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S3</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9</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1371600"/>
                <a:gridCol w="1463040"/>
                <a:gridCol w="2194560"/>
                <a:gridCol w="2194560"/>
                <a:gridCol w="3685032"/>
              </a:tblGrid>
              <a:tr h="47548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Type</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Taille</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Minimum</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Maximum</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Exemple</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r>
              <a:tr h="475488">
                <a:tc>
                  <a:txBody>
                    <a:bodyPr/>
                    <a:lstStyle/>
                    <a:p>
                      <a:pPr indent="0" marL="0">
                        <a:buNone/>
                      </a:pPr>
                      <a:r>
                        <a:rPr lang="en-US" sz="1500" b="1" dirty="0">
                          <a:solidFill>
                            <a:srgbClr val="16181D"/>
                          </a:solidFill>
                          <a:latin typeface="Consolas" pitchFamily="34" charset="0"/>
                          <a:ea typeface="Consolas" pitchFamily="34" charset="-122"/>
                          <a:cs typeface="Consolas" pitchFamily="34" charset="-120"/>
                        </a:rPr>
                        <a:t>byte</a:t>
                      </a:r>
                      <a:endParaRPr lang="en-US" sz="15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1 octet</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255</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un octet d'un fichier</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475488">
                <a:tc>
                  <a:txBody>
                    <a:bodyPr/>
                    <a:lstStyle/>
                    <a:p>
                      <a:pPr indent="0" marL="0">
                        <a:buNone/>
                      </a:pPr>
                      <a:r>
                        <a:rPr lang="en-US" sz="1500" b="1" dirty="0">
                          <a:solidFill>
                            <a:srgbClr val="16181D"/>
                          </a:solidFill>
                          <a:latin typeface="Consolas" pitchFamily="34" charset="0"/>
                          <a:ea typeface="Consolas" pitchFamily="34" charset="-122"/>
                          <a:cs typeface="Consolas" pitchFamily="34" charset="-120"/>
                        </a:rPr>
                        <a:t>short</a:t>
                      </a:r>
                      <a:endParaRPr lang="en-US" sz="15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4E6"/>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2 octets</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4E6"/>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−32 768</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4E6"/>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32 767</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4E6"/>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Ariane 5 : la limite</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4E6"/>
                    </a:solidFill>
                  </a:tcPr>
                </a:tc>
              </a:tr>
              <a:tr h="475488">
                <a:tc>
                  <a:txBody>
                    <a:bodyPr/>
                    <a:lstStyle/>
                    <a:p>
                      <a:pPr indent="0" marL="0">
                        <a:buNone/>
                      </a:pPr>
                      <a:r>
                        <a:rPr lang="en-US" sz="1500" b="1" dirty="0">
                          <a:solidFill>
                            <a:srgbClr val="16181D"/>
                          </a:solidFill>
                          <a:latin typeface="Consolas" pitchFamily="34" charset="0"/>
                          <a:ea typeface="Consolas" pitchFamily="34" charset="-122"/>
                          <a:cs typeface="Consolas" pitchFamily="34" charset="-120"/>
                        </a:rPr>
                        <a:t>ushort</a:t>
                      </a:r>
                      <a:endParaRPr lang="en-US" sz="15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2 octets</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65 535</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un numéro de port réseau</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475488">
                <a:tc>
                  <a:txBody>
                    <a:bodyPr/>
                    <a:lstStyle/>
                    <a:p>
                      <a:pPr indent="0" marL="0">
                        <a:buNone/>
                      </a:pPr>
                      <a:r>
                        <a:rPr lang="en-US" sz="1500" b="1" dirty="0">
                          <a:solidFill>
                            <a:srgbClr val="16181D"/>
                          </a:solidFill>
                          <a:latin typeface="Consolas" pitchFamily="34" charset="0"/>
                          <a:ea typeface="Consolas" pitchFamily="34" charset="-122"/>
                          <a:cs typeface="Consolas" pitchFamily="34" charset="-120"/>
                        </a:rPr>
                        <a:t>int</a:t>
                      </a:r>
                      <a:endParaRPr lang="en-US" sz="15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4 octets</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 −2,1 milliards</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 2,1 milliards</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un compteur d'incidents</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475488">
                <a:tc>
                  <a:txBody>
                    <a:bodyPr/>
                    <a:lstStyle/>
                    <a:p>
                      <a:pPr indent="0" marL="0">
                        <a:buNone/>
                      </a:pPr>
                      <a:r>
                        <a:rPr lang="en-US" sz="1500" b="1" dirty="0">
                          <a:solidFill>
                            <a:srgbClr val="16181D"/>
                          </a:solidFill>
                          <a:latin typeface="Consolas" pitchFamily="34" charset="0"/>
                          <a:ea typeface="Consolas" pitchFamily="34" charset="-122"/>
                          <a:cs typeface="Consolas" pitchFamily="34" charset="-120"/>
                        </a:rPr>
                        <a:t>uint</a:t>
                      </a:r>
                      <a:endParaRPr lang="en-US" sz="15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4 octets</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 4,3 milliards</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une adresse IPv4</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475488">
                <a:tc>
                  <a:txBody>
                    <a:bodyPr/>
                    <a:lstStyle/>
                    <a:p>
                      <a:pPr indent="0" marL="0">
                        <a:buNone/>
                      </a:pPr>
                      <a:r>
                        <a:rPr lang="en-US" sz="1500" b="1" dirty="0">
                          <a:solidFill>
                            <a:srgbClr val="16181D"/>
                          </a:solidFill>
                          <a:latin typeface="Consolas" pitchFamily="34" charset="0"/>
                          <a:ea typeface="Consolas" pitchFamily="34" charset="-122"/>
                          <a:cs typeface="Consolas" pitchFamily="34" charset="-120"/>
                        </a:rPr>
                        <a:t>long</a:t>
                      </a:r>
                      <a:endParaRPr lang="en-US" sz="15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8 octets</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 −9,2 × 10¹⁸</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 9,2 × 10¹⁸</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des millisecondes depuis 1970</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475488">
                <a:tc>
                  <a:txBody>
                    <a:bodyPr/>
                    <a:lstStyle/>
                    <a:p>
                      <a:pPr indent="0" marL="0">
                        <a:buNone/>
                      </a:pPr>
                      <a:r>
                        <a:rPr lang="en-US" sz="1500" b="1" dirty="0">
                          <a:solidFill>
                            <a:srgbClr val="16181D"/>
                          </a:solidFill>
                          <a:latin typeface="Consolas" pitchFamily="34" charset="0"/>
                          <a:ea typeface="Consolas" pitchFamily="34" charset="-122"/>
                          <a:cs typeface="Consolas" pitchFamily="34" charset="-120"/>
                        </a:rPr>
                        <a:t>ulong</a:t>
                      </a:r>
                      <a:endParaRPr lang="en-US" sz="15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8 octets</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 1,8 × 10¹⁹</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une taille de disque en octets</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640080" y="5715000"/>
            <a:ext cx="10911535" cy="365760"/>
          </a:xfrm>
          <a:prstGeom prst="rect">
            <a:avLst/>
          </a:prstGeom>
          <a:noFill/>
          <a:ln/>
        </p:spPr>
        <p:txBody>
          <a:bodyPr wrap="square" lIns="0" tIns="0" rIns="0" bIns="0" rtlCol="0" anchor="ctr"/>
          <a:lstStyle/>
          <a:p>
            <a:pPr indent="0" marL="0">
              <a:buNone/>
            </a:pPr>
            <a:r>
              <a:rPr lang="en-US" sz="1500" b="1" dirty="0">
                <a:solidFill>
                  <a:srgbClr val="16181D"/>
                </a:solidFill>
                <a:latin typeface="Calibri" pitchFamily="34" charset="0"/>
                <a:ea typeface="Calibri" pitchFamily="34" charset="-122"/>
                <a:cs typeface="Calibri" pitchFamily="34" charset="-120"/>
              </a:rPr>
              <a:t>Le u signifie unsigned (non signé) : ces types ne sont jamais négatifs, mais montent deux fois plus haut.</a:t>
            </a:r>
            <a:endParaRPr lang="en-US" sz="1500" dirty="0"/>
          </a:p>
        </p:txBody>
      </p:sp>
      <p:sp>
        <p:nvSpPr>
          <p:cNvPr id="10" name="Text 6"/>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Microsoft Learn, « Types numériques intégraux (référence C#) ».</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LE DÉPASSEMENT</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Que se passe-t-il quand on dépasse le maximum ?</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S3</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10</a:t>
            </a:r>
            <a:endParaRPr lang="en-US" sz="1000" dirty="0"/>
          </a:p>
        </p:txBody>
      </p:sp>
      <p:sp>
        <p:nvSpPr>
          <p:cNvPr id="8" name="Shape 5"/>
          <p:cNvSpPr/>
          <p:nvPr/>
        </p:nvSpPr>
        <p:spPr>
          <a:xfrm>
            <a:off x="640080" y="1783080"/>
            <a:ext cx="6035040" cy="3383280"/>
          </a:xfrm>
          <a:prstGeom prst="roundRect">
            <a:avLst>
              <a:gd name="adj" fmla="val 2162"/>
            </a:avLst>
          </a:prstGeom>
          <a:solidFill>
            <a:srgbClr val="1E2127"/>
          </a:solidFill>
          <a:ln w="12700">
            <a:solidFill>
              <a:srgbClr val="1E2127"/>
            </a:solidFill>
            <a:prstDash val="solid"/>
          </a:ln>
        </p:spPr>
      </p:sp>
      <p:sp>
        <p:nvSpPr>
          <p:cNvPr id="9" name="Text 6"/>
          <p:cNvSpPr txBox="1"/>
          <p:nvPr/>
        </p:nvSpPr>
        <p:spPr>
          <a:xfrm>
            <a:off x="914400" y="2011680"/>
            <a:ext cx="5486400" cy="2926080"/>
          </a:xfrm>
          <a:prstGeom prst="rect">
            <a:avLst/>
          </a:prstGeom>
          <a:noFill/>
          <a:ln/>
        </p:spPr>
        <p:txBody>
          <a:bodyPr wrap="square" lIns="0" tIns="0" rIns="0" bIns="0" rtlCol="0" anchor="t"/>
          <a:lstStyle/>
          <a:p>
            <a:pPr indent="0" marL="0">
              <a:buNone/>
            </a:pPr>
            <a:r>
              <a:rPr lang="en-US" sz="1500" dirty="0">
                <a:solidFill>
                  <a:srgbClr val="E6E6E6"/>
                </a:solidFill>
                <a:latin typeface="Consolas" pitchFamily="34" charset="0"/>
                <a:ea typeface="Consolas" pitchFamily="34" charset="-122"/>
                <a:cs typeface="Consolas" pitchFamily="34" charset="-120"/>
              </a:rPr>
              <a:t>int vues = int.MaxValue;   // 2 147 483 647</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vues = vues + 1;</a:t>
            </a:r>
            <a:endParaRPr lang="en-US" sz="1500" dirty="0"/>
          </a:p>
          <a:p>
            <a:pPr indent="0" marL="0">
              <a:buNone/>
            </a:pPr>
            <a:r>
              <a:rPr lang="en-US" sz="1500" b="1" dirty="0">
                <a:solidFill>
                  <a:srgbClr val="C92A2A"/>
                </a:solidFill>
                <a:latin typeface="Consolas" pitchFamily="34" charset="0"/>
                <a:ea typeface="Consolas" pitchFamily="34" charset="-122"/>
                <a:cs typeface="Consolas" pitchFamily="34" charset="-120"/>
              </a:rPr>
              <a:t>// vues vaut -2 147 483 648 : aucune erreur !</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 </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checked</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    vues = int.MaxValue + 1;  // OverflowException</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a:t>
            </a:r>
            <a:endParaRPr lang="en-US" sz="1500" dirty="0"/>
          </a:p>
        </p:txBody>
      </p:sp>
      <p:sp>
        <p:nvSpPr>
          <p:cNvPr id="10" name="Shape 7"/>
          <p:cNvSpPr/>
          <p:nvPr/>
        </p:nvSpPr>
        <p:spPr>
          <a:xfrm>
            <a:off x="6949440" y="1783080"/>
            <a:ext cx="4572000" cy="1051560"/>
          </a:xfrm>
          <a:prstGeom prst="roundRect">
            <a:avLst>
              <a:gd name="adj" fmla="val 6957"/>
            </a:avLst>
          </a:prstGeom>
          <a:solidFill>
            <a:srgbClr val="F2F3F5"/>
          </a:solidFill>
          <a:ln w="12700">
            <a:solidFill>
              <a:srgbClr val="F2F3F5"/>
            </a:solidFill>
            <a:prstDash val="solid"/>
          </a:ln>
        </p:spPr>
      </p:sp>
      <p:sp>
        <p:nvSpPr>
          <p:cNvPr id="11" name="Text 8"/>
          <p:cNvSpPr txBox="1"/>
          <p:nvPr/>
        </p:nvSpPr>
        <p:spPr>
          <a:xfrm>
            <a:off x="7132320" y="1874520"/>
            <a:ext cx="1371600" cy="868680"/>
          </a:xfrm>
          <a:prstGeom prst="rect">
            <a:avLst/>
          </a:prstGeom>
          <a:noFill/>
          <a:ln/>
        </p:spPr>
        <p:txBody>
          <a:bodyPr wrap="square" lIns="0" tIns="0" rIns="0" bIns="0" rtlCol="0" anchor="ctr"/>
          <a:lstStyle/>
          <a:p>
            <a:pPr indent="0" marL="0">
              <a:buNone/>
            </a:pPr>
            <a:r>
              <a:rPr lang="en-US" sz="1500" b="1" dirty="0">
                <a:solidFill>
                  <a:srgbClr val="E8590C"/>
                </a:solidFill>
                <a:latin typeface="Arial" pitchFamily="34" charset="0"/>
                <a:ea typeface="Arial" pitchFamily="34" charset="-122"/>
                <a:cs typeface="Arial" pitchFamily="34" charset="-120"/>
              </a:rPr>
              <a:t>Déc. 2014</a:t>
            </a:r>
            <a:endParaRPr lang="en-US" sz="1500" dirty="0"/>
          </a:p>
        </p:txBody>
      </p:sp>
      <p:sp>
        <p:nvSpPr>
          <p:cNvPr id="12" name="Text 9"/>
          <p:cNvSpPr txBox="1"/>
          <p:nvPr/>
        </p:nvSpPr>
        <p:spPr>
          <a:xfrm>
            <a:off x="8503920" y="1874520"/>
            <a:ext cx="2926080" cy="868680"/>
          </a:xfrm>
          <a:prstGeom prst="rect">
            <a:avLst/>
          </a:prstGeom>
          <a:noFill/>
          <a:ln/>
        </p:spPr>
        <p:txBody>
          <a:bodyPr wrap="square" lIns="0" tIns="0" rIns="0" bIns="0" rtlCol="0" anchor="ctr"/>
          <a:lstStyle/>
          <a:p>
            <a:pPr indent="0" marL="0">
              <a:buNone/>
            </a:pPr>
            <a:r>
              <a:rPr lang="en-US" sz="1350" dirty="0">
                <a:solidFill>
                  <a:srgbClr val="16181D"/>
                </a:solidFill>
                <a:latin typeface="Calibri" pitchFamily="34" charset="0"/>
                <a:ea typeface="Calibri" pitchFamily="34" charset="-122"/>
                <a:cs typeface="Calibri" pitchFamily="34" charset="-120"/>
              </a:rPr>
              <a:t>Gangnam Style dépasse 2 147 483 647 vues : YouTube passe son compteur en 64 bits.</a:t>
            </a:r>
            <a:endParaRPr lang="en-US" sz="1350" dirty="0"/>
          </a:p>
        </p:txBody>
      </p:sp>
      <p:sp>
        <p:nvSpPr>
          <p:cNvPr id="13" name="Shape 10"/>
          <p:cNvSpPr/>
          <p:nvPr/>
        </p:nvSpPr>
        <p:spPr>
          <a:xfrm>
            <a:off x="6949440" y="2953512"/>
            <a:ext cx="4572000" cy="1051560"/>
          </a:xfrm>
          <a:prstGeom prst="roundRect">
            <a:avLst>
              <a:gd name="adj" fmla="val 6957"/>
            </a:avLst>
          </a:prstGeom>
          <a:solidFill>
            <a:srgbClr val="F2F3F5"/>
          </a:solidFill>
          <a:ln w="12700">
            <a:solidFill>
              <a:srgbClr val="F2F3F5"/>
            </a:solidFill>
            <a:prstDash val="solid"/>
          </a:ln>
        </p:spPr>
      </p:sp>
      <p:sp>
        <p:nvSpPr>
          <p:cNvPr id="14" name="Text 11"/>
          <p:cNvSpPr txBox="1"/>
          <p:nvPr/>
        </p:nvSpPr>
        <p:spPr>
          <a:xfrm>
            <a:off x="7132320" y="3044952"/>
            <a:ext cx="1371600" cy="868680"/>
          </a:xfrm>
          <a:prstGeom prst="rect">
            <a:avLst/>
          </a:prstGeom>
          <a:noFill/>
          <a:ln/>
        </p:spPr>
        <p:txBody>
          <a:bodyPr wrap="square" lIns="0" tIns="0" rIns="0" bIns="0" rtlCol="0" anchor="ctr"/>
          <a:lstStyle/>
          <a:p>
            <a:pPr indent="0" marL="0">
              <a:buNone/>
            </a:pPr>
            <a:r>
              <a:rPr lang="en-US" sz="1500" b="1" dirty="0">
                <a:solidFill>
                  <a:srgbClr val="E8590C"/>
                </a:solidFill>
                <a:latin typeface="Arial" pitchFamily="34" charset="0"/>
                <a:ea typeface="Arial" pitchFamily="34" charset="-122"/>
                <a:cs typeface="Arial" pitchFamily="34" charset="-120"/>
              </a:rPr>
              <a:t>2015</a:t>
            </a:r>
            <a:endParaRPr lang="en-US" sz="1500" dirty="0"/>
          </a:p>
        </p:txBody>
      </p:sp>
      <p:sp>
        <p:nvSpPr>
          <p:cNvPr id="15" name="Text 12"/>
          <p:cNvSpPr txBox="1"/>
          <p:nvPr/>
        </p:nvSpPr>
        <p:spPr>
          <a:xfrm>
            <a:off x="8503920" y="3044952"/>
            <a:ext cx="2926080" cy="868680"/>
          </a:xfrm>
          <a:prstGeom prst="rect">
            <a:avLst/>
          </a:prstGeom>
          <a:noFill/>
          <a:ln/>
        </p:spPr>
        <p:txBody>
          <a:bodyPr wrap="square" lIns="0" tIns="0" rIns="0" bIns="0" rtlCol="0" anchor="ctr"/>
          <a:lstStyle/>
          <a:p>
            <a:pPr indent="0" marL="0">
              <a:buNone/>
            </a:pPr>
            <a:r>
              <a:rPr lang="en-US" sz="1350" dirty="0">
                <a:solidFill>
                  <a:srgbClr val="16181D"/>
                </a:solidFill>
                <a:latin typeface="Calibri" pitchFamily="34" charset="0"/>
                <a:ea typeface="Calibri" pitchFamily="34" charset="-122"/>
                <a:cs typeface="Calibri" pitchFamily="34" charset="-120"/>
              </a:rPr>
              <a:t>Boeing 787 : un compteur déborde après 248 jours. La FAA impose des redémarrages réguliers.</a:t>
            </a:r>
            <a:endParaRPr lang="en-US" sz="1350" dirty="0"/>
          </a:p>
        </p:txBody>
      </p:sp>
      <p:sp>
        <p:nvSpPr>
          <p:cNvPr id="16" name="Shape 13"/>
          <p:cNvSpPr/>
          <p:nvPr/>
        </p:nvSpPr>
        <p:spPr>
          <a:xfrm>
            <a:off x="6949440" y="4123944"/>
            <a:ext cx="4572000" cy="1051560"/>
          </a:xfrm>
          <a:prstGeom prst="roundRect">
            <a:avLst>
              <a:gd name="adj" fmla="val 6957"/>
            </a:avLst>
          </a:prstGeom>
          <a:solidFill>
            <a:srgbClr val="16181D"/>
          </a:solidFill>
          <a:ln w="12700">
            <a:solidFill>
              <a:srgbClr val="16181D"/>
            </a:solidFill>
            <a:prstDash val="solid"/>
          </a:ln>
        </p:spPr>
      </p:sp>
      <p:sp>
        <p:nvSpPr>
          <p:cNvPr id="17" name="Text 14"/>
          <p:cNvSpPr txBox="1"/>
          <p:nvPr/>
        </p:nvSpPr>
        <p:spPr>
          <a:xfrm>
            <a:off x="7132320" y="4215384"/>
            <a:ext cx="1371600" cy="868680"/>
          </a:xfrm>
          <a:prstGeom prst="rect">
            <a:avLst/>
          </a:prstGeom>
          <a:noFill/>
          <a:ln/>
        </p:spPr>
        <p:txBody>
          <a:bodyPr wrap="square" lIns="0" tIns="0" rIns="0" bIns="0" rtlCol="0" anchor="ctr"/>
          <a:lstStyle/>
          <a:p>
            <a:pPr indent="0" marL="0">
              <a:buNone/>
            </a:pPr>
            <a:r>
              <a:rPr lang="en-US" sz="1500" b="1" dirty="0">
                <a:solidFill>
                  <a:srgbClr val="E8590C"/>
                </a:solidFill>
                <a:latin typeface="Arial" pitchFamily="34" charset="0"/>
                <a:ea typeface="Arial" pitchFamily="34" charset="-122"/>
                <a:cs typeface="Arial" pitchFamily="34" charset="-120"/>
              </a:rPr>
              <a:t>CWE-190</a:t>
            </a:r>
            <a:endParaRPr lang="en-US" sz="1500" dirty="0"/>
          </a:p>
        </p:txBody>
      </p:sp>
      <p:sp>
        <p:nvSpPr>
          <p:cNvPr id="18" name="Text 15"/>
          <p:cNvSpPr txBox="1"/>
          <p:nvPr/>
        </p:nvSpPr>
        <p:spPr>
          <a:xfrm>
            <a:off x="8503920" y="4215384"/>
            <a:ext cx="2926080" cy="8686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dépassement d'entier est une faille référencée : on le reverra au Q2.</a:t>
            </a:r>
            <a:endParaRPr lang="en-US" sz="1350" dirty="0"/>
          </a:p>
        </p:txBody>
      </p:sp>
      <p:sp>
        <p:nvSpPr>
          <p:cNvPr id="19" name="Text 16"/>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BBC, 03/12/2014 ; FAA, consigne de navigabilité AD 2015-09-07 (Boeing 787) ; MITRE, CWE-190 « Integer Overflow or Wraparound ».</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LES DÉCIMAUX</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0,1 + 0,2 n'est pas égal à 0,3</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S3</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11</a:t>
            </a:r>
            <a:endParaRPr lang="en-US" sz="1000" dirty="0"/>
          </a:p>
        </p:txBody>
      </p:sp>
      <p:sp>
        <p:nvSpPr>
          <p:cNvPr id="8" name="Shape 5"/>
          <p:cNvSpPr/>
          <p:nvPr/>
        </p:nvSpPr>
        <p:spPr>
          <a:xfrm>
            <a:off x="640080" y="1783080"/>
            <a:ext cx="6035040" cy="3200400"/>
          </a:xfrm>
          <a:prstGeom prst="roundRect">
            <a:avLst>
              <a:gd name="adj" fmla="val 2286"/>
            </a:avLst>
          </a:prstGeom>
          <a:solidFill>
            <a:srgbClr val="1E2127"/>
          </a:solidFill>
          <a:ln w="12700">
            <a:solidFill>
              <a:srgbClr val="1E2127"/>
            </a:solidFill>
            <a:prstDash val="solid"/>
          </a:ln>
        </p:spPr>
      </p:sp>
      <p:sp>
        <p:nvSpPr>
          <p:cNvPr id="9" name="Text 6"/>
          <p:cNvSpPr txBox="1"/>
          <p:nvPr/>
        </p:nvSpPr>
        <p:spPr>
          <a:xfrm>
            <a:off x="914400" y="2011680"/>
            <a:ext cx="5486400" cy="2743200"/>
          </a:xfrm>
          <a:prstGeom prst="rect">
            <a:avLst/>
          </a:prstGeom>
          <a:noFill/>
          <a:ln/>
        </p:spPr>
        <p:txBody>
          <a:bodyPr wrap="square" lIns="0" tIns="0" rIns="0" bIns="0" rtlCol="0" anchor="t"/>
          <a:lstStyle/>
          <a:p>
            <a:pPr indent="0" marL="0">
              <a:buNone/>
            </a:pPr>
            <a:r>
              <a:rPr lang="en-US" sz="1500" dirty="0">
                <a:solidFill>
                  <a:srgbClr val="E6E6E6"/>
                </a:solidFill>
                <a:latin typeface="Consolas" pitchFamily="34" charset="0"/>
                <a:ea typeface="Consolas" pitchFamily="34" charset="-122"/>
                <a:cs typeface="Consolas" pitchFamily="34" charset="-120"/>
              </a:rPr>
              <a:t>double a = 0.1 + 0.2;</a:t>
            </a:r>
            <a:endParaRPr lang="en-US" sz="1500" dirty="0"/>
          </a:p>
          <a:p>
            <a:pPr indent="0" marL="0">
              <a:buNone/>
            </a:pPr>
            <a:r>
              <a:rPr lang="en-US" sz="1500" b="1" dirty="0">
                <a:solidFill>
                  <a:srgbClr val="C92A2A"/>
                </a:solidFill>
                <a:latin typeface="Consolas" pitchFamily="34" charset="0"/>
                <a:ea typeface="Consolas" pitchFamily="34" charset="-122"/>
                <a:cs typeface="Consolas" pitchFamily="34" charset="-120"/>
              </a:rPr>
              <a:t>Console.WriteLine(a == 0.3);   // False</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 </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decimal b = 0.1m + 0.2m;</a:t>
            </a:r>
            <a:endParaRPr lang="en-US" sz="1500" dirty="0"/>
          </a:p>
          <a:p>
            <a:pPr indent="0" marL="0">
              <a:buNone/>
            </a:pPr>
            <a:r>
              <a:rPr lang="en-US" sz="1500" b="1" dirty="0">
                <a:solidFill>
                  <a:srgbClr val="2F9E44"/>
                </a:solidFill>
                <a:latin typeface="Consolas" pitchFamily="34" charset="0"/>
                <a:ea typeface="Consolas" pitchFamily="34" charset="-122"/>
                <a:cs typeface="Consolas" pitchFamily="34" charset="-120"/>
              </a:rPr>
              <a:t>Console.WriteLine(b == 0.3m);  // True</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 </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decimal cout = 3.5m * 85m;     // heures × taux</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949440" y="1783080"/>
          <a:ext cx="4572000" cy="914400"/>
        </p:xfrm>
        <a:graphic>
          <a:graphicData uri="http://schemas.openxmlformats.org/drawingml/2006/table">
            <a:tbl>
              <a:tblPr/>
              <a:tblGrid>
                <a:gridCol w="1188720"/>
                <a:gridCol w="1737360"/>
                <a:gridCol w="1645920"/>
              </a:tblGrid>
              <a:tr h="50292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Précision</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Pour</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r>
              <a:tr h="502920">
                <a:tc>
                  <a:txBody>
                    <a:bodyPr/>
                    <a:lstStyle/>
                    <a:p>
                      <a:pPr indent="0" marL="0">
                        <a:buNone/>
                      </a:pPr>
                      <a:r>
                        <a:rPr lang="en-US" sz="1400" dirty="0">
                          <a:solidFill>
                            <a:srgbClr val="16181D"/>
                          </a:solidFill>
                          <a:latin typeface="Calibri" pitchFamily="34" charset="0"/>
                          <a:ea typeface="Calibri" pitchFamily="34" charset="-122"/>
                          <a:cs typeface="Calibri" pitchFamily="34" charset="-120"/>
                        </a:rPr>
                        <a:t>float</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400" dirty="0">
                          <a:solidFill>
                            <a:srgbClr val="16181D"/>
                          </a:solidFill>
                          <a:latin typeface="Calibri" pitchFamily="34" charset="0"/>
                          <a:ea typeface="Calibri" pitchFamily="34" charset="-122"/>
                          <a:cs typeface="Calibri" pitchFamily="34" charset="-120"/>
                        </a:rPr>
                        <a:t>≈ 7 chiffres</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400" dirty="0">
                          <a:solidFill>
                            <a:srgbClr val="16181D"/>
                          </a:solidFill>
                          <a:latin typeface="Calibri" pitchFamily="34" charset="0"/>
                          <a:ea typeface="Calibri" pitchFamily="34" charset="-122"/>
                          <a:cs typeface="Calibri" pitchFamily="34" charset="-120"/>
                        </a:rPr>
                        <a:t>graphisme, capteurs</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6181D"/>
                          </a:solidFill>
                          <a:latin typeface="Calibri" pitchFamily="34" charset="0"/>
                          <a:ea typeface="Calibri" pitchFamily="34" charset="-122"/>
                          <a:cs typeface="Calibri" pitchFamily="34" charset="-120"/>
                        </a:rPr>
                        <a:t>double</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400" dirty="0">
                          <a:solidFill>
                            <a:srgbClr val="16181D"/>
                          </a:solidFill>
                          <a:latin typeface="Calibri" pitchFamily="34" charset="0"/>
                          <a:ea typeface="Calibri" pitchFamily="34" charset="-122"/>
                          <a:cs typeface="Calibri" pitchFamily="34" charset="-120"/>
                        </a:rPr>
                        <a:t>≈ 15-16 chiffres</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400" dirty="0">
                          <a:solidFill>
                            <a:srgbClr val="16181D"/>
                          </a:solidFill>
                          <a:latin typeface="Calibri" pitchFamily="34" charset="0"/>
                          <a:ea typeface="Calibri" pitchFamily="34" charset="-122"/>
                          <a:cs typeface="Calibri" pitchFamily="34" charset="-120"/>
                        </a:rPr>
                        <a:t>mesures, calculs</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502920">
                <a:tc>
                  <a:txBody>
                    <a:bodyPr/>
                    <a:lstStyle/>
                    <a:p>
                      <a:pPr indent="0" marL="0">
                        <a:buNone/>
                      </a:pPr>
                      <a:r>
                        <a:rPr lang="en-US" sz="1400" dirty="0">
                          <a:solidFill>
                            <a:srgbClr val="16181D"/>
                          </a:solidFill>
                          <a:latin typeface="Calibri" pitchFamily="34" charset="0"/>
                          <a:ea typeface="Calibri" pitchFamily="34" charset="-122"/>
                          <a:cs typeface="Calibri" pitchFamily="34" charset="-120"/>
                        </a:rPr>
                        <a:t>decimal</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400" dirty="0">
                          <a:solidFill>
                            <a:srgbClr val="16181D"/>
                          </a:solidFill>
                          <a:latin typeface="Calibri" pitchFamily="34" charset="0"/>
                          <a:ea typeface="Calibri" pitchFamily="34" charset="-122"/>
                          <a:cs typeface="Calibri" pitchFamily="34" charset="-120"/>
                        </a:rPr>
                        <a:t>28-29 chiffres, exact</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400" dirty="0">
                          <a:solidFill>
                            <a:srgbClr val="16181D"/>
                          </a:solidFill>
                          <a:latin typeface="Calibri" pitchFamily="34" charset="0"/>
                          <a:ea typeface="Calibri" pitchFamily="34" charset="-122"/>
                          <a:cs typeface="Calibri" pitchFamily="34" charset="-120"/>
                        </a:rPr>
                        <a:t>l'argent, les taux</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bl>
          </a:graphicData>
        </a:graphic>
      </p:graphicFrame>
      <p:sp>
        <p:nvSpPr>
          <p:cNvPr id="11" name="Shape 7"/>
          <p:cNvSpPr/>
          <p:nvPr/>
        </p:nvSpPr>
        <p:spPr>
          <a:xfrm>
            <a:off x="6949440" y="3977640"/>
            <a:ext cx="4572000" cy="1417320"/>
          </a:xfrm>
          <a:prstGeom prst="roundRect">
            <a:avLst>
              <a:gd name="adj" fmla="val 5161"/>
            </a:avLst>
          </a:prstGeom>
          <a:solidFill>
            <a:srgbClr val="16181D"/>
          </a:solidFill>
          <a:ln w="12700">
            <a:solidFill>
              <a:srgbClr val="16181D"/>
            </a:solidFill>
            <a:prstDash val="solid"/>
          </a:ln>
        </p:spPr>
      </p:sp>
      <p:sp>
        <p:nvSpPr>
          <p:cNvPr id="12" name="Text 8"/>
          <p:cNvSpPr txBox="1"/>
          <p:nvPr/>
        </p:nvSpPr>
        <p:spPr>
          <a:xfrm>
            <a:off x="7132320" y="4023360"/>
            <a:ext cx="4206240" cy="1325880"/>
          </a:xfrm>
          <a:prstGeom prst="rect">
            <a:avLst/>
          </a:prstGeom>
          <a:noFill/>
          <a:ln/>
        </p:spPr>
        <p:txBody>
          <a:bodyPr wrap="square" lIns="0" tIns="0" rIns="0" bIns="0" rtlCol="0" anchor="ctr"/>
          <a:lstStyle/>
          <a:p>
            <a:pPr indent="0" marL="0">
              <a:buNone/>
            </a:pPr>
            <a:r>
              <a:rPr lang="en-US" sz="1350" b="1" dirty="0">
                <a:solidFill>
                  <a:srgbClr val="E8590C"/>
                </a:solidFill>
                <a:latin typeface="Calibri" pitchFamily="34" charset="0"/>
                <a:ea typeface="Calibri" pitchFamily="34" charset="-122"/>
                <a:cs typeface="Calibri" pitchFamily="34" charset="-120"/>
              </a:rPr>
              <a:t>Dhahran, 1991  </a:t>
            </a:r>
            <a:pPr indent="0" marL="0">
              <a:buNone/>
            </a:pPr>
            <a:r>
              <a:rPr lang="en-US" sz="1350" dirty="0">
                <a:solidFill>
                  <a:srgbClr val="FFFFFF"/>
                </a:solidFill>
                <a:latin typeface="Calibri" pitchFamily="34" charset="0"/>
                <a:ea typeface="Calibri" pitchFamily="34" charset="-122"/>
                <a:cs typeface="Calibri" pitchFamily="34" charset="-120"/>
              </a:rPr>
              <a:t>Une erreur d'arrondi sur le temps, accumulée pendant 100 heures : un missile Patriot n'intercepte pas un Scud. 28 morts.</a:t>
            </a:r>
            <a:endParaRPr lang="en-US" sz="1350" dirty="0"/>
          </a:p>
        </p:txBody>
      </p:sp>
      <p:sp>
        <p:nvSpPr>
          <p:cNvPr id="13" name="Text 9"/>
          <p:cNvSpPr txBox="1"/>
          <p:nvPr/>
        </p:nvSpPr>
        <p:spPr>
          <a:xfrm>
            <a:off x="640080" y="5257800"/>
            <a:ext cx="6035040" cy="457200"/>
          </a:xfrm>
          <a:prstGeom prst="rect">
            <a:avLst/>
          </a:prstGeom>
          <a:noFill/>
          <a:ln/>
        </p:spPr>
        <p:txBody>
          <a:bodyPr wrap="square" lIns="0" tIns="0" rIns="0" bIns="0" rtlCol="0" anchor="ctr"/>
          <a:lstStyle/>
          <a:p>
            <a:pPr indent="0" marL="0">
              <a:buNone/>
            </a:pPr>
            <a:r>
              <a:rPr lang="en-US" sz="1700" b="1" dirty="0">
                <a:solidFill>
                  <a:srgbClr val="16181D"/>
                </a:solidFill>
                <a:latin typeface="Arial" pitchFamily="34" charset="0"/>
                <a:ea typeface="Arial" pitchFamily="34" charset="-122"/>
                <a:cs typeface="Arial" pitchFamily="34" charset="-120"/>
              </a:rPr>
              <a:t>Pour un montant en argent, on utilise toujours decimal (suffixe m : 85m).</a:t>
            </a:r>
            <a:endParaRPr lang="en-US" sz="1700" dirty="0"/>
          </a:p>
        </p:txBody>
      </p:sp>
      <p:sp>
        <p:nvSpPr>
          <p:cNvPr id="14" name="Text 10"/>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US GAO, « Patriot Missile Defense: Software Problem Led to System Failure at Dhahran, Saudi Arabia », GAO/IMTEC-92-26, 1992 ; Microsoft Learn, « Types numériques à virgule flottante ».</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3F5"/>
        </a:solidFill>
      </p:bgPr>
    </p:bg>
    <p:spTree>
      <p:nvGrpSpPr>
        <p:cNvPr id="1" name=""/>
        <p:cNvGrpSpPr/>
        <p:nvPr/>
      </p:nvGrpSpPr>
      <p:grpSpPr>
        <a:xfrm>
          <a:off x="0" y="0"/>
          <a:ext cx="0" cy="0"/>
          <a:chOff x="0" y="0"/>
          <a:chExt cx="0" cy="0"/>
        </a:xfrm>
      </p:grpSpPr>
      <p:sp>
        <p:nvSpPr>
          <p:cNvPr id="2" name="Text 0"/>
          <p:cNvSpPr txBox="1"/>
          <p:nvPr/>
        </p:nvSpPr>
        <p:spPr>
          <a:xfrm>
            <a:off x="640080" y="1463040"/>
            <a:ext cx="3657600" cy="457200"/>
          </a:xfrm>
          <a:prstGeom prst="rect">
            <a:avLst/>
          </a:prstGeom>
          <a:noFill/>
          <a:ln/>
        </p:spPr>
        <p:txBody>
          <a:bodyPr wrap="square" lIns="0" tIns="0" rIns="0" bIns="0" rtlCol="0" anchor="ctr"/>
          <a:lstStyle/>
          <a:p>
            <a:pPr indent="0" marL="0">
              <a:buNone/>
            </a:pPr>
            <a:r>
              <a:rPr lang="en-US" sz="1600" b="1" spc="400" kern="0" dirty="0">
                <a:solidFill>
                  <a:srgbClr val="E8590C"/>
                </a:solidFill>
                <a:latin typeface="Calibri" pitchFamily="34" charset="0"/>
                <a:ea typeface="Calibri" pitchFamily="34" charset="-122"/>
                <a:cs typeface="Calibri" pitchFamily="34" charset="-120"/>
              </a:rPr>
              <a:t>RIDER</a:t>
            </a:r>
            <a:endParaRPr lang="en-US" sz="1600" dirty="0"/>
          </a:p>
        </p:txBody>
      </p:sp>
      <p:sp>
        <p:nvSpPr>
          <p:cNvPr id="3" name="Shape 1"/>
          <p:cNvSpPr/>
          <p:nvPr/>
        </p:nvSpPr>
        <p:spPr>
          <a:xfrm>
            <a:off x="640080" y="2011680"/>
            <a:ext cx="10911535" cy="1005840"/>
          </a:xfrm>
          <a:prstGeom prst="roundRect">
            <a:avLst>
              <a:gd name="adj" fmla="val 7273"/>
            </a:avLst>
          </a:prstGeom>
          <a:solidFill>
            <a:srgbClr val="1E2127"/>
          </a:solidFill>
          <a:ln w="12700">
            <a:solidFill>
              <a:srgbClr val="1E2127"/>
            </a:solidFill>
            <a:prstDash val="solid"/>
          </a:ln>
        </p:spPr>
      </p:sp>
      <p:sp>
        <p:nvSpPr>
          <p:cNvPr id="4" name="Text 2"/>
          <p:cNvSpPr txBox="1"/>
          <p:nvPr/>
        </p:nvSpPr>
        <p:spPr>
          <a:xfrm>
            <a:off x="1005840" y="2011680"/>
            <a:ext cx="10180015" cy="1005840"/>
          </a:xfrm>
          <a:prstGeom prst="rect">
            <a:avLst/>
          </a:prstGeom>
          <a:noFill/>
          <a:ln/>
        </p:spPr>
        <p:txBody>
          <a:bodyPr wrap="square" lIns="0" tIns="0" rIns="0" bIns="0" rtlCol="0" anchor="ctr"/>
          <a:lstStyle/>
          <a:p>
            <a:pPr indent="0" marL="0">
              <a:buNone/>
            </a:pPr>
            <a:r>
              <a:rPr lang="en-US" sz="2800" dirty="0">
                <a:solidFill>
                  <a:srgbClr val="E6E6E6"/>
                </a:solidFill>
                <a:latin typeface="Consolas" pitchFamily="34" charset="0"/>
                <a:ea typeface="Consolas" pitchFamily="34" charset="-122"/>
                <a:cs typeface="Consolas" pitchFamily="34" charset="-120"/>
              </a:rPr>
              <a:t>git checkout s03-etape2-nombres</a:t>
            </a:r>
            <a:endParaRPr lang="en-US" sz="2800" dirty="0"/>
          </a:p>
        </p:txBody>
      </p:sp>
      <p:sp>
        <p:nvSpPr>
          <p:cNvPr id="5" name="Text 3"/>
          <p:cNvSpPr txBox="1"/>
          <p:nvPr/>
        </p:nvSpPr>
        <p:spPr>
          <a:xfrm>
            <a:off x="640080" y="3291840"/>
            <a:ext cx="10911535" cy="731520"/>
          </a:xfrm>
          <a:prstGeom prst="rect">
            <a:avLst/>
          </a:prstGeom>
          <a:noFill/>
          <a:ln/>
        </p:spPr>
        <p:txBody>
          <a:bodyPr wrap="square" lIns="0" tIns="0" rIns="0" bIns="0" rtlCol="0" anchor="t"/>
          <a:lstStyle/>
          <a:p>
            <a:pPr indent="0" marL="0">
              <a:buNone/>
            </a:pPr>
            <a:r>
              <a:rPr lang="en-US" sz="2400" b="1" dirty="0">
                <a:solidFill>
                  <a:srgbClr val="16181D"/>
                </a:solidFill>
                <a:latin typeface="Arial" pitchFamily="34" charset="0"/>
                <a:ea typeface="Arial" pitchFamily="34" charset="-122"/>
                <a:cs typeface="Arial" pitchFamily="34" charset="-120"/>
              </a:rPr>
              <a:t>Les nombres, en vrai</a:t>
            </a:r>
            <a:endParaRPr lang="en-US" sz="2400" dirty="0"/>
          </a:p>
        </p:txBody>
      </p:sp>
      <p:sp>
        <p:nvSpPr>
          <p:cNvPr id="6" name="Text 4"/>
          <p:cNvSpPr txBox="1"/>
          <p:nvPr/>
        </p:nvSpPr>
        <p:spPr>
          <a:xfrm>
            <a:off x="640080" y="4114800"/>
            <a:ext cx="4572000" cy="365760"/>
          </a:xfrm>
          <a:prstGeom prst="rect">
            <a:avLst/>
          </a:prstGeom>
          <a:noFill/>
          <a:ln/>
        </p:spPr>
        <p:txBody>
          <a:bodyPr wrap="square" lIns="0" tIns="0" rIns="0" bIns="0" rtlCol="0" anchor="ctr"/>
          <a:lstStyle/>
          <a:p>
            <a:pPr indent="0" marL="0">
              <a:buNone/>
            </a:pPr>
            <a:r>
              <a:rPr lang="en-US" sz="1300" b="1" spc="200" kern="0" dirty="0">
                <a:solidFill>
                  <a:srgbClr val="5F6670"/>
                </a:solidFill>
                <a:latin typeface="Calibri" pitchFamily="34" charset="0"/>
                <a:ea typeface="Calibri" pitchFamily="34" charset="-122"/>
                <a:cs typeface="Calibri" pitchFamily="34" charset="-120"/>
              </a:rPr>
              <a:t>CE QU'ON REGARDE</a:t>
            </a:r>
            <a:endParaRPr lang="en-US" sz="1300" dirty="0"/>
          </a:p>
        </p:txBody>
      </p:sp>
      <p:sp>
        <p:nvSpPr>
          <p:cNvPr id="7" name="Text 5"/>
          <p:cNvSpPr txBox="1"/>
          <p:nvPr/>
        </p:nvSpPr>
        <p:spPr>
          <a:xfrm>
            <a:off x="640080" y="4526280"/>
            <a:ext cx="10911535" cy="164592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Les MinValue et MaxValue de chaque type</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int.MaxValue + 1 : le dépassement silencieux</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checked : l'erreur qui protège</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0.1 + 0.2 en double et en decimal</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Le coût d'un incident en decimal</a:t>
            </a:r>
            <a:endParaRPr lang="en-US" sz="1800" dirty="0"/>
          </a:p>
        </p:txBody>
      </p:sp>
      <p:sp>
        <p:nvSpPr>
          <p:cNvPr id="8" name="Text 6"/>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640080" y="1463040"/>
            <a:ext cx="2743200" cy="1280160"/>
          </a:xfrm>
          <a:prstGeom prst="rect">
            <a:avLst/>
          </a:prstGeom>
          <a:noFill/>
          <a:ln/>
        </p:spPr>
        <p:txBody>
          <a:bodyPr wrap="square" lIns="0" tIns="0" rIns="0" bIns="0" rtlCol="0" anchor="ctr"/>
          <a:lstStyle/>
          <a:p>
            <a:pPr indent="0" marL="0">
              <a:buNone/>
            </a:pPr>
            <a:r>
              <a:rPr lang="en-US" sz="9600" b="1" dirty="0">
                <a:solidFill>
                  <a:srgbClr val="E8590C"/>
                </a:solidFill>
                <a:latin typeface="Arial" pitchFamily="34" charset="0"/>
                <a:ea typeface="Arial" pitchFamily="34" charset="-122"/>
                <a:cs typeface="Arial" pitchFamily="34" charset="-120"/>
              </a:rPr>
              <a:t>03</a:t>
            </a:r>
            <a:endParaRPr lang="en-US" sz="9600" dirty="0"/>
          </a:p>
        </p:txBody>
      </p:sp>
      <p:sp>
        <p:nvSpPr>
          <p:cNvPr id="3" name="Text 1"/>
          <p:cNvSpPr txBox="1"/>
          <p:nvPr/>
        </p:nvSpPr>
        <p:spPr>
          <a:xfrm>
            <a:off x="640080" y="2834640"/>
            <a:ext cx="10911535" cy="10058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null</a:t>
            </a:r>
            <a:endParaRPr lang="en-US" sz="4400" dirty="0"/>
          </a:p>
        </p:txBody>
      </p:sp>
      <p:sp>
        <p:nvSpPr>
          <p:cNvPr id="4" name="Text 2"/>
          <p:cNvSpPr txBox="1"/>
          <p:nvPr/>
        </p:nvSpPr>
        <p:spPr>
          <a:xfrm>
            <a:off x="640080" y="3840480"/>
            <a:ext cx="10911535" cy="731520"/>
          </a:xfrm>
          <a:prstGeom prst="rect">
            <a:avLst/>
          </a:prstGeom>
          <a:noFill/>
          <a:ln/>
        </p:spPr>
        <p:txBody>
          <a:bodyPr wrap="square" lIns="0" tIns="0" rIns="0" bIns="0" rtlCol="0" anchor="ctr"/>
          <a:lstStyle/>
          <a:p>
            <a:pPr indent="0" marL="0">
              <a:buNone/>
            </a:pPr>
            <a:r>
              <a:rPr lang="en-US" sz="2000" dirty="0">
                <a:solidFill>
                  <a:srgbClr val="C9CDD3"/>
                </a:solidFill>
                <a:latin typeface="Calibri" pitchFamily="34" charset="0"/>
                <a:ea typeface="Calibri" pitchFamily="34" charset="-122"/>
                <a:cs typeface="Calibri" pitchFamily="34" charset="-120"/>
              </a:rPr>
              <a:t>« L'erreur à un milliard de dollars »</a:t>
            </a:r>
            <a:endParaRPr lang="en-US" sz="20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9AA0A8"/>
                </a:solidFill>
                <a:latin typeface="Calibri" pitchFamily="34" charset="0"/>
                <a:ea typeface="Calibri" pitchFamily="34" charset="-122"/>
                <a:cs typeface="Calibri" pitchFamily="34" charset="-120"/>
              </a:rPr>
              <a:t>Complément Application · S3</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9AA0A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640080" y="1097280"/>
            <a:ext cx="10911535" cy="457200"/>
          </a:xfrm>
          <a:prstGeom prst="rect">
            <a:avLst/>
          </a:prstGeom>
          <a:noFill/>
          <a:ln/>
        </p:spPr>
        <p:txBody>
          <a:bodyPr wrap="square" lIns="0" tIns="0" rIns="0" bIns="0" rtlCol="0" anchor="ctr"/>
          <a:lstStyle/>
          <a:p>
            <a:pPr indent="0" marL="0">
              <a:buNone/>
            </a:pPr>
            <a:r>
              <a:rPr lang="en-US" sz="1800" b="1" spc="300" kern="0" dirty="0">
                <a:solidFill>
                  <a:srgbClr val="E8590C"/>
                </a:solidFill>
                <a:latin typeface="Calibri" pitchFamily="34" charset="0"/>
                <a:ea typeface="Calibri" pitchFamily="34" charset="-122"/>
                <a:cs typeface="Calibri" pitchFamily="34" charset="-120"/>
              </a:rPr>
              <a:t>Londres, 2009</a:t>
            </a:r>
            <a:endParaRPr lang="en-US" sz="1800" dirty="0"/>
          </a:p>
        </p:txBody>
      </p:sp>
      <p:sp>
        <p:nvSpPr>
          <p:cNvPr id="3" name="Text 1"/>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9AA0A8"/>
                </a:solidFill>
                <a:latin typeface="Calibri" pitchFamily="34" charset="0"/>
                <a:ea typeface="Calibri" pitchFamily="34" charset="-122"/>
                <a:cs typeface="Calibri" pitchFamily="34" charset="-120"/>
              </a:rPr>
              <a:t>Complément Application · S3</a:t>
            </a:r>
            <a:endParaRPr lang="en-US" sz="1000" dirty="0"/>
          </a:p>
        </p:txBody>
      </p:sp>
      <p:sp>
        <p:nvSpPr>
          <p:cNvPr id="4" name="Text 2"/>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9AA0A8"/>
                </a:solidFill>
                <a:latin typeface="Calibri" pitchFamily="34" charset="0"/>
                <a:ea typeface="Calibri" pitchFamily="34" charset="-122"/>
                <a:cs typeface="Calibri" pitchFamily="34" charset="-120"/>
              </a:rPr>
              <a:t>14</a:t>
            </a:r>
            <a:endParaRPr lang="en-US" sz="1000" dirty="0"/>
          </a:p>
        </p:txBody>
      </p:sp>
      <p:sp>
        <p:nvSpPr>
          <p:cNvPr id="6" name="Text 3"/>
          <p:cNvSpPr txBox="1"/>
          <p:nvPr/>
        </p:nvSpPr>
        <p:spPr>
          <a:xfrm>
            <a:off x="640080" y="1737360"/>
            <a:ext cx="10911535" cy="100584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 Je l'appelle mon erreur à un milliard de dollars. »</a:t>
            </a:r>
            <a:endParaRPr lang="en-US" sz="3800" dirty="0"/>
          </a:p>
        </p:txBody>
      </p:sp>
      <p:sp>
        <p:nvSpPr>
          <p:cNvPr id="7" name="Text 4"/>
          <p:cNvSpPr txBox="1"/>
          <p:nvPr/>
        </p:nvSpPr>
        <p:spPr>
          <a:xfrm>
            <a:off x="640080" y="2834640"/>
            <a:ext cx="10911535" cy="457200"/>
          </a:xfrm>
          <a:prstGeom prst="rect">
            <a:avLst/>
          </a:prstGeom>
          <a:noFill/>
          <a:ln/>
        </p:spPr>
        <p:txBody>
          <a:bodyPr wrap="square" lIns="0" tIns="0" rIns="0" bIns="0" rtlCol="0" anchor="ctr"/>
          <a:lstStyle/>
          <a:p>
            <a:pPr indent="0" marL="0">
              <a:buNone/>
            </a:pPr>
            <a:r>
              <a:rPr lang="en-US" sz="1800" dirty="0">
                <a:solidFill>
                  <a:srgbClr val="C9CDD3"/>
                </a:solidFill>
                <a:latin typeface="Calibri" pitchFamily="34" charset="0"/>
                <a:ea typeface="Calibri" pitchFamily="34" charset="-122"/>
                <a:cs typeface="Calibri" pitchFamily="34" charset="-120"/>
              </a:rPr>
              <a:t>Tony Hoare, inventeur de la référence nulle (1965), conférence QCon, Londres, 2009</a:t>
            </a:r>
            <a:endParaRPr lang="en-US" sz="1800" dirty="0"/>
          </a:p>
        </p:txBody>
      </p:sp>
      <p:sp>
        <p:nvSpPr>
          <p:cNvPr id="8" name="Shape 5"/>
          <p:cNvSpPr/>
          <p:nvPr/>
        </p:nvSpPr>
        <p:spPr>
          <a:xfrm>
            <a:off x="640080" y="3749040"/>
            <a:ext cx="10911535" cy="1371600"/>
          </a:xfrm>
          <a:prstGeom prst="roundRect">
            <a:avLst>
              <a:gd name="adj" fmla="val 5333"/>
            </a:avLst>
          </a:prstGeom>
          <a:solidFill>
            <a:srgbClr val="2A2D34"/>
          </a:solidFill>
          <a:ln w="12700">
            <a:solidFill>
              <a:srgbClr val="2A2D34"/>
            </a:solidFill>
            <a:prstDash val="solid"/>
          </a:ln>
        </p:spPr>
      </p:sp>
      <p:sp>
        <p:nvSpPr>
          <p:cNvPr id="9" name="Text 6"/>
          <p:cNvSpPr txBox="1"/>
          <p:nvPr/>
        </p:nvSpPr>
        <p:spPr>
          <a:xfrm>
            <a:off x="914400" y="3749040"/>
            <a:ext cx="10362895" cy="1371600"/>
          </a:xfrm>
          <a:prstGeom prst="rect">
            <a:avLst/>
          </a:prstGeom>
          <a:noFill/>
          <a:ln/>
        </p:spPr>
        <p:txBody>
          <a:bodyPr wrap="square" lIns="0" tIns="0" rIns="0" bIns="0" rtlCol="0" anchor="ctr"/>
          <a:lstStyle/>
          <a:p>
            <a:pPr indent="0" marL="0">
              <a:buNone/>
            </a:pPr>
            <a:r>
              <a:rPr lang="en-US" sz="1800" b="1" dirty="0">
                <a:solidFill>
                  <a:srgbClr val="E8590C"/>
                </a:solidFill>
                <a:latin typeface="Calibri" pitchFamily="34" charset="0"/>
                <a:ea typeface="Calibri" pitchFamily="34" charset="-122"/>
                <a:cs typeface="Calibri" pitchFamily="34" charset="-120"/>
              </a:rPr>
              <a:t>null = « il n'y a rien ». </a:t>
            </a:r>
            <a:pPr indent="0" marL="0">
              <a:buNone/>
            </a:pPr>
            <a:r>
              <a:rPr lang="en-US" sz="1800" dirty="0">
                <a:solidFill>
                  <a:srgbClr val="FFFFFF"/>
                </a:solidFill>
                <a:latin typeface="Calibri" pitchFamily="34" charset="0"/>
                <a:ea typeface="Calibri" pitchFamily="34" charset="-122"/>
                <a:cs typeface="Calibri" pitchFamily="34" charset="-120"/>
              </a:rPr>
              <a:t>Utiliser une variable null comme si elle contenait un objet fait planter le programme : NullReferenceException, l'erreur la plus fréquente en C#.</a:t>
            </a:r>
            <a:endParaRPr lang="en-US" sz="1800" dirty="0"/>
          </a:p>
        </p:txBody>
      </p:sp>
      <p:sp>
        <p:nvSpPr>
          <p:cNvPr id="10" name="Text 7"/>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9AA0A8"/>
                </a:solidFill>
                <a:latin typeface="Calibri" pitchFamily="34" charset="0"/>
                <a:ea typeface="Calibri" pitchFamily="34" charset="-122"/>
                <a:cs typeface="Calibri" pitchFamily="34" charset="-120"/>
              </a:rPr>
              <a:t>Source : C. A. R. Hoare, « Null References: The Billion Dollar Mistake », QCon London, 2009 ; MITRE, CWE-476 « NULL Pointer Dereference ».</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LE POINT D'INTERROGATION</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string ou string? : dire si « rien » est possible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S3</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15</a:t>
            </a:r>
            <a:endParaRPr lang="en-US" sz="1000" dirty="0"/>
          </a:p>
        </p:txBody>
      </p:sp>
      <p:sp>
        <p:nvSpPr>
          <p:cNvPr id="8" name="Shape 5"/>
          <p:cNvSpPr/>
          <p:nvPr/>
        </p:nvSpPr>
        <p:spPr>
          <a:xfrm>
            <a:off x="640080" y="1783080"/>
            <a:ext cx="6949440" cy="2560320"/>
          </a:xfrm>
          <a:prstGeom prst="roundRect">
            <a:avLst>
              <a:gd name="adj" fmla="val 2857"/>
            </a:avLst>
          </a:prstGeom>
          <a:solidFill>
            <a:srgbClr val="1E2127"/>
          </a:solidFill>
          <a:ln w="12700">
            <a:solidFill>
              <a:srgbClr val="1E2127"/>
            </a:solidFill>
            <a:prstDash val="solid"/>
          </a:ln>
        </p:spPr>
      </p:sp>
      <p:sp>
        <p:nvSpPr>
          <p:cNvPr id="9" name="Text 6"/>
          <p:cNvSpPr txBox="1"/>
          <p:nvPr/>
        </p:nvSpPr>
        <p:spPr>
          <a:xfrm>
            <a:off x="914400" y="2011680"/>
            <a:ext cx="6400800" cy="2103120"/>
          </a:xfrm>
          <a:prstGeom prst="rect">
            <a:avLst/>
          </a:prstGeom>
          <a:noFill/>
          <a:ln/>
        </p:spPr>
        <p:txBody>
          <a:bodyPr wrap="square" lIns="0" tIns="0" rIns="0" bIns="0" rtlCol="0" anchor="t"/>
          <a:lstStyle/>
          <a:p>
            <a:pPr indent="0" marL="0">
              <a:buNone/>
            </a:pPr>
            <a:r>
              <a:rPr lang="en-US" sz="1500" dirty="0">
                <a:solidFill>
                  <a:srgbClr val="E6E6E6"/>
                </a:solidFill>
                <a:latin typeface="Consolas" pitchFamily="34" charset="0"/>
                <a:ea typeface="Consolas" pitchFamily="34" charset="-122"/>
                <a:cs typeface="Consolas" pitchFamily="34" charset="-120"/>
              </a:rPr>
              <a:t>public string Title { get; }          // jamais null</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public Analyst? AssignedTo { get; }   // peut être null</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 </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Console.WriteLine(incident.AssignedTo.Name);</a:t>
            </a:r>
            <a:endParaRPr lang="en-US" sz="1500" dirty="0"/>
          </a:p>
          <a:p>
            <a:pPr indent="0" marL="0">
              <a:buNone/>
            </a:pPr>
            <a:r>
              <a:rPr lang="en-US" sz="1500" b="1" dirty="0">
                <a:solidFill>
                  <a:srgbClr val="E67700"/>
                </a:solidFill>
                <a:latin typeface="Consolas" pitchFamily="34" charset="0"/>
                <a:ea typeface="Consolas" pitchFamily="34" charset="-122"/>
                <a:cs typeface="Consolas" pitchFamily="34" charset="-120"/>
              </a:rPr>
              <a:t>// avertissement : AssignedTo peut être null</a:t>
            </a:r>
            <a:endParaRPr lang="en-US" sz="1500" dirty="0"/>
          </a:p>
        </p:txBody>
      </p:sp>
      <p:sp>
        <p:nvSpPr>
          <p:cNvPr id="10" name="Shape 7"/>
          <p:cNvSpPr/>
          <p:nvPr/>
        </p:nvSpPr>
        <p:spPr>
          <a:xfrm>
            <a:off x="7863840" y="1783080"/>
            <a:ext cx="3657600" cy="2560320"/>
          </a:xfrm>
          <a:prstGeom prst="roundRect">
            <a:avLst>
              <a:gd name="adj" fmla="val 2857"/>
            </a:avLst>
          </a:prstGeom>
          <a:solidFill>
            <a:srgbClr val="16181D"/>
          </a:solidFill>
          <a:ln w="12700">
            <a:solidFill>
              <a:srgbClr val="16181D"/>
            </a:solidFill>
            <a:prstDash val="solid"/>
          </a:ln>
        </p:spPr>
      </p:sp>
      <p:sp>
        <p:nvSpPr>
          <p:cNvPr id="11" name="Text 8"/>
          <p:cNvSpPr txBox="1"/>
          <p:nvPr/>
        </p:nvSpPr>
        <p:spPr>
          <a:xfrm>
            <a:off x="8092440" y="1965960"/>
            <a:ext cx="3200400" cy="2194560"/>
          </a:xfrm>
          <a:prstGeom prst="rect">
            <a:avLst/>
          </a:prstGeom>
          <a:noFill/>
          <a:ln/>
        </p:spPr>
        <p:txBody>
          <a:bodyPr wrap="square" lIns="0" tIns="0" rIns="0" bIns="0" rtlCol="0" anchor="t"/>
          <a:lstStyle/>
          <a:p>
            <a:pPr indent="0" marL="0">
              <a:buNone/>
            </a:pPr>
            <a:r>
              <a:rPr lang="en-US" sz="1800" b="1" dirty="0">
                <a:solidFill>
                  <a:srgbClr val="E8590C"/>
                </a:solidFill>
                <a:latin typeface="Calibri" pitchFamily="34" charset="0"/>
                <a:ea typeface="Calibri" pitchFamily="34" charset="-122"/>
                <a:cs typeface="Calibri" pitchFamily="34" charset="-120"/>
              </a:rPr>
              <a:t>L'étiquette « fragile »</a:t>
            </a:r>
            <a:endParaRPr lang="en-US" sz="1800" dirty="0"/>
          </a:p>
          <a:p>
            <a:pPr indent="0" marL="0">
              <a:buNone/>
            </a:pPr>
            <a:endParaRPr lang="en-US" sz="1800" dirty="0"/>
          </a:p>
          <a:p>
            <a:pPr indent="0" marL="0">
              <a:buNone/>
            </a:pPr>
            <a:r>
              <a:rPr lang="en-US" sz="1500" dirty="0">
                <a:solidFill>
                  <a:srgbClr val="FFFFFF"/>
                </a:solidFill>
                <a:latin typeface="Calibri" pitchFamily="34" charset="0"/>
                <a:ea typeface="Calibri" pitchFamily="34" charset="-122"/>
                <a:cs typeface="Calibri" pitchFamily="34" charset="-120"/>
              </a:rPr>
              <a:t>Le point d'interrogation ne change rien au fonctionnement : il prévient. Le compilateur signale ensuite chaque endroit où le cas vide n'est pas géré.</a:t>
            </a:r>
            <a:endParaRPr lang="en-US" sz="1800" dirty="0"/>
          </a:p>
        </p:txBody>
      </p:sp>
      <p:sp>
        <p:nvSpPr>
          <p:cNvPr id="12" name="Text 9"/>
          <p:cNvSpPr txBox="1"/>
          <p:nvPr/>
        </p:nvSpPr>
        <p:spPr>
          <a:xfrm>
            <a:off x="640080" y="4663440"/>
            <a:ext cx="10911535" cy="457200"/>
          </a:xfrm>
          <a:prstGeom prst="rect">
            <a:avLst/>
          </a:prstGeom>
          <a:noFill/>
          <a:ln/>
        </p:spPr>
        <p:txBody>
          <a:bodyPr wrap="square" lIns="0" tIns="0" rIns="0" bIns="0" rtlCol="0" anchor="ctr"/>
          <a:lstStyle/>
          <a:p>
            <a:pPr indent="0" marL="0">
              <a:buNone/>
            </a:pPr>
            <a:r>
              <a:rPr lang="en-US" sz="1500" dirty="0">
                <a:solidFill>
                  <a:srgbClr val="5F6670"/>
                </a:solidFill>
                <a:latin typeface="Calibri" pitchFamily="34" charset="0"/>
                <a:ea typeface="Calibri" pitchFamily="34" charset="-122"/>
                <a:cs typeface="Calibri" pitchFamily="34" charset="-120"/>
              </a:rPr>
              <a:t>Activé par &lt;Nullable&gt;enable&lt;/Nullable&gt; dans le .csproj (par défaut dans les nouveaux projets .NET).</a:t>
            </a:r>
            <a:endParaRPr lang="en-US" sz="1500" dirty="0"/>
          </a:p>
        </p:txBody>
      </p:sp>
      <p:sp>
        <p:nvSpPr>
          <p:cNvPr id="13" name="Text 10"/>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Microsoft Learn, « Types référence nullables (C#) ».</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LES OPÉRATEURS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Quatre opérateurs pour gérer le vide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S3</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16</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1371600"/>
                <a:gridCol w="3017520"/>
                <a:gridCol w="3566160"/>
                <a:gridCol w="2953512"/>
              </a:tblGrid>
              <a:tr h="5669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Opérateur</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Se lit</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Exemple</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Résultat si null</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r>
              <a:tr h="566928">
                <a:tc>
                  <a:txBody>
                    <a:bodyPr/>
                    <a:lstStyle/>
                    <a:p>
                      <a:pPr indent="0" marL="0">
                        <a:buNone/>
                      </a:pPr>
                      <a:r>
                        <a:rPr lang="en-US" sz="1500" b="1" dirty="0">
                          <a:solidFill>
                            <a:srgbClr val="16181D"/>
                          </a:solidFill>
                          <a:latin typeface="Consolas" pitchFamily="34" charset="0"/>
                          <a:ea typeface="Consolas" pitchFamily="34" charset="-122"/>
                          <a:cs typeface="Consolas" pitchFamily="34" charset="-120"/>
                        </a:rPr>
                        <a:t>?.</a:t>
                      </a:r>
                      <a:endParaRPr lang="en-US" sz="15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si ce n'est pas null, continue</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onsolas" pitchFamily="34" charset="0"/>
                          <a:ea typeface="Consolas" pitchFamily="34" charset="-122"/>
                          <a:cs typeface="Consolas" pitchFamily="34" charset="-120"/>
                        </a:rPr>
                        <a:t>incident.AssignedTo?.Name</a:t>
                      </a:r>
                      <a:endParaRPr lang="en-US" sz="15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null, sans planter</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6181D"/>
                          </a:solidFill>
                          <a:latin typeface="Consolas" pitchFamily="34" charset="0"/>
                          <a:ea typeface="Consolas" pitchFamily="34" charset="-122"/>
                          <a:cs typeface="Consolas" pitchFamily="34" charset="-120"/>
                        </a:rPr>
                        <a:t>??</a:t>
                      </a:r>
                      <a:endParaRPr lang="en-US" sz="15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sinon, prends cette valeur</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500" dirty="0">
                          <a:solidFill>
                            <a:srgbClr val="16181D"/>
                          </a:solidFill>
                          <a:latin typeface="Consolas" pitchFamily="34" charset="0"/>
                          <a:ea typeface="Consolas" pitchFamily="34" charset="-122"/>
                          <a:cs typeface="Consolas" pitchFamily="34" charset="-120"/>
                        </a:rPr>
                        <a:t>nom ?? "non assigné"</a:t>
                      </a:r>
                      <a:endParaRPr lang="en-US" sz="15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"non assigné"</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566928">
                <a:tc>
                  <a:txBody>
                    <a:bodyPr/>
                    <a:lstStyle/>
                    <a:p>
                      <a:pPr indent="0" marL="0">
                        <a:buNone/>
                      </a:pPr>
                      <a:r>
                        <a:rPr lang="en-US" sz="1500" b="1" dirty="0">
                          <a:solidFill>
                            <a:srgbClr val="16181D"/>
                          </a:solidFill>
                          <a:latin typeface="Consolas" pitchFamily="34" charset="0"/>
                          <a:ea typeface="Consolas" pitchFamily="34" charset="-122"/>
                          <a:cs typeface="Consolas" pitchFamily="34" charset="-120"/>
                        </a:rPr>
                        <a:t>??=</a:t>
                      </a:r>
                      <a:endParaRPr lang="en-US" sz="15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si c'est null, remplis-le</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onsolas" pitchFamily="34" charset="0"/>
                          <a:ea typeface="Consolas" pitchFamily="34" charset="-122"/>
                          <a:cs typeface="Consolas" pitchFamily="34" charset="-120"/>
                        </a:rPr>
                        <a:t>titre ??= "Sans titre"</a:t>
                      </a:r>
                      <a:endParaRPr lang="en-US" sz="15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la variable est remplie</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6181D"/>
                          </a:solidFill>
                          <a:latin typeface="Consolas" pitchFamily="34" charset="0"/>
                          <a:ea typeface="Consolas" pitchFamily="34" charset="-122"/>
                          <a:cs typeface="Consolas" pitchFamily="34" charset="-120"/>
                        </a:rPr>
                        <a:t>!</a:t>
                      </a:r>
                      <a:endParaRPr lang="en-US" sz="15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DECEC"/>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fais-moi confiance</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DECEC"/>
                    </a:solidFill>
                  </a:tcPr>
                </a:tc>
                <a:tc>
                  <a:txBody>
                    <a:bodyPr/>
                    <a:lstStyle/>
                    <a:p>
                      <a:pPr indent="0" marL="0">
                        <a:buNone/>
                      </a:pPr>
                      <a:r>
                        <a:rPr lang="en-US" sz="1500" dirty="0">
                          <a:solidFill>
                            <a:srgbClr val="16181D"/>
                          </a:solidFill>
                          <a:latin typeface="Consolas" pitchFamily="34" charset="0"/>
                          <a:ea typeface="Consolas" pitchFamily="34" charset="-122"/>
                          <a:cs typeface="Consolas" pitchFamily="34" charset="-120"/>
                        </a:rPr>
                        <a:t>incident.AssignedTo!.Name</a:t>
                      </a:r>
                      <a:endParaRPr lang="en-US" sz="15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DECEC"/>
                    </a:solidFill>
                  </a:tcPr>
                </a:tc>
                <a:tc>
                  <a:txBody>
                    <a:bodyPr/>
                    <a:lstStyle/>
                    <a:p>
                      <a:pPr indent="0" marL="0">
                        <a:buNone/>
                      </a:pPr>
                      <a:r>
                        <a:rPr lang="en-US" sz="1500" dirty="0">
                          <a:solidFill>
                            <a:srgbClr val="C92A2A"/>
                          </a:solidFill>
                          <a:latin typeface="Calibri" pitchFamily="34" charset="0"/>
                          <a:ea typeface="Calibri" pitchFamily="34" charset="-122"/>
                          <a:cs typeface="Calibri" pitchFamily="34" charset="-120"/>
                        </a:rPr>
                        <a:t>plantage (NullReferenceException)</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DECEC"/>
                    </a:solidFill>
                  </a:tcPr>
                </a:tc>
              </a:tr>
            </a:tbl>
          </a:graphicData>
        </a:graphic>
      </p:graphicFrame>
      <p:sp>
        <p:nvSpPr>
          <p:cNvPr id="9" name="Shape 5"/>
          <p:cNvSpPr/>
          <p:nvPr/>
        </p:nvSpPr>
        <p:spPr>
          <a:xfrm>
            <a:off x="640080" y="4892040"/>
            <a:ext cx="10911535" cy="914400"/>
          </a:xfrm>
          <a:prstGeom prst="roundRect">
            <a:avLst>
              <a:gd name="adj" fmla="val 8000"/>
            </a:avLst>
          </a:prstGeom>
          <a:solidFill>
            <a:srgbClr val="16181D"/>
          </a:solidFill>
          <a:ln w="12700">
            <a:solidFill>
              <a:srgbClr val="16181D"/>
            </a:solidFill>
            <a:prstDash val="solid"/>
          </a:ln>
        </p:spPr>
      </p:sp>
      <p:sp>
        <p:nvSpPr>
          <p:cNvPr id="10" name="Text 6"/>
          <p:cNvSpPr txBox="1"/>
          <p:nvPr/>
        </p:nvSpPr>
        <p:spPr>
          <a:xfrm>
            <a:off x="914400" y="4892040"/>
            <a:ext cx="10362895" cy="9144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 ! fait taire le compilateur sans rien protéger : c'est comme arracher l'étiquette « fragile » d'un colis.</a:t>
            </a:r>
            <a:endParaRPr lang="en-US" sz="1700" dirty="0"/>
          </a:p>
        </p:txBody>
      </p:sp>
      <p:sp>
        <p:nvSpPr>
          <p:cNvPr id="11" name="Text 7"/>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Microsoft Learn, opérateurs ?. ?? ??= et ! (null-forgiving).</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3F5"/>
        </a:solidFill>
      </p:bgPr>
    </p:bg>
    <p:spTree>
      <p:nvGrpSpPr>
        <p:cNvPr id="1" name=""/>
        <p:cNvGrpSpPr/>
        <p:nvPr/>
      </p:nvGrpSpPr>
      <p:grpSpPr>
        <a:xfrm>
          <a:off x="0" y="0"/>
          <a:ext cx="0" cy="0"/>
          <a:chOff x="0" y="0"/>
          <a:chExt cx="0" cy="0"/>
        </a:xfrm>
      </p:grpSpPr>
      <p:sp>
        <p:nvSpPr>
          <p:cNvPr id="2" name="Text 0"/>
          <p:cNvSpPr txBox="1"/>
          <p:nvPr/>
        </p:nvSpPr>
        <p:spPr>
          <a:xfrm>
            <a:off x="640080" y="1463040"/>
            <a:ext cx="3657600" cy="457200"/>
          </a:xfrm>
          <a:prstGeom prst="rect">
            <a:avLst/>
          </a:prstGeom>
          <a:noFill/>
          <a:ln/>
        </p:spPr>
        <p:txBody>
          <a:bodyPr wrap="square" lIns="0" tIns="0" rIns="0" bIns="0" rtlCol="0" anchor="ctr"/>
          <a:lstStyle/>
          <a:p>
            <a:pPr indent="0" marL="0">
              <a:buNone/>
            </a:pPr>
            <a:r>
              <a:rPr lang="en-US" sz="1600" b="1" spc="400" kern="0" dirty="0">
                <a:solidFill>
                  <a:srgbClr val="E8590C"/>
                </a:solidFill>
                <a:latin typeface="Calibri" pitchFamily="34" charset="0"/>
                <a:ea typeface="Calibri" pitchFamily="34" charset="-122"/>
                <a:cs typeface="Calibri" pitchFamily="34" charset="-120"/>
              </a:rPr>
              <a:t>RIDER</a:t>
            </a:r>
            <a:endParaRPr lang="en-US" sz="1600" dirty="0"/>
          </a:p>
        </p:txBody>
      </p:sp>
      <p:sp>
        <p:nvSpPr>
          <p:cNvPr id="3" name="Shape 1"/>
          <p:cNvSpPr/>
          <p:nvPr/>
        </p:nvSpPr>
        <p:spPr>
          <a:xfrm>
            <a:off x="640080" y="2011680"/>
            <a:ext cx="10911535" cy="1005840"/>
          </a:xfrm>
          <a:prstGeom prst="roundRect">
            <a:avLst>
              <a:gd name="adj" fmla="val 7273"/>
            </a:avLst>
          </a:prstGeom>
          <a:solidFill>
            <a:srgbClr val="1E2127"/>
          </a:solidFill>
          <a:ln w="12700">
            <a:solidFill>
              <a:srgbClr val="1E2127"/>
            </a:solidFill>
            <a:prstDash val="solid"/>
          </a:ln>
        </p:spPr>
      </p:sp>
      <p:sp>
        <p:nvSpPr>
          <p:cNvPr id="4" name="Text 2"/>
          <p:cNvSpPr txBox="1"/>
          <p:nvPr/>
        </p:nvSpPr>
        <p:spPr>
          <a:xfrm>
            <a:off x="1005840" y="2011680"/>
            <a:ext cx="10180015" cy="1005840"/>
          </a:xfrm>
          <a:prstGeom prst="rect">
            <a:avLst/>
          </a:prstGeom>
          <a:noFill/>
          <a:ln/>
        </p:spPr>
        <p:txBody>
          <a:bodyPr wrap="square" lIns="0" tIns="0" rIns="0" bIns="0" rtlCol="0" anchor="ctr"/>
          <a:lstStyle/>
          <a:p>
            <a:pPr indent="0" marL="0">
              <a:buNone/>
            </a:pPr>
            <a:r>
              <a:rPr lang="en-US" sz="2800" dirty="0">
                <a:solidFill>
                  <a:srgbClr val="E6E6E6"/>
                </a:solidFill>
                <a:latin typeface="Consolas" pitchFamily="34" charset="0"/>
                <a:ea typeface="Consolas" pitchFamily="34" charset="-122"/>
                <a:cs typeface="Consolas" pitchFamily="34" charset="-120"/>
              </a:rPr>
              <a:t>git checkout s03-etape3-null</a:t>
            </a:r>
            <a:endParaRPr lang="en-US" sz="2800" dirty="0"/>
          </a:p>
        </p:txBody>
      </p:sp>
      <p:sp>
        <p:nvSpPr>
          <p:cNvPr id="5" name="Text 3"/>
          <p:cNvSpPr txBox="1"/>
          <p:nvPr/>
        </p:nvSpPr>
        <p:spPr>
          <a:xfrm>
            <a:off x="640080" y="3291840"/>
            <a:ext cx="10911535" cy="731520"/>
          </a:xfrm>
          <a:prstGeom prst="rect">
            <a:avLst/>
          </a:prstGeom>
          <a:noFill/>
          <a:ln/>
        </p:spPr>
        <p:txBody>
          <a:bodyPr wrap="square" lIns="0" tIns="0" rIns="0" bIns="0" rtlCol="0" anchor="t"/>
          <a:lstStyle/>
          <a:p>
            <a:pPr indent="0" marL="0">
              <a:buNone/>
            </a:pPr>
            <a:r>
              <a:rPr lang="en-US" sz="2400" b="1" dirty="0">
                <a:solidFill>
                  <a:srgbClr val="16181D"/>
                </a:solidFill>
                <a:latin typeface="Arial" pitchFamily="34" charset="0"/>
                <a:ea typeface="Arial" pitchFamily="34" charset="-122"/>
                <a:cs typeface="Arial" pitchFamily="34" charset="-120"/>
              </a:rPr>
              <a:t>Gérer le vide, en vrai</a:t>
            </a:r>
            <a:endParaRPr lang="en-US" sz="2400" dirty="0"/>
          </a:p>
        </p:txBody>
      </p:sp>
      <p:sp>
        <p:nvSpPr>
          <p:cNvPr id="6" name="Text 4"/>
          <p:cNvSpPr txBox="1"/>
          <p:nvPr/>
        </p:nvSpPr>
        <p:spPr>
          <a:xfrm>
            <a:off x="640080" y="4114800"/>
            <a:ext cx="4572000" cy="365760"/>
          </a:xfrm>
          <a:prstGeom prst="rect">
            <a:avLst/>
          </a:prstGeom>
          <a:noFill/>
          <a:ln/>
        </p:spPr>
        <p:txBody>
          <a:bodyPr wrap="square" lIns="0" tIns="0" rIns="0" bIns="0" rtlCol="0" anchor="ctr"/>
          <a:lstStyle/>
          <a:p>
            <a:pPr indent="0" marL="0">
              <a:buNone/>
            </a:pPr>
            <a:r>
              <a:rPr lang="en-US" sz="1300" b="1" spc="200" kern="0" dirty="0">
                <a:solidFill>
                  <a:srgbClr val="5F6670"/>
                </a:solidFill>
                <a:latin typeface="Calibri" pitchFamily="34" charset="0"/>
                <a:ea typeface="Calibri" pitchFamily="34" charset="-122"/>
                <a:cs typeface="Calibri" pitchFamily="34" charset="-120"/>
              </a:rPr>
              <a:t>CE QU'ON REGARDE</a:t>
            </a:r>
            <a:endParaRPr lang="en-US" sz="1300" dirty="0"/>
          </a:p>
        </p:txBody>
      </p:sp>
      <p:sp>
        <p:nvSpPr>
          <p:cNvPr id="7" name="Text 5"/>
          <p:cNvSpPr txBox="1"/>
          <p:nvPr/>
        </p:nvSpPr>
        <p:spPr>
          <a:xfrm>
            <a:off x="640080" y="4526280"/>
            <a:ext cx="10911535" cy="164592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Un incident sans analyste : AssignedTo vaut null</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 et ?? : afficher « non assigné » sans planter</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Le ! : l'avertissement disparaît, le plantage reste</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string.IsNullOrWhiteSpace : la vérification du titre</a:t>
            </a:r>
            <a:endParaRPr lang="en-US" sz="1800" dirty="0"/>
          </a:p>
        </p:txBody>
      </p:sp>
      <p:sp>
        <p:nvSpPr>
          <p:cNvPr id="8" name="Text 6"/>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640080" y="1463040"/>
            <a:ext cx="2743200" cy="1280160"/>
          </a:xfrm>
          <a:prstGeom prst="rect">
            <a:avLst/>
          </a:prstGeom>
          <a:noFill/>
          <a:ln/>
        </p:spPr>
        <p:txBody>
          <a:bodyPr wrap="square" lIns="0" tIns="0" rIns="0" bIns="0" rtlCol="0" anchor="ctr"/>
          <a:lstStyle/>
          <a:p>
            <a:pPr indent="0" marL="0">
              <a:buNone/>
            </a:pPr>
            <a:r>
              <a:rPr lang="en-US" sz="9600" b="1" dirty="0">
                <a:solidFill>
                  <a:srgbClr val="E8590C"/>
                </a:solidFill>
                <a:latin typeface="Arial" pitchFamily="34" charset="0"/>
                <a:ea typeface="Arial" pitchFamily="34" charset="-122"/>
                <a:cs typeface="Arial" pitchFamily="34" charset="-120"/>
              </a:rPr>
              <a:t>04</a:t>
            </a:r>
            <a:endParaRPr lang="en-US" sz="9600" dirty="0"/>
          </a:p>
        </p:txBody>
      </p:sp>
      <p:sp>
        <p:nvSpPr>
          <p:cNvPr id="3" name="Text 1"/>
          <p:cNvSpPr txBox="1"/>
          <p:nvPr/>
        </p:nvSpPr>
        <p:spPr>
          <a:xfrm>
            <a:off x="640080" y="2834640"/>
            <a:ext cx="10911535" cy="10058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Les chaînes de caractères</a:t>
            </a:r>
            <a:endParaRPr lang="en-US" sz="4400" dirty="0"/>
          </a:p>
        </p:txBody>
      </p:sp>
      <p:sp>
        <p:nvSpPr>
          <p:cNvPr id="4" name="Text 2"/>
          <p:cNvSpPr txBox="1"/>
          <p:nvPr/>
        </p:nvSpPr>
        <p:spPr>
          <a:xfrm>
            <a:off x="640080" y="3840480"/>
            <a:ext cx="10911535" cy="731520"/>
          </a:xfrm>
          <a:prstGeom prst="rect">
            <a:avLst/>
          </a:prstGeom>
          <a:noFill/>
          <a:ln/>
        </p:spPr>
        <p:txBody>
          <a:bodyPr wrap="square" lIns="0" tIns="0" rIns="0" bIns="0" rtlCol="0" anchor="ctr"/>
          <a:lstStyle/>
          <a:p>
            <a:pPr indent="0" marL="0">
              <a:buNone/>
            </a:pPr>
            <a:r>
              <a:rPr lang="en-US" sz="2000" dirty="0">
                <a:solidFill>
                  <a:srgbClr val="C9CDD3"/>
                </a:solidFill>
                <a:latin typeface="Calibri" pitchFamily="34" charset="0"/>
                <a:ea typeface="Calibri" pitchFamily="34" charset="-122"/>
                <a:cs typeface="Calibri" pitchFamily="34" charset="-120"/>
              </a:rPr>
              <a:t>Interpolation, formats, culture</a:t>
            </a:r>
            <a:endParaRPr lang="en-US" sz="20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9AA0A8"/>
                </a:solidFill>
                <a:latin typeface="Calibri" pitchFamily="34" charset="0"/>
                <a:ea typeface="Calibri" pitchFamily="34" charset="-122"/>
                <a:cs typeface="Calibri" pitchFamily="34" charset="-120"/>
              </a:rPr>
              <a:t>Complément Application · S3</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9AA0A8"/>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CONSTRUIRE DU TEXTE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Trois façons d'assembler du texte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S3</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19</a:t>
            </a:r>
            <a:endParaRPr lang="en-US" sz="1000" dirty="0"/>
          </a:p>
        </p:txBody>
      </p:sp>
      <p:sp>
        <p:nvSpPr>
          <p:cNvPr id="8" name="Shape 5"/>
          <p:cNvSpPr/>
          <p:nvPr/>
        </p:nvSpPr>
        <p:spPr>
          <a:xfrm>
            <a:off x="640080" y="1783080"/>
            <a:ext cx="6766560" cy="4114800"/>
          </a:xfrm>
          <a:prstGeom prst="roundRect">
            <a:avLst>
              <a:gd name="adj" fmla="val 1778"/>
            </a:avLst>
          </a:prstGeom>
          <a:solidFill>
            <a:srgbClr val="1E2127"/>
          </a:solidFill>
          <a:ln w="12700">
            <a:solidFill>
              <a:srgbClr val="1E2127"/>
            </a:solidFill>
            <a:prstDash val="solid"/>
          </a:ln>
        </p:spPr>
      </p:sp>
      <p:sp>
        <p:nvSpPr>
          <p:cNvPr id="9" name="Text 6"/>
          <p:cNvSpPr txBox="1"/>
          <p:nvPr/>
        </p:nvSpPr>
        <p:spPr>
          <a:xfrm>
            <a:off x="914400" y="2011680"/>
            <a:ext cx="6217920" cy="3657600"/>
          </a:xfrm>
          <a:prstGeom prst="rect">
            <a:avLst/>
          </a:prstGeom>
          <a:noFill/>
          <a:ln/>
        </p:spPr>
        <p:txBody>
          <a:bodyPr wrap="square" lIns="0" tIns="0" rIns="0" bIns="0" rtlCol="0" anchor="t"/>
          <a:lstStyle/>
          <a:p>
            <a:pPr indent="0" marL="0">
              <a:buNone/>
            </a:pPr>
            <a:r>
              <a:rPr lang="en-US" sz="1400" dirty="0">
                <a:solidFill>
                  <a:srgbClr val="8B929C"/>
                </a:solidFill>
                <a:latin typeface="Consolas" pitchFamily="34" charset="0"/>
                <a:ea typeface="Consolas" pitchFamily="34" charset="-122"/>
                <a:cs typeface="Consolas" pitchFamily="34" charset="-120"/>
              </a:rPr>
              <a:t>// 1. concaténation</a:t>
            </a:r>
            <a:endParaRPr lang="en-US" sz="1400" dirty="0"/>
          </a:p>
          <a:p>
            <a:pPr indent="0" marL="0">
              <a:buNone/>
            </a:pPr>
            <a:r>
              <a:rPr lang="en-US" sz="1400" dirty="0">
                <a:solidFill>
                  <a:srgbClr val="E6E6E6"/>
                </a:solidFill>
                <a:latin typeface="Consolas" pitchFamily="34" charset="0"/>
                <a:ea typeface="Consolas" pitchFamily="34" charset="-122"/>
                <a:cs typeface="Consolas" pitchFamily="34" charset="-120"/>
              </a:rPr>
              <a:t>"Incident " + numero + " : " + titre</a:t>
            </a:r>
            <a:endParaRPr lang="en-US" sz="1400" dirty="0"/>
          </a:p>
          <a:p>
            <a:pPr indent="0" marL="0">
              <a:buNone/>
            </a:pPr>
            <a:r>
              <a:rPr lang="en-US" sz="1400" dirty="0">
                <a:solidFill>
                  <a:srgbClr val="E6E6E6"/>
                </a:solidFill>
                <a:latin typeface="Consolas" pitchFamily="34" charset="0"/>
                <a:ea typeface="Consolas" pitchFamily="34" charset="-122"/>
                <a:cs typeface="Consolas" pitchFamily="34" charset="-120"/>
              </a:rPr>
              <a:t> </a:t>
            </a:r>
            <a:endParaRPr lang="en-US" sz="1400" dirty="0"/>
          </a:p>
          <a:p>
            <a:pPr indent="0" marL="0">
              <a:buNone/>
            </a:pPr>
            <a:r>
              <a:rPr lang="en-US" sz="1400" dirty="0">
                <a:solidFill>
                  <a:srgbClr val="8B929C"/>
                </a:solidFill>
                <a:latin typeface="Consolas" pitchFamily="34" charset="0"/>
                <a:ea typeface="Consolas" pitchFamily="34" charset="-122"/>
                <a:cs typeface="Consolas" pitchFamily="34" charset="-120"/>
              </a:rPr>
              <a:t>// 2. string.Format</a:t>
            </a:r>
            <a:endParaRPr lang="en-US" sz="1400" dirty="0"/>
          </a:p>
          <a:p>
            <a:pPr indent="0" marL="0">
              <a:buNone/>
            </a:pPr>
            <a:r>
              <a:rPr lang="en-US" sz="1400" dirty="0">
                <a:solidFill>
                  <a:srgbClr val="E6E6E6"/>
                </a:solidFill>
                <a:latin typeface="Consolas" pitchFamily="34" charset="0"/>
                <a:ea typeface="Consolas" pitchFamily="34" charset="-122"/>
                <a:cs typeface="Consolas" pitchFamily="34" charset="-120"/>
              </a:rPr>
              <a:t>string.Format("Incident {0} : {1}", numero, titre)</a:t>
            </a:r>
            <a:endParaRPr lang="en-US" sz="1400" dirty="0"/>
          </a:p>
          <a:p>
            <a:pPr indent="0" marL="0">
              <a:buNone/>
            </a:pPr>
            <a:r>
              <a:rPr lang="en-US" sz="1400" dirty="0">
                <a:solidFill>
                  <a:srgbClr val="E6E6E6"/>
                </a:solidFill>
                <a:latin typeface="Consolas" pitchFamily="34" charset="0"/>
                <a:ea typeface="Consolas" pitchFamily="34" charset="-122"/>
                <a:cs typeface="Consolas" pitchFamily="34" charset="-120"/>
              </a:rPr>
              <a:t> </a:t>
            </a:r>
            <a:endParaRPr lang="en-US" sz="1400" dirty="0"/>
          </a:p>
          <a:p>
            <a:pPr indent="0" marL="0">
              <a:buNone/>
            </a:pPr>
            <a:r>
              <a:rPr lang="en-US" sz="1400" dirty="0">
                <a:solidFill>
                  <a:srgbClr val="8B929C"/>
                </a:solidFill>
                <a:latin typeface="Consolas" pitchFamily="34" charset="0"/>
                <a:ea typeface="Consolas" pitchFamily="34" charset="-122"/>
                <a:cs typeface="Consolas" pitchFamily="34" charset="-120"/>
              </a:rPr>
              <a:t>// 3. interpolation (recommandée)</a:t>
            </a:r>
            <a:endParaRPr lang="en-US" sz="1400" dirty="0"/>
          </a:p>
          <a:p>
            <a:pPr indent="0" marL="0">
              <a:buNone/>
            </a:pPr>
            <a:r>
              <a:rPr lang="en-US" sz="1400" b="1" dirty="0">
                <a:solidFill>
                  <a:srgbClr val="FFA94D"/>
                </a:solidFill>
                <a:latin typeface="Consolas" pitchFamily="34" charset="0"/>
                <a:ea typeface="Consolas" pitchFamily="34" charset="-122"/>
                <a:cs typeface="Consolas" pitchFamily="34" charset="-120"/>
              </a:rPr>
              <a:t>$"Incident {numero} : {titre}"</a:t>
            </a:r>
            <a:endParaRPr lang="en-US" sz="1400" dirty="0"/>
          </a:p>
          <a:p>
            <a:pPr indent="0" marL="0">
              <a:buNone/>
            </a:pPr>
            <a:r>
              <a:rPr lang="en-US" sz="1400" dirty="0">
                <a:solidFill>
                  <a:srgbClr val="E6E6E6"/>
                </a:solidFill>
                <a:latin typeface="Consolas" pitchFamily="34" charset="0"/>
                <a:ea typeface="Consolas" pitchFamily="34" charset="-122"/>
                <a:cs typeface="Consolas" pitchFamily="34" charset="-120"/>
              </a:rPr>
              <a:t> </a:t>
            </a:r>
            <a:endParaRPr lang="en-US" sz="1400" dirty="0"/>
          </a:p>
          <a:p>
            <a:pPr indent="0" marL="0">
              <a:buNone/>
            </a:pPr>
            <a:r>
              <a:rPr lang="en-US" sz="1400" dirty="0">
                <a:solidFill>
                  <a:srgbClr val="8B929C"/>
                </a:solidFill>
                <a:latin typeface="Consolas" pitchFamily="34" charset="0"/>
                <a:ea typeface="Consolas" pitchFamily="34" charset="-122"/>
                <a:cs typeface="Consolas" pitchFamily="34" charset="-120"/>
              </a:rPr>
              <a:t>// avec un format</a:t>
            </a:r>
            <a:endParaRPr lang="en-US" sz="1400" dirty="0"/>
          </a:p>
          <a:p>
            <a:pPr indent="0" marL="0">
              <a:buNone/>
            </a:pPr>
            <a:r>
              <a:rPr lang="en-US" sz="1400" dirty="0">
                <a:solidFill>
                  <a:srgbClr val="E6E6E6"/>
                </a:solidFill>
                <a:latin typeface="Consolas" pitchFamily="34" charset="0"/>
                <a:ea typeface="Consolas" pitchFamily="34" charset="-122"/>
                <a:cs typeface="Consolas" pitchFamily="34" charset="-120"/>
              </a:rPr>
              <a:t>$"Coût : {cout:N2} € le {date:dd/MM/yyyy}"</a:t>
            </a:r>
            <a:endParaRPr lang="en-US" sz="1400" dirty="0"/>
          </a:p>
        </p:txBody>
      </p:sp>
      <p:sp>
        <p:nvSpPr>
          <p:cNvPr id="10" name="Shape 7"/>
          <p:cNvSpPr/>
          <p:nvPr/>
        </p:nvSpPr>
        <p:spPr>
          <a:xfrm>
            <a:off x="7680960" y="1783080"/>
            <a:ext cx="3840480" cy="2103120"/>
          </a:xfrm>
          <a:prstGeom prst="roundRect">
            <a:avLst>
              <a:gd name="adj" fmla="val 3478"/>
            </a:avLst>
          </a:prstGeom>
          <a:solidFill>
            <a:srgbClr val="F2F3F5"/>
          </a:solidFill>
          <a:ln w="12700">
            <a:solidFill>
              <a:srgbClr val="F2F3F5"/>
            </a:solidFill>
            <a:prstDash val="solid"/>
          </a:ln>
        </p:spPr>
      </p:sp>
      <p:sp>
        <p:nvSpPr>
          <p:cNvPr id="11" name="Text 8"/>
          <p:cNvSpPr txBox="1"/>
          <p:nvPr/>
        </p:nvSpPr>
        <p:spPr>
          <a:xfrm>
            <a:off x="7909560" y="1920240"/>
            <a:ext cx="3383280" cy="1828800"/>
          </a:xfrm>
          <a:prstGeom prst="rect">
            <a:avLst/>
          </a:prstGeom>
          <a:noFill/>
          <a:ln/>
        </p:spPr>
        <p:txBody>
          <a:bodyPr wrap="square" lIns="0" tIns="0" rIns="0" bIns="0" rtlCol="0" anchor="t"/>
          <a:lstStyle/>
          <a:p>
            <a:pPr indent="0" marL="0">
              <a:buNone/>
            </a:pPr>
            <a:r>
              <a:rPr lang="en-US" sz="1700" b="1" dirty="0">
                <a:solidFill>
                  <a:srgbClr val="16181D"/>
                </a:solidFill>
                <a:latin typeface="Calibri" pitchFamily="34" charset="0"/>
                <a:ea typeface="Calibri" pitchFamily="34" charset="-122"/>
                <a:cs typeface="Calibri" pitchFamily="34" charset="-120"/>
              </a:rPr>
              <a:t>Formats courants</a:t>
            </a:r>
            <a:endParaRPr lang="en-US" sz="1700" dirty="0"/>
          </a:p>
          <a:p>
            <a:pPr indent="0" marL="0">
              <a:buNone/>
            </a:pPr>
            <a:r>
              <a:rPr lang="en-US" sz="1500" dirty="0">
                <a:solidFill>
                  <a:srgbClr val="5F6670"/>
                </a:solidFill>
                <a:latin typeface="Consolas" pitchFamily="34" charset="0"/>
                <a:ea typeface="Consolas" pitchFamily="34" charset="-122"/>
                <a:cs typeface="Consolas" pitchFamily="34" charset="-120"/>
              </a:rPr>
              <a:t>N2 : 1 234,50</a:t>
            </a:r>
            <a:endParaRPr lang="en-US" sz="1700" dirty="0"/>
          </a:p>
          <a:p>
            <a:pPr indent="0" marL="0">
              <a:buNone/>
            </a:pPr>
            <a:r>
              <a:rPr lang="en-US" sz="1500" dirty="0">
                <a:solidFill>
                  <a:srgbClr val="5F6670"/>
                </a:solidFill>
                <a:latin typeface="Consolas" pitchFamily="34" charset="0"/>
                <a:ea typeface="Consolas" pitchFamily="34" charset="-122"/>
                <a:cs typeface="Consolas" pitchFamily="34" charset="-120"/>
              </a:rPr>
              <a:t>P0 : 25 %</a:t>
            </a:r>
            <a:endParaRPr lang="en-US" sz="1700" dirty="0"/>
          </a:p>
          <a:p>
            <a:pPr indent="0" marL="0">
              <a:buNone/>
            </a:pPr>
            <a:r>
              <a:rPr lang="en-US" sz="1500" dirty="0">
                <a:solidFill>
                  <a:srgbClr val="5F6670"/>
                </a:solidFill>
                <a:latin typeface="Consolas" pitchFamily="34" charset="0"/>
                <a:ea typeface="Consolas" pitchFamily="34" charset="-122"/>
                <a:cs typeface="Consolas" pitchFamily="34" charset="-120"/>
              </a:rPr>
              <a:t>dd/MM/yyyy : 14/10/2026</a:t>
            </a:r>
            <a:endParaRPr lang="en-US" sz="1700" dirty="0"/>
          </a:p>
          <a:p>
            <a:pPr indent="0" marL="0">
              <a:buNone/>
            </a:pPr>
            <a:r>
              <a:rPr lang="en-US" sz="1500" dirty="0">
                <a:solidFill>
                  <a:srgbClr val="5F6670"/>
                </a:solidFill>
                <a:latin typeface="Consolas" pitchFamily="34" charset="0"/>
                <a:ea typeface="Consolas" pitchFamily="34" charset="-122"/>
                <a:cs typeface="Consolas" pitchFamily="34" charset="-120"/>
              </a:rPr>
              <a:t>HH:mm : 08:12</a:t>
            </a:r>
            <a:endParaRPr lang="en-US" sz="1700" dirty="0"/>
          </a:p>
        </p:txBody>
      </p:sp>
      <p:sp>
        <p:nvSpPr>
          <p:cNvPr id="12" name="Shape 9"/>
          <p:cNvSpPr/>
          <p:nvPr/>
        </p:nvSpPr>
        <p:spPr>
          <a:xfrm>
            <a:off x="7680960" y="4069080"/>
            <a:ext cx="3840480" cy="1828800"/>
          </a:xfrm>
          <a:prstGeom prst="roundRect">
            <a:avLst>
              <a:gd name="adj" fmla="val 4000"/>
            </a:avLst>
          </a:prstGeom>
          <a:solidFill>
            <a:srgbClr val="C92A2A"/>
          </a:solidFill>
          <a:ln w="12700">
            <a:solidFill>
              <a:srgbClr val="C92A2A"/>
            </a:solidFill>
            <a:prstDash val="solid"/>
          </a:ln>
        </p:spPr>
      </p:sp>
      <p:sp>
        <p:nvSpPr>
          <p:cNvPr id="13" name="Text 10"/>
          <p:cNvSpPr txBox="1"/>
          <p:nvPr/>
        </p:nvSpPr>
        <p:spPr>
          <a:xfrm>
            <a:off x="7909560" y="4114800"/>
            <a:ext cx="3383280" cy="17373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Jamais d'interpolation pour construire une requête SQL : c'est une injection (Stanford, séance 1).</a:t>
            </a:r>
            <a:endParaRPr lang="en-US" sz="1500" dirty="0"/>
          </a:p>
        </p:txBody>
      </p:sp>
      <p:sp>
        <p:nvSpPr>
          <p:cNvPr id="14" name="Text 11"/>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Microsoft Learn, « Interpolation de chaîne » et « Mettre en forme des types dans .NET ».</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LA CULTURE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1 234,50 ou 1,234.50 ? Ça dépend du pays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S3</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20</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7315200" cy="914400"/>
        </p:xfrm>
        <a:graphic>
          <a:graphicData uri="http://schemas.openxmlformats.org/drawingml/2006/table">
            <a:tbl>
              <a:tblPr/>
              <a:tblGrid>
                <a:gridCol w="2926080"/>
                <a:gridCol w="2194560"/>
                <a:gridCol w="2194560"/>
              </a:tblGrid>
              <a:tr h="640080">
                <a:tc>
                  <a:txBody>
                    <a:bodyPr/>
                    <a:lstStyle/>
                    <a:p>
                      <a:pPr indent="0" marL="0">
                        <a:buNone/>
                      </a:pP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fr-BE</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en-US</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r>
              <a:tr h="640080">
                <a:tc>
                  <a:txBody>
                    <a:bodyPr/>
                    <a:lstStyle/>
                    <a:p>
                      <a:pPr indent="0" marL="0">
                        <a:buNone/>
                      </a:pPr>
                      <a:r>
                        <a:rPr lang="en-US" sz="1600" b="1" dirty="0">
                          <a:solidFill>
                            <a:srgbClr val="16181D"/>
                          </a:solidFill>
                          <a:latin typeface="Consolas" pitchFamily="34" charset="0"/>
                          <a:ea typeface="Consolas" pitchFamily="34" charset="-122"/>
                          <a:cs typeface="Consolas" pitchFamily="34" charset="-120"/>
                        </a:rPr>
                        <a:t>1234.5 avec N2</a:t>
                      </a:r>
                      <a:endParaRPr lang="en-US" sz="16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600" dirty="0">
                          <a:solidFill>
                            <a:srgbClr val="16181D"/>
                          </a:solidFill>
                          <a:latin typeface="Consolas" pitchFamily="34" charset="0"/>
                          <a:ea typeface="Consolas" pitchFamily="34" charset="-122"/>
                          <a:cs typeface="Consolas" pitchFamily="34" charset="-120"/>
                        </a:rPr>
                        <a:t>1 234,50</a:t>
                      </a:r>
                      <a:endParaRPr lang="en-US" sz="16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600" dirty="0">
                          <a:solidFill>
                            <a:srgbClr val="16181D"/>
                          </a:solidFill>
                          <a:latin typeface="Consolas" pitchFamily="34" charset="0"/>
                          <a:ea typeface="Consolas" pitchFamily="34" charset="-122"/>
                          <a:cs typeface="Consolas" pitchFamily="34" charset="-120"/>
                        </a:rPr>
                        <a:t>1,234.50</a:t>
                      </a:r>
                      <a:endParaRPr lang="en-US" sz="16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640080">
                <a:tc>
                  <a:txBody>
                    <a:bodyPr/>
                    <a:lstStyle/>
                    <a:p>
                      <a:pPr indent="0" marL="0">
                        <a:buNone/>
                      </a:pPr>
                      <a:r>
                        <a:rPr lang="en-US" sz="1600" b="1" dirty="0">
                          <a:solidFill>
                            <a:srgbClr val="16181D"/>
                          </a:solidFill>
                          <a:latin typeface="Consolas" pitchFamily="34" charset="0"/>
                          <a:ea typeface="Consolas" pitchFamily="34" charset="-122"/>
                          <a:cs typeface="Consolas" pitchFamily="34" charset="-120"/>
                        </a:rPr>
                        <a:t>Date du 14 octobre</a:t>
                      </a:r>
                      <a:endParaRPr lang="en-US" sz="16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600" dirty="0">
                          <a:solidFill>
                            <a:srgbClr val="16181D"/>
                          </a:solidFill>
                          <a:latin typeface="Consolas" pitchFamily="34" charset="0"/>
                          <a:ea typeface="Consolas" pitchFamily="34" charset="-122"/>
                          <a:cs typeface="Consolas" pitchFamily="34" charset="-120"/>
                        </a:rPr>
                        <a:t>14/10/2026</a:t>
                      </a:r>
                      <a:endParaRPr lang="en-US" sz="16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600" dirty="0">
                          <a:solidFill>
                            <a:srgbClr val="16181D"/>
                          </a:solidFill>
                          <a:latin typeface="Consolas" pitchFamily="34" charset="0"/>
                          <a:ea typeface="Consolas" pitchFamily="34" charset="-122"/>
                          <a:cs typeface="Consolas" pitchFamily="34" charset="-120"/>
                        </a:rPr>
                        <a:t>10/14/2026</a:t>
                      </a:r>
                      <a:endParaRPr lang="en-US" sz="16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640080">
                <a:tc>
                  <a:txBody>
                    <a:bodyPr/>
                    <a:lstStyle/>
                    <a:p>
                      <a:pPr indent="0" marL="0">
                        <a:buNone/>
                      </a:pPr>
                      <a:r>
                        <a:rPr lang="en-US" sz="1600" b="1" dirty="0">
                          <a:solidFill>
                            <a:srgbClr val="16181D"/>
                          </a:solidFill>
                          <a:latin typeface="Consolas" pitchFamily="34" charset="0"/>
                          <a:ea typeface="Consolas" pitchFamily="34" charset="-122"/>
                          <a:cs typeface="Consolas" pitchFamily="34" charset="-120"/>
                        </a:rPr>
                        <a:t>double.Parse("3.5")</a:t>
                      </a:r>
                      <a:endParaRPr lang="en-US" sz="16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600" dirty="0">
                          <a:solidFill>
                            <a:srgbClr val="16181D"/>
                          </a:solidFill>
                          <a:latin typeface="Consolas" pitchFamily="34" charset="0"/>
                          <a:ea typeface="Consolas" pitchFamily="34" charset="-122"/>
                          <a:cs typeface="Consolas" pitchFamily="34" charset="-120"/>
                        </a:rPr>
                        <a:t>erreur ou mauvais nombre</a:t>
                      </a:r>
                      <a:endParaRPr lang="en-US" sz="16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600" dirty="0">
                          <a:solidFill>
                            <a:srgbClr val="16181D"/>
                          </a:solidFill>
                          <a:latin typeface="Consolas" pitchFamily="34" charset="0"/>
                          <a:ea typeface="Consolas" pitchFamily="34" charset="-122"/>
                          <a:cs typeface="Consolas" pitchFamily="34" charset="-120"/>
                        </a:rPr>
                        <a:t>3,5</a:t>
                      </a:r>
                      <a:endParaRPr lang="en-US" sz="16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bl>
          </a:graphicData>
        </a:graphic>
      </p:graphicFrame>
      <p:sp>
        <p:nvSpPr>
          <p:cNvPr id="9" name="Shape 5"/>
          <p:cNvSpPr/>
          <p:nvPr/>
        </p:nvSpPr>
        <p:spPr>
          <a:xfrm>
            <a:off x="8229600" y="1783080"/>
            <a:ext cx="3291840" cy="2560320"/>
          </a:xfrm>
          <a:prstGeom prst="roundRect">
            <a:avLst>
              <a:gd name="adj" fmla="val 2857"/>
            </a:avLst>
          </a:prstGeom>
          <a:solidFill>
            <a:srgbClr val="16181D"/>
          </a:solidFill>
          <a:ln w="12700">
            <a:solidFill>
              <a:srgbClr val="16181D"/>
            </a:solidFill>
            <a:prstDash val="solid"/>
          </a:ln>
        </p:spPr>
      </p:sp>
      <p:sp>
        <p:nvSpPr>
          <p:cNvPr id="10" name="Text 6"/>
          <p:cNvSpPr txBox="1"/>
          <p:nvPr/>
        </p:nvSpPr>
        <p:spPr>
          <a:xfrm>
            <a:off x="8458200" y="1965960"/>
            <a:ext cx="2834640" cy="2286000"/>
          </a:xfrm>
          <a:prstGeom prst="rect">
            <a:avLst/>
          </a:prstGeom>
          <a:noFill/>
          <a:ln/>
        </p:spPr>
        <p:txBody>
          <a:bodyPr wrap="square" lIns="0" tIns="0" rIns="0" bIns="0" rtlCol="0" anchor="t"/>
          <a:lstStyle/>
          <a:p>
            <a:pPr indent="0" marL="0">
              <a:buNone/>
            </a:pPr>
            <a:r>
              <a:rPr lang="en-US" sz="1800" b="1" dirty="0">
                <a:solidFill>
                  <a:srgbClr val="E8590C"/>
                </a:solidFill>
                <a:latin typeface="Calibri" pitchFamily="34" charset="0"/>
                <a:ea typeface="Calibri" pitchFamily="34" charset="-122"/>
                <a:cs typeface="Calibri" pitchFamily="34" charset="-120"/>
              </a:rPr>
              <a:t>La règle</a:t>
            </a:r>
            <a:endParaRPr lang="en-US" sz="1800" dirty="0"/>
          </a:p>
          <a:p>
            <a:pPr indent="0" marL="0">
              <a:buNone/>
            </a:pPr>
            <a:endParaRPr lang="en-US" sz="1800" dirty="0"/>
          </a:p>
          <a:p>
            <a:pPr indent="0" marL="0">
              <a:buNone/>
            </a:pPr>
            <a:r>
              <a:rPr lang="en-US" sz="1500" dirty="0">
                <a:solidFill>
                  <a:srgbClr val="FFFFFF"/>
                </a:solidFill>
                <a:latin typeface="Calibri" pitchFamily="34" charset="0"/>
                <a:ea typeface="Calibri" pitchFamily="34" charset="-122"/>
                <a:cs typeface="Calibri" pitchFamily="34" charset="-120"/>
              </a:rPr>
              <a:t>Pour l'affichage, on utilise la culture de l'utilisateur.</a:t>
            </a:r>
            <a:endParaRPr lang="en-US" sz="1800" dirty="0"/>
          </a:p>
          <a:p>
            <a:pPr indent="0" marL="0">
              <a:buNone/>
            </a:pPr>
            <a:endParaRPr lang="en-US" sz="1800" dirty="0"/>
          </a:p>
          <a:p>
            <a:pPr indent="0" marL="0">
              <a:buNone/>
            </a:pPr>
            <a:r>
              <a:rPr lang="en-US" sz="1500" dirty="0">
                <a:solidFill>
                  <a:srgbClr val="FFFFFF"/>
                </a:solidFill>
                <a:latin typeface="Calibri" pitchFamily="34" charset="0"/>
                <a:ea typeface="Calibri" pitchFamily="34" charset="-122"/>
                <a:cs typeface="Calibri" pitchFamily="34" charset="-120"/>
              </a:rPr>
              <a:t>Pour les fichiers, les échanges et les API, on utilise la culture invariante.</a:t>
            </a:r>
            <a:endParaRPr lang="en-US" sz="1800" dirty="0"/>
          </a:p>
        </p:txBody>
      </p:sp>
      <p:sp>
        <p:nvSpPr>
          <p:cNvPr id="11" name="Shape 7"/>
          <p:cNvSpPr/>
          <p:nvPr/>
        </p:nvSpPr>
        <p:spPr>
          <a:xfrm>
            <a:off x="640080" y="4572000"/>
            <a:ext cx="7315200" cy="731520"/>
          </a:xfrm>
          <a:prstGeom prst="roundRect">
            <a:avLst>
              <a:gd name="adj" fmla="val 10000"/>
            </a:avLst>
          </a:prstGeom>
          <a:solidFill>
            <a:srgbClr val="1E2127"/>
          </a:solidFill>
          <a:ln w="12700">
            <a:solidFill>
              <a:srgbClr val="1E2127"/>
            </a:solidFill>
            <a:prstDash val="solid"/>
          </a:ln>
        </p:spPr>
      </p:sp>
      <p:sp>
        <p:nvSpPr>
          <p:cNvPr id="12" name="Text 8"/>
          <p:cNvSpPr txBox="1"/>
          <p:nvPr/>
        </p:nvSpPr>
        <p:spPr>
          <a:xfrm>
            <a:off x="914400" y="4800600"/>
            <a:ext cx="6766560" cy="274320"/>
          </a:xfrm>
          <a:prstGeom prst="rect">
            <a:avLst/>
          </a:prstGeom>
          <a:noFill/>
          <a:ln/>
        </p:spPr>
        <p:txBody>
          <a:bodyPr wrap="square" lIns="0" tIns="0" rIns="0" bIns="0" rtlCol="0" anchor="t"/>
          <a:lstStyle/>
          <a:p>
            <a:pPr indent="0" marL="0">
              <a:buNone/>
            </a:pPr>
            <a:r>
              <a:rPr lang="en-US" sz="1500" dirty="0">
                <a:solidFill>
                  <a:srgbClr val="E6E6E6"/>
                </a:solidFill>
                <a:latin typeface="Consolas" pitchFamily="34" charset="0"/>
                <a:ea typeface="Consolas" pitchFamily="34" charset="-122"/>
                <a:cs typeface="Consolas" pitchFamily="34" charset="-120"/>
              </a:rPr>
              <a:t>double.Parse("3.5", CultureInfo.InvariantCulture)</a:t>
            </a:r>
            <a:endParaRPr lang="en-US" sz="1500" dirty="0"/>
          </a:p>
        </p:txBody>
      </p:sp>
      <p:sp>
        <p:nvSpPr>
          <p:cNvPr id="13" name="Text 9"/>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Microsoft Learn, « CultureInfo » et « Bonnes pratiques pour l'utilisation des chaînes dans .NET ».</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LA CULTURE · QUELQUES EXEMPLES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Une culture, c'est une langue et un pays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S3</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21</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7589520" cy="914400"/>
        </p:xfrm>
        <a:graphic>
          <a:graphicData uri="http://schemas.openxmlformats.org/drawingml/2006/table">
            <a:tbl>
              <a:tblPr/>
              <a:tblGrid>
                <a:gridCol w="1691640"/>
                <a:gridCol w="2148840"/>
                <a:gridCol w="1280160"/>
                <a:gridCol w="1325880"/>
                <a:gridCol w="114300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Culture</a:t>
                      </a:r>
                      <a:endParaRPr lang="en-US" sz="1300" dirty="0">
                        <a:latin typeface="Calibri" charset="0"/>
                        <a:ea typeface="Calibri" charset="0"/>
                        <a:cs typeface="Calibri"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Langue et pays</a:t>
                      </a:r>
                      <a:endParaRPr lang="en-US" sz="1300" dirty="0">
                        <a:latin typeface="Calibri" charset="0"/>
                        <a:ea typeface="Calibri" charset="0"/>
                        <a:cs typeface="Calibri"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1234.5 en N2</a:t>
                      </a:r>
                      <a:endParaRPr lang="en-US" sz="1300" dirty="0">
                        <a:latin typeface="Calibri" charset="0"/>
                        <a:ea typeface="Calibri" charset="0"/>
                        <a:cs typeface="Calibri"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14 octobre 2026</a:t>
                      </a:r>
                      <a:endParaRPr lang="en-US" sz="1300" dirty="0">
                        <a:latin typeface="Calibri" charset="0"/>
                        <a:ea typeface="Calibri" charset="0"/>
                        <a:cs typeface="Calibri"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85.5m en C</a:t>
                      </a:r>
                      <a:endParaRPr lang="en-US" sz="1300" dirty="0">
                        <a:latin typeface="Calibri" charset="0"/>
                        <a:ea typeface="Calibri" charset="0"/>
                        <a:cs typeface="Calibri"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r>
              <a:tr h="457200">
                <a:tc>
                  <a:txBody>
                    <a:bodyPr/>
                    <a:lstStyle/>
                    <a:p>
                      <a:pPr indent="0" marL="0">
                        <a:buNone/>
                      </a:pPr>
                      <a:r>
                        <a:rPr lang="en-US" sz="1300" b="1" dirty="0">
                          <a:solidFill>
                            <a:srgbClr val="16181D"/>
                          </a:solidFill>
                          <a:latin typeface="Consolas" pitchFamily="34" charset="0"/>
                          <a:ea typeface="Consolas" pitchFamily="34" charset="-122"/>
                          <a:cs typeface="Consolas" pitchFamily="34" charset="-120"/>
                        </a:rPr>
                        <a:t>fr-BE</a:t>
                      </a:r>
                      <a:endParaRPr lang="en-US" sz="1300" dirty="0">
                        <a:latin typeface="Consolas" charset="0"/>
                        <a:ea typeface="Consolas" charset="0"/>
                        <a:cs typeface="Consolas"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0E6"/>
                    </a:solidFill>
                  </a:tcPr>
                </a:tc>
                <a:tc>
                  <a:txBody>
                    <a:bodyPr/>
                    <a:lstStyle/>
                    <a:p>
                      <a:pPr indent="0" marL="0">
                        <a:buNone/>
                      </a:pPr>
                      <a:r>
                        <a:rPr lang="en-US" sz="1300" dirty="0">
                          <a:solidFill>
                            <a:srgbClr val="16181D"/>
                          </a:solidFill>
                          <a:latin typeface="Calibri" pitchFamily="34" charset="0"/>
                          <a:ea typeface="Calibri" pitchFamily="34" charset="-122"/>
                          <a:cs typeface="Calibri" pitchFamily="34" charset="-120"/>
                        </a:rPr>
                        <a:t>français, Belgique</a:t>
                      </a:r>
                      <a:endParaRPr lang="en-US" sz="1300" dirty="0">
                        <a:latin typeface="Calibri" charset="0"/>
                        <a:ea typeface="Calibri" charset="0"/>
                        <a:cs typeface="Calibri"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0E6"/>
                    </a:solidFill>
                  </a:tcPr>
                </a:tc>
                <a:tc>
                  <a:txBody>
                    <a:bodyPr/>
                    <a:lstStyle/>
                    <a:p>
                      <a:pPr indent="0" marL="0">
                        <a:buNone/>
                      </a:pPr>
                      <a:r>
                        <a:rPr lang="en-US" sz="1300" dirty="0">
                          <a:solidFill>
                            <a:srgbClr val="16181D"/>
                          </a:solidFill>
                          <a:latin typeface="Consolas" pitchFamily="34" charset="0"/>
                          <a:ea typeface="Consolas" pitchFamily="34" charset="-122"/>
                          <a:cs typeface="Consolas" pitchFamily="34" charset="-120"/>
                        </a:rPr>
                        <a:t>1 234,50</a:t>
                      </a:r>
                      <a:endParaRPr lang="en-US" sz="1300" dirty="0">
                        <a:latin typeface="Consolas" charset="0"/>
                        <a:ea typeface="Consolas" charset="0"/>
                        <a:cs typeface="Consolas"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0E6"/>
                    </a:solidFill>
                  </a:tcPr>
                </a:tc>
                <a:tc>
                  <a:txBody>
                    <a:bodyPr/>
                    <a:lstStyle/>
                    <a:p>
                      <a:pPr indent="0" marL="0">
                        <a:buNone/>
                      </a:pPr>
                      <a:r>
                        <a:rPr lang="en-US" sz="1300" dirty="0">
                          <a:solidFill>
                            <a:srgbClr val="16181D"/>
                          </a:solidFill>
                          <a:latin typeface="Consolas" pitchFamily="34" charset="0"/>
                          <a:ea typeface="Consolas" pitchFamily="34" charset="-122"/>
                          <a:cs typeface="Consolas" pitchFamily="34" charset="-120"/>
                        </a:rPr>
                        <a:t>14/10/2026</a:t>
                      </a:r>
                      <a:endParaRPr lang="en-US" sz="1300" dirty="0">
                        <a:latin typeface="Consolas" charset="0"/>
                        <a:ea typeface="Consolas" charset="0"/>
                        <a:cs typeface="Consolas"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0E6"/>
                    </a:solidFill>
                  </a:tcPr>
                </a:tc>
                <a:tc>
                  <a:txBody>
                    <a:bodyPr/>
                    <a:lstStyle/>
                    <a:p>
                      <a:pPr indent="0" marL="0">
                        <a:buNone/>
                      </a:pPr>
                      <a:r>
                        <a:rPr lang="en-US" sz="1300" dirty="0">
                          <a:solidFill>
                            <a:srgbClr val="16181D"/>
                          </a:solidFill>
                          <a:latin typeface="Consolas" pitchFamily="34" charset="0"/>
                          <a:ea typeface="Consolas" pitchFamily="34" charset="-122"/>
                          <a:cs typeface="Consolas" pitchFamily="34" charset="-120"/>
                        </a:rPr>
                        <a:t>85,50 €</a:t>
                      </a:r>
                      <a:endParaRPr lang="en-US" sz="1300" dirty="0">
                        <a:latin typeface="Consolas" charset="0"/>
                        <a:ea typeface="Consolas" charset="0"/>
                        <a:cs typeface="Consolas"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0E6"/>
                    </a:solidFill>
                  </a:tcPr>
                </a:tc>
              </a:tr>
              <a:tr h="457200">
                <a:tc>
                  <a:txBody>
                    <a:bodyPr/>
                    <a:lstStyle/>
                    <a:p>
                      <a:pPr indent="0" marL="0">
                        <a:buNone/>
                      </a:pPr>
                      <a:r>
                        <a:rPr lang="en-US" sz="1300" b="1" dirty="0">
                          <a:solidFill>
                            <a:srgbClr val="16181D"/>
                          </a:solidFill>
                          <a:latin typeface="Consolas" pitchFamily="34" charset="0"/>
                          <a:ea typeface="Consolas" pitchFamily="34" charset="-122"/>
                          <a:cs typeface="Consolas" pitchFamily="34" charset="-120"/>
                        </a:rPr>
                        <a:t>nl-BE</a:t>
                      </a:r>
                      <a:endParaRPr lang="en-US" sz="1300" dirty="0">
                        <a:latin typeface="Consolas" charset="0"/>
                        <a:ea typeface="Consolas" charset="0"/>
                        <a:cs typeface="Consolas"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300" dirty="0">
                          <a:solidFill>
                            <a:srgbClr val="16181D"/>
                          </a:solidFill>
                          <a:latin typeface="Calibri" pitchFamily="34" charset="0"/>
                          <a:ea typeface="Calibri" pitchFamily="34" charset="-122"/>
                          <a:cs typeface="Calibri" pitchFamily="34" charset="-120"/>
                        </a:rPr>
                        <a:t>néerlandais, Belgique</a:t>
                      </a:r>
                      <a:endParaRPr lang="en-US" sz="1300" dirty="0">
                        <a:latin typeface="Calibri" charset="0"/>
                        <a:ea typeface="Calibri" charset="0"/>
                        <a:cs typeface="Calibri"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300" dirty="0">
                          <a:solidFill>
                            <a:srgbClr val="16181D"/>
                          </a:solidFill>
                          <a:latin typeface="Consolas" pitchFamily="34" charset="0"/>
                          <a:ea typeface="Consolas" pitchFamily="34" charset="-122"/>
                          <a:cs typeface="Consolas" pitchFamily="34" charset="-120"/>
                        </a:rPr>
                        <a:t>1.234,50</a:t>
                      </a:r>
                      <a:endParaRPr lang="en-US" sz="1300" dirty="0">
                        <a:latin typeface="Consolas" charset="0"/>
                        <a:ea typeface="Consolas" charset="0"/>
                        <a:cs typeface="Consolas"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300" dirty="0">
                          <a:solidFill>
                            <a:srgbClr val="16181D"/>
                          </a:solidFill>
                          <a:latin typeface="Consolas" pitchFamily="34" charset="0"/>
                          <a:ea typeface="Consolas" pitchFamily="34" charset="-122"/>
                          <a:cs typeface="Consolas" pitchFamily="34" charset="-120"/>
                        </a:rPr>
                        <a:t>14/10/2026</a:t>
                      </a:r>
                      <a:endParaRPr lang="en-US" sz="1300" dirty="0">
                        <a:latin typeface="Consolas" charset="0"/>
                        <a:ea typeface="Consolas" charset="0"/>
                        <a:cs typeface="Consolas"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300" dirty="0">
                          <a:solidFill>
                            <a:srgbClr val="16181D"/>
                          </a:solidFill>
                          <a:latin typeface="Consolas" pitchFamily="34" charset="0"/>
                          <a:ea typeface="Consolas" pitchFamily="34" charset="-122"/>
                          <a:cs typeface="Consolas" pitchFamily="34" charset="-120"/>
                        </a:rPr>
                        <a:t>€ 85,50</a:t>
                      </a:r>
                      <a:endParaRPr lang="en-US" sz="1300" dirty="0">
                        <a:latin typeface="Consolas" charset="0"/>
                        <a:ea typeface="Consolas" charset="0"/>
                        <a:cs typeface="Consolas"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457200">
                <a:tc>
                  <a:txBody>
                    <a:bodyPr/>
                    <a:lstStyle/>
                    <a:p>
                      <a:pPr indent="0" marL="0">
                        <a:buNone/>
                      </a:pPr>
                      <a:r>
                        <a:rPr lang="en-US" sz="1300" b="1" dirty="0">
                          <a:solidFill>
                            <a:srgbClr val="16181D"/>
                          </a:solidFill>
                          <a:latin typeface="Consolas" pitchFamily="34" charset="0"/>
                          <a:ea typeface="Consolas" pitchFamily="34" charset="-122"/>
                          <a:cs typeface="Consolas" pitchFamily="34" charset="-120"/>
                        </a:rPr>
                        <a:t>de-DE</a:t>
                      </a:r>
                      <a:endParaRPr lang="en-US" sz="1300" dirty="0">
                        <a:latin typeface="Consolas" charset="0"/>
                        <a:ea typeface="Consolas" charset="0"/>
                        <a:cs typeface="Consolas"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6181D"/>
                          </a:solidFill>
                          <a:latin typeface="Calibri" pitchFamily="34" charset="0"/>
                          <a:ea typeface="Calibri" pitchFamily="34" charset="-122"/>
                          <a:cs typeface="Calibri" pitchFamily="34" charset="-120"/>
                        </a:rPr>
                        <a:t>allemand, Allemagne</a:t>
                      </a:r>
                      <a:endParaRPr lang="en-US" sz="1300" dirty="0">
                        <a:latin typeface="Calibri" charset="0"/>
                        <a:ea typeface="Calibri" charset="0"/>
                        <a:cs typeface="Calibri"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6181D"/>
                          </a:solidFill>
                          <a:latin typeface="Consolas" pitchFamily="34" charset="0"/>
                          <a:ea typeface="Consolas" pitchFamily="34" charset="-122"/>
                          <a:cs typeface="Consolas" pitchFamily="34" charset="-120"/>
                        </a:rPr>
                        <a:t>1.234,50</a:t>
                      </a:r>
                      <a:endParaRPr lang="en-US" sz="1300" dirty="0">
                        <a:latin typeface="Consolas" charset="0"/>
                        <a:ea typeface="Consolas" charset="0"/>
                        <a:cs typeface="Consolas"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6181D"/>
                          </a:solidFill>
                          <a:latin typeface="Consolas" pitchFamily="34" charset="0"/>
                          <a:ea typeface="Consolas" pitchFamily="34" charset="-122"/>
                          <a:cs typeface="Consolas" pitchFamily="34" charset="-120"/>
                        </a:rPr>
                        <a:t>14.10.2026</a:t>
                      </a:r>
                      <a:endParaRPr lang="en-US" sz="1300" dirty="0">
                        <a:latin typeface="Consolas" charset="0"/>
                        <a:ea typeface="Consolas" charset="0"/>
                        <a:cs typeface="Consolas"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6181D"/>
                          </a:solidFill>
                          <a:latin typeface="Consolas" pitchFamily="34" charset="0"/>
                          <a:ea typeface="Consolas" pitchFamily="34" charset="-122"/>
                          <a:cs typeface="Consolas" pitchFamily="34" charset="-120"/>
                        </a:rPr>
                        <a:t>85,50 €</a:t>
                      </a:r>
                      <a:endParaRPr lang="en-US" sz="1300" dirty="0">
                        <a:latin typeface="Consolas" charset="0"/>
                        <a:ea typeface="Consolas" charset="0"/>
                        <a:cs typeface="Consolas"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6181D"/>
                          </a:solidFill>
                          <a:latin typeface="Consolas" pitchFamily="34" charset="0"/>
                          <a:ea typeface="Consolas" pitchFamily="34" charset="-122"/>
                          <a:cs typeface="Consolas" pitchFamily="34" charset="-120"/>
                        </a:rPr>
                        <a:t>en-US</a:t>
                      </a:r>
                      <a:endParaRPr lang="en-US" sz="1300" dirty="0">
                        <a:latin typeface="Consolas" charset="0"/>
                        <a:ea typeface="Consolas" charset="0"/>
                        <a:cs typeface="Consolas"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300" dirty="0">
                          <a:solidFill>
                            <a:srgbClr val="16181D"/>
                          </a:solidFill>
                          <a:latin typeface="Calibri" pitchFamily="34" charset="0"/>
                          <a:ea typeface="Calibri" pitchFamily="34" charset="-122"/>
                          <a:cs typeface="Calibri" pitchFamily="34" charset="-120"/>
                        </a:rPr>
                        <a:t>anglais, États-Unis</a:t>
                      </a:r>
                      <a:endParaRPr lang="en-US" sz="1300" dirty="0">
                        <a:latin typeface="Calibri" charset="0"/>
                        <a:ea typeface="Calibri" charset="0"/>
                        <a:cs typeface="Calibri"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300" dirty="0">
                          <a:solidFill>
                            <a:srgbClr val="16181D"/>
                          </a:solidFill>
                          <a:latin typeface="Consolas" pitchFamily="34" charset="0"/>
                          <a:ea typeface="Consolas" pitchFamily="34" charset="-122"/>
                          <a:cs typeface="Consolas" pitchFamily="34" charset="-120"/>
                        </a:rPr>
                        <a:t>1,234.50</a:t>
                      </a:r>
                      <a:endParaRPr lang="en-US" sz="1300" dirty="0">
                        <a:latin typeface="Consolas" charset="0"/>
                        <a:ea typeface="Consolas" charset="0"/>
                        <a:cs typeface="Consolas"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300" dirty="0">
                          <a:solidFill>
                            <a:srgbClr val="16181D"/>
                          </a:solidFill>
                          <a:latin typeface="Consolas" pitchFamily="34" charset="0"/>
                          <a:ea typeface="Consolas" pitchFamily="34" charset="-122"/>
                          <a:cs typeface="Consolas" pitchFamily="34" charset="-120"/>
                        </a:rPr>
                        <a:t>10/14/2026</a:t>
                      </a:r>
                      <a:endParaRPr lang="en-US" sz="1300" dirty="0">
                        <a:latin typeface="Consolas" charset="0"/>
                        <a:ea typeface="Consolas" charset="0"/>
                        <a:cs typeface="Consolas"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300" dirty="0">
                          <a:solidFill>
                            <a:srgbClr val="16181D"/>
                          </a:solidFill>
                          <a:latin typeface="Consolas" pitchFamily="34" charset="0"/>
                          <a:ea typeface="Consolas" pitchFamily="34" charset="-122"/>
                          <a:cs typeface="Consolas" pitchFamily="34" charset="-120"/>
                        </a:rPr>
                        <a:t>$85.50</a:t>
                      </a:r>
                      <a:endParaRPr lang="en-US" sz="1300" dirty="0">
                        <a:latin typeface="Consolas" charset="0"/>
                        <a:ea typeface="Consolas" charset="0"/>
                        <a:cs typeface="Consolas"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457200">
                <a:tc>
                  <a:txBody>
                    <a:bodyPr/>
                    <a:lstStyle/>
                    <a:p>
                      <a:pPr indent="0" marL="0">
                        <a:buNone/>
                      </a:pPr>
                      <a:r>
                        <a:rPr lang="en-US" sz="1300" b="1" dirty="0">
                          <a:solidFill>
                            <a:srgbClr val="16181D"/>
                          </a:solidFill>
                          <a:latin typeface="Consolas" pitchFamily="34" charset="0"/>
                          <a:ea typeface="Consolas" pitchFamily="34" charset="-122"/>
                          <a:cs typeface="Consolas" pitchFamily="34" charset="-120"/>
                        </a:rPr>
                        <a:t>en-GB</a:t>
                      </a:r>
                      <a:endParaRPr lang="en-US" sz="1300" dirty="0">
                        <a:latin typeface="Consolas" charset="0"/>
                        <a:ea typeface="Consolas" charset="0"/>
                        <a:cs typeface="Consolas"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6181D"/>
                          </a:solidFill>
                          <a:latin typeface="Calibri" pitchFamily="34" charset="0"/>
                          <a:ea typeface="Calibri" pitchFamily="34" charset="-122"/>
                          <a:cs typeface="Calibri" pitchFamily="34" charset="-120"/>
                        </a:rPr>
                        <a:t>anglais, Royaume-Uni</a:t>
                      </a:r>
                      <a:endParaRPr lang="en-US" sz="1300" dirty="0">
                        <a:latin typeface="Calibri" charset="0"/>
                        <a:ea typeface="Calibri" charset="0"/>
                        <a:cs typeface="Calibri"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6181D"/>
                          </a:solidFill>
                          <a:latin typeface="Consolas" pitchFamily="34" charset="0"/>
                          <a:ea typeface="Consolas" pitchFamily="34" charset="-122"/>
                          <a:cs typeface="Consolas" pitchFamily="34" charset="-120"/>
                        </a:rPr>
                        <a:t>1,234.50</a:t>
                      </a:r>
                      <a:endParaRPr lang="en-US" sz="1300" dirty="0">
                        <a:latin typeface="Consolas" charset="0"/>
                        <a:ea typeface="Consolas" charset="0"/>
                        <a:cs typeface="Consolas"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6181D"/>
                          </a:solidFill>
                          <a:latin typeface="Consolas" pitchFamily="34" charset="0"/>
                          <a:ea typeface="Consolas" pitchFamily="34" charset="-122"/>
                          <a:cs typeface="Consolas" pitchFamily="34" charset="-120"/>
                        </a:rPr>
                        <a:t>14/10/2026</a:t>
                      </a:r>
                      <a:endParaRPr lang="en-US" sz="1300" dirty="0">
                        <a:latin typeface="Consolas" charset="0"/>
                        <a:ea typeface="Consolas" charset="0"/>
                        <a:cs typeface="Consolas"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6181D"/>
                          </a:solidFill>
                          <a:latin typeface="Consolas" pitchFamily="34" charset="0"/>
                          <a:ea typeface="Consolas" pitchFamily="34" charset="-122"/>
                          <a:cs typeface="Consolas" pitchFamily="34" charset="-120"/>
                        </a:rPr>
                        <a:t>£85.50</a:t>
                      </a:r>
                      <a:endParaRPr lang="en-US" sz="1300" dirty="0">
                        <a:latin typeface="Consolas" charset="0"/>
                        <a:ea typeface="Consolas" charset="0"/>
                        <a:cs typeface="Consolas"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6181D"/>
                          </a:solidFill>
                          <a:latin typeface="Consolas" pitchFamily="34" charset="0"/>
                          <a:ea typeface="Consolas" pitchFamily="34" charset="-122"/>
                          <a:cs typeface="Consolas" pitchFamily="34" charset="-120"/>
                        </a:rPr>
                        <a:t>ja-JP</a:t>
                      </a:r>
                      <a:endParaRPr lang="en-US" sz="1300" dirty="0">
                        <a:latin typeface="Consolas" charset="0"/>
                        <a:ea typeface="Consolas" charset="0"/>
                        <a:cs typeface="Consolas"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300" dirty="0">
                          <a:solidFill>
                            <a:srgbClr val="16181D"/>
                          </a:solidFill>
                          <a:latin typeface="Calibri" pitchFamily="34" charset="0"/>
                          <a:ea typeface="Calibri" pitchFamily="34" charset="-122"/>
                          <a:cs typeface="Calibri" pitchFamily="34" charset="-120"/>
                        </a:rPr>
                        <a:t>japonais, Japon</a:t>
                      </a:r>
                      <a:endParaRPr lang="en-US" sz="1300" dirty="0">
                        <a:latin typeface="Calibri" charset="0"/>
                        <a:ea typeface="Calibri" charset="0"/>
                        <a:cs typeface="Calibri"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300" dirty="0">
                          <a:solidFill>
                            <a:srgbClr val="16181D"/>
                          </a:solidFill>
                          <a:latin typeface="Consolas" pitchFamily="34" charset="0"/>
                          <a:ea typeface="Consolas" pitchFamily="34" charset="-122"/>
                          <a:cs typeface="Consolas" pitchFamily="34" charset="-120"/>
                        </a:rPr>
                        <a:t>1,234.50</a:t>
                      </a:r>
                      <a:endParaRPr lang="en-US" sz="1300" dirty="0">
                        <a:latin typeface="Consolas" charset="0"/>
                        <a:ea typeface="Consolas" charset="0"/>
                        <a:cs typeface="Consolas"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300" dirty="0">
                          <a:solidFill>
                            <a:srgbClr val="16181D"/>
                          </a:solidFill>
                          <a:latin typeface="Consolas" pitchFamily="34" charset="0"/>
                          <a:ea typeface="Consolas" pitchFamily="34" charset="-122"/>
                          <a:cs typeface="Consolas" pitchFamily="34" charset="-120"/>
                        </a:rPr>
                        <a:t>2026/10/14</a:t>
                      </a:r>
                      <a:endParaRPr lang="en-US" sz="1300" dirty="0">
                        <a:latin typeface="Consolas" charset="0"/>
                        <a:ea typeface="Consolas" charset="0"/>
                        <a:cs typeface="Consolas"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300" dirty="0">
                          <a:solidFill>
                            <a:srgbClr val="16181D"/>
                          </a:solidFill>
                          <a:latin typeface="Consolas" pitchFamily="34" charset="0"/>
                          <a:ea typeface="Consolas" pitchFamily="34" charset="-122"/>
                          <a:cs typeface="Consolas" pitchFamily="34" charset="-120"/>
                        </a:rPr>
                        <a:t>¥86</a:t>
                      </a:r>
                      <a:endParaRPr lang="en-US" sz="1300" dirty="0">
                        <a:latin typeface="Consolas" charset="0"/>
                        <a:ea typeface="Consolas" charset="0"/>
                        <a:cs typeface="Consolas"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457200">
                <a:tc>
                  <a:txBody>
                    <a:bodyPr/>
                    <a:lstStyle/>
                    <a:p>
                      <a:pPr indent="0" marL="0">
                        <a:buNone/>
                      </a:pPr>
                      <a:r>
                        <a:rPr lang="en-US" sz="1300" b="1" dirty="0">
                          <a:solidFill>
                            <a:srgbClr val="16181D"/>
                          </a:solidFill>
                          <a:latin typeface="Consolas" pitchFamily="34" charset="0"/>
                          <a:ea typeface="Consolas" pitchFamily="34" charset="-122"/>
                          <a:cs typeface="Consolas" pitchFamily="34" charset="-120"/>
                        </a:rPr>
                        <a:t>"" (invariante)</a:t>
                      </a:r>
                      <a:endParaRPr lang="en-US" sz="1300" dirty="0">
                        <a:latin typeface="Consolas" charset="0"/>
                        <a:ea typeface="Consolas" charset="0"/>
                        <a:cs typeface="Consolas"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6181D"/>
                          </a:solidFill>
                          <a:latin typeface="Calibri" pitchFamily="34" charset="0"/>
                          <a:ea typeface="Calibri" pitchFamily="34" charset="-122"/>
                          <a:cs typeface="Calibri" pitchFamily="34" charset="-120"/>
                        </a:rPr>
                        <a:t>aucun pays</a:t>
                      </a:r>
                      <a:endParaRPr lang="en-US" sz="1300" dirty="0">
                        <a:latin typeface="Calibri" charset="0"/>
                        <a:ea typeface="Calibri" charset="0"/>
                        <a:cs typeface="Calibri"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6181D"/>
                          </a:solidFill>
                          <a:latin typeface="Consolas" pitchFamily="34" charset="0"/>
                          <a:ea typeface="Consolas" pitchFamily="34" charset="-122"/>
                          <a:cs typeface="Consolas" pitchFamily="34" charset="-120"/>
                        </a:rPr>
                        <a:t>1,234.50</a:t>
                      </a:r>
                      <a:endParaRPr lang="en-US" sz="1300" dirty="0">
                        <a:latin typeface="Consolas" charset="0"/>
                        <a:ea typeface="Consolas" charset="0"/>
                        <a:cs typeface="Consolas"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6181D"/>
                          </a:solidFill>
                          <a:latin typeface="Consolas" pitchFamily="34" charset="0"/>
                          <a:ea typeface="Consolas" pitchFamily="34" charset="-122"/>
                          <a:cs typeface="Consolas" pitchFamily="34" charset="-120"/>
                        </a:rPr>
                        <a:t>10/14/2026</a:t>
                      </a:r>
                      <a:endParaRPr lang="en-US" sz="1300" dirty="0">
                        <a:latin typeface="Consolas" charset="0"/>
                        <a:ea typeface="Consolas" charset="0"/>
                        <a:cs typeface="Consolas"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6181D"/>
                          </a:solidFill>
                          <a:latin typeface="Consolas" pitchFamily="34" charset="0"/>
                          <a:ea typeface="Consolas" pitchFamily="34" charset="-122"/>
                          <a:cs typeface="Consolas" pitchFamily="34" charset="-120"/>
                        </a:rPr>
                        <a:t>¤85.50</a:t>
                      </a:r>
                      <a:endParaRPr lang="en-US" sz="1300" dirty="0">
                        <a:latin typeface="Consolas" charset="0"/>
                        <a:ea typeface="Consolas" charset="0"/>
                        <a:cs typeface="Consolas" charset="0"/>
                      </a:endParaRPr>
                    </a:p>
                  </a:txBody>
                  <a:tcPr marL="73152" marR="73152"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bl>
          </a:graphicData>
        </a:graphic>
      </p:graphicFrame>
      <p:sp>
        <p:nvSpPr>
          <p:cNvPr id="9" name="Shape 5"/>
          <p:cNvSpPr/>
          <p:nvPr/>
        </p:nvSpPr>
        <p:spPr>
          <a:xfrm>
            <a:off x="8503920" y="1783080"/>
            <a:ext cx="3044952" cy="1143000"/>
          </a:xfrm>
          <a:prstGeom prst="roundRect">
            <a:avLst>
              <a:gd name="adj" fmla="val 6400"/>
            </a:avLst>
          </a:prstGeom>
          <a:solidFill>
            <a:srgbClr val="F2F3F5"/>
          </a:solidFill>
          <a:ln w="12700">
            <a:solidFill>
              <a:srgbClr val="F2F3F5"/>
            </a:solidFill>
            <a:prstDash val="solid"/>
          </a:ln>
        </p:spPr>
      </p:sp>
      <p:sp>
        <p:nvSpPr>
          <p:cNvPr id="10" name="Text 6"/>
          <p:cNvSpPr txBox="1"/>
          <p:nvPr/>
        </p:nvSpPr>
        <p:spPr>
          <a:xfrm>
            <a:off x="8686800" y="1874520"/>
            <a:ext cx="2697480" cy="960120"/>
          </a:xfrm>
          <a:prstGeom prst="rect">
            <a:avLst/>
          </a:prstGeom>
          <a:noFill/>
          <a:ln/>
        </p:spPr>
        <p:txBody>
          <a:bodyPr wrap="square" lIns="0" tIns="0" rIns="0" bIns="0" rtlCol="0" anchor="ctr"/>
          <a:lstStyle/>
          <a:p>
            <a:pPr indent="0" marL="0">
              <a:buNone/>
            </a:pPr>
            <a:r>
              <a:rPr lang="en-US" sz="1450" b="1" dirty="0">
                <a:solidFill>
                  <a:srgbClr val="16181D"/>
                </a:solidFill>
                <a:latin typeface="Calibri" pitchFamily="34" charset="0"/>
                <a:ea typeface="Calibri" pitchFamily="34" charset="-122"/>
                <a:cs typeface="Calibri" pitchFamily="34" charset="-120"/>
              </a:rPr>
              <a:t>Même pays, deux cultures</a:t>
            </a:r>
            <a:endParaRPr lang="en-US" sz="1450" dirty="0"/>
          </a:p>
          <a:p>
            <a:pPr indent="0" marL="0">
              <a:buNone/>
            </a:pPr>
            <a:r>
              <a:rPr lang="en-US" sz="1300" dirty="0">
                <a:solidFill>
                  <a:srgbClr val="5F6670"/>
                </a:solidFill>
                <a:latin typeface="Calibri" pitchFamily="34" charset="0"/>
                <a:ea typeface="Calibri" pitchFamily="34" charset="-122"/>
                <a:cs typeface="Calibri" pitchFamily="34" charset="-120"/>
              </a:rPr>
              <a:t>fr-BE et nl-BE n'ont pas le même séparateur de milliers.</a:t>
            </a:r>
            <a:endParaRPr lang="en-US" sz="1450" dirty="0"/>
          </a:p>
        </p:txBody>
      </p:sp>
      <p:sp>
        <p:nvSpPr>
          <p:cNvPr id="11" name="Shape 7"/>
          <p:cNvSpPr/>
          <p:nvPr/>
        </p:nvSpPr>
        <p:spPr>
          <a:xfrm>
            <a:off x="8503920" y="3044952"/>
            <a:ext cx="3044952" cy="1143000"/>
          </a:xfrm>
          <a:prstGeom prst="roundRect">
            <a:avLst>
              <a:gd name="adj" fmla="val 6400"/>
            </a:avLst>
          </a:prstGeom>
          <a:solidFill>
            <a:srgbClr val="F2F3F5"/>
          </a:solidFill>
          <a:ln w="12700">
            <a:solidFill>
              <a:srgbClr val="F2F3F5"/>
            </a:solidFill>
            <a:prstDash val="solid"/>
          </a:ln>
        </p:spPr>
      </p:sp>
      <p:sp>
        <p:nvSpPr>
          <p:cNvPr id="12" name="Text 8"/>
          <p:cNvSpPr txBox="1"/>
          <p:nvPr/>
        </p:nvSpPr>
        <p:spPr>
          <a:xfrm>
            <a:off x="8686800" y="3136392"/>
            <a:ext cx="2697480" cy="960120"/>
          </a:xfrm>
          <a:prstGeom prst="rect">
            <a:avLst/>
          </a:prstGeom>
          <a:noFill/>
          <a:ln/>
        </p:spPr>
        <p:txBody>
          <a:bodyPr wrap="square" lIns="0" tIns="0" rIns="0" bIns="0" rtlCol="0" anchor="ctr"/>
          <a:lstStyle/>
          <a:p>
            <a:pPr indent="0" marL="0">
              <a:buNone/>
            </a:pPr>
            <a:r>
              <a:rPr lang="en-US" sz="1450" b="1" dirty="0">
                <a:solidFill>
                  <a:srgbClr val="16181D"/>
                </a:solidFill>
                <a:latin typeface="Calibri" pitchFamily="34" charset="0"/>
                <a:ea typeface="Calibri" pitchFamily="34" charset="-122"/>
                <a:cs typeface="Calibri" pitchFamily="34" charset="-120"/>
              </a:rPr>
              <a:t>Même langue, deux dates</a:t>
            </a:r>
            <a:endParaRPr lang="en-US" sz="1450" dirty="0"/>
          </a:p>
          <a:p>
            <a:pPr indent="0" marL="0">
              <a:buNone/>
            </a:pPr>
            <a:r>
              <a:rPr lang="en-US" sz="1300" dirty="0">
                <a:solidFill>
                  <a:srgbClr val="5F6670"/>
                </a:solidFill>
                <a:latin typeface="Calibri" pitchFamily="34" charset="0"/>
                <a:ea typeface="Calibri" pitchFamily="34" charset="-122"/>
                <a:cs typeface="Calibri" pitchFamily="34" charset="-120"/>
              </a:rPr>
              <a:t>en-US écrit le mois avant le jour, en-GB le jour avant le mois.</a:t>
            </a:r>
            <a:endParaRPr lang="en-US" sz="1450" dirty="0"/>
          </a:p>
        </p:txBody>
      </p:sp>
      <p:sp>
        <p:nvSpPr>
          <p:cNvPr id="13" name="Shape 9"/>
          <p:cNvSpPr/>
          <p:nvPr/>
        </p:nvSpPr>
        <p:spPr>
          <a:xfrm>
            <a:off x="8503920" y="4306824"/>
            <a:ext cx="3044952" cy="1143000"/>
          </a:xfrm>
          <a:prstGeom prst="roundRect">
            <a:avLst>
              <a:gd name="adj" fmla="val 6400"/>
            </a:avLst>
          </a:prstGeom>
          <a:solidFill>
            <a:srgbClr val="16181D"/>
          </a:solidFill>
          <a:ln w="12700">
            <a:solidFill>
              <a:srgbClr val="16181D"/>
            </a:solidFill>
            <a:prstDash val="solid"/>
          </a:ln>
        </p:spPr>
      </p:sp>
      <p:sp>
        <p:nvSpPr>
          <p:cNvPr id="14" name="Text 10"/>
          <p:cNvSpPr txBox="1"/>
          <p:nvPr/>
        </p:nvSpPr>
        <p:spPr>
          <a:xfrm>
            <a:off x="8686800" y="4398264"/>
            <a:ext cx="2697480" cy="960120"/>
          </a:xfrm>
          <a:prstGeom prst="rect">
            <a:avLst/>
          </a:prstGeom>
          <a:noFill/>
          <a:ln/>
        </p:spPr>
        <p:txBody>
          <a:bodyPr wrap="square" lIns="0" tIns="0" rIns="0" bIns="0" rtlCol="0" anchor="ctr"/>
          <a:lstStyle/>
          <a:p>
            <a:pPr indent="0" marL="0">
              <a:buNone/>
            </a:pPr>
            <a:r>
              <a:rPr lang="en-US" sz="1450" b="1" dirty="0">
                <a:solidFill>
                  <a:srgbClr val="E8590C"/>
                </a:solidFill>
                <a:latin typeface="Calibri" pitchFamily="34" charset="0"/>
                <a:ea typeface="Calibri" pitchFamily="34" charset="-122"/>
                <a:cs typeface="Calibri" pitchFamily="34" charset="-120"/>
              </a:rPr>
              <a:t>La monnaie ne se convertit pas</a:t>
            </a:r>
            <a:endParaRPr lang="en-US" sz="1450" dirty="0"/>
          </a:p>
          <a:p>
            <a:pPr indent="0" marL="0">
              <a:buNone/>
            </a:pPr>
            <a:r>
              <a:rPr lang="en-US" sz="1300" dirty="0">
                <a:solidFill>
                  <a:srgbClr val="FFFFFF"/>
                </a:solidFill>
                <a:latin typeface="Calibri" pitchFamily="34" charset="0"/>
                <a:ea typeface="Calibri" pitchFamily="34" charset="-122"/>
                <a:cs typeface="Calibri" pitchFamily="34" charset="-120"/>
              </a:rPr>
              <a:t>Le format C change le symbole, jamais le montant.</a:t>
            </a:r>
            <a:endParaRPr lang="en-US" sz="1450" dirty="0"/>
          </a:p>
        </p:txBody>
      </p:sp>
      <p:sp>
        <p:nvSpPr>
          <p:cNvPr id="15" name="Text 11"/>
          <p:cNvSpPr txBox="1"/>
          <p:nvPr/>
        </p:nvSpPr>
        <p:spPr>
          <a:xfrm>
            <a:off x="640080" y="5577840"/>
            <a:ext cx="7589520" cy="365760"/>
          </a:xfrm>
          <a:prstGeom prst="rect">
            <a:avLst/>
          </a:prstGeom>
          <a:noFill/>
          <a:ln/>
        </p:spPr>
        <p:txBody>
          <a:bodyPr wrap="square" lIns="0" tIns="0" rIns="0" bIns="0" rtlCol="0" anchor="ctr"/>
          <a:lstStyle/>
          <a:p>
            <a:pPr indent="0" marL="0">
              <a:buNone/>
            </a:pPr>
            <a:r>
              <a:rPr lang="en-US" sz="1400" i="1" dirty="0">
                <a:solidFill>
                  <a:srgbClr val="5F6670"/>
                </a:solidFill>
                <a:latin typeface="Calibri" pitchFamily="34" charset="0"/>
                <a:ea typeface="Calibri" pitchFamily="34" charset="-122"/>
                <a:cs typeface="Calibri" pitchFamily="34" charset="-120"/>
              </a:rPr>
              <a:t>Le nom suit la norme BCP 47 : la langue en minuscules, puis le pays en majuscules.</a:t>
            </a:r>
            <a:endParaRPr lang="en-US" sz="1400" dirty="0"/>
          </a:p>
        </p:txBody>
      </p:sp>
      <p:sp>
        <p:nvSpPr>
          <p:cNvPr id="16" name="Text 12"/>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Résultats obtenus avec .NET 10 (bibliothèque ICU). Microsoft Learn, « CultureInfo » ; IETF BCP 47.</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LA CULTURE · LA CONFIGURER</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Quatre endroits où la culture se décide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S3</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22</a:t>
            </a:r>
            <a:endParaRPr lang="en-US" sz="1000" dirty="0"/>
          </a:p>
        </p:txBody>
      </p:sp>
      <p:sp>
        <p:nvSpPr>
          <p:cNvPr id="8" name="Shape 5"/>
          <p:cNvSpPr/>
          <p:nvPr/>
        </p:nvSpPr>
        <p:spPr>
          <a:xfrm>
            <a:off x="640080" y="1783080"/>
            <a:ext cx="3017520" cy="822960"/>
          </a:xfrm>
          <a:prstGeom prst="roundRect">
            <a:avLst>
              <a:gd name="adj" fmla="val 8889"/>
            </a:avLst>
          </a:prstGeom>
          <a:solidFill>
            <a:srgbClr val="F2F3F5"/>
          </a:solidFill>
          <a:ln w="12700">
            <a:solidFill>
              <a:srgbClr val="F2F3F5"/>
            </a:solidFill>
            <a:prstDash val="solid"/>
          </a:ln>
        </p:spPr>
      </p:sp>
      <p:sp>
        <p:nvSpPr>
          <p:cNvPr id="9" name="Text 6"/>
          <p:cNvSpPr txBox="1"/>
          <p:nvPr/>
        </p:nvSpPr>
        <p:spPr>
          <a:xfrm>
            <a:off x="804672" y="1828800"/>
            <a:ext cx="2743200" cy="731520"/>
          </a:xfrm>
          <a:prstGeom prst="rect">
            <a:avLst/>
          </a:prstGeom>
          <a:noFill/>
          <a:ln/>
        </p:spPr>
        <p:txBody>
          <a:bodyPr wrap="square" lIns="0" tIns="0" rIns="0" bIns="0" rtlCol="0" anchor="ctr"/>
          <a:lstStyle/>
          <a:p>
            <a:pPr indent="0" marL="0">
              <a:buNone/>
            </a:pPr>
            <a:r>
              <a:rPr lang="en-US" sz="1450" b="1" dirty="0">
                <a:solidFill>
                  <a:srgbClr val="16181D"/>
                </a:solidFill>
                <a:latin typeface="Calibri" pitchFamily="34" charset="0"/>
                <a:ea typeface="Calibri" pitchFamily="34" charset="-122"/>
                <a:cs typeface="Calibri" pitchFamily="34" charset="-120"/>
              </a:rPr>
              <a:t>1. Le poste</a:t>
            </a:r>
            <a:endParaRPr lang="en-US" sz="1450" dirty="0"/>
          </a:p>
          <a:p>
            <a:pPr indent="0" marL="0">
              <a:buNone/>
            </a:pPr>
            <a:r>
              <a:rPr lang="en-US" sz="1200" dirty="0">
                <a:solidFill>
                  <a:srgbClr val="5F6670"/>
                </a:solidFill>
                <a:latin typeface="Calibri" pitchFamily="34" charset="0"/>
                <a:ea typeface="Calibri" pitchFamily="34" charset="-122"/>
                <a:cs typeface="Calibri" pitchFamily="34" charset="-120"/>
              </a:rPr>
              <a:t>Windows : Paramètres › Heure et langue › Région</a:t>
            </a:r>
            <a:endParaRPr lang="en-US" sz="1450" dirty="0"/>
          </a:p>
        </p:txBody>
      </p:sp>
      <p:sp>
        <p:nvSpPr>
          <p:cNvPr id="10" name="Shape 7"/>
          <p:cNvSpPr/>
          <p:nvPr/>
        </p:nvSpPr>
        <p:spPr>
          <a:xfrm>
            <a:off x="3794760" y="1783080"/>
            <a:ext cx="7756855" cy="822960"/>
          </a:xfrm>
          <a:prstGeom prst="roundRect">
            <a:avLst>
              <a:gd name="adj" fmla="val 8889"/>
            </a:avLst>
          </a:prstGeom>
          <a:solidFill>
            <a:srgbClr val="1E2127"/>
          </a:solidFill>
          <a:ln w="12700">
            <a:solidFill>
              <a:srgbClr val="1E2127"/>
            </a:solidFill>
            <a:prstDash val="solid"/>
          </a:ln>
        </p:spPr>
      </p:sp>
      <p:sp>
        <p:nvSpPr>
          <p:cNvPr id="11" name="Text 8"/>
          <p:cNvSpPr txBox="1"/>
          <p:nvPr/>
        </p:nvSpPr>
        <p:spPr>
          <a:xfrm>
            <a:off x="4023360" y="1828800"/>
            <a:ext cx="7345375" cy="731520"/>
          </a:xfrm>
          <a:prstGeom prst="rect">
            <a:avLst/>
          </a:prstGeom>
          <a:noFill/>
          <a:ln/>
        </p:spPr>
        <p:txBody>
          <a:bodyPr wrap="square" lIns="0" tIns="0" rIns="0" bIns="0" rtlCol="0" anchor="ctr"/>
          <a:lstStyle/>
          <a:p>
            <a:pPr indent="0" marL="0">
              <a:buNone/>
            </a:pPr>
            <a:r>
              <a:rPr lang="en-US" sz="1300" dirty="0">
                <a:solidFill>
                  <a:srgbClr val="E6E6E6"/>
                </a:solidFill>
                <a:latin typeface="Consolas" pitchFamily="34" charset="0"/>
                <a:ea typeface="Consolas" pitchFamily="34" charset="-122"/>
                <a:cs typeface="Consolas" pitchFamily="34" charset="-120"/>
              </a:rPr>
              <a:t>CultureInfo.CurrentCulture   // celle du poste, lue au démarrage</a:t>
            </a:r>
            <a:endParaRPr lang="en-US" sz="1300" dirty="0"/>
          </a:p>
        </p:txBody>
      </p:sp>
      <p:sp>
        <p:nvSpPr>
          <p:cNvPr id="12" name="Shape 9"/>
          <p:cNvSpPr/>
          <p:nvPr/>
        </p:nvSpPr>
        <p:spPr>
          <a:xfrm>
            <a:off x="640080" y="2697480"/>
            <a:ext cx="3017520" cy="822960"/>
          </a:xfrm>
          <a:prstGeom prst="roundRect">
            <a:avLst>
              <a:gd name="adj" fmla="val 8889"/>
            </a:avLst>
          </a:prstGeom>
          <a:solidFill>
            <a:srgbClr val="F2F3F5"/>
          </a:solidFill>
          <a:ln w="12700">
            <a:solidFill>
              <a:srgbClr val="F2F3F5"/>
            </a:solidFill>
            <a:prstDash val="solid"/>
          </a:ln>
        </p:spPr>
      </p:sp>
      <p:sp>
        <p:nvSpPr>
          <p:cNvPr id="13" name="Text 10"/>
          <p:cNvSpPr txBox="1"/>
          <p:nvPr/>
        </p:nvSpPr>
        <p:spPr>
          <a:xfrm>
            <a:off x="804672" y="2743200"/>
            <a:ext cx="2743200" cy="731520"/>
          </a:xfrm>
          <a:prstGeom prst="rect">
            <a:avLst/>
          </a:prstGeom>
          <a:noFill/>
          <a:ln/>
        </p:spPr>
        <p:txBody>
          <a:bodyPr wrap="square" lIns="0" tIns="0" rIns="0" bIns="0" rtlCol="0" anchor="ctr"/>
          <a:lstStyle/>
          <a:p>
            <a:pPr indent="0" marL="0">
              <a:buNone/>
            </a:pPr>
            <a:r>
              <a:rPr lang="en-US" sz="1450" b="1" dirty="0">
                <a:solidFill>
                  <a:srgbClr val="16181D"/>
                </a:solidFill>
                <a:latin typeface="Calibri" pitchFamily="34" charset="0"/>
                <a:ea typeface="Calibri" pitchFamily="34" charset="-122"/>
                <a:cs typeface="Calibri" pitchFamily="34" charset="-120"/>
              </a:rPr>
              <a:t>2. Tout le programme</a:t>
            </a:r>
            <a:endParaRPr lang="en-US" sz="1450" dirty="0"/>
          </a:p>
          <a:p>
            <a:pPr indent="0" marL="0">
              <a:buNone/>
            </a:pPr>
            <a:r>
              <a:rPr lang="en-US" sz="1200" dirty="0">
                <a:solidFill>
                  <a:srgbClr val="5F6670"/>
                </a:solidFill>
                <a:latin typeface="Calibri" pitchFamily="34" charset="0"/>
                <a:ea typeface="Calibri" pitchFamily="34" charset="-122"/>
                <a:cs typeface="Calibri" pitchFamily="34" charset="-120"/>
              </a:rPr>
              <a:t>imposée au démarrage</a:t>
            </a:r>
            <a:endParaRPr lang="en-US" sz="1450" dirty="0"/>
          </a:p>
        </p:txBody>
      </p:sp>
      <p:sp>
        <p:nvSpPr>
          <p:cNvPr id="14" name="Shape 11"/>
          <p:cNvSpPr/>
          <p:nvPr/>
        </p:nvSpPr>
        <p:spPr>
          <a:xfrm>
            <a:off x="3794760" y="2697480"/>
            <a:ext cx="7756855" cy="822960"/>
          </a:xfrm>
          <a:prstGeom prst="roundRect">
            <a:avLst>
              <a:gd name="adj" fmla="val 8889"/>
            </a:avLst>
          </a:prstGeom>
          <a:solidFill>
            <a:srgbClr val="1E2127"/>
          </a:solidFill>
          <a:ln w="12700">
            <a:solidFill>
              <a:srgbClr val="1E2127"/>
            </a:solidFill>
            <a:prstDash val="solid"/>
          </a:ln>
        </p:spPr>
      </p:sp>
      <p:sp>
        <p:nvSpPr>
          <p:cNvPr id="15" name="Text 12"/>
          <p:cNvSpPr txBox="1"/>
          <p:nvPr/>
        </p:nvSpPr>
        <p:spPr>
          <a:xfrm>
            <a:off x="4023360" y="2743200"/>
            <a:ext cx="7345375" cy="731520"/>
          </a:xfrm>
          <a:prstGeom prst="rect">
            <a:avLst/>
          </a:prstGeom>
          <a:noFill/>
          <a:ln/>
        </p:spPr>
        <p:txBody>
          <a:bodyPr wrap="square" lIns="0" tIns="0" rIns="0" bIns="0" rtlCol="0" anchor="ctr"/>
          <a:lstStyle/>
          <a:p>
            <a:pPr indent="0" marL="0">
              <a:buNone/>
            </a:pPr>
            <a:r>
              <a:rPr lang="en-US" sz="1300" dirty="0">
                <a:solidFill>
                  <a:srgbClr val="E6E6E6"/>
                </a:solidFill>
                <a:latin typeface="Consolas" pitchFamily="34" charset="0"/>
                <a:ea typeface="Consolas" pitchFamily="34" charset="-122"/>
                <a:cs typeface="Consolas" pitchFamily="34" charset="-120"/>
              </a:rPr>
              <a:t>CultureInfo.DefaultThreadCurrentCulture = new CultureInfo("fr-BE");</a:t>
            </a:r>
            <a:endParaRPr lang="en-US" sz="1300" dirty="0"/>
          </a:p>
        </p:txBody>
      </p:sp>
      <p:sp>
        <p:nvSpPr>
          <p:cNvPr id="16" name="Shape 13"/>
          <p:cNvSpPr/>
          <p:nvPr/>
        </p:nvSpPr>
        <p:spPr>
          <a:xfrm>
            <a:off x="640080" y="3611880"/>
            <a:ext cx="3017520" cy="822960"/>
          </a:xfrm>
          <a:prstGeom prst="roundRect">
            <a:avLst>
              <a:gd name="adj" fmla="val 8889"/>
            </a:avLst>
          </a:prstGeom>
          <a:solidFill>
            <a:srgbClr val="F2F3F5"/>
          </a:solidFill>
          <a:ln w="12700">
            <a:solidFill>
              <a:srgbClr val="F2F3F5"/>
            </a:solidFill>
            <a:prstDash val="solid"/>
          </a:ln>
        </p:spPr>
      </p:sp>
      <p:sp>
        <p:nvSpPr>
          <p:cNvPr id="17" name="Text 14"/>
          <p:cNvSpPr txBox="1"/>
          <p:nvPr/>
        </p:nvSpPr>
        <p:spPr>
          <a:xfrm>
            <a:off x="804672" y="3657600"/>
            <a:ext cx="2743200" cy="731520"/>
          </a:xfrm>
          <a:prstGeom prst="rect">
            <a:avLst/>
          </a:prstGeom>
          <a:noFill/>
          <a:ln/>
        </p:spPr>
        <p:txBody>
          <a:bodyPr wrap="square" lIns="0" tIns="0" rIns="0" bIns="0" rtlCol="0" anchor="ctr"/>
          <a:lstStyle/>
          <a:p>
            <a:pPr indent="0" marL="0">
              <a:buNone/>
            </a:pPr>
            <a:r>
              <a:rPr lang="en-US" sz="1450" b="1" dirty="0">
                <a:solidFill>
                  <a:srgbClr val="16181D"/>
                </a:solidFill>
                <a:latin typeface="Calibri" pitchFamily="34" charset="0"/>
                <a:ea typeface="Calibri" pitchFamily="34" charset="-122"/>
                <a:cs typeface="Calibri" pitchFamily="34" charset="-120"/>
              </a:rPr>
              <a:t>3. Un seul appel</a:t>
            </a:r>
            <a:endParaRPr lang="en-US" sz="1450" dirty="0"/>
          </a:p>
          <a:p>
            <a:pPr indent="0" marL="0">
              <a:buNone/>
            </a:pPr>
            <a:r>
              <a:rPr lang="en-US" sz="1200" dirty="0">
                <a:solidFill>
                  <a:srgbClr val="5F6670"/>
                </a:solidFill>
                <a:latin typeface="Calibri" pitchFamily="34" charset="0"/>
                <a:ea typeface="Calibri" pitchFamily="34" charset="-122"/>
                <a:cs typeface="Calibri" pitchFamily="34" charset="-120"/>
              </a:rPr>
              <a:t>prioritaire sur le reste</a:t>
            </a:r>
            <a:endParaRPr lang="en-US" sz="1450" dirty="0"/>
          </a:p>
        </p:txBody>
      </p:sp>
      <p:sp>
        <p:nvSpPr>
          <p:cNvPr id="18" name="Shape 15"/>
          <p:cNvSpPr/>
          <p:nvPr/>
        </p:nvSpPr>
        <p:spPr>
          <a:xfrm>
            <a:off x="3794760" y="3611880"/>
            <a:ext cx="7756855" cy="822960"/>
          </a:xfrm>
          <a:prstGeom prst="roundRect">
            <a:avLst>
              <a:gd name="adj" fmla="val 8889"/>
            </a:avLst>
          </a:prstGeom>
          <a:solidFill>
            <a:srgbClr val="1E2127"/>
          </a:solidFill>
          <a:ln w="12700">
            <a:solidFill>
              <a:srgbClr val="1E2127"/>
            </a:solidFill>
            <a:prstDash val="solid"/>
          </a:ln>
        </p:spPr>
      </p:sp>
      <p:sp>
        <p:nvSpPr>
          <p:cNvPr id="19" name="Text 16"/>
          <p:cNvSpPr txBox="1"/>
          <p:nvPr/>
        </p:nvSpPr>
        <p:spPr>
          <a:xfrm>
            <a:off x="4023360" y="3657600"/>
            <a:ext cx="7345375" cy="731520"/>
          </a:xfrm>
          <a:prstGeom prst="rect">
            <a:avLst/>
          </a:prstGeom>
          <a:noFill/>
          <a:ln/>
        </p:spPr>
        <p:txBody>
          <a:bodyPr wrap="square" lIns="0" tIns="0" rIns="0" bIns="0" rtlCol="0" anchor="ctr"/>
          <a:lstStyle/>
          <a:p>
            <a:pPr indent="0" marL="0">
              <a:buNone/>
            </a:pPr>
            <a:r>
              <a:rPr lang="en-US" sz="1300" dirty="0">
                <a:solidFill>
                  <a:srgbClr val="E6E6E6"/>
                </a:solidFill>
                <a:latin typeface="Consolas" pitchFamily="34" charset="0"/>
                <a:ea typeface="Consolas" pitchFamily="34" charset="-122"/>
                <a:cs typeface="Consolas" pitchFamily="34" charset="-120"/>
              </a:rPr>
              <a:t>cout.ToString("N2", new CultureInfo("en-US"));</a:t>
            </a:r>
            <a:endParaRPr lang="en-US" sz="1300" dirty="0"/>
          </a:p>
          <a:p>
            <a:pPr indent="0" marL="0">
              <a:buNone/>
            </a:pPr>
            <a:r>
              <a:rPr lang="en-US" sz="1300" dirty="0">
                <a:solidFill>
                  <a:srgbClr val="E6E6E6"/>
                </a:solidFill>
                <a:latin typeface="Consolas" pitchFamily="34" charset="0"/>
                <a:ea typeface="Consolas" pitchFamily="34" charset="-122"/>
                <a:cs typeface="Consolas" pitchFamily="34" charset="-120"/>
              </a:rPr>
              <a:t>double.Parse(texte, CultureInfo.InvariantCulture);</a:t>
            </a:r>
            <a:endParaRPr lang="en-US" sz="1300" dirty="0"/>
          </a:p>
        </p:txBody>
      </p:sp>
      <p:sp>
        <p:nvSpPr>
          <p:cNvPr id="20" name="Shape 17"/>
          <p:cNvSpPr/>
          <p:nvPr/>
        </p:nvSpPr>
        <p:spPr>
          <a:xfrm>
            <a:off x="640080" y="4526280"/>
            <a:ext cx="3017520" cy="822960"/>
          </a:xfrm>
          <a:prstGeom prst="roundRect">
            <a:avLst>
              <a:gd name="adj" fmla="val 8889"/>
            </a:avLst>
          </a:prstGeom>
          <a:solidFill>
            <a:srgbClr val="16181D"/>
          </a:solidFill>
          <a:ln w="12700">
            <a:solidFill>
              <a:srgbClr val="16181D"/>
            </a:solidFill>
            <a:prstDash val="solid"/>
          </a:ln>
        </p:spPr>
      </p:sp>
      <p:sp>
        <p:nvSpPr>
          <p:cNvPr id="21" name="Text 18"/>
          <p:cNvSpPr txBox="1"/>
          <p:nvPr/>
        </p:nvSpPr>
        <p:spPr>
          <a:xfrm>
            <a:off x="804672" y="4572000"/>
            <a:ext cx="2743200" cy="731520"/>
          </a:xfrm>
          <a:prstGeom prst="rect">
            <a:avLst/>
          </a:prstGeom>
          <a:noFill/>
          <a:ln/>
        </p:spPr>
        <p:txBody>
          <a:bodyPr wrap="square" lIns="0" tIns="0" rIns="0" bIns="0" rtlCol="0" anchor="ctr"/>
          <a:lstStyle/>
          <a:p>
            <a:pPr indent="0" marL="0">
              <a:buNone/>
            </a:pPr>
            <a:r>
              <a:rPr lang="en-US" sz="1450" b="1" dirty="0">
                <a:solidFill>
                  <a:srgbClr val="E8590C"/>
                </a:solidFill>
                <a:latin typeface="Calibri" pitchFamily="34" charset="0"/>
                <a:ea typeface="Calibri" pitchFamily="34" charset="-122"/>
                <a:cs typeface="Calibri" pitchFamily="34" charset="-120"/>
              </a:rPr>
              <a:t>4. Une application web</a:t>
            </a:r>
            <a:endParaRPr lang="en-US" sz="1450" dirty="0"/>
          </a:p>
          <a:p>
            <a:pPr indent="0" marL="0">
              <a:buNone/>
            </a:pPr>
            <a:r>
              <a:rPr lang="en-US" sz="1200" dirty="0">
                <a:solidFill>
                  <a:srgbClr val="C9CDD3"/>
                </a:solidFill>
                <a:latin typeface="Calibri" pitchFamily="34" charset="0"/>
                <a:ea typeface="Calibri" pitchFamily="34" charset="-122"/>
                <a:cs typeface="Calibri" pitchFamily="34" charset="-120"/>
              </a:rPr>
              <a:t>selon l'en-tête Accept-Language du navigateur</a:t>
            </a:r>
            <a:endParaRPr lang="en-US" sz="1450" dirty="0"/>
          </a:p>
        </p:txBody>
      </p:sp>
      <p:sp>
        <p:nvSpPr>
          <p:cNvPr id="22" name="Shape 19"/>
          <p:cNvSpPr/>
          <p:nvPr/>
        </p:nvSpPr>
        <p:spPr>
          <a:xfrm>
            <a:off x="3794760" y="4526280"/>
            <a:ext cx="7756855" cy="822960"/>
          </a:xfrm>
          <a:prstGeom prst="roundRect">
            <a:avLst>
              <a:gd name="adj" fmla="val 8889"/>
            </a:avLst>
          </a:prstGeom>
          <a:solidFill>
            <a:srgbClr val="1E2127"/>
          </a:solidFill>
          <a:ln w="12700">
            <a:solidFill>
              <a:srgbClr val="1E2127"/>
            </a:solidFill>
            <a:prstDash val="solid"/>
          </a:ln>
        </p:spPr>
      </p:sp>
      <p:sp>
        <p:nvSpPr>
          <p:cNvPr id="23" name="Text 20"/>
          <p:cNvSpPr txBox="1"/>
          <p:nvPr/>
        </p:nvSpPr>
        <p:spPr>
          <a:xfrm>
            <a:off x="4023360" y="4572000"/>
            <a:ext cx="7345375" cy="731520"/>
          </a:xfrm>
          <a:prstGeom prst="rect">
            <a:avLst/>
          </a:prstGeom>
          <a:noFill/>
          <a:ln/>
        </p:spPr>
        <p:txBody>
          <a:bodyPr wrap="square" lIns="0" tIns="0" rIns="0" bIns="0" rtlCol="0" anchor="ctr"/>
          <a:lstStyle/>
          <a:p>
            <a:pPr indent="0" marL="0">
              <a:buNone/>
            </a:pPr>
            <a:r>
              <a:rPr lang="en-US" sz="1300" dirty="0">
                <a:solidFill>
                  <a:srgbClr val="E6E6E6"/>
                </a:solidFill>
                <a:latin typeface="Consolas" pitchFamily="34" charset="0"/>
                <a:ea typeface="Consolas" pitchFamily="34" charset="-122"/>
                <a:cs typeface="Consolas" pitchFamily="34" charset="-120"/>
              </a:rPr>
              <a:t>app.UseRequestLocalization(o =&gt; o.SetDefaultCulture("fr-BE")</a:t>
            </a:r>
            <a:endParaRPr lang="en-US" sz="1300" dirty="0"/>
          </a:p>
          <a:p>
            <a:pPr indent="0" marL="0">
              <a:buNone/>
            </a:pPr>
            <a:r>
              <a:rPr lang="en-US" sz="1300" dirty="0">
                <a:solidFill>
                  <a:srgbClr val="E6E6E6"/>
                </a:solidFill>
                <a:latin typeface="Consolas" pitchFamily="34" charset="0"/>
                <a:ea typeface="Consolas" pitchFamily="34" charset="-122"/>
                <a:cs typeface="Consolas" pitchFamily="34" charset="-120"/>
              </a:rPr>
              <a:t>    .AddSupportedCultures("fr-BE", "nl-BE", "en-US"));</a:t>
            </a:r>
            <a:endParaRPr lang="en-US" sz="1300" dirty="0"/>
          </a:p>
        </p:txBody>
      </p:sp>
      <p:sp>
        <p:nvSpPr>
          <p:cNvPr id="24" name="Text 21"/>
          <p:cNvSpPr txBox="1"/>
          <p:nvPr/>
        </p:nvSpPr>
        <p:spPr>
          <a:xfrm>
            <a:off x="640080" y="5486400"/>
            <a:ext cx="10911535" cy="502920"/>
          </a:xfrm>
          <a:prstGeom prst="rect">
            <a:avLst/>
          </a:prstGeom>
          <a:noFill/>
          <a:ln/>
        </p:spPr>
        <p:txBody>
          <a:bodyPr wrap="square" lIns="0" tIns="0" rIns="0" bIns="0" rtlCol="0" anchor="t"/>
          <a:lstStyle/>
          <a:p>
            <a:pPr indent="0" marL="0">
              <a:buNone/>
            </a:pPr>
            <a:r>
              <a:rPr lang="en-US" sz="1350" b="1" dirty="0">
                <a:solidFill>
                  <a:srgbClr val="16181D"/>
                </a:solidFill>
                <a:latin typeface="Consolas" pitchFamily="34" charset="0"/>
                <a:ea typeface="Consolas" pitchFamily="34" charset="-122"/>
                <a:cs typeface="Consolas" pitchFamily="34" charset="-120"/>
              </a:rPr>
              <a:t>CurrentCulture </a:t>
            </a:r>
            <a:pPr indent="0" marL="0">
              <a:buNone/>
            </a:pPr>
            <a:r>
              <a:rPr lang="en-US" sz="1350" dirty="0">
                <a:solidFill>
                  <a:srgbClr val="16181D"/>
                </a:solidFill>
                <a:latin typeface="Calibri" pitchFamily="34" charset="0"/>
                <a:ea typeface="Calibri" pitchFamily="34" charset="-122"/>
                <a:cs typeface="Calibri" pitchFamily="34" charset="-120"/>
              </a:rPr>
              <a:t>règle les formats (nombres, dates, monnaie) ; </a:t>
            </a:r>
            <a:pPr indent="0" marL="0">
              <a:buNone/>
            </a:pPr>
            <a:r>
              <a:rPr lang="en-US" sz="1350" b="1" dirty="0">
                <a:solidFill>
                  <a:srgbClr val="16181D"/>
                </a:solidFill>
                <a:latin typeface="Consolas" pitchFamily="34" charset="0"/>
                <a:ea typeface="Consolas" pitchFamily="34" charset="-122"/>
                <a:cs typeface="Consolas" pitchFamily="34" charset="-120"/>
              </a:rPr>
              <a:t>CurrentUICulture </a:t>
            </a:r>
            <a:pPr indent="0" marL="0">
              <a:buNone/>
            </a:pPr>
            <a:r>
              <a:rPr lang="en-US" sz="1350" dirty="0">
                <a:solidFill>
                  <a:srgbClr val="16181D"/>
                </a:solidFill>
                <a:latin typeface="Calibri" pitchFamily="34" charset="0"/>
                <a:ea typeface="Calibri" pitchFamily="34" charset="-122"/>
                <a:cs typeface="Calibri" pitchFamily="34" charset="-120"/>
              </a:rPr>
              <a:t>choisit la langue des textes. Attention : certaines images Docker (Alpine) tournent en mode invariant, sans aucune culture.</a:t>
            </a:r>
            <a:endParaRPr lang="en-US" sz="1350" dirty="0"/>
          </a:p>
        </p:txBody>
      </p:sp>
      <p:sp>
        <p:nvSpPr>
          <p:cNvPr id="25" name="Text 22"/>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Microsoft Learn, « CultureInfo.CurrentCulture », « Globalisation et localisation dans ASP.NET Core », « Mode invariant de globalisation ».</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LA CULTURE · ENTRE LE NAVIGATEUR ET LE SERVEUR</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Un client en Belgique, un serveur réglé en en-US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S3</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23</a:t>
            </a:r>
            <a:endParaRPr lang="en-US" sz="1000" dirty="0"/>
          </a:p>
        </p:txBody>
      </p:sp>
      <p:sp>
        <p:nvSpPr>
          <p:cNvPr id="8" name="Shape 5"/>
          <p:cNvSpPr/>
          <p:nvPr/>
        </p:nvSpPr>
        <p:spPr>
          <a:xfrm>
            <a:off x="640080" y="1783080"/>
            <a:ext cx="2606040" cy="2606040"/>
          </a:xfrm>
          <a:prstGeom prst="roundRect">
            <a:avLst>
              <a:gd name="adj" fmla="val 2807"/>
            </a:avLst>
          </a:prstGeom>
          <a:solidFill>
            <a:srgbClr val="F2F3F5"/>
          </a:solidFill>
          <a:ln w="12700">
            <a:solidFill>
              <a:srgbClr val="F2F3F5"/>
            </a:solidFill>
            <a:prstDash val="solid"/>
          </a:ln>
        </p:spPr>
      </p:sp>
      <p:sp>
        <p:nvSpPr>
          <p:cNvPr id="9" name="Shape 6"/>
          <p:cNvSpPr/>
          <p:nvPr/>
        </p:nvSpPr>
        <p:spPr>
          <a:xfrm>
            <a:off x="640080" y="1783080"/>
            <a:ext cx="2606040" cy="777240"/>
          </a:xfrm>
          <a:prstGeom prst="roundRect">
            <a:avLst>
              <a:gd name="adj" fmla="val 9412"/>
            </a:avLst>
          </a:prstGeom>
          <a:solidFill>
            <a:srgbClr val="16181D"/>
          </a:solidFill>
          <a:ln w="12700">
            <a:solidFill>
              <a:srgbClr val="16181D"/>
            </a:solidFill>
            <a:prstDash val="solid"/>
          </a:ln>
        </p:spPr>
      </p:sp>
      <p:sp>
        <p:nvSpPr>
          <p:cNvPr id="10" name="Text 7"/>
          <p:cNvSpPr txBox="1"/>
          <p:nvPr/>
        </p:nvSpPr>
        <p:spPr>
          <a:xfrm>
            <a:off x="777240" y="1810512"/>
            <a:ext cx="2331720" cy="731520"/>
          </a:xfrm>
          <a:prstGeom prst="rect">
            <a:avLst/>
          </a:prstGeom>
          <a:noFill/>
          <a:ln/>
        </p:spPr>
        <p:txBody>
          <a:bodyPr wrap="square" lIns="0" tIns="0" rIns="0" bIns="0" rtlCol="0" anchor="ctr"/>
          <a:lstStyle/>
          <a:p>
            <a:pPr indent="0" marL="0">
              <a:buNone/>
            </a:pPr>
            <a:r>
              <a:rPr lang="en-US" sz="1450" b="1" dirty="0">
                <a:solidFill>
                  <a:srgbClr val="E8590C"/>
                </a:solidFill>
                <a:latin typeface="Calibri" pitchFamily="34" charset="0"/>
                <a:ea typeface="Calibri" pitchFamily="34" charset="-122"/>
                <a:cs typeface="Calibri" pitchFamily="34" charset="-120"/>
              </a:rPr>
              <a:t>Navigateur · Bruxelles</a:t>
            </a:r>
            <a:endParaRPr lang="en-US" sz="1450" dirty="0"/>
          </a:p>
          <a:p>
            <a:pPr indent="0" marL="0">
              <a:buNone/>
            </a:pPr>
            <a:r>
              <a:rPr lang="en-US" sz="1150" dirty="0">
                <a:solidFill>
                  <a:srgbClr val="C9CDD3"/>
                </a:solidFill>
                <a:latin typeface="Calibri" pitchFamily="34" charset="0"/>
                <a:ea typeface="Calibri" pitchFamily="34" charset="-122"/>
                <a:cs typeface="Calibri" pitchFamily="34" charset="-120"/>
              </a:rPr>
              <a:t>Windows en fr-BE</a:t>
            </a:r>
            <a:endParaRPr lang="en-US" sz="1450" dirty="0"/>
          </a:p>
          <a:p>
            <a:pPr indent="0" marL="0">
              <a:buNone/>
            </a:pPr>
            <a:r>
              <a:rPr lang="en-US" sz="1150" dirty="0">
                <a:solidFill>
                  <a:srgbClr val="C9CDD3"/>
                </a:solidFill>
                <a:latin typeface="Calibri" pitchFamily="34" charset="0"/>
                <a:ea typeface="Calibri" pitchFamily="34" charset="-122"/>
                <a:cs typeface="Calibri" pitchFamily="34" charset="-120"/>
              </a:rPr>
              <a:t>Accept-Language: fr-BE</a:t>
            </a:r>
            <a:endParaRPr lang="en-US" sz="1450" dirty="0"/>
          </a:p>
        </p:txBody>
      </p:sp>
      <p:sp>
        <p:nvSpPr>
          <p:cNvPr id="11" name="Shape 8"/>
          <p:cNvSpPr/>
          <p:nvPr/>
        </p:nvSpPr>
        <p:spPr>
          <a:xfrm>
            <a:off x="8945575" y="1783080"/>
            <a:ext cx="2606040" cy="2606040"/>
          </a:xfrm>
          <a:prstGeom prst="roundRect">
            <a:avLst>
              <a:gd name="adj" fmla="val 2807"/>
            </a:avLst>
          </a:prstGeom>
          <a:solidFill>
            <a:srgbClr val="F2F3F5"/>
          </a:solidFill>
          <a:ln w="12700">
            <a:solidFill>
              <a:srgbClr val="F2F3F5"/>
            </a:solidFill>
            <a:prstDash val="solid"/>
          </a:ln>
        </p:spPr>
      </p:sp>
      <p:sp>
        <p:nvSpPr>
          <p:cNvPr id="12" name="Shape 9"/>
          <p:cNvSpPr/>
          <p:nvPr/>
        </p:nvSpPr>
        <p:spPr>
          <a:xfrm>
            <a:off x="8945575" y="1783080"/>
            <a:ext cx="2606040" cy="777240"/>
          </a:xfrm>
          <a:prstGeom prst="roundRect">
            <a:avLst>
              <a:gd name="adj" fmla="val 9412"/>
            </a:avLst>
          </a:prstGeom>
          <a:solidFill>
            <a:srgbClr val="16181D"/>
          </a:solidFill>
          <a:ln w="12700">
            <a:solidFill>
              <a:srgbClr val="16181D"/>
            </a:solidFill>
            <a:prstDash val="solid"/>
          </a:ln>
        </p:spPr>
      </p:sp>
      <p:sp>
        <p:nvSpPr>
          <p:cNvPr id="13" name="Text 10"/>
          <p:cNvSpPr txBox="1"/>
          <p:nvPr/>
        </p:nvSpPr>
        <p:spPr>
          <a:xfrm>
            <a:off x="9082735" y="1810512"/>
            <a:ext cx="2331720" cy="731520"/>
          </a:xfrm>
          <a:prstGeom prst="rect">
            <a:avLst/>
          </a:prstGeom>
          <a:noFill/>
          <a:ln/>
        </p:spPr>
        <p:txBody>
          <a:bodyPr wrap="square" lIns="0" tIns="0" rIns="0" bIns="0" rtlCol="0" anchor="ctr"/>
          <a:lstStyle/>
          <a:p>
            <a:pPr indent="0" marL="0">
              <a:buNone/>
            </a:pPr>
            <a:r>
              <a:rPr lang="en-US" sz="1450" b="1" dirty="0">
                <a:solidFill>
                  <a:srgbClr val="E8590C"/>
                </a:solidFill>
                <a:latin typeface="Calibri" pitchFamily="34" charset="0"/>
                <a:ea typeface="Calibri" pitchFamily="34" charset="-122"/>
                <a:cs typeface="Calibri" pitchFamily="34" charset="-120"/>
              </a:rPr>
              <a:t>Serveur · conteneur</a:t>
            </a:r>
            <a:endParaRPr lang="en-US" sz="1450" dirty="0"/>
          </a:p>
          <a:p>
            <a:pPr indent="0" marL="0">
              <a:buNone/>
            </a:pPr>
            <a:r>
              <a:rPr lang="en-US" sz="1150" dirty="0">
                <a:solidFill>
                  <a:srgbClr val="C9CDD3"/>
                </a:solidFill>
                <a:latin typeface="Calibri" pitchFamily="34" charset="0"/>
                <a:ea typeface="Calibri" pitchFamily="34" charset="-122"/>
                <a:cs typeface="Calibri" pitchFamily="34" charset="-120"/>
              </a:rPr>
              <a:t>culture en-US</a:t>
            </a:r>
            <a:endParaRPr lang="en-US" sz="1450" dirty="0"/>
          </a:p>
          <a:p>
            <a:pPr indent="0" marL="0">
              <a:buNone/>
            </a:pPr>
            <a:r>
              <a:rPr lang="en-US" sz="1150" dirty="0">
                <a:solidFill>
                  <a:srgbClr val="C9CDD3"/>
                </a:solidFill>
                <a:latin typeface="Calibri" pitchFamily="34" charset="0"/>
                <a:ea typeface="Calibri" pitchFamily="34" charset="-122"/>
                <a:cs typeface="Calibri" pitchFamily="34" charset="-120"/>
              </a:rPr>
              <a:t>(ou invariante)</a:t>
            </a:r>
            <a:endParaRPr lang="en-US" sz="1450" dirty="0"/>
          </a:p>
        </p:txBody>
      </p:sp>
      <p:sp>
        <p:nvSpPr>
          <p:cNvPr id="14" name="Text 11"/>
          <p:cNvSpPr txBox="1"/>
          <p:nvPr/>
        </p:nvSpPr>
        <p:spPr>
          <a:xfrm>
            <a:off x="777240" y="2743200"/>
            <a:ext cx="2377440" cy="457200"/>
          </a:xfrm>
          <a:prstGeom prst="rect">
            <a:avLst/>
          </a:prstGeom>
          <a:noFill/>
          <a:ln/>
        </p:spPr>
        <p:txBody>
          <a:bodyPr wrap="square" lIns="0" tIns="0" rIns="0" bIns="0" rtlCol="0" anchor="ctr"/>
          <a:lstStyle/>
          <a:p>
            <a:pPr indent="0" marL="0">
              <a:buNone/>
            </a:pPr>
            <a:r>
              <a:rPr lang="en-US" sz="1250" dirty="0">
                <a:solidFill>
                  <a:srgbClr val="16181D"/>
                </a:solidFill>
                <a:latin typeface="Calibri" pitchFamily="34" charset="0"/>
                <a:ea typeface="Calibri" pitchFamily="34" charset="-122"/>
                <a:cs typeface="Calibri" pitchFamily="34" charset="-120"/>
              </a:rPr>
              <a:t>saisit « 3,5 » €</a:t>
            </a:r>
            <a:endParaRPr lang="en-US" sz="1250" dirty="0"/>
          </a:p>
        </p:txBody>
      </p:sp>
      <p:sp>
        <p:nvSpPr>
          <p:cNvPr id="15" name="Text 12"/>
          <p:cNvSpPr txBox="1"/>
          <p:nvPr/>
        </p:nvSpPr>
        <p:spPr>
          <a:xfrm>
            <a:off x="9082735" y="2743200"/>
            <a:ext cx="2377440" cy="457200"/>
          </a:xfrm>
          <a:prstGeom prst="rect">
            <a:avLst/>
          </a:prstGeom>
          <a:noFill/>
          <a:ln/>
        </p:spPr>
        <p:txBody>
          <a:bodyPr wrap="square" lIns="0" tIns="0" rIns="0" bIns="0" rtlCol="0" anchor="ctr"/>
          <a:lstStyle/>
          <a:p>
            <a:pPr indent="0" marL="0">
              <a:buNone/>
            </a:pPr>
            <a:r>
              <a:rPr lang="en-US" sz="1150" b="1" dirty="0">
                <a:solidFill>
                  <a:srgbClr val="C92A2A"/>
                </a:solidFill>
                <a:latin typeface="Consolas" pitchFamily="34" charset="0"/>
                <a:ea typeface="Consolas" pitchFamily="34" charset="-122"/>
                <a:cs typeface="Consolas" pitchFamily="34" charset="-120"/>
              </a:rPr>
              <a:t>double.Parse → 35</a:t>
            </a:r>
            <a:endParaRPr lang="en-US" sz="1150" dirty="0"/>
          </a:p>
        </p:txBody>
      </p:sp>
      <p:sp>
        <p:nvSpPr>
          <p:cNvPr id="16" name="Text 13"/>
          <p:cNvSpPr txBox="1"/>
          <p:nvPr/>
        </p:nvSpPr>
        <p:spPr>
          <a:xfrm>
            <a:off x="3383280" y="2697480"/>
            <a:ext cx="5425135" cy="274320"/>
          </a:xfrm>
          <a:prstGeom prst="rect">
            <a:avLst/>
          </a:prstGeom>
          <a:noFill/>
          <a:ln/>
        </p:spPr>
        <p:txBody>
          <a:bodyPr wrap="square" lIns="0" tIns="0" rIns="0" bIns="0" rtlCol="0" anchor="ctr"/>
          <a:lstStyle/>
          <a:p>
            <a:pPr algn="ctr" indent="0" marL="0">
              <a:buNone/>
            </a:pPr>
            <a:r>
              <a:rPr lang="en-US" sz="1200" dirty="0">
                <a:solidFill>
                  <a:srgbClr val="5F6670"/>
                </a:solidFill>
                <a:latin typeface="Consolas" pitchFamily="34" charset="0"/>
                <a:ea typeface="Consolas" pitchFamily="34" charset="-122"/>
                <a:cs typeface="Consolas" pitchFamily="34" charset="-120"/>
              </a:rPr>
              <a:t>cout=3,5</a:t>
            </a:r>
            <a:endParaRPr lang="en-US" sz="1200" dirty="0"/>
          </a:p>
        </p:txBody>
      </p:sp>
      <p:sp>
        <p:nvSpPr>
          <p:cNvPr id="17" name="Shape 14"/>
          <p:cNvSpPr/>
          <p:nvPr/>
        </p:nvSpPr>
        <p:spPr>
          <a:xfrm>
            <a:off x="3383280" y="3035808"/>
            <a:ext cx="5425135" cy="0"/>
          </a:xfrm>
          <a:prstGeom prst="line">
            <a:avLst/>
          </a:prstGeom>
          <a:noFill/>
          <a:ln w="22225">
            <a:solidFill>
              <a:srgbClr val="16181D"/>
            </a:solidFill>
            <a:prstDash val="solid"/>
            <a:tailEnd type="triangle"/>
          </a:ln>
        </p:spPr>
      </p:sp>
      <p:sp>
        <p:nvSpPr>
          <p:cNvPr id="18" name="Text 15"/>
          <p:cNvSpPr txBox="1"/>
          <p:nvPr/>
        </p:nvSpPr>
        <p:spPr>
          <a:xfrm>
            <a:off x="777240" y="3291840"/>
            <a:ext cx="2377440" cy="457200"/>
          </a:xfrm>
          <a:prstGeom prst="rect">
            <a:avLst/>
          </a:prstGeom>
          <a:noFill/>
          <a:ln/>
        </p:spPr>
        <p:txBody>
          <a:bodyPr wrap="square" lIns="0" tIns="0" rIns="0" bIns="0" rtlCol="0" anchor="ctr"/>
          <a:lstStyle/>
          <a:p>
            <a:pPr indent="0" marL="0">
              <a:buNone/>
            </a:pPr>
            <a:r>
              <a:rPr lang="en-US" sz="1250" dirty="0">
                <a:solidFill>
                  <a:srgbClr val="16181D"/>
                </a:solidFill>
                <a:latin typeface="Calibri" pitchFamily="34" charset="0"/>
                <a:ea typeface="Calibri" pitchFamily="34" charset="-122"/>
                <a:cs typeface="Calibri" pitchFamily="34" charset="-120"/>
              </a:rPr>
              <a:t>saisit 03/04/2026 (3 avril)</a:t>
            </a:r>
            <a:endParaRPr lang="en-US" sz="1250" dirty="0"/>
          </a:p>
        </p:txBody>
      </p:sp>
      <p:sp>
        <p:nvSpPr>
          <p:cNvPr id="19" name="Text 16"/>
          <p:cNvSpPr txBox="1"/>
          <p:nvPr/>
        </p:nvSpPr>
        <p:spPr>
          <a:xfrm>
            <a:off x="9082735" y="3291840"/>
            <a:ext cx="2377440" cy="457200"/>
          </a:xfrm>
          <a:prstGeom prst="rect">
            <a:avLst/>
          </a:prstGeom>
          <a:noFill/>
          <a:ln/>
        </p:spPr>
        <p:txBody>
          <a:bodyPr wrap="square" lIns="0" tIns="0" rIns="0" bIns="0" rtlCol="0" anchor="ctr"/>
          <a:lstStyle/>
          <a:p>
            <a:pPr indent="0" marL="0">
              <a:buNone/>
            </a:pPr>
            <a:r>
              <a:rPr lang="en-US" sz="1150" b="1" dirty="0">
                <a:solidFill>
                  <a:srgbClr val="C92A2A"/>
                </a:solidFill>
                <a:latin typeface="Consolas" pitchFamily="34" charset="0"/>
                <a:ea typeface="Consolas" pitchFamily="34" charset="-122"/>
                <a:cs typeface="Consolas" pitchFamily="34" charset="-120"/>
              </a:rPr>
              <a:t>DateTime.Parse → 4 mars</a:t>
            </a:r>
            <a:endParaRPr lang="en-US" sz="1150" dirty="0"/>
          </a:p>
        </p:txBody>
      </p:sp>
      <p:sp>
        <p:nvSpPr>
          <p:cNvPr id="20" name="Text 17"/>
          <p:cNvSpPr txBox="1"/>
          <p:nvPr/>
        </p:nvSpPr>
        <p:spPr>
          <a:xfrm>
            <a:off x="3383280" y="3246120"/>
            <a:ext cx="5425135" cy="274320"/>
          </a:xfrm>
          <a:prstGeom prst="rect">
            <a:avLst/>
          </a:prstGeom>
          <a:noFill/>
          <a:ln/>
        </p:spPr>
        <p:txBody>
          <a:bodyPr wrap="square" lIns="0" tIns="0" rIns="0" bIns="0" rtlCol="0" anchor="ctr"/>
          <a:lstStyle/>
          <a:p>
            <a:pPr algn="ctr" indent="0" marL="0">
              <a:buNone/>
            </a:pPr>
            <a:r>
              <a:rPr lang="en-US" sz="1200" dirty="0">
                <a:solidFill>
                  <a:srgbClr val="5F6670"/>
                </a:solidFill>
                <a:latin typeface="Consolas" pitchFamily="34" charset="0"/>
                <a:ea typeface="Consolas" pitchFamily="34" charset="-122"/>
                <a:cs typeface="Consolas" pitchFamily="34" charset="-120"/>
              </a:rPr>
              <a:t>date=03/04/2026</a:t>
            </a:r>
            <a:endParaRPr lang="en-US" sz="1200" dirty="0"/>
          </a:p>
        </p:txBody>
      </p:sp>
      <p:sp>
        <p:nvSpPr>
          <p:cNvPr id="21" name="Shape 18"/>
          <p:cNvSpPr/>
          <p:nvPr/>
        </p:nvSpPr>
        <p:spPr>
          <a:xfrm>
            <a:off x="3383280" y="3584448"/>
            <a:ext cx="5425135" cy="0"/>
          </a:xfrm>
          <a:prstGeom prst="line">
            <a:avLst/>
          </a:prstGeom>
          <a:noFill/>
          <a:ln w="22225">
            <a:solidFill>
              <a:srgbClr val="16181D"/>
            </a:solidFill>
            <a:prstDash val="solid"/>
            <a:tailEnd type="triangle"/>
          </a:ln>
        </p:spPr>
      </p:sp>
      <p:sp>
        <p:nvSpPr>
          <p:cNvPr id="22" name="Text 19"/>
          <p:cNvSpPr txBox="1"/>
          <p:nvPr/>
        </p:nvSpPr>
        <p:spPr>
          <a:xfrm>
            <a:off x="777240" y="3840480"/>
            <a:ext cx="2377440" cy="457200"/>
          </a:xfrm>
          <a:prstGeom prst="rect">
            <a:avLst/>
          </a:prstGeom>
          <a:noFill/>
          <a:ln/>
        </p:spPr>
        <p:txBody>
          <a:bodyPr wrap="square" lIns="0" tIns="0" rIns="0" bIns="0" rtlCol="0" anchor="ctr"/>
          <a:lstStyle/>
          <a:p>
            <a:pPr indent="0" marL="0">
              <a:buNone/>
            </a:pPr>
            <a:r>
              <a:rPr lang="en-US" sz="1250" dirty="0">
                <a:solidFill>
                  <a:srgbClr val="16181D"/>
                </a:solidFill>
                <a:latin typeface="Calibri" pitchFamily="34" charset="0"/>
                <a:ea typeface="Calibri" pitchFamily="34" charset="-122"/>
                <a:cs typeface="Calibri" pitchFamily="34" charset="-120"/>
              </a:rPr>
              <a:t>lit « 1,234.50 » : 1 € ?</a:t>
            </a:r>
            <a:endParaRPr lang="en-US" sz="1250" dirty="0"/>
          </a:p>
        </p:txBody>
      </p:sp>
      <p:sp>
        <p:nvSpPr>
          <p:cNvPr id="23" name="Text 20"/>
          <p:cNvSpPr txBox="1"/>
          <p:nvPr/>
        </p:nvSpPr>
        <p:spPr>
          <a:xfrm>
            <a:off x="9082735" y="3840480"/>
            <a:ext cx="2377440" cy="457200"/>
          </a:xfrm>
          <a:prstGeom prst="rect">
            <a:avLst/>
          </a:prstGeom>
          <a:noFill/>
          <a:ln/>
        </p:spPr>
        <p:txBody>
          <a:bodyPr wrap="square" lIns="0" tIns="0" rIns="0" bIns="0" rtlCol="0" anchor="ctr"/>
          <a:lstStyle/>
          <a:p>
            <a:pPr indent="0" marL="0">
              <a:buNone/>
            </a:pPr>
            <a:r>
              <a:rPr lang="en-US" sz="1150" b="1" dirty="0">
                <a:solidFill>
                  <a:srgbClr val="16181D"/>
                </a:solidFill>
                <a:latin typeface="Consolas" pitchFamily="34" charset="0"/>
                <a:ea typeface="Consolas" pitchFamily="34" charset="-122"/>
                <a:cs typeface="Consolas" pitchFamily="34" charset="-120"/>
              </a:rPr>
              <a:t>1234.5m.ToString("N2")</a:t>
            </a:r>
            <a:endParaRPr lang="en-US" sz="1150" dirty="0"/>
          </a:p>
        </p:txBody>
      </p:sp>
      <p:sp>
        <p:nvSpPr>
          <p:cNvPr id="24" name="Text 21"/>
          <p:cNvSpPr txBox="1"/>
          <p:nvPr/>
        </p:nvSpPr>
        <p:spPr>
          <a:xfrm>
            <a:off x="3383280" y="3794760"/>
            <a:ext cx="5425135" cy="274320"/>
          </a:xfrm>
          <a:prstGeom prst="rect">
            <a:avLst/>
          </a:prstGeom>
          <a:noFill/>
          <a:ln/>
        </p:spPr>
        <p:txBody>
          <a:bodyPr wrap="square" lIns="0" tIns="0" rIns="0" bIns="0" rtlCol="0" anchor="ctr"/>
          <a:lstStyle/>
          <a:p>
            <a:pPr algn="ctr" indent="0" marL="0">
              <a:buNone/>
            </a:pPr>
            <a:r>
              <a:rPr lang="en-US" sz="1200" dirty="0">
                <a:solidFill>
                  <a:srgbClr val="5F6670"/>
                </a:solidFill>
                <a:latin typeface="Consolas" pitchFamily="34" charset="0"/>
                <a:ea typeface="Consolas" pitchFamily="34" charset="-122"/>
                <a:cs typeface="Consolas" pitchFamily="34" charset="-120"/>
              </a:rPr>
              <a:t>réponse : 1,234.50</a:t>
            </a:r>
            <a:endParaRPr lang="en-US" sz="1200" dirty="0"/>
          </a:p>
        </p:txBody>
      </p:sp>
      <p:sp>
        <p:nvSpPr>
          <p:cNvPr id="25" name="Shape 22"/>
          <p:cNvSpPr/>
          <p:nvPr/>
        </p:nvSpPr>
        <p:spPr>
          <a:xfrm>
            <a:off x="3383280" y="4133088"/>
            <a:ext cx="5425135" cy="0"/>
          </a:xfrm>
          <a:prstGeom prst="line">
            <a:avLst/>
          </a:prstGeom>
          <a:noFill/>
          <a:ln w="22225">
            <a:solidFill>
              <a:srgbClr val="5F6670"/>
            </a:solidFill>
            <a:prstDash val="solid"/>
            <a:headEnd type="triangle"/>
          </a:ln>
        </p:spPr>
      </p:sp>
      <p:sp>
        <p:nvSpPr>
          <p:cNvPr id="26" name="Shape 23"/>
          <p:cNvSpPr/>
          <p:nvPr/>
        </p:nvSpPr>
        <p:spPr>
          <a:xfrm>
            <a:off x="640080" y="4526280"/>
            <a:ext cx="10911535" cy="91"/>
          </a:xfrm>
          <a:prstGeom prst="roundRect">
            <a:avLst>
              <a:gd name="adj" fmla="val 80386813"/>
            </a:avLst>
          </a:prstGeom>
          <a:solidFill>
            <a:srgbClr val="FFFFFF"/>
          </a:solidFill>
          <a:ln w="12700">
            <a:solidFill>
              <a:srgbClr val="FFFFFF"/>
            </a:solidFill>
            <a:prstDash val="solid"/>
          </a:ln>
        </p:spPr>
      </p:sp>
      <p:sp>
        <p:nvSpPr>
          <p:cNvPr id="27" name="Text 24"/>
          <p:cNvSpPr txBox="1"/>
          <p:nvPr/>
        </p:nvSpPr>
        <p:spPr>
          <a:xfrm>
            <a:off x="640080" y="4434840"/>
            <a:ext cx="10911535" cy="365760"/>
          </a:xfrm>
          <a:prstGeom prst="rect">
            <a:avLst/>
          </a:prstGeom>
          <a:noFill/>
          <a:ln/>
        </p:spPr>
        <p:txBody>
          <a:bodyPr wrap="square" lIns="0" tIns="0" rIns="0" bIns="0" rtlCol="0" anchor="ctr"/>
          <a:lstStyle/>
          <a:p>
            <a:pPr indent="0" marL="0">
              <a:buNone/>
            </a:pPr>
            <a:r>
              <a:rPr lang="en-US" sz="1400" b="1" dirty="0">
                <a:solidFill>
                  <a:srgbClr val="C92A2A"/>
                </a:solidFill>
                <a:latin typeface="Calibri" pitchFamily="34" charset="0"/>
                <a:ea typeface="Calibri" pitchFamily="34" charset="-122"/>
                <a:cs typeface="Calibri" pitchFamily="34" charset="-120"/>
              </a:rPr>
              <a:t>Le piège  </a:t>
            </a:r>
            <a:pPr indent="0" marL="0">
              <a:buNone/>
            </a:pPr>
            <a:r>
              <a:rPr lang="en-US" sz="1400" dirty="0">
                <a:solidFill>
                  <a:srgbClr val="16181D"/>
                </a:solidFill>
                <a:latin typeface="Calibri" pitchFamily="34" charset="0"/>
                <a:ea typeface="Calibri" pitchFamily="34" charset="-122"/>
                <a:cs typeface="Calibri" pitchFamily="34" charset="-120"/>
              </a:rPr>
              <a:t>aucune erreur, aucun message : le coût est multiplié par dix, et tout fonctionnait en développement.</a:t>
            </a:r>
            <a:endParaRPr lang="en-US" sz="1400" dirty="0"/>
          </a:p>
        </p:txBody>
      </p:sp>
      <p:sp>
        <p:nvSpPr>
          <p:cNvPr id="28" name="Shape 25"/>
          <p:cNvSpPr/>
          <p:nvPr/>
        </p:nvSpPr>
        <p:spPr>
          <a:xfrm>
            <a:off x="640080" y="4892040"/>
            <a:ext cx="2590724" cy="1051560"/>
          </a:xfrm>
          <a:prstGeom prst="roundRect">
            <a:avLst>
              <a:gd name="adj" fmla="val 6957"/>
            </a:avLst>
          </a:prstGeom>
          <a:solidFill>
            <a:srgbClr val="16181D"/>
          </a:solidFill>
          <a:ln w="12700">
            <a:solidFill>
              <a:srgbClr val="16181D"/>
            </a:solidFill>
            <a:prstDash val="solid"/>
          </a:ln>
        </p:spPr>
      </p:sp>
      <p:sp>
        <p:nvSpPr>
          <p:cNvPr id="29" name="Text 26"/>
          <p:cNvSpPr txBox="1"/>
          <p:nvPr/>
        </p:nvSpPr>
        <p:spPr>
          <a:xfrm>
            <a:off x="777240" y="4937760"/>
            <a:ext cx="2316404" cy="960120"/>
          </a:xfrm>
          <a:prstGeom prst="rect">
            <a:avLst/>
          </a:prstGeom>
          <a:noFill/>
          <a:ln/>
        </p:spPr>
        <p:txBody>
          <a:bodyPr wrap="square" lIns="0" tIns="0" rIns="0" bIns="0" rtlCol="0" anchor="ctr"/>
          <a:lstStyle/>
          <a:p>
            <a:pPr indent="0" marL="0">
              <a:buNone/>
            </a:pPr>
            <a:r>
              <a:rPr lang="en-US" sz="1400" b="1" dirty="0">
                <a:solidFill>
                  <a:srgbClr val="E8590C"/>
                </a:solidFill>
                <a:latin typeface="Calibri" pitchFamily="34" charset="0"/>
                <a:ea typeface="Calibri" pitchFamily="34" charset="-122"/>
                <a:cs typeface="Calibri" pitchFamily="34" charset="-120"/>
              </a:rPr>
              <a:t>Échanger en neutre</a:t>
            </a:r>
            <a:endParaRPr lang="en-US" sz="1400" dirty="0"/>
          </a:p>
          <a:p>
            <a:pPr indent="0" marL="0">
              <a:buNone/>
            </a:pPr>
            <a:r>
              <a:rPr lang="en-US" sz="1200" dirty="0">
                <a:solidFill>
                  <a:srgbClr val="FFFFFF"/>
                </a:solidFill>
                <a:latin typeface="Calibri" pitchFamily="34" charset="0"/>
                <a:ea typeface="Calibri" pitchFamily="34" charset="-122"/>
                <a:cs typeface="Calibri" pitchFamily="34" charset="-120"/>
              </a:rPr>
              <a:t>nombre JSON 3.5, date ISO 8601 2026-04-03</a:t>
            </a:r>
            <a:endParaRPr lang="en-US" sz="1400" dirty="0"/>
          </a:p>
        </p:txBody>
      </p:sp>
      <p:sp>
        <p:nvSpPr>
          <p:cNvPr id="30" name="Shape 27"/>
          <p:cNvSpPr/>
          <p:nvPr/>
        </p:nvSpPr>
        <p:spPr>
          <a:xfrm>
            <a:off x="3413684" y="4892040"/>
            <a:ext cx="2590724" cy="1051560"/>
          </a:xfrm>
          <a:prstGeom prst="roundRect">
            <a:avLst>
              <a:gd name="adj" fmla="val 6957"/>
            </a:avLst>
          </a:prstGeom>
          <a:solidFill>
            <a:srgbClr val="F2F3F5"/>
          </a:solidFill>
          <a:ln w="12700">
            <a:solidFill>
              <a:srgbClr val="F2F3F5"/>
            </a:solidFill>
            <a:prstDash val="solid"/>
          </a:ln>
        </p:spPr>
      </p:sp>
      <p:sp>
        <p:nvSpPr>
          <p:cNvPr id="31" name="Text 28"/>
          <p:cNvSpPr txBox="1"/>
          <p:nvPr/>
        </p:nvSpPr>
        <p:spPr>
          <a:xfrm>
            <a:off x="3550844" y="4937760"/>
            <a:ext cx="2316404" cy="960120"/>
          </a:xfrm>
          <a:prstGeom prst="rect">
            <a:avLst/>
          </a:prstGeom>
          <a:noFill/>
          <a:ln/>
        </p:spPr>
        <p:txBody>
          <a:bodyPr wrap="square" lIns="0" tIns="0" rIns="0" bIns="0" rtlCol="0" anchor="ctr"/>
          <a:lstStyle/>
          <a:p>
            <a:pPr indent="0" marL="0">
              <a:buNone/>
            </a:pPr>
            <a:r>
              <a:rPr lang="en-US" sz="1400" b="1" dirty="0">
                <a:solidFill>
                  <a:srgbClr val="16181D"/>
                </a:solidFill>
                <a:latin typeface="Calibri" pitchFamily="34" charset="0"/>
                <a:ea typeface="Calibri" pitchFamily="34" charset="-122"/>
                <a:cs typeface="Calibri" pitchFamily="34" charset="-120"/>
              </a:rPr>
              <a:t>Lire en invariant</a:t>
            </a:r>
            <a:endParaRPr lang="en-US" sz="1400" dirty="0"/>
          </a:p>
          <a:p>
            <a:pPr indent="0" marL="0">
              <a:buNone/>
            </a:pPr>
            <a:r>
              <a:rPr lang="en-US" sz="1200" dirty="0">
                <a:solidFill>
                  <a:srgbClr val="5F6670"/>
                </a:solidFill>
                <a:latin typeface="Calibri" pitchFamily="34" charset="0"/>
                <a:ea typeface="Calibri" pitchFamily="34" charset="-122"/>
                <a:cs typeface="Calibri" pitchFamily="34" charset="-120"/>
              </a:rPr>
              <a:t>Parse(texte, CultureInfo.InvariantCulture) côté serveur</a:t>
            </a:r>
            <a:endParaRPr lang="en-US" sz="1400" dirty="0"/>
          </a:p>
        </p:txBody>
      </p:sp>
      <p:sp>
        <p:nvSpPr>
          <p:cNvPr id="32" name="Shape 29"/>
          <p:cNvSpPr/>
          <p:nvPr/>
        </p:nvSpPr>
        <p:spPr>
          <a:xfrm>
            <a:off x="6187288" y="4892040"/>
            <a:ext cx="2590724" cy="1051560"/>
          </a:xfrm>
          <a:prstGeom prst="roundRect">
            <a:avLst>
              <a:gd name="adj" fmla="val 6957"/>
            </a:avLst>
          </a:prstGeom>
          <a:solidFill>
            <a:srgbClr val="F2F3F5"/>
          </a:solidFill>
          <a:ln w="12700">
            <a:solidFill>
              <a:srgbClr val="F2F3F5"/>
            </a:solidFill>
            <a:prstDash val="solid"/>
          </a:ln>
        </p:spPr>
      </p:sp>
      <p:sp>
        <p:nvSpPr>
          <p:cNvPr id="33" name="Text 30"/>
          <p:cNvSpPr txBox="1"/>
          <p:nvPr/>
        </p:nvSpPr>
        <p:spPr>
          <a:xfrm>
            <a:off x="6324448" y="4937760"/>
            <a:ext cx="2316404" cy="960120"/>
          </a:xfrm>
          <a:prstGeom prst="rect">
            <a:avLst/>
          </a:prstGeom>
          <a:noFill/>
          <a:ln/>
        </p:spPr>
        <p:txBody>
          <a:bodyPr wrap="square" lIns="0" tIns="0" rIns="0" bIns="0" rtlCol="0" anchor="ctr"/>
          <a:lstStyle/>
          <a:p>
            <a:pPr indent="0" marL="0">
              <a:buNone/>
            </a:pPr>
            <a:r>
              <a:rPr lang="en-US" sz="1400" b="1" dirty="0">
                <a:solidFill>
                  <a:srgbClr val="16181D"/>
                </a:solidFill>
                <a:latin typeface="Calibri" pitchFamily="34" charset="0"/>
                <a:ea typeface="Calibri" pitchFamily="34" charset="-122"/>
                <a:cs typeface="Calibri" pitchFamily="34" charset="-120"/>
              </a:rPr>
              <a:t>Le bon champ HTML</a:t>
            </a:r>
            <a:endParaRPr lang="en-US" sz="1400" dirty="0"/>
          </a:p>
          <a:p>
            <a:pPr indent="0" marL="0">
              <a:buNone/>
            </a:pPr>
            <a:r>
              <a:rPr lang="en-US" sz="1200" dirty="0">
                <a:solidFill>
                  <a:srgbClr val="5F6670"/>
                </a:solidFill>
                <a:latin typeface="Calibri" pitchFamily="34" charset="0"/>
                <a:ea typeface="Calibri" pitchFamily="34" charset="-122"/>
                <a:cs typeface="Calibri" pitchFamily="34" charset="-120"/>
              </a:rPr>
              <a:t>type="number" et type="date" envoient toujours 3.5 et 2026-04-03</a:t>
            </a:r>
            <a:endParaRPr lang="en-US" sz="1400" dirty="0"/>
          </a:p>
        </p:txBody>
      </p:sp>
      <p:sp>
        <p:nvSpPr>
          <p:cNvPr id="34" name="Shape 31"/>
          <p:cNvSpPr/>
          <p:nvPr/>
        </p:nvSpPr>
        <p:spPr>
          <a:xfrm>
            <a:off x="8960891" y="4892040"/>
            <a:ext cx="2590724" cy="1051560"/>
          </a:xfrm>
          <a:prstGeom prst="roundRect">
            <a:avLst>
              <a:gd name="adj" fmla="val 6957"/>
            </a:avLst>
          </a:prstGeom>
          <a:solidFill>
            <a:srgbClr val="F2F3F5"/>
          </a:solidFill>
          <a:ln w="12700">
            <a:solidFill>
              <a:srgbClr val="F2F3F5"/>
            </a:solidFill>
            <a:prstDash val="solid"/>
          </a:ln>
        </p:spPr>
      </p:sp>
      <p:sp>
        <p:nvSpPr>
          <p:cNvPr id="35" name="Text 32"/>
          <p:cNvSpPr txBox="1"/>
          <p:nvPr/>
        </p:nvSpPr>
        <p:spPr>
          <a:xfrm>
            <a:off x="9098051" y="4937760"/>
            <a:ext cx="2316404" cy="960120"/>
          </a:xfrm>
          <a:prstGeom prst="rect">
            <a:avLst/>
          </a:prstGeom>
          <a:noFill/>
          <a:ln/>
        </p:spPr>
        <p:txBody>
          <a:bodyPr wrap="square" lIns="0" tIns="0" rIns="0" bIns="0" rtlCol="0" anchor="ctr"/>
          <a:lstStyle/>
          <a:p>
            <a:pPr indent="0" marL="0">
              <a:buNone/>
            </a:pPr>
            <a:r>
              <a:rPr lang="en-US" sz="1400" b="1" dirty="0">
                <a:solidFill>
                  <a:srgbClr val="16181D"/>
                </a:solidFill>
                <a:latin typeface="Calibri" pitchFamily="34" charset="0"/>
                <a:ea typeface="Calibri" pitchFamily="34" charset="-122"/>
                <a:cs typeface="Calibri" pitchFamily="34" charset="-120"/>
              </a:rPr>
              <a:t>Formater au dernier moment</a:t>
            </a:r>
            <a:endParaRPr lang="en-US" sz="1400" dirty="0"/>
          </a:p>
          <a:p>
            <a:pPr indent="0" marL="0">
              <a:buNone/>
            </a:pPr>
            <a:r>
              <a:rPr lang="en-US" sz="1200" dirty="0">
                <a:solidFill>
                  <a:srgbClr val="5F6670"/>
                </a:solidFill>
                <a:latin typeface="Calibri" pitchFamily="34" charset="0"/>
                <a:ea typeface="Calibri" pitchFamily="34" charset="-122"/>
                <a:cs typeface="Calibri" pitchFamily="34" charset="-120"/>
              </a:rPr>
              <a:t>dans la culture de l'utilisateur, pour l'affichage seulement</a:t>
            </a:r>
            <a:endParaRPr lang="en-US" sz="1400" dirty="0"/>
          </a:p>
        </p:txBody>
      </p:sp>
      <p:sp>
        <p:nvSpPr>
          <p:cNvPr id="36" name="Text 33"/>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Résultats obtenus avec .NET 10. Microsoft Learn ; WHATWG HTML, « input type=number » ; ISO 8601.</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LES MÉTHODES UTILES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La boîte à outils des chaînes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S3</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24</a:t>
            </a:r>
            <a:endParaRPr lang="en-US" sz="1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3474720"/>
                <a:gridCol w="3931920"/>
                <a:gridCol w="3502152"/>
              </a:tblGrid>
              <a:tr h="45720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Méthode</a:t>
                      </a:r>
                      <a:endParaRPr lang="en-US" sz="1350" dirty="0">
                        <a:latin typeface="Calibri" charset="0"/>
                        <a:ea typeface="Calibri" charset="0"/>
                        <a:cs typeface="Calibri"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Ce qu'elle fait</a:t>
                      </a:r>
                      <a:endParaRPr lang="en-US" sz="1350" dirty="0">
                        <a:latin typeface="Calibri" charset="0"/>
                        <a:ea typeface="Calibri" charset="0"/>
                        <a:cs typeface="Calibri"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Avec "  Phishing DHL  "</a:t>
                      </a:r>
                      <a:endParaRPr lang="en-US" sz="1350" dirty="0">
                        <a:latin typeface="Calibri" charset="0"/>
                        <a:ea typeface="Calibri" charset="0"/>
                        <a:cs typeface="Calibri"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r>
              <a:tr h="457200">
                <a:tc>
                  <a:txBody>
                    <a:bodyPr/>
                    <a:lstStyle/>
                    <a:p>
                      <a:pPr indent="0" marL="0">
                        <a:buNone/>
                      </a:pPr>
                      <a:r>
                        <a:rPr lang="en-US" sz="1350" dirty="0">
                          <a:solidFill>
                            <a:srgbClr val="16181D"/>
                          </a:solidFill>
                          <a:latin typeface="Consolas" pitchFamily="34" charset="0"/>
                          <a:ea typeface="Consolas" pitchFamily="34" charset="-122"/>
                          <a:cs typeface="Consolas" pitchFamily="34" charset="-120"/>
                        </a:rPr>
                        <a:t>Trim()</a:t>
                      </a:r>
                      <a:endParaRPr lang="en-US" sz="1350" dirty="0">
                        <a:latin typeface="Consolas" charset="0"/>
                        <a:ea typeface="Consolas" charset="0"/>
                        <a:cs typeface="Consolas"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50" dirty="0">
                          <a:solidFill>
                            <a:srgbClr val="16181D"/>
                          </a:solidFill>
                          <a:latin typeface="Calibri" pitchFamily="34" charset="0"/>
                          <a:ea typeface="Calibri" pitchFamily="34" charset="-122"/>
                          <a:cs typeface="Calibri" pitchFamily="34" charset="-120"/>
                        </a:rPr>
                        <a:t>retire les espaces au début et à la fin</a:t>
                      </a:r>
                      <a:endParaRPr lang="en-US" sz="1350" dirty="0">
                        <a:latin typeface="Calibri" charset="0"/>
                        <a:ea typeface="Calibri" charset="0"/>
                        <a:cs typeface="Calibri"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50" dirty="0">
                          <a:solidFill>
                            <a:srgbClr val="16181D"/>
                          </a:solidFill>
                          <a:latin typeface="Consolas" pitchFamily="34" charset="0"/>
                          <a:ea typeface="Consolas" pitchFamily="34" charset="-122"/>
                          <a:cs typeface="Consolas" pitchFamily="34" charset="-120"/>
                        </a:rPr>
                        <a:t>"Phishing DHL"</a:t>
                      </a:r>
                      <a:endParaRPr lang="en-US" sz="1350" dirty="0">
                        <a:latin typeface="Consolas" charset="0"/>
                        <a:ea typeface="Consolas" charset="0"/>
                        <a:cs typeface="Consolas"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457200">
                <a:tc>
                  <a:txBody>
                    <a:bodyPr/>
                    <a:lstStyle/>
                    <a:p>
                      <a:pPr indent="0" marL="0">
                        <a:buNone/>
                      </a:pPr>
                      <a:r>
                        <a:rPr lang="en-US" sz="1350" dirty="0">
                          <a:solidFill>
                            <a:srgbClr val="16181D"/>
                          </a:solidFill>
                          <a:latin typeface="Consolas" pitchFamily="34" charset="0"/>
                          <a:ea typeface="Consolas" pitchFamily="34" charset="-122"/>
                          <a:cs typeface="Consolas" pitchFamily="34" charset="-120"/>
                        </a:rPr>
                        <a:t>ToUpperInvariant()</a:t>
                      </a:r>
                      <a:endParaRPr lang="en-US" sz="1350" dirty="0">
                        <a:latin typeface="Consolas" charset="0"/>
                        <a:ea typeface="Consolas" charset="0"/>
                        <a:cs typeface="Consolas"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350" dirty="0">
                          <a:solidFill>
                            <a:srgbClr val="16181D"/>
                          </a:solidFill>
                          <a:latin typeface="Calibri" pitchFamily="34" charset="0"/>
                          <a:ea typeface="Calibri" pitchFamily="34" charset="-122"/>
                          <a:cs typeface="Calibri" pitchFamily="34" charset="-120"/>
                        </a:rPr>
                        <a:t>met en majuscules</a:t>
                      </a:r>
                      <a:endParaRPr lang="en-US" sz="1350" dirty="0">
                        <a:latin typeface="Calibri" charset="0"/>
                        <a:ea typeface="Calibri" charset="0"/>
                        <a:cs typeface="Calibri"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350" dirty="0">
                          <a:solidFill>
                            <a:srgbClr val="16181D"/>
                          </a:solidFill>
                          <a:latin typeface="Consolas" pitchFamily="34" charset="0"/>
                          <a:ea typeface="Consolas" pitchFamily="34" charset="-122"/>
                          <a:cs typeface="Consolas" pitchFamily="34" charset="-120"/>
                        </a:rPr>
                        <a:t>"  PHISHING DHL  "</a:t>
                      </a:r>
                      <a:endParaRPr lang="en-US" sz="1350" dirty="0">
                        <a:latin typeface="Consolas" charset="0"/>
                        <a:ea typeface="Consolas" charset="0"/>
                        <a:cs typeface="Consolas"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457200">
                <a:tc>
                  <a:txBody>
                    <a:bodyPr/>
                    <a:lstStyle/>
                    <a:p>
                      <a:pPr indent="0" marL="0">
                        <a:buNone/>
                      </a:pPr>
                      <a:r>
                        <a:rPr lang="en-US" sz="1350" dirty="0">
                          <a:solidFill>
                            <a:srgbClr val="16181D"/>
                          </a:solidFill>
                          <a:latin typeface="Consolas" pitchFamily="34" charset="0"/>
                          <a:ea typeface="Consolas" pitchFamily="34" charset="-122"/>
                          <a:cs typeface="Consolas" pitchFamily="34" charset="-120"/>
                        </a:rPr>
                        <a:t>Contains("DHL")</a:t>
                      </a:r>
                      <a:endParaRPr lang="en-US" sz="1350" dirty="0">
                        <a:latin typeface="Consolas" charset="0"/>
                        <a:ea typeface="Consolas" charset="0"/>
                        <a:cs typeface="Consolas"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50" dirty="0">
                          <a:solidFill>
                            <a:srgbClr val="16181D"/>
                          </a:solidFill>
                          <a:latin typeface="Calibri" pitchFamily="34" charset="0"/>
                          <a:ea typeface="Calibri" pitchFamily="34" charset="-122"/>
                          <a:cs typeface="Calibri" pitchFamily="34" charset="-120"/>
                        </a:rPr>
                        <a:t>contient-elle ce texte ?</a:t>
                      </a:r>
                      <a:endParaRPr lang="en-US" sz="1350" dirty="0">
                        <a:latin typeface="Calibri" charset="0"/>
                        <a:ea typeface="Calibri" charset="0"/>
                        <a:cs typeface="Calibri"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50" dirty="0">
                          <a:solidFill>
                            <a:srgbClr val="16181D"/>
                          </a:solidFill>
                          <a:latin typeface="Consolas" pitchFamily="34" charset="0"/>
                          <a:ea typeface="Consolas" pitchFamily="34" charset="-122"/>
                          <a:cs typeface="Consolas" pitchFamily="34" charset="-120"/>
                        </a:rPr>
                        <a:t>true</a:t>
                      </a:r>
                      <a:endParaRPr lang="en-US" sz="1350" dirty="0">
                        <a:latin typeface="Consolas" charset="0"/>
                        <a:ea typeface="Consolas" charset="0"/>
                        <a:cs typeface="Consolas"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457200">
                <a:tc>
                  <a:txBody>
                    <a:bodyPr/>
                    <a:lstStyle/>
                    <a:p>
                      <a:pPr indent="0" marL="0">
                        <a:buNone/>
                      </a:pPr>
                      <a:r>
                        <a:rPr lang="en-US" sz="1350" dirty="0">
                          <a:solidFill>
                            <a:srgbClr val="16181D"/>
                          </a:solidFill>
                          <a:latin typeface="Consolas" pitchFamily="34" charset="0"/>
                          <a:ea typeface="Consolas" pitchFamily="34" charset="-122"/>
                          <a:cs typeface="Consolas" pitchFamily="34" charset="-120"/>
                        </a:rPr>
                        <a:t>StartsWith("Ph")</a:t>
                      </a:r>
                      <a:endParaRPr lang="en-US" sz="1350" dirty="0">
                        <a:latin typeface="Consolas" charset="0"/>
                        <a:ea typeface="Consolas" charset="0"/>
                        <a:cs typeface="Consolas"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350" dirty="0">
                          <a:solidFill>
                            <a:srgbClr val="16181D"/>
                          </a:solidFill>
                          <a:latin typeface="Calibri" pitchFamily="34" charset="0"/>
                          <a:ea typeface="Calibri" pitchFamily="34" charset="-122"/>
                          <a:cs typeface="Calibri" pitchFamily="34" charset="-120"/>
                        </a:rPr>
                        <a:t>commence-t-elle par… ?</a:t>
                      </a:r>
                      <a:endParaRPr lang="en-US" sz="1350" dirty="0">
                        <a:latin typeface="Calibri" charset="0"/>
                        <a:ea typeface="Calibri" charset="0"/>
                        <a:cs typeface="Calibri"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350" dirty="0">
                          <a:solidFill>
                            <a:srgbClr val="16181D"/>
                          </a:solidFill>
                          <a:latin typeface="Consolas" pitchFamily="34" charset="0"/>
                          <a:ea typeface="Consolas" pitchFamily="34" charset="-122"/>
                          <a:cs typeface="Consolas" pitchFamily="34" charset="-120"/>
                        </a:rPr>
                        <a:t>false (les espaces !)</a:t>
                      </a:r>
                      <a:endParaRPr lang="en-US" sz="1350" dirty="0">
                        <a:latin typeface="Consolas" charset="0"/>
                        <a:ea typeface="Consolas" charset="0"/>
                        <a:cs typeface="Consolas"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457200">
                <a:tc>
                  <a:txBody>
                    <a:bodyPr/>
                    <a:lstStyle/>
                    <a:p>
                      <a:pPr indent="0" marL="0">
                        <a:buNone/>
                      </a:pPr>
                      <a:r>
                        <a:rPr lang="en-US" sz="1350" dirty="0">
                          <a:solidFill>
                            <a:srgbClr val="16181D"/>
                          </a:solidFill>
                          <a:latin typeface="Consolas" pitchFamily="34" charset="0"/>
                          <a:ea typeface="Consolas" pitchFamily="34" charset="-122"/>
                          <a:cs typeface="Consolas" pitchFamily="34" charset="-120"/>
                        </a:rPr>
                        <a:t>Replace("DHL", "colis")</a:t>
                      </a:r>
                      <a:endParaRPr lang="en-US" sz="1350" dirty="0">
                        <a:latin typeface="Consolas" charset="0"/>
                        <a:ea typeface="Consolas" charset="0"/>
                        <a:cs typeface="Consolas"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50" dirty="0">
                          <a:solidFill>
                            <a:srgbClr val="16181D"/>
                          </a:solidFill>
                          <a:latin typeface="Calibri" pitchFamily="34" charset="0"/>
                          <a:ea typeface="Calibri" pitchFamily="34" charset="-122"/>
                          <a:cs typeface="Calibri" pitchFamily="34" charset="-120"/>
                        </a:rPr>
                        <a:t>remplace un texte</a:t>
                      </a:r>
                      <a:endParaRPr lang="en-US" sz="1350" dirty="0">
                        <a:latin typeface="Calibri" charset="0"/>
                        <a:ea typeface="Calibri" charset="0"/>
                        <a:cs typeface="Calibri"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50" dirty="0">
                          <a:solidFill>
                            <a:srgbClr val="16181D"/>
                          </a:solidFill>
                          <a:latin typeface="Consolas" pitchFamily="34" charset="0"/>
                          <a:ea typeface="Consolas" pitchFamily="34" charset="-122"/>
                          <a:cs typeface="Consolas" pitchFamily="34" charset="-120"/>
                        </a:rPr>
                        <a:t>"  Phishing colis  "</a:t>
                      </a:r>
                      <a:endParaRPr lang="en-US" sz="1350" dirty="0">
                        <a:latin typeface="Consolas" charset="0"/>
                        <a:ea typeface="Consolas" charset="0"/>
                        <a:cs typeface="Consolas"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457200">
                <a:tc>
                  <a:txBody>
                    <a:bodyPr/>
                    <a:lstStyle/>
                    <a:p>
                      <a:pPr indent="0" marL="0">
                        <a:buNone/>
                      </a:pPr>
                      <a:r>
                        <a:rPr lang="en-US" sz="1350" dirty="0">
                          <a:solidFill>
                            <a:srgbClr val="16181D"/>
                          </a:solidFill>
                          <a:latin typeface="Consolas" pitchFamily="34" charset="0"/>
                          <a:ea typeface="Consolas" pitchFamily="34" charset="-122"/>
                          <a:cs typeface="Consolas" pitchFamily="34" charset="-120"/>
                        </a:rPr>
                        <a:t>Split(' ')</a:t>
                      </a:r>
                      <a:endParaRPr lang="en-US" sz="1350" dirty="0">
                        <a:latin typeface="Consolas" charset="0"/>
                        <a:ea typeface="Consolas" charset="0"/>
                        <a:cs typeface="Consolas"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350" dirty="0">
                          <a:solidFill>
                            <a:srgbClr val="16181D"/>
                          </a:solidFill>
                          <a:latin typeface="Calibri" pitchFamily="34" charset="0"/>
                          <a:ea typeface="Calibri" pitchFamily="34" charset="-122"/>
                          <a:cs typeface="Calibri" pitchFamily="34" charset="-120"/>
                        </a:rPr>
                        <a:t>découpe en morceaux</a:t>
                      </a:r>
                      <a:endParaRPr lang="en-US" sz="1350" dirty="0">
                        <a:latin typeface="Calibri" charset="0"/>
                        <a:ea typeface="Calibri" charset="0"/>
                        <a:cs typeface="Calibri"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350" dirty="0">
                          <a:solidFill>
                            <a:srgbClr val="16181D"/>
                          </a:solidFill>
                          <a:latin typeface="Consolas" pitchFamily="34" charset="0"/>
                          <a:ea typeface="Consolas" pitchFamily="34" charset="-122"/>
                          <a:cs typeface="Consolas" pitchFamily="34" charset="-120"/>
                        </a:rPr>
                        <a:t>["", "", "Phishing", "DHL", …]</a:t>
                      </a:r>
                      <a:endParaRPr lang="en-US" sz="1350" dirty="0">
                        <a:latin typeface="Consolas" charset="0"/>
                        <a:ea typeface="Consolas" charset="0"/>
                        <a:cs typeface="Consolas"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457200">
                <a:tc>
                  <a:txBody>
                    <a:bodyPr/>
                    <a:lstStyle/>
                    <a:p>
                      <a:pPr indent="0" marL="0">
                        <a:buNone/>
                      </a:pPr>
                      <a:r>
                        <a:rPr lang="en-US" sz="1350" dirty="0">
                          <a:solidFill>
                            <a:srgbClr val="16181D"/>
                          </a:solidFill>
                          <a:latin typeface="Consolas" pitchFamily="34" charset="0"/>
                          <a:ea typeface="Consolas" pitchFamily="34" charset="-122"/>
                          <a:cs typeface="Consolas" pitchFamily="34" charset="-120"/>
                        </a:rPr>
                        <a:t>string.IsNullOrWhiteSpace(t)</a:t>
                      </a:r>
                      <a:endParaRPr lang="en-US" sz="1350" dirty="0">
                        <a:latin typeface="Consolas" charset="0"/>
                        <a:ea typeface="Consolas" charset="0"/>
                        <a:cs typeface="Consolas"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50" dirty="0">
                          <a:solidFill>
                            <a:srgbClr val="16181D"/>
                          </a:solidFill>
                          <a:latin typeface="Calibri" pitchFamily="34" charset="0"/>
                          <a:ea typeface="Calibri" pitchFamily="34" charset="-122"/>
                          <a:cs typeface="Calibri" pitchFamily="34" charset="-120"/>
                        </a:rPr>
                        <a:t>vide ou seulement des espaces ?</a:t>
                      </a:r>
                      <a:endParaRPr lang="en-US" sz="1350" dirty="0">
                        <a:latin typeface="Calibri" charset="0"/>
                        <a:ea typeface="Calibri" charset="0"/>
                        <a:cs typeface="Calibri"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50" dirty="0">
                          <a:solidFill>
                            <a:srgbClr val="16181D"/>
                          </a:solidFill>
                          <a:latin typeface="Consolas" pitchFamily="34" charset="0"/>
                          <a:ea typeface="Consolas" pitchFamily="34" charset="-122"/>
                          <a:cs typeface="Consolas" pitchFamily="34" charset="-120"/>
                        </a:rPr>
                        <a:t>false</a:t>
                      </a:r>
                      <a:endParaRPr lang="en-US" sz="1350" dirty="0">
                        <a:latin typeface="Consolas" charset="0"/>
                        <a:ea typeface="Consolas" charset="0"/>
                        <a:cs typeface="Consolas"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640080" y="5577840"/>
            <a:ext cx="10911535" cy="411480"/>
          </a:xfrm>
          <a:prstGeom prst="rect">
            <a:avLst/>
          </a:prstGeom>
          <a:noFill/>
          <a:ln/>
        </p:spPr>
        <p:txBody>
          <a:bodyPr wrap="square" lIns="0" tIns="0" rIns="0" bIns="0" rtlCol="0" anchor="ctr"/>
          <a:lstStyle/>
          <a:p>
            <a:pPr indent="0" marL="0">
              <a:buNone/>
            </a:pPr>
            <a:r>
              <a:rPr lang="en-US" sz="1600" b="1" dirty="0">
                <a:solidFill>
                  <a:srgbClr val="16181D"/>
                </a:solidFill>
                <a:latin typeface="Calibri" pitchFamily="34" charset="0"/>
                <a:ea typeface="Calibri" pitchFamily="34" charset="-122"/>
                <a:cs typeface="Calibri" pitchFamily="34" charset="-120"/>
              </a:rPr>
              <a:t>Une chaîne ne se modifie jamais : il faut récupérer le résultat (titre = titre.Trim();). Pour un long texte, on utilise StringBuilder.</a:t>
            </a:r>
            <a:endParaRPr lang="en-US" sz="1600" dirty="0"/>
          </a:p>
        </p:txBody>
      </p:sp>
      <p:sp>
        <p:nvSpPr>
          <p:cNvPr id="10" name="Text 6"/>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Microsoft Learn, classe System.String et StringBuilder.</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2F3F5"/>
        </a:solidFill>
      </p:bgPr>
    </p:bg>
    <p:spTree>
      <p:nvGrpSpPr>
        <p:cNvPr id="1" name=""/>
        <p:cNvGrpSpPr/>
        <p:nvPr/>
      </p:nvGrpSpPr>
      <p:grpSpPr>
        <a:xfrm>
          <a:off x="0" y="0"/>
          <a:ext cx="0" cy="0"/>
          <a:chOff x="0" y="0"/>
          <a:chExt cx="0" cy="0"/>
        </a:xfrm>
      </p:grpSpPr>
      <p:sp>
        <p:nvSpPr>
          <p:cNvPr id="2" name="Text 0"/>
          <p:cNvSpPr txBox="1"/>
          <p:nvPr/>
        </p:nvSpPr>
        <p:spPr>
          <a:xfrm>
            <a:off x="640080" y="1463040"/>
            <a:ext cx="3657600" cy="457200"/>
          </a:xfrm>
          <a:prstGeom prst="rect">
            <a:avLst/>
          </a:prstGeom>
          <a:noFill/>
          <a:ln/>
        </p:spPr>
        <p:txBody>
          <a:bodyPr wrap="square" lIns="0" tIns="0" rIns="0" bIns="0" rtlCol="0" anchor="ctr"/>
          <a:lstStyle/>
          <a:p>
            <a:pPr indent="0" marL="0">
              <a:buNone/>
            </a:pPr>
            <a:r>
              <a:rPr lang="en-US" sz="1600" b="1" spc="400" kern="0" dirty="0">
                <a:solidFill>
                  <a:srgbClr val="E8590C"/>
                </a:solidFill>
                <a:latin typeface="Calibri" pitchFamily="34" charset="0"/>
                <a:ea typeface="Calibri" pitchFamily="34" charset="-122"/>
                <a:cs typeface="Calibri" pitchFamily="34" charset="-120"/>
              </a:rPr>
              <a:t>RIDER</a:t>
            </a:r>
            <a:endParaRPr lang="en-US" sz="1600" dirty="0"/>
          </a:p>
        </p:txBody>
      </p:sp>
      <p:sp>
        <p:nvSpPr>
          <p:cNvPr id="3" name="Shape 1"/>
          <p:cNvSpPr/>
          <p:nvPr/>
        </p:nvSpPr>
        <p:spPr>
          <a:xfrm>
            <a:off x="640080" y="2011680"/>
            <a:ext cx="10911535" cy="1005840"/>
          </a:xfrm>
          <a:prstGeom prst="roundRect">
            <a:avLst>
              <a:gd name="adj" fmla="val 7273"/>
            </a:avLst>
          </a:prstGeom>
          <a:solidFill>
            <a:srgbClr val="1E2127"/>
          </a:solidFill>
          <a:ln w="12700">
            <a:solidFill>
              <a:srgbClr val="1E2127"/>
            </a:solidFill>
            <a:prstDash val="solid"/>
          </a:ln>
        </p:spPr>
      </p:sp>
      <p:sp>
        <p:nvSpPr>
          <p:cNvPr id="4" name="Text 2"/>
          <p:cNvSpPr txBox="1"/>
          <p:nvPr/>
        </p:nvSpPr>
        <p:spPr>
          <a:xfrm>
            <a:off x="1005840" y="2011680"/>
            <a:ext cx="10180015" cy="1005840"/>
          </a:xfrm>
          <a:prstGeom prst="rect">
            <a:avLst/>
          </a:prstGeom>
          <a:noFill/>
          <a:ln/>
        </p:spPr>
        <p:txBody>
          <a:bodyPr wrap="square" lIns="0" tIns="0" rIns="0" bIns="0" rtlCol="0" anchor="ctr"/>
          <a:lstStyle/>
          <a:p>
            <a:pPr indent="0" marL="0">
              <a:buNone/>
            </a:pPr>
            <a:r>
              <a:rPr lang="en-US" sz="2800" dirty="0">
                <a:solidFill>
                  <a:srgbClr val="E6E6E6"/>
                </a:solidFill>
                <a:latin typeface="Consolas" pitchFamily="34" charset="0"/>
                <a:ea typeface="Consolas" pitchFamily="34" charset="-122"/>
                <a:cs typeface="Consolas" pitchFamily="34" charset="-120"/>
              </a:rPr>
              <a:t>git checkout s03-etape4-chaines</a:t>
            </a:r>
            <a:endParaRPr lang="en-US" sz="2800" dirty="0"/>
          </a:p>
        </p:txBody>
      </p:sp>
      <p:sp>
        <p:nvSpPr>
          <p:cNvPr id="5" name="Text 3"/>
          <p:cNvSpPr txBox="1"/>
          <p:nvPr/>
        </p:nvSpPr>
        <p:spPr>
          <a:xfrm>
            <a:off x="640080" y="3291840"/>
            <a:ext cx="10911535" cy="731520"/>
          </a:xfrm>
          <a:prstGeom prst="rect">
            <a:avLst/>
          </a:prstGeom>
          <a:noFill/>
          <a:ln/>
        </p:spPr>
        <p:txBody>
          <a:bodyPr wrap="square" lIns="0" tIns="0" rIns="0" bIns="0" rtlCol="0" anchor="t"/>
          <a:lstStyle/>
          <a:p>
            <a:pPr indent="0" marL="0">
              <a:buNone/>
            </a:pPr>
            <a:r>
              <a:rPr lang="en-US" sz="2400" b="1" dirty="0">
                <a:solidFill>
                  <a:srgbClr val="16181D"/>
                </a:solidFill>
                <a:latin typeface="Arial" pitchFamily="34" charset="0"/>
                <a:ea typeface="Arial" pitchFamily="34" charset="-122"/>
                <a:cs typeface="Arial" pitchFamily="34" charset="-120"/>
              </a:rPr>
              <a:t>Les chaînes, en vrai</a:t>
            </a:r>
            <a:endParaRPr lang="en-US" sz="2400" dirty="0"/>
          </a:p>
        </p:txBody>
      </p:sp>
      <p:sp>
        <p:nvSpPr>
          <p:cNvPr id="6" name="Text 4"/>
          <p:cNvSpPr txBox="1"/>
          <p:nvPr/>
        </p:nvSpPr>
        <p:spPr>
          <a:xfrm>
            <a:off x="640080" y="4114800"/>
            <a:ext cx="4572000" cy="365760"/>
          </a:xfrm>
          <a:prstGeom prst="rect">
            <a:avLst/>
          </a:prstGeom>
          <a:noFill/>
          <a:ln/>
        </p:spPr>
        <p:txBody>
          <a:bodyPr wrap="square" lIns="0" tIns="0" rIns="0" bIns="0" rtlCol="0" anchor="ctr"/>
          <a:lstStyle/>
          <a:p>
            <a:pPr indent="0" marL="0">
              <a:buNone/>
            </a:pPr>
            <a:r>
              <a:rPr lang="en-US" sz="1300" b="1" spc="200" kern="0" dirty="0">
                <a:solidFill>
                  <a:srgbClr val="5F6670"/>
                </a:solidFill>
                <a:latin typeface="Calibri" pitchFamily="34" charset="0"/>
                <a:ea typeface="Calibri" pitchFamily="34" charset="-122"/>
                <a:cs typeface="Calibri" pitchFamily="34" charset="-120"/>
              </a:rPr>
              <a:t>CE QU'ON REGARDE</a:t>
            </a:r>
            <a:endParaRPr lang="en-US" sz="1300" dirty="0"/>
          </a:p>
        </p:txBody>
      </p:sp>
      <p:sp>
        <p:nvSpPr>
          <p:cNvPr id="7" name="Text 5"/>
          <p:cNvSpPr txBox="1"/>
          <p:nvPr/>
        </p:nvSpPr>
        <p:spPr>
          <a:xfrm>
            <a:off x="640080" y="4526280"/>
            <a:ext cx="10911535" cy="164592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Interpolation, string.Format et formats N2, dd/MM/yyyy</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Le même nombre en fr-BE et en en-US</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Les méthodes utiles sur un titre d'incident</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StringBuilder pour un rapport, @"…" et """…"""</a:t>
            </a:r>
            <a:endParaRPr lang="en-US" sz="1800" dirty="0"/>
          </a:p>
        </p:txBody>
      </p:sp>
      <p:sp>
        <p:nvSpPr>
          <p:cNvPr id="8" name="Text 6"/>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2F3F5"/>
        </a:solidFill>
      </p:bgPr>
    </p:bg>
    <p:spTree>
      <p:nvGrpSpPr>
        <p:cNvPr id="1" name=""/>
        <p:cNvGrpSpPr/>
        <p:nvPr/>
      </p:nvGrpSpPr>
      <p:grpSpPr>
        <a:xfrm>
          <a:off x="0" y="0"/>
          <a:ext cx="0" cy="0"/>
          <a:chOff x="0" y="0"/>
          <a:chExt cx="0" cy="0"/>
        </a:xfrm>
      </p:grpSpPr>
      <p:sp>
        <p:nvSpPr>
          <p:cNvPr id="2" name="Text 0"/>
          <p:cNvSpPr txBox="1"/>
          <p:nvPr/>
        </p:nvSpPr>
        <p:spPr>
          <a:xfrm>
            <a:off x="640080" y="2194560"/>
            <a:ext cx="10911535" cy="1280160"/>
          </a:xfrm>
          <a:prstGeom prst="rect">
            <a:avLst/>
          </a:prstGeom>
          <a:noFill/>
          <a:ln/>
        </p:spPr>
        <p:txBody>
          <a:bodyPr wrap="square" lIns="0" tIns="0" rIns="0" bIns="0" rtlCol="0" anchor="ctr"/>
          <a:lstStyle/>
          <a:p>
            <a:pPr indent="0" marL="0">
              <a:buNone/>
            </a:pPr>
            <a:r>
              <a:rPr lang="en-US" sz="7200" b="1" dirty="0">
                <a:solidFill>
                  <a:srgbClr val="16181D"/>
                </a:solidFill>
                <a:latin typeface="Arial" pitchFamily="34" charset="0"/>
                <a:ea typeface="Arial" pitchFamily="34" charset="-122"/>
                <a:cs typeface="Arial" pitchFamily="34" charset="-120"/>
              </a:rPr>
              <a:t>Pause</a:t>
            </a:r>
            <a:endParaRPr lang="en-US" sz="7200" dirty="0"/>
          </a:p>
        </p:txBody>
      </p:sp>
      <p:sp>
        <p:nvSpPr>
          <p:cNvPr id="3" name="Text 1"/>
          <p:cNvSpPr txBox="1"/>
          <p:nvPr/>
        </p:nvSpPr>
        <p:spPr>
          <a:xfrm>
            <a:off x="640080" y="3566160"/>
            <a:ext cx="10911535" cy="548640"/>
          </a:xfrm>
          <a:prstGeom prst="rect">
            <a:avLst/>
          </a:prstGeom>
          <a:noFill/>
          <a:ln/>
        </p:spPr>
        <p:txBody>
          <a:bodyPr wrap="square" lIns="0" tIns="0" rIns="0" bIns="0" rtlCol="0" anchor="ctr"/>
          <a:lstStyle/>
          <a:p>
            <a:pPr indent="0" marL="0">
              <a:buNone/>
            </a:pPr>
            <a:r>
              <a:rPr lang="en-US" sz="2200" dirty="0">
                <a:solidFill>
                  <a:srgbClr val="5F6670"/>
                </a:solidFill>
                <a:latin typeface="Calibri" pitchFamily="34" charset="0"/>
                <a:ea typeface="Calibri" pitchFamily="34" charset="-122"/>
                <a:cs typeface="Calibri" pitchFamily="34" charset="-120"/>
              </a:rPr>
              <a:t>10 minutes. On reprend à l'heure affichée dans le chat.</a:t>
            </a:r>
            <a:endParaRPr lang="en-US" sz="2200" dirty="0"/>
          </a:p>
        </p:txBody>
      </p:sp>
      <p:sp>
        <p:nvSpPr>
          <p:cNvPr id="4" name="Text 2"/>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640080" y="1463040"/>
            <a:ext cx="2743200" cy="1280160"/>
          </a:xfrm>
          <a:prstGeom prst="rect">
            <a:avLst/>
          </a:prstGeom>
          <a:noFill/>
          <a:ln/>
        </p:spPr>
        <p:txBody>
          <a:bodyPr wrap="square" lIns="0" tIns="0" rIns="0" bIns="0" rtlCol="0" anchor="ctr"/>
          <a:lstStyle/>
          <a:p>
            <a:pPr indent="0" marL="0">
              <a:buNone/>
            </a:pPr>
            <a:r>
              <a:rPr lang="en-US" sz="9600" b="1" dirty="0">
                <a:solidFill>
                  <a:srgbClr val="E8590C"/>
                </a:solidFill>
                <a:latin typeface="Arial" pitchFamily="34" charset="0"/>
                <a:ea typeface="Arial" pitchFamily="34" charset="-122"/>
                <a:cs typeface="Arial" pitchFamily="34" charset="-120"/>
              </a:rPr>
              <a:t>05</a:t>
            </a:r>
            <a:endParaRPr lang="en-US" sz="9600" dirty="0"/>
          </a:p>
        </p:txBody>
      </p:sp>
      <p:sp>
        <p:nvSpPr>
          <p:cNvPr id="3" name="Text 1"/>
          <p:cNvSpPr txBox="1"/>
          <p:nvPr/>
        </p:nvSpPr>
        <p:spPr>
          <a:xfrm>
            <a:off x="640080" y="2834640"/>
            <a:ext cx="10911535" cy="10058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static</a:t>
            </a:r>
            <a:endParaRPr lang="en-US" sz="4400" dirty="0"/>
          </a:p>
        </p:txBody>
      </p:sp>
      <p:sp>
        <p:nvSpPr>
          <p:cNvPr id="4" name="Text 2"/>
          <p:cNvSpPr txBox="1"/>
          <p:nvPr/>
        </p:nvSpPr>
        <p:spPr>
          <a:xfrm>
            <a:off x="640080" y="3840480"/>
            <a:ext cx="10911535" cy="731520"/>
          </a:xfrm>
          <a:prstGeom prst="rect">
            <a:avLst/>
          </a:prstGeom>
          <a:noFill/>
          <a:ln/>
        </p:spPr>
        <p:txBody>
          <a:bodyPr wrap="square" lIns="0" tIns="0" rIns="0" bIns="0" rtlCol="0" anchor="ctr"/>
          <a:lstStyle/>
          <a:p>
            <a:pPr indent="0" marL="0">
              <a:buNone/>
            </a:pPr>
            <a:r>
              <a:rPr lang="en-US" sz="2000" dirty="0">
                <a:solidFill>
                  <a:srgbClr val="C9CDD3"/>
                </a:solidFill>
                <a:latin typeface="Calibri" pitchFamily="34" charset="0"/>
                <a:ea typeface="Calibri" pitchFamily="34" charset="-122"/>
                <a:cs typeface="Calibri" pitchFamily="34" charset="-120"/>
              </a:rPr>
              <a:t>Ce qui appartient à la classe, pas à chaque objet</a:t>
            </a:r>
            <a:endParaRPr lang="en-US" sz="20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9AA0A8"/>
                </a:solidFill>
                <a:latin typeface="Calibri" pitchFamily="34" charset="0"/>
                <a:ea typeface="Calibri" pitchFamily="34" charset="-122"/>
                <a:cs typeface="Calibri" pitchFamily="34" charset="-120"/>
              </a:rPr>
              <a:t>Complément Application · S3</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9AA0A8"/>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STATIC</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Le compteur de la banque, pas celui du client</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S3</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28</a:t>
            </a:r>
            <a:endParaRPr lang="en-US" sz="1000" dirty="0"/>
          </a:p>
        </p:txBody>
      </p:sp>
      <p:sp>
        <p:nvSpPr>
          <p:cNvPr id="8" name="Shape 5"/>
          <p:cNvSpPr/>
          <p:nvPr/>
        </p:nvSpPr>
        <p:spPr>
          <a:xfrm>
            <a:off x="640080" y="1783080"/>
            <a:ext cx="5303520" cy="2651760"/>
          </a:xfrm>
          <a:prstGeom prst="roundRect">
            <a:avLst>
              <a:gd name="adj" fmla="val 2759"/>
            </a:avLst>
          </a:prstGeom>
          <a:solidFill>
            <a:srgbClr val="F2F3F5"/>
          </a:solidFill>
          <a:ln w="12700">
            <a:solidFill>
              <a:srgbClr val="F2F3F5"/>
            </a:solidFill>
            <a:prstDash val="solid"/>
          </a:ln>
        </p:spPr>
      </p:sp>
      <p:sp>
        <p:nvSpPr>
          <p:cNvPr id="9" name="Text 6"/>
          <p:cNvSpPr txBox="1"/>
          <p:nvPr/>
        </p:nvSpPr>
        <p:spPr>
          <a:xfrm>
            <a:off x="960120" y="1920240"/>
            <a:ext cx="4754880" cy="457200"/>
          </a:xfrm>
          <a:prstGeom prst="rect">
            <a:avLst/>
          </a:prstGeom>
          <a:noFill/>
          <a:ln/>
        </p:spPr>
        <p:txBody>
          <a:bodyPr wrap="square" lIns="0" tIns="0" rIns="0" bIns="0" rtlCol="0" anchor="ctr"/>
          <a:lstStyle/>
          <a:p>
            <a:pPr indent="0" marL="0">
              <a:buNone/>
            </a:pPr>
            <a:r>
              <a:rPr lang="en-US" sz="1550" b="1" dirty="0">
                <a:solidFill>
                  <a:srgbClr val="16181D"/>
                </a:solidFill>
                <a:latin typeface="Arial" pitchFamily="34" charset="0"/>
                <a:ea typeface="Arial" pitchFamily="34" charset="-122"/>
                <a:cs typeface="Arial" pitchFamily="34" charset="-120"/>
              </a:rPr>
              <a:t>Un membre normal appartient à chaque objet</a:t>
            </a:r>
            <a:endParaRPr lang="en-US" sz="1550" dirty="0"/>
          </a:p>
        </p:txBody>
      </p:sp>
      <p:sp>
        <p:nvSpPr>
          <p:cNvPr id="10" name="Shape 7"/>
          <p:cNvSpPr/>
          <p:nvPr/>
        </p:nvSpPr>
        <p:spPr>
          <a:xfrm>
            <a:off x="914400" y="2514600"/>
            <a:ext cx="4754880" cy="1005840"/>
          </a:xfrm>
          <a:prstGeom prst="roundRect">
            <a:avLst>
              <a:gd name="adj" fmla="val 7273"/>
            </a:avLst>
          </a:prstGeom>
          <a:solidFill>
            <a:srgbClr val="1E2127"/>
          </a:solidFill>
          <a:ln w="12700">
            <a:solidFill>
              <a:srgbClr val="1E2127"/>
            </a:solidFill>
            <a:prstDash val="solid"/>
          </a:ln>
        </p:spPr>
      </p:sp>
      <p:sp>
        <p:nvSpPr>
          <p:cNvPr id="11" name="Text 8"/>
          <p:cNvSpPr txBox="1"/>
          <p:nvPr/>
        </p:nvSpPr>
        <p:spPr>
          <a:xfrm>
            <a:off x="1188720" y="2743200"/>
            <a:ext cx="4206240" cy="548640"/>
          </a:xfrm>
          <a:prstGeom prst="rect">
            <a:avLst/>
          </a:prstGeom>
          <a:noFill/>
          <a:ln/>
        </p:spPr>
        <p:txBody>
          <a:bodyPr wrap="square" lIns="0" tIns="0" rIns="0" bIns="0" rtlCol="0" anchor="t"/>
          <a:lstStyle/>
          <a:p>
            <a:pPr indent="0" marL="0">
              <a:buNone/>
            </a:pPr>
            <a:r>
              <a:rPr lang="en-US" sz="1500" dirty="0">
                <a:solidFill>
                  <a:srgbClr val="E6E6E6"/>
                </a:solidFill>
                <a:latin typeface="Consolas" pitchFamily="34" charset="0"/>
                <a:ea typeface="Consolas" pitchFamily="34" charset="-122"/>
                <a:cs typeface="Consolas" pitchFamily="34" charset="-120"/>
              </a:rPr>
              <a:t>incident.Close();</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incident.Title</a:t>
            </a:r>
            <a:endParaRPr lang="en-US" sz="1500" dirty="0"/>
          </a:p>
        </p:txBody>
      </p:sp>
      <p:sp>
        <p:nvSpPr>
          <p:cNvPr id="12" name="Text 9"/>
          <p:cNvSpPr txBox="1"/>
          <p:nvPr/>
        </p:nvSpPr>
        <p:spPr>
          <a:xfrm>
            <a:off x="960120" y="3657600"/>
            <a:ext cx="4754880" cy="457200"/>
          </a:xfrm>
          <a:prstGeom prst="rect">
            <a:avLst/>
          </a:prstGeom>
          <a:noFill/>
          <a:ln/>
        </p:spPr>
        <p:txBody>
          <a:bodyPr wrap="square" lIns="0" tIns="0" rIns="0" bIns="0" rtlCol="0" anchor="ctr"/>
          <a:lstStyle/>
          <a:p>
            <a:pPr indent="0" marL="0">
              <a:buNone/>
            </a:pPr>
            <a:r>
              <a:rPr lang="en-US" sz="1500" i="1" dirty="0">
                <a:solidFill>
                  <a:srgbClr val="5F6670"/>
                </a:solidFill>
                <a:latin typeface="Calibri" pitchFamily="34" charset="0"/>
                <a:ea typeface="Calibri" pitchFamily="34" charset="-122"/>
                <a:cs typeface="Calibri" pitchFamily="34" charset="-120"/>
              </a:rPr>
              <a:t>Comme le solde : chaque client a le sien.</a:t>
            </a:r>
            <a:endParaRPr lang="en-US" sz="1500" dirty="0"/>
          </a:p>
        </p:txBody>
      </p:sp>
      <p:sp>
        <p:nvSpPr>
          <p:cNvPr id="13" name="Shape 10"/>
          <p:cNvSpPr/>
          <p:nvPr/>
        </p:nvSpPr>
        <p:spPr>
          <a:xfrm>
            <a:off x="6217920" y="1783080"/>
            <a:ext cx="5303520" cy="2651760"/>
          </a:xfrm>
          <a:prstGeom prst="roundRect">
            <a:avLst>
              <a:gd name="adj" fmla="val 2759"/>
            </a:avLst>
          </a:prstGeom>
          <a:solidFill>
            <a:srgbClr val="16181D"/>
          </a:solidFill>
          <a:ln w="12700">
            <a:solidFill>
              <a:srgbClr val="16181D"/>
            </a:solidFill>
            <a:prstDash val="solid"/>
          </a:ln>
        </p:spPr>
      </p:sp>
      <p:sp>
        <p:nvSpPr>
          <p:cNvPr id="14" name="Text 11"/>
          <p:cNvSpPr txBox="1"/>
          <p:nvPr/>
        </p:nvSpPr>
        <p:spPr>
          <a:xfrm>
            <a:off x="6537960" y="1920240"/>
            <a:ext cx="4754880" cy="457200"/>
          </a:xfrm>
          <a:prstGeom prst="rect">
            <a:avLst/>
          </a:prstGeom>
          <a:noFill/>
          <a:ln/>
        </p:spPr>
        <p:txBody>
          <a:bodyPr wrap="square" lIns="0" tIns="0" rIns="0" bIns="0" rtlCol="0" anchor="ctr"/>
          <a:lstStyle/>
          <a:p>
            <a:pPr indent="0" marL="0">
              <a:buNone/>
            </a:pPr>
            <a:r>
              <a:rPr lang="en-US" sz="1550" b="1" dirty="0">
                <a:solidFill>
                  <a:srgbClr val="E8590C"/>
                </a:solidFill>
                <a:latin typeface="Arial" pitchFamily="34" charset="0"/>
                <a:ea typeface="Arial" pitchFamily="34" charset="-122"/>
                <a:cs typeface="Arial" pitchFamily="34" charset="-120"/>
              </a:rPr>
              <a:t>Un membre static appartient à la classe</a:t>
            </a:r>
            <a:endParaRPr lang="en-US" sz="1550" dirty="0"/>
          </a:p>
        </p:txBody>
      </p:sp>
      <p:sp>
        <p:nvSpPr>
          <p:cNvPr id="15" name="Shape 12"/>
          <p:cNvSpPr/>
          <p:nvPr/>
        </p:nvSpPr>
        <p:spPr>
          <a:xfrm>
            <a:off x="6492240" y="2514600"/>
            <a:ext cx="4754880" cy="1280160"/>
          </a:xfrm>
          <a:prstGeom prst="roundRect">
            <a:avLst>
              <a:gd name="adj" fmla="val 5714"/>
            </a:avLst>
          </a:prstGeom>
          <a:solidFill>
            <a:srgbClr val="1E2127"/>
          </a:solidFill>
          <a:ln w="12700">
            <a:solidFill>
              <a:srgbClr val="1E2127"/>
            </a:solidFill>
            <a:prstDash val="solid"/>
          </a:ln>
        </p:spPr>
      </p:sp>
      <p:sp>
        <p:nvSpPr>
          <p:cNvPr id="16" name="Text 13"/>
          <p:cNvSpPr txBox="1"/>
          <p:nvPr/>
        </p:nvSpPr>
        <p:spPr>
          <a:xfrm>
            <a:off x="6766560" y="2743200"/>
            <a:ext cx="4206240" cy="822960"/>
          </a:xfrm>
          <a:prstGeom prst="rect">
            <a:avLst/>
          </a:prstGeom>
          <a:noFill/>
          <a:ln/>
        </p:spPr>
        <p:txBody>
          <a:bodyPr wrap="square" lIns="0" tIns="0" rIns="0" bIns="0" rtlCol="0" anchor="t"/>
          <a:lstStyle/>
          <a:p>
            <a:pPr indent="0" marL="0">
              <a:buNone/>
            </a:pPr>
            <a:r>
              <a:rPr lang="en-US" sz="1400" dirty="0">
                <a:solidFill>
                  <a:srgbClr val="E6E6E6"/>
                </a:solidFill>
                <a:latin typeface="Consolas" pitchFamily="34" charset="0"/>
                <a:ea typeface="Consolas" pitchFamily="34" charset="-122"/>
                <a:cs typeface="Consolas" pitchFamily="34" charset="-120"/>
              </a:rPr>
              <a:t>Math.Max(a, b)</a:t>
            </a:r>
            <a:endParaRPr lang="en-US" sz="1400" dirty="0"/>
          </a:p>
          <a:p>
            <a:pPr indent="0" marL="0">
              <a:buNone/>
            </a:pPr>
            <a:r>
              <a:rPr lang="en-US" sz="1400" dirty="0">
                <a:solidFill>
                  <a:srgbClr val="E6E6E6"/>
                </a:solidFill>
                <a:latin typeface="Consolas" pitchFamily="34" charset="0"/>
                <a:ea typeface="Consolas" pitchFamily="34" charset="-122"/>
                <a:cs typeface="Consolas" pitchFamily="34" charset="-120"/>
              </a:rPr>
              <a:t>DateTime.UtcNow</a:t>
            </a:r>
            <a:endParaRPr lang="en-US" sz="1400" dirty="0"/>
          </a:p>
          <a:p>
            <a:pPr indent="0" marL="0">
              <a:buNone/>
            </a:pPr>
            <a:r>
              <a:rPr lang="en-US" sz="1400" dirty="0">
                <a:solidFill>
                  <a:srgbClr val="E6E6E6"/>
                </a:solidFill>
                <a:latin typeface="Consolas" pitchFamily="34" charset="0"/>
                <a:ea typeface="Consolas" pitchFamily="34" charset="-122"/>
                <a:cs typeface="Consolas" pitchFamily="34" charset="-120"/>
              </a:rPr>
              <a:t>IncidentNumbering.NextNumber()</a:t>
            </a:r>
            <a:endParaRPr lang="en-US" sz="1400" dirty="0"/>
          </a:p>
          <a:p>
            <a:pPr indent="0" marL="0">
              <a:buNone/>
            </a:pPr>
            <a:r>
              <a:rPr lang="en-US" sz="1400" dirty="0">
                <a:solidFill>
                  <a:srgbClr val="8B929C"/>
                </a:solidFill>
                <a:latin typeface="Consolas" pitchFamily="34" charset="0"/>
                <a:ea typeface="Consolas" pitchFamily="34" charset="-122"/>
                <a:cs typeface="Consolas" pitchFamily="34" charset="-120"/>
              </a:rPr>
              <a:t>// "INC-0003"</a:t>
            </a:r>
            <a:endParaRPr lang="en-US" sz="1400" dirty="0"/>
          </a:p>
        </p:txBody>
      </p:sp>
      <p:sp>
        <p:nvSpPr>
          <p:cNvPr id="17" name="Text 14"/>
          <p:cNvSpPr txBox="1"/>
          <p:nvPr/>
        </p:nvSpPr>
        <p:spPr>
          <a:xfrm>
            <a:off x="6537960" y="3840480"/>
            <a:ext cx="4754880" cy="457200"/>
          </a:xfrm>
          <a:prstGeom prst="rect">
            <a:avLst/>
          </a:prstGeom>
          <a:noFill/>
          <a:ln/>
        </p:spPr>
        <p:txBody>
          <a:bodyPr wrap="square" lIns="0" tIns="0" rIns="0" bIns="0" rtlCol="0" anchor="ctr"/>
          <a:lstStyle/>
          <a:p>
            <a:pPr indent="0" marL="0">
              <a:buNone/>
            </a:pPr>
            <a:r>
              <a:rPr lang="en-US" sz="1500" i="1" dirty="0">
                <a:solidFill>
                  <a:srgbClr val="C9CDD3"/>
                </a:solidFill>
                <a:latin typeface="Calibri" pitchFamily="34" charset="0"/>
                <a:ea typeface="Calibri" pitchFamily="34" charset="-122"/>
                <a:cs typeface="Calibri" pitchFamily="34" charset="-120"/>
              </a:rPr>
              <a:t>Comme le nombre de clients : la banque n'en a qu'un.</a:t>
            </a:r>
            <a:endParaRPr lang="en-US" sz="1500" dirty="0"/>
          </a:p>
        </p:txBody>
      </p:sp>
      <p:sp>
        <p:nvSpPr>
          <p:cNvPr id="18" name="Shape 15"/>
          <p:cNvSpPr/>
          <p:nvPr/>
        </p:nvSpPr>
        <p:spPr>
          <a:xfrm>
            <a:off x="640080" y="4663440"/>
            <a:ext cx="10911535" cy="1097280"/>
          </a:xfrm>
          <a:prstGeom prst="roundRect">
            <a:avLst>
              <a:gd name="adj" fmla="val 6667"/>
            </a:avLst>
          </a:prstGeom>
          <a:solidFill>
            <a:srgbClr val="F2F3F5"/>
          </a:solidFill>
          <a:ln w="12700">
            <a:solidFill>
              <a:srgbClr val="F2F3F5"/>
            </a:solidFill>
            <a:prstDash val="solid"/>
          </a:ln>
        </p:spPr>
      </p:sp>
      <p:sp>
        <p:nvSpPr>
          <p:cNvPr id="19" name="Text 16"/>
          <p:cNvSpPr txBox="1"/>
          <p:nvPr/>
        </p:nvSpPr>
        <p:spPr>
          <a:xfrm>
            <a:off x="914400" y="4663440"/>
            <a:ext cx="10362895" cy="1097280"/>
          </a:xfrm>
          <a:prstGeom prst="rect">
            <a:avLst/>
          </a:prstGeom>
          <a:noFill/>
          <a:ln/>
        </p:spPr>
        <p:txBody>
          <a:bodyPr wrap="square" lIns="0" tIns="0" rIns="0" bIns="0" rtlCol="0" anchor="ctr"/>
          <a:lstStyle/>
          <a:p>
            <a:pPr indent="0" marL="0">
              <a:buNone/>
            </a:pPr>
            <a:r>
              <a:rPr lang="en-US" sz="1600" b="1" dirty="0">
                <a:solidFill>
                  <a:srgbClr val="16181D"/>
                </a:solidFill>
                <a:latin typeface="Calibri" pitchFamily="34" charset="0"/>
                <a:ea typeface="Calibri" pitchFamily="34" charset="-122"/>
                <a:cs typeface="Calibri" pitchFamily="34" charset="-120"/>
              </a:rPr>
              <a:t>À retenir : </a:t>
            </a:r>
            <a:pPr indent="0" marL="0">
              <a:buNone/>
            </a:pPr>
            <a:r>
              <a:rPr lang="en-US" sz="1600" dirty="0">
                <a:solidFill>
                  <a:srgbClr val="16181D"/>
                </a:solidFill>
                <a:latin typeface="Calibri" pitchFamily="34" charset="0"/>
                <a:ea typeface="Calibri" pitchFamily="34" charset="-122"/>
                <a:cs typeface="Calibri" pitchFamily="34" charset="-120"/>
              </a:rPr>
              <a:t>on appelle un membre static par le nom de la classe, sans new. Une donnée static modifiable est partagée par tout le programme : à utiliser avec parcimonie.</a:t>
            </a:r>
            <a:endParaRPr lang="en-US" sz="1600" dirty="0"/>
          </a:p>
        </p:txBody>
      </p:sp>
      <p:sp>
        <p:nvSpPr>
          <p:cNvPr id="20" name="Text 17"/>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Microsoft Learn, « Classes statiques et membres de classe statique (C#) ».</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MÉTHODES D'EXTENSION</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Ajouter une méthode à un type existant</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S3</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29</a:t>
            </a:r>
            <a:endParaRPr lang="en-US" sz="1000" dirty="0"/>
          </a:p>
        </p:txBody>
      </p:sp>
      <p:sp>
        <p:nvSpPr>
          <p:cNvPr id="8" name="Shape 5"/>
          <p:cNvSpPr/>
          <p:nvPr/>
        </p:nvSpPr>
        <p:spPr>
          <a:xfrm>
            <a:off x="640080" y="1783080"/>
            <a:ext cx="7315200" cy="4114800"/>
          </a:xfrm>
          <a:prstGeom prst="roundRect">
            <a:avLst>
              <a:gd name="adj" fmla="val 1778"/>
            </a:avLst>
          </a:prstGeom>
          <a:solidFill>
            <a:srgbClr val="1E2127"/>
          </a:solidFill>
          <a:ln w="12700">
            <a:solidFill>
              <a:srgbClr val="1E2127"/>
            </a:solidFill>
            <a:prstDash val="solid"/>
          </a:ln>
        </p:spPr>
      </p:sp>
      <p:sp>
        <p:nvSpPr>
          <p:cNvPr id="9" name="Text 6"/>
          <p:cNvSpPr txBox="1"/>
          <p:nvPr/>
        </p:nvSpPr>
        <p:spPr>
          <a:xfrm>
            <a:off x="914400" y="2011680"/>
            <a:ext cx="6766560" cy="3657600"/>
          </a:xfrm>
          <a:prstGeom prst="rect">
            <a:avLst/>
          </a:prstGeom>
          <a:noFill/>
          <a:ln/>
        </p:spPr>
        <p:txBody>
          <a:bodyPr wrap="square" lIns="0" tIns="0" rIns="0" bIns="0" rtlCol="0" anchor="t"/>
          <a:lstStyle/>
          <a:p>
            <a:pPr indent="0" marL="0">
              <a:buNone/>
            </a:pPr>
            <a:r>
              <a:rPr lang="en-US" sz="1400" dirty="0">
                <a:solidFill>
                  <a:srgbClr val="E6E6E6"/>
                </a:solidFill>
                <a:latin typeface="Consolas" pitchFamily="34" charset="0"/>
                <a:ea typeface="Consolas" pitchFamily="34" charset="-122"/>
                <a:cs typeface="Consolas" pitchFamily="34" charset="-120"/>
              </a:rPr>
              <a:t>public static class SeverityExtensions</a:t>
            </a:r>
            <a:endParaRPr lang="en-US" sz="1400" dirty="0"/>
          </a:p>
          <a:p>
            <a:pPr indent="0" marL="0">
              <a:buNone/>
            </a:pPr>
            <a:r>
              <a:rPr lang="en-US" sz="1400" dirty="0">
                <a:solidFill>
                  <a:srgbClr val="E6E6E6"/>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E6E6E6"/>
                </a:solidFill>
                <a:latin typeface="Consolas" pitchFamily="34" charset="0"/>
                <a:ea typeface="Consolas" pitchFamily="34" charset="-122"/>
                <a:cs typeface="Consolas" pitchFamily="34" charset="-120"/>
              </a:rPr>
              <a:t>    public static string ToLabel(this Severity severity) =&gt;</a:t>
            </a:r>
            <a:endParaRPr lang="en-US" sz="1400" dirty="0"/>
          </a:p>
          <a:p>
            <a:pPr indent="0" marL="0">
              <a:buNone/>
            </a:pPr>
            <a:r>
              <a:rPr lang="en-US" sz="1400" dirty="0">
                <a:solidFill>
                  <a:srgbClr val="E6E6E6"/>
                </a:solidFill>
                <a:latin typeface="Consolas" pitchFamily="34" charset="0"/>
                <a:ea typeface="Consolas" pitchFamily="34" charset="-122"/>
                <a:cs typeface="Consolas" pitchFamily="34" charset="-120"/>
              </a:rPr>
              <a:t>        severity switch</a:t>
            </a:r>
            <a:endParaRPr lang="en-US" sz="1400" dirty="0"/>
          </a:p>
          <a:p>
            <a:pPr indent="0" marL="0">
              <a:buNone/>
            </a:pPr>
            <a:r>
              <a:rPr lang="en-US" sz="1400" dirty="0">
                <a:solidFill>
                  <a:srgbClr val="E6E6E6"/>
                </a:solidFill>
                <a:latin typeface="Consolas" pitchFamily="34" charset="0"/>
                <a:ea typeface="Consolas" pitchFamily="34" charset="-122"/>
                <a:cs typeface="Consolas" pitchFamily="34" charset="-120"/>
              </a:rPr>
              <a:t>        {</a:t>
            </a:r>
            <a:endParaRPr lang="en-US" sz="1400" dirty="0"/>
          </a:p>
          <a:p>
            <a:pPr indent="0" marL="0">
              <a:buNone/>
            </a:pPr>
            <a:r>
              <a:rPr lang="en-US" sz="1400" dirty="0">
                <a:solidFill>
                  <a:srgbClr val="E6E6E6"/>
                </a:solidFill>
                <a:latin typeface="Consolas" pitchFamily="34" charset="0"/>
                <a:ea typeface="Consolas" pitchFamily="34" charset="-122"/>
                <a:cs typeface="Consolas" pitchFamily="34" charset="-120"/>
              </a:rPr>
              <a:t>            Severity.Low =&gt; "Faible",</a:t>
            </a:r>
            <a:endParaRPr lang="en-US" sz="1400" dirty="0"/>
          </a:p>
          <a:p>
            <a:pPr indent="0" marL="0">
              <a:buNone/>
            </a:pPr>
            <a:r>
              <a:rPr lang="en-US" sz="1400" dirty="0">
                <a:solidFill>
                  <a:srgbClr val="E6E6E6"/>
                </a:solidFill>
                <a:latin typeface="Consolas" pitchFamily="34" charset="0"/>
                <a:ea typeface="Consolas" pitchFamily="34" charset="-122"/>
                <a:cs typeface="Consolas" pitchFamily="34" charset="-120"/>
              </a:rPr>
              <a:t>            Severity.Critical =&gt; "Critique",</a:t>
            </a:r>
            <a:endParaRPr lang="en-US" sz="1400" dirty="0"/>
          </a:p>
          <a:p>
            <a:pPr indent="0" marL="0">
              <a:buNone/>
            </a:pPr>
            <a:r>
              <a:rPr lang="en-US" sz="1400" dirty="0">
                <a:solidFill>
                  <a:srgbClr val="E6E6E6"/>
                </a:solidFill>
                <a:latin typeface="Consolas" pitchFamily="34" charset="0"/>
                <a:ea typeface="Consolas" pitchFamily="34" charset="-122"/>
                <a:cs typeface="Consolas" pitchFamily="34" charset="-120"/>
              </a:rPr>
              <a:t>            _ =&gt; severity.ToString()</a:t>
            </a:r>
            <a:endParaRPr lang="en-US" sz="1400" dirty="0"/>
          </a:p>
          <a:p>
            <a:pPr indent="0" marL="0">
              <a:buNone/>
            </a:pPr>
            <a:r>
              <a:rPr lang="en-US" sz="1400" dirty="0">
                <a:solidFill>
                  <a:srgbClr val="E6E6E6"/>
                </a:solidFill>
                <a:latin typeface="Consolas" pitchFamily="34" charset="0"/>
                <a:ea typeface="Consolas" pitchFamily="34" charset="-122"/>
                <a:cs typeface="Consolas" pitchFamily="34" charset="-120"/>
              </a:rPr>
              <a:t>        };</a:t>
            </a:r>
            <a:endParaRPr lang="en-US" sz="1400" dirty="0"/>
          </a:p>
          <a:p>
            <a:pPr indent="0" marL="0">
              <a:buNone/>
            </a:pPr>
            <a:r>
              <a:rPr lang="en-US" sz="1400" dirty="0">
                <a:solidFill>
                  <a:srgbClr val="E6E6E6"/>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E6E6E6"/>
                </a:solidFill>
                <a:latin typeface="Consolas" pitchFamily="34" charset="0"/>
                <a:ea typeface="Consolas" pitchFamily="34" charset="-122"/>
                <a:cs typeface="Consolas" pitchFamily="34" charset="-120"/>
              </a:rPr>
              <a:t> </a:t>
            </a:r>
            <a:endParaRPr lang="en-US" sz="1400" dirty="0"/>
          </a:p>
          <a:p>
            <a:pPr indent="0" marL="0">
              <a:buNone/>
            </a:pPr>
            <a:r>
              <a:rPr lang="en-US" sz="1400" b="1" dirty="0">
                <a:solidFill>
                  <a:srgbClr val="FFA94D"/>
                </a:solidFill>
                <a:latin typeface="Consolas" pitchFamily="34" charset="0"/>
                <a:ea typeface="Consolas" pitchFamily="34" charset="-122"/>
                <a:cs typeface="Consolas" pitchFamily="34" charset="-120"/>
              </a:rPr>
              <a:t>Console.WriteLine(incident.Severity.ToLabel());  // Critique</a:t>
            </a:r>
            <a:endParaRPr lang="en-US" sz="1400" dirty="0"/>
          </a:p>
        </p:txBody>
      </p:sp>
      <p:sp>
        <p:nvSpPr>
          <p:cNvPr id="10" name="Shape 7"/>
          <p:cNvSpPr/>
          <p:nvPr/>
        </p:nvSpPr>
        <p:spPr>
          <a:xfrm>
            <a:off x="8229600" y="1783080"/>
            <a:ext cx="3291840" cy="4114800"/>
          </a:xfrm>
          <a:prstGeom prst="roundRect">
            <a:avLst>
              <a:gd name="adj" fmla="val 2222"/>
            </a:avLst>
          </a:prstGeom>
          <a:solidFill>
            <a:srgbClr val="16181D"/>
          </a:solidFill>
          <a:ln w="12700">
            <a:solidFill>
              <a:srgbClr val="16181D"/>
            </a:solidFill>
            <a:prstDash val="solid"/>
          </a:ln>
        </p:spPr>
      </p:sp>
      <p:sp>
        <p:nvSpPr>
          <p:cNvPr id="11" name="Text 8"/>
          <p:cNvSpPr txBox="1"/>
          <p:nvPr/>
        </p:nvSpPr>
        <p:spPr>
          <a:xfrm>
            <a:off x="8458200" y="1965960"/>
            <a:ext cx="2834640" cy="3749040"/>
          </a:xfrm>
          <a:prstGeom prst="rect">
            <a:avLst/>
          </a:prstGeom>
          <a:noFill/>
          <a:ln/>
        </p:spPr>
        <p:txBody>
          <a:bodyPr wrap="square" lIns="0" tIns="0" rIns="0" bIns="0" rtlCol="0" anchor="t"/>
          <a:lstStyle/>
          <a:p>
            <a:pPr indent="0" marL="0">
              <a:buNone/>
            </a:pPr>
            <a:r>
              <a:rPr lang="en-US" sz="1800" b="1" dirty="0">
                <a:solidFill>
                  <a:srgbClr val="E8590C"/>
                </a:solidFill>
                <a:latin typeface="Calibri" pitchFamily="34" charset="0"/>
                <a:ea typeface="Calibri" pitchFamily="34" charset="-122"/>
                <a:cs typeface="Calibri" pitchFamily="34" charset="-120"/>
              </a:rPr>
              <a:t>Comment l'écrire</a:t>
            </a:r>
            <a:endParaRPr lang="en-US" sz="1800" dirty="0"/>
          </a:p>
          <a:p>
            <a:pPr indent="0" marL="0">
              <a:buNone/>
            </a:pPr>
            <a:endParaRPr lang="en-US" sz="1800" dirty="0"/>
          </a:p>
          <a:p>
            <a:pPr indent="0" marL="0">
              <a:buNone/>
            </a:pPr>
            <a:r>
              <a:rPr lang="en-US" sz="1500" dirty="0">
                <a:solidFill>
                  <a:srgbClr val="FFFFFF"/>
                </a:solidFill>
                <a:latin typeface="Calibri" pitchFamily="34" charset="0"/>
                <a:ea typeface="Calibri" pitchFamily="34" charset="-122"/>
                <a:cs typeface="Calibri" pitchFamily="34" charset="-120"/>
              </a:rPr>
              <a:t>Il faut une classe static, une méthode static, et un premier paramètre précédé de this.</a:t>
            </a:r>
            <a:endParaRPr lang="en-US" sz="1800" dirty="0"/>
          </a:p>
          <a:p>
            <a:pPr indent="0" marL="0">
              <a:buNone/>
            </a:pPr>
            <a:endParaRPr lang="en-US" sz="1800" dirty="0"/>
          </a:p>
          <a:p>
            <a:pPr indent="0" marL="0">
              <a:buNone/>
            </a:pPr>
            <a:r>
              <a:rPr lang="en-US" sz="1500" dirty="0">
                <a:solidFill>
                  <a:srgbClr val="FFFFFF"/>
                </a:solidFill>
                <a:latin typeface="Calibri" pitchFamily="34" charset="0"/>
                <a:ea typeface="Calibri" pitchFamily="34" charset="-122"/>
                <a:cs typeface="Calibri" pitchFamily="34" charset="-120"/>
              </a:rPr>
              <a:t>C'est ainsi que fonctionne LINQ (Where, Select…), que l'on verra plus tard.</a:t>
            </a:r>
            <a:endParaRPr lang="en-US" sz="1800" dirty="0"/>
          </a:p>
        </p:txBody>
      </p:sp>
      <p:sp>
        <p:nvSpPr>
          <p:cNvPr id="12" name="Text 9"/>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Microsoft Learn, « Méthodes d'extension (C#) ».</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2F3F5"/>
        </a:solidFill>
      </p:bgPr>
    </p:bg>
    <p:spTree>
      <p:nvGrpSpPr>
        <p:cNvPr id="1" name=""/>
        <p:cNvGrpSpPr/>
        <p:nvPr/>
      </p:nvGrpSpPr>
      <p:grpSpPr>
        <a:xfrm>
          <a:off x="0" y="0"/>
          <a:ext cx="0" cy="0"/>
          <a:chOff x="0" y="0"/>
          <a:chExt cx="0" cy="0"/>
        </a:xfrm>
      </p:grpSpPr>
      <p:sp>
        <p:nvSpPr>
          <p:cNvPr id="2" name="Text 0"/>
          <p:cNvSpPr txBox="1"/>
          <p:nvPr/>
        </p:nvSpPr>
        <p:spPr>
          <a:xfrm>
            <a:off x="640080" y="1463040"/>
            <a:ext cx="3657600" cy="457200"/>
          </a:xfrm>
          <a:prstGeom prst="rect">
            <a:avLst/>
          </a:prstGeom>
          <a:noFill/>
          <a:ln/>
        </p:spPr>
        <p:txBody>
          <a:bodyPr wrap="square" lIns="0" tIns="0" rIns="0" bIns="0" rtlCol="0" anchor="ctr"/>
          <a:lstStyle/>
          <a:p>
            <a:pPr indent="0" marL="0">
              <a:buNone/>
            </a:pPr>
            <a:r>
              <a:rPr lang="en-US" sz="1600" b="1" spc="400" kern="0" dirty="0">
                <a:solidFill>
                  <a:srgbClr val="E8590C"/>
                </a:solidFill>
                <a:latin typeface="Calibri" pitchFamily="34" charset="0"/>
                <a:ea typeface="Calibri" pitchFamily="34" charset="-122"/>
                <a:cs typeface="Calibri" pitchFamily="34" charset="-120"/>
              </a:rPr>
              <a:t>RIDER</a:t>
            </a:r>
            <a:endParaRPr lang="en-US" sz="1600" dirty="0"/>
          </a:p>
        </p:txBody>
      </p:sp>
      <p:sp>
        <p:nvSpPr>
          <p:cNvPr id="3" name="Shape 1"/>
          <p:cNvSpPr/>
          <p:nvPr/>
        </p:nvSpPr>
        <p:spPr>
          <a:xfrm>
            <a:off x="640080" y="2011680"/>
            <a:ext cx="10911535" cy="1005840"/>
          </a:xfrm>
          <a:prstGeom prst="roundRect">
            <a:avLst>
              <a:gd name="adj" fmla="val 7273"/>
            </a:avLst>
          </a:prstGeom>
          <a:solidFill>
            <a:srgbClr val="1E2127"/>
          </a:solidFill>
          <a:ln w="12700">
            <a:solidFill>
              <a:srgbClr val="1E2127"/>
            </a:solidFill>
            <a:prstDash val="solid"/>
          </a:ln>
        </p:spPr>
      </p:sp>
      <p:sp>
        <p:nvSpPr>
          <p:cNvPr id="4" name="Text 2"/>
          <p:cNvSpPr txBox="1"/>
          <p:nvPr/>
        </p:nvSpPr>
        <p:spPr>
          <a:xfrm>
            <a:off x="1005840" y="2011680"/>
            <a:ext cx="10180015" cy="1005840"/>
          </a:xfrm>
          <a:prstGeom prst="rect">
            <a:avLst/>
          </a:prstGeom>
          <a:noFill/>
          <a:ln/>
        </p:spPr>
        <p:txBody>
          <a:bodyPr wrap="square" lIns="0" tIns="0" rIns="0" bIns="0" rtlCol="0" anchor="ctr"/>
          <a:lstStyle/>
          <a:p>
            <a:pPr indent="0" marL="0">
              <a:buNone/>
            </a:pPr>
            <a:r>
              <a:rPr lang="en-US" sz="2800" dirty="0">
                <a:solidFill>
                  <a:srgbClr val="E6E6E6"/>
                </a:solidFill>
                <a:latin typeface="Consolas" pitchFamily="34" charset="0"/>
                <a:ea typeface="Consolas" pitchFamily="34" charset="-122"/>
                <a:cs typeface="Consolas" pitchFamily="34" charset="-120"/>
              </a:rPr>
              <a:t>git checkout s03-etape5-static</a:t>
            </a:r>
            <a:endParaRPr lang="en-US" sz="2800" dirty="0"/>
          </a:p>
        </p:txBody>
      </p:sp>
      <p:sp>
        <p:nvSpPr>
          <p:cNvPr id="5" name="Text 3"/>
          <p:cNvSpPr txBox="1"/>
          <p:nvPr/>
        </p:nvSpPr>
        <p:spPr>
          <a:xfrm>
            <a:off x="640080" y="3291840"/>
            <a:ext cx="10911535" cy="731520"/>
          </a:xfrm>
          <a:prstGeom prst="rect">
            <a:avLst/>
          </a:prstGeom>
          <a:noFill/>
          <a:ln/>
        </p:spPr>
        <p:txBody>
          <a:bodyPr wrap="square" lIns="0" tIns="0" rIns="0" bIns="0" rtlCol="0" anchor="t"/>
          <a:lstStyle/>
          <a:p>
            <a:pPr indent="0" marL="0">
              <a:buNone/>
            </a:pPr>
            <a:r>
              <a:rPr lang="en-US" sz="2400" b="1" dirty="0">
                <a:solidFill>
                  <a:srgbClr val="16181D"/>
                </a:solidFill>
                <a:latin typeface="Arial" pitchFamily="34" charset="0"/>
                <a:ea typeface="Arial" pitchFamily="34" charset="-122"/>
                <a:cs typeface="Arial" pitchFamily="34" charset="-120"/>
              </a:rPr>
              <a:t>static, en vrai</a:t>
            </a:r>
            <a:endParaRPr lang="en-US" sz="2400" dirty="0"/>
          </a:p>
        </p:txBody>
      </p:sp>
      <p:sp>
        <p:nvSpPr>
          <p:cNvPr id="6" name="Text 4"/>
          <p:cNvSpPr txBox="1"/>
          <p:nvPr/>
        </p:nvSpPr>
        <p:spPr>
          <a:xfrm>
            <a:off x="640080" y="4114800"/>
            <a:ext cx="4572000" cy="365760"/>
          </a:xfrm>
          <a:prstGeom prst="rect">
            <a:avLst/>
          </a:prstGeom>
          <a:noFill/>
          <a:ln/>
        </p:spPr>
        <p:txBody>
          <a:bodyPr wrap="square" lIns="0" tIns="0" rIns="0" bIns="0" rtlCol="0" anchor="ctr"/>
          <a:lstStyle/>
          <a:p>
            <a:pPr indent="0" marL="0">
              <a:buNone/>
            </a:pPr>
            <a:r>
              <a:rPr lang="en-US" sz="1300" b="1" spc="200" kern="0" dirty="0">
                <a:solidFill>
                  <a:srgbClr val="5F6670"/>
                </a:solidFill>
                <a:latin typeface="Calibri" pitchFamily="34" charset="0"/>
                <a:ea typeface="Calibri" pitchFamily="34" charset="-122"/>
                <a:cs typeface="Calibri" pitchFamily="34" charset="-120"/>
              </a:rPr>
              <a:t>CE QU'ON REGARDE</a:t>
            </a:r>
            <a:endParaRPr lang="en-US" sz="1300" dirty="0"/>
          </a:p>
        </p:txBody>
      </p:sp>
      <p:sp>
        <p:nvSpPr>
          <p:cNvPr id="7" name="Text 5"/>
          <p:cNvSpPr txBox="1"/>
          <p:nvPr/>
        </p:nvSpPr>
        <p:spPr>
          <a:xfrm>
            <a:off x="640080" y="4526280"/>
            <a:ext cx="10911535" cy="164592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IncidentNumbering.NextNumber() : INC-0001, INC-0002…</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Severity.ToLabel() : une méthode d'extension</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Math.Max et DateTime.UtcNow : des membres static du framework</a:t>
            </a:r>
            <a:endParaRPr lang="en-US" sz="1800" dirty="0"/>
          </a:p>
        </p:txBody>
      </p:sp>
      <p:sp>
        <p:nvSpPr>
          <p:cNvPr id="8" name="Text 6"/>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640080" y="1463040"/>
            <a:ext cx="2743200" cy="1280160"/>
          </a:xfrm>
          <a:prstGeom prst="rect">
            <a:avLst/>
          </a:prstGeom>
          <a:noFill/>
          <a:ln/>
        </p:spPr>
        <p:txBody>
          <a:bodyPr wrap="square" lIns="0" tIns="0" rIns="0" bIns="0" rtlCol="0" anchor="ctr"/>
          <a:lstStyle/>
          <a:p>
            <a:pPr indent="0" marL="0">
              <a:buNone/>
            </a:pPr>
            <a:r>
              <a:rPr lang="en-US" sz="9600" b="1" dirty="0">
                <a:solidFill>
                  <a:srgbClr val="E8590C"/>
                </a:solidFill>
                <a:latin typeface="Arial" pitchFamily="34" charset="0"/>
                <a:ea typeface="Arial" pitchFamily="34" charset="-122"/>
                <a:cs typeface="Arial" pitchFamily="34" charset="-120"/>
              </a:rPr>
              <a:t>06</a:t>
            </a:r>
            <a:endParaRPr lang="en-US" sz="9600" dirty="0"/>
          </a:p>
        </p:txBody>
      </p:sp>
      <p:sp>
        <p:nvSpPr>
          <p:cNvPr id="3" name="Text 1"/>
          <p:cNvSpPr txBox="1"/>
          <p:nvPr/>
        </p:nvSpPr>
        <p:spPr>
          <a:xfrm>
            <a:off x="640080" y="2834640"/>
            <a:ext cx="10911535" cy="10058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virtual et override</a:t>
            </a:r>
            <a:endParaRPr lang="en-US" sz="4400" dirty="0"/>
          </a:p>
        </p:txBody>
      </p:sp>
      <p:sp>
        <p:nvSpPr>
          <p:cNvPr id="4" name="Text 2"/>
          <p:cNvSpPr txBox="1"/>
          <p:nvPr/>
        </p:nvSpPr>
        <p:spPr>
          <a:xfrm>
            <a:off x="640080" y="3840480"/>
            <a:ext cx="10911535" cy="731520"/>
          </a:xfrm>
          <a:prstGeom prst="rect">
            <a:avLst/>
          </a:prstGeom>
          <a:noFill/>
          <a:ln/>
        </p:spPr>
        <p:txBody>
          <a:bodyPr wrap="square" lIns="0" tIns="0" rIns="0" bIns="0" rtlCol="0" anchor="ctr"/>
          <a:lstStyle/>
          <a:p>
            <a:pPr indent="0" marL="0">
              <a:buNone/>
            </a:pPr>
            <a:r>
              <a:rPr lang="en-US" sz="2000" dirty="0">
                <a:solidFill>
                  <a:srgbClr val="C9CDD3"/>
                </a:solidFill>
                <a:latin typeface="Calibri" pitchFamily="34" charset="0"/>
                <a:ea typeface="Calibri" pitchFamily="34" charset="-122"/>
                <a:cs typeface="Calibri" pitchFamily="34" charset="-120"/>
              </a:rPr>
              <a:t>Le mécanisme du polymorphisme</a:t>
            </a:r>
            <a:endParaRPr lang="en-US" sz="20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9AA0A8"/>
                </a:solidFill>
                <a:latin typeface="Calibri" pitchFamily="34" charset="0"/>
                <a:ea typeface="Calibri" pitchFamily="34" charset="-122"/>
                <a:cs typeface="Calibri" pitchFamily="34" charset="-120"/>
              </a:rPr>
              <a:t>Complément Application · S3</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9AA0A8"/>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LA RECETTE DE FAMILLE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abstract, virtual, override, sealed</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S3</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32</a:t>
            </a:r>
            <a:endParaRPr lang="en-US" sz="1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1828800"/>
                <a:gridCol w="4206240"/>
                <a:gridCol w="4873752"/>
              </a:tblGrid>
              <a:tr h="59436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Mot-clé</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La recette de famille</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Dans IncidentHub</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r>
              <a:tr h="594360">
                <a:tc>
                  <a:txBody>
                    <a:bodyPr/>
                    <a:lstStyle/>
                    <a:p>
                      <a:pPr indent="0" marL="0">
                        <a:buNone/>
                      </a:pPr>
                      <a:r>
                        <a:rPr lang="en-US" sz="1600" b="1" dirty="0">
                          <a:solidFill>
                            <a:srgbClr val="16181D"/>
                          </a:solidFill>
                          <a:latin typeface="Consolas" pitchFamily="34" charset="0"/>
                          <a:ea typeface="Consolas" pitchFamily="34" charset="-122"/>
                          <a:cs typeface="Consolas" pitchFamily="34" charset="-120"/>
                        </a:rPr>
                        <a:t>abstract</a:t>
                      </a:r>
                      <a:endParaRPr lang="en-US" sz="16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chacun doit écrire sa recette</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RoleName() : chaque rôle donne son nom</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594360">
                <a:tc>
                  <a:txBody>
                    <a:bodyPr/>
                    <a:lstStyle/>
                    <a:p>
                      <a:pPr indent="0" marL="0">
                        <a:buNone/>
                      </a:pPr>
                      <a:r>
                        <a:rPr lang="en-US" sz="1600" b="1" dirty="0">
                          <a:solidFill>
                            <a:srgbClr val="16181D"/>
                          </a:solidFill>
                          <a:latin typeface="Consolas" pitchFamily="34" charset="0"/>
                          <a:ea typeface="Consolas" pitchFamily="34" charset="-122"/>
                          <a:cs typeface="Consolas" pitchFamily="34" charset="-120"/>
                        </a:rPr>
                        <a:t>virtual</a:t>
                      </a:r>
                      <a:endParaRPr lang="en-US" sz="16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la recette de grand-mère, adaptable</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Signature() : « — Karim Diallo » par défaut</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594360">
                <a:tc>
                  <a:txBody>
                    <a:bodyPr/>
                    <a:lstStyle/>
                    <a:p>
                      <a:pPr indent="0" marL="0">
                        <a:buNone/>
                      </a:pPr>
                      <a:r>
                        <a:rPr lang="en-US" sz="1600" b="1" dirty="0">
                          <a:solidFill>
                            <a:srgbClr val="16181D"/>
                          </a:solidFill>
                          <a:latin typeface="Consolas" pitchFamily="34" charset="0"/>
                          <a:ea typeface="Consolas" pitchFamily="34" charset="-122"/>
                          <a:cs typeface="Consolas" pitchFamily="34" charset="-120"/>
                        </a:rPr>
                        <a:t>override</a:t>
                      </a:r>
                      <a:endParaRPr lang="en-US" sz="16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voici ma version</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Manager : « — Sophie Leroy, responsable »</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594360">
                <a:tc>
                  <a:txBody>
                    <a:bodyPr/>
                    <a:lstStyle/>
                    <a:p>
                      <a:pPr indent="0" marL="0">
                        <a:buNone/>
                      </a:pPr>
                      <a:r>
                        <a:rPr lang="en-US" sz="1600" b="1" dirty="0">
                          <a:solidFill>
                            <a:srgbClr val="16181D"/>
                          </a:solidFill>
                          <a:latin typeface="Consolas" pitchFamily="34" charset="0"/>
                          <a:ea typeface="Consolas" pitchFamily="34" charset="-122"/>
                          <a:cs typeface="Consolas" pitchFamily="34" charset="-120"/>
                        </a:rPr>
                        <a:t>sealed</a:t>
                      </a:r>
                      <a:endParaRPr lang="en-US" sz="16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on n'y touche plus</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Reporter : plus personne n'en hérite</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bl>
          </a:graphicData>
        </a:graphic>
      </p:graphicFrame>
      <p:sp>
        <p:nvSpPr>
          <p:cNvPr id="9" name="Shape 5"/>
          <p:cNvSpPr/>
          <p:nvPr/>
        </p:nvSpPr>
        <p:spPr>
          <a:xfrm>
            <a:off x="640080" y="4892040"/>
            <a:ext cx="5303520" cy="1005840"/>
          </a:xfrm>
          <a:prstGeom prst="roundRect">
            <a:avLst>
              <a:gd name="adj" fmla="val 7273"/>
            </a:avLst>
          </a:prstGeom>
          <a:solidFill>
            <a:srgbClr val="16181D"/>
          </a:solidFill>
          <a:ln w="12700">
            <a:solidFill>
              <a:srgbClr val="16181D"/>
            </a:solidFill>
            <a:prstDash val="solid"/>
          </a:ln>
        </p:spPr>
      </p:sp>
      <p:sp>
        <p:nvSpPr>
          <p:cNvPr id="10" name="Text 6"/>
          <p:cNvSpPr txBox="1"/>
          <p:nvPr/>
        </p:nvSpPr>
        <p:spPr>
          <a:xfrm>
            <a:off x="914400" y="4892040"/>
            <a:ext cx="4754880" cy="10058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ToString() est virtual dans object : on peut la redéfinir dans toutes nos classes.</a:t>
            </a:r>
            <a:endParaRPr lang="en-US" sz="1500" dirty="0"/>
          </a:p>
        </p:txBody>
      </p:sp>
      <p:sp>
        <p:nvSpPr>
          <p:cNvPr id="11" name="Shape 7"/>
          <p:cNvSpPr/>
          <p:nvPr/>
        </p:nvSpPr>
        <p:spPr>
          <a:xfrm>
            <a:off x="6217920" y="4892040"/>
            <a:ext cx="5303520" cy="1005840"/>
          </a:xfrm>
          <a:prstGeom prst="roundRect">
            <a:avLst>
              <a:gd name="adj" fmla="val 7273"/>
            </a:avLst>
          </a:prstGeom>
          <a:solidFill>
            <a:srgbClr val="C92A2A"/>
          </a:solidFill>
          <a:ln w="12700">
            <a:solidFill>
              <a:srgbClr val="C92A2A"/>
            </a:solidFill>
            <a:prstDash val="solid"/>
          </a:ln>
        </p:spPr>
      </p:sp>
      <p:sp>
        <p:nvSpPr>
          <p:cNvPr id="12" name="Text 8"/>
          <p:cNvSpPr txBox="1"/>
          <p:nvPr/>
        </p:nvSpPr>
        <p:spPr>
          <a:xfrm>
            <a:off x="6492240" y="4892040"/>
            <a:ext cx="4754880" cy="10058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Piège : sans override (avec new), on masque la méthode. Le polymorphisme ne fonctionne plus.</a:t>
            </a:r>
            <a:endParaRPr lang="en-US" sz="1500" dirty="0"/>
          </a:p>
        </p:txBody>
      </p:sp>
      <p:sp>
        <p:nvSpPr>
          <p:cNvPr id="13" name="Text 9"/>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Microsoft Learn, mots-clés virtual, override, sealed, abstract et new (C#).</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2F3F5"/>
        </a:solidFill>
      </p:bgPr>
    </p:bg>
    <p:spTree>
      <p:nvGrpSpPr>
        <p:cNvPr id="1" name=""/>
        <p:cNvGrpSpPr/>
        <p:nvPr/>
      </p:nvGrpSpPr>
      <p:grpSpPr>
        <a:xfrm>
          <a:off x="0" y="0"/>
          <a:ext cx="0" cy="0"/>
          <a:chOff x="0" y="0"/>
          <a:chExt cx="0" cy="0"/>
        </a:xfrm>
      </p:grpSpPr>
      <p:sp>
        <p:nvSpPr>
          <p:cNvPr id="2" name="Text 0"/>
          <p:cNvSpPr txBox="1"/>
          <p:nvPr/>
        </p:nvSpPr>
        <p:spPr>
          <a:xfrm>
            <a:off x="640080" y="1463040"/>
            <a:ext cx="3657600" cy="457200"/>
          </a:xfrm>
          <a:prstGeom prst="rect">
            <a:avLst/>
          </a:prstGeom>
          <a:noFill/>
          <a:ln/>
        </p:spPr>
        <p:txBody>
          <a:bodyPr wrap="square" lIns="0" tIns="0" rIns="0" bIns="0" rtlCol="0" anchor="ctr"/>
          <a:lstStyle/>
          <a:p>
            <a:pPr indent="0" marL="0">
              <a:buNone/>
            </a:pPr>
            <a:r>
              <a:rPr lang="en-US" sz="1600" b="1" spc="400" kern="0" dirty="0">
                <a:solidFill>
                  <a:srgbClr val="E8590C"/>
                </a:solidFill>
                <a:latin typeface="Calibri" pitchFamily="34" charset="0"/>
                <a:ea typeface="Calibri" pitchFamily="34" charset="-122"/>
                <a:cs typeface="Calibri" pitchFamily="34" charset="-120"/>
              </a:rPr>
              <a:t>RIDER</a:t>
            </a:r>
            <a:endParaRPr lang="en-US" sz="1600" dirty="0"/>
          </a:p>
        </p:txBody>
      </p:sp>
      <p:sp>
        <p:nvSpPr>
          <p:cNvPr id="3" name="Shape 1"/>
          <p:cNvSpPr/>
          <p:nvPr/>
        </p:nvSpPr>
        <p:spPr>
          <a:xfrm>
            <a:off x="640080" y="2011680"/>
            <a:ext cx="10911535" cy="1005840"/>
          </a:xfrm>
          <a:prstGeom prst="roundRect">
            <a:avLst>
              <a:gd name="adj" fmla="val 7273"/>
            </a:avLst>
          </a:prstGeom>
          <a:solidFill>
            <a:srgbClr val="1E2127"/>
          </a:solidFill>
          <a:ln w="12700">
            <a:solidFill>
              <a:srgbClr val="1E2127"/>
            </a:solidFill>
            <a:prstDash val="solid"/>
          </a:ln>
        </p:spPr>
      </p:sp>
      <p:sp>
        <p:nvSpPr>
          <p:cNvPr id="4" name="Text 2"/>
          <p:cNvSpPr txBox="1"/>
          <p:nvPr/>
        </p:nvSpPr>
        <p:spPr>
          <a:xfrm>
            <a:off x="1005840" y="2011680"/>
            <a:ext cx="10180015" cy="1005840"/>
          </a:xfrm>
          <a:prstGeom prst="rect">
            <a:avLst/>
          </a:prstGeom>
          <a:noFill/>
          <a:ln/>
        </p:spPr>
        <p:txBody>
          <a:bodyPr wrap="square" lIns="0" tIns="0" rIns="0" bIns="0" rtlCol="0" anchor="ctr"/>
          <a:lstStyle/>
          <a:p>
            <a:pPr indent="0" marL="0">
              <a:buNone/>
            </a:pPr>
            <a:r>
              <a:rPr lang="en-US" sz="2800" dirty="0">
                <a:solidFill>
                  <a:srgbClr val="E6E6E6"/>
                </a:solidFill>
                <a:latin typeface="Consolas" pitchFamily="34" charset="0"/>
                <a:ea typeface="Consolas" pitchFamily="34" charset="-122"/>
                <a:cs typeface="Consolas" pitchFamily="34" charset="-120"/>
              </a:rPr>
              <a:t>git checkout s03-etape6-virtual-override</a:t>
            </a:r>
            <a:endParaRPr lang="en-US" sz="2800" dirty="0"/>
          </a:p>
        </p:txBody>
      </p:sp>
      <p:sp>
        <p:nvSpPr>
          <p:cNvPr id="5" name="Text 3"/>
          <p:cNvSpPr txBox="1"/>
          <p:nvPr/>
        </p:nvSpPr>
        <p:spPr>
          <a:xfrm>
            <a:off x="640080" y="3291840"/>
            <a:ext cx="10911535" cy="731520"/>
          </a:xfrm>
          <a:prstGeom prst="rect">
            <a:avLst/>
          </a:prstGeom>
          <a:noFill/>
          <a:ln/>
        </p:spPr>
        <p:txBody>
          <a:bodyPr wrap="square" lIns="0" tIns="0" rIns="0" bIns="0" rtlCol="0" anchor="t"/>
          <a:lstStyle/>
          <a:p>
            <a:pPr indent="0" marL="0">
              <a:buNone/>
            </a:pPr>
            <a:r>
              <a:rPr lang="en-US" sz="2400" b="1" dirty="0">
                <a:solidFill>
                  <a:srgbClr val="16181D"/>
                </a:solidFill>
                <a:latin typeface="Arial" pitchFamily="34" charset="0"/>
                <a:ea typeface="Arial" pitchFamily="34" charset="-122"/>
                <a:cs typeface="Arial" pitchFamily="34" charset="-120"/>
              </a:rPr>
              <a:t>virtual et override, en vrai</a:t>
            </a:r>
            <a:endParaRPr lang="en-US" sz="2400" dirty="0"/>
          </a:p>
        </p:txBody>
      </p:sp>
      <p:sp>
        <p:nvSpPr>
          <p:cNvPr id="6" name="Text 4"/>
          <p:cNvSpPr txBox="1"/>
          <p:nvPr/>
        </p:nvSpPr>
        <p:spPr>
          <a:xfrm>
            <a:off x="640080" y="4114800"/>
            <a:ext cx="4572000" cy="365760"/>
          </a:xfrm>
          <a:prstGeom prst="rect">
            <a:avLst/>
          </a:prstGeom>
          <a:noFill/>
          <a:ln/>
        </p:spPr>
        <p:txBody>
          <a:bodyPr wrap="square" lIns="0" tIns="0" rIns="0" bIns="0" rtlCol="0" anchor="ctr"/>
          <a:lstStyle/>
          <a:p>
            <a:pPr indent="0" marL="0">
              <a:buNone/>
            </a:pPr>
            <a:r>
              <a:rPr lang="en-US" sz="1300" b="1" spc="200" kern="0" dirty="0">
                <a:solidFill>
                  <a:srgbClr val="5F6670"/>
                </a:solidFill>
                <a:latin typeface="Calibri" pitchFamily="34" charset="0"/>
                <a:ea typeface="Calibri" pitchFamily="34" charset="-122"/>
                <a:cs typeface="Calibri" pitchFamily="34" charset="-120"/>
              </a:rPr>
              <a:t>CE QU'ON REGARDE</a:t>
            </a:r>
            <a:endParaRPr lang="en-US" sz="1300" dirty="0"/>
          </a:p>
        </p:txBody>
      </p:sp>
      <p:sp>
        <p:nvSpPr>
          <p:cNvPr id="7" name="Text 5"/>
          <p:cNvSpPr txBox="1"/>
          <p:nvPr/>
        </p:nvSpPr>
        <p:spPr>
          <a:xfrm>
            <a:off x="640080" y="4526280"/>
            <a:ext cx="10911535" cy="164592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User.Signature() est virtual : une version par défaut</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Manager la redéfinit avec override</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Analyst redéfinit ToString(), qui vient de object</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Reporter est sealed : essayer d'en hériter ne compile pas</a:t>
            </a:r>
            <a:endParaRPr lang="en-US" sz="1800" dirty="0"/>
          </a:p>
        </p:txBody>
      </p:sp>
      <p:sp>
        <p:nvSpPr>
          <p:cNvPr id="8" name="Text 6"/>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640080" y="1463040"/>
            <a:ext cx="2743200" cy="1280160"/>
          </a:xfrm>
          <a:prstGeom prst="rect">
            <a:avLst/>
          </a:prstGeom>
          <a:noFill/>
          <a:ln/>
        </p:spPr>
        <p:txBody>
          <a:bodyPr wrap="square" lIns="0" tIns="0" rIns="0" bIns="0" rtlCol="0" anchor="ctr"/>
          <a:lstStyle/>
          <a:p>
            <a:pPr indent="0" marL="0">
              <a:buNone/>
            </a:pPr>
            <a:r>
              <a:rPr lang="en-US" sz="9600" b="1" dirty="0">
                <a:solidFill>
                  <a:srgbClr val="E8590C"/>
                </a:solidFill>
                <a:latin typeface="Arial" pitchFamily="34" charset="0"/>
                <a:ea typeface="Arial" pitchFamily="34" charset="-122"/>
                <a:cs typeface="Arial" pitchFamily="34" charset="-120"/>
              </a:rPr>
              <a:t>07</a:t>
            </a:r>
            <a:endParaRPr lang="en-US" sz="9600" dirty="0"/>
          </a:p>
        </p:txBody>
      </p:sp>
      <p:sp>
        <p:nvSpPr>
          <p:cNvPr id="3" name="Text 1"/>
          <p:cNvSpPr txBox="1"/>
          <p:nvPr/>
        </p:nvSpPr>
        <p:spPr>
          <a:xfrm>
            <a:off x="640080" y="2834640"/>
            <a:ext cx="10911535" cy="10058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Les enum [Flags]</a:t>
            </a:r>
            <a:endParaRPr lang="en-US" sz="4400" dirty="0"/>
          </a:p>
        </p:txBody>
      </p:sp>
      <p:sp>
        <p:nvSpPr>
          <p:cNvPr id="4" name="Text 2"/>
          <p:cNvSpPr txBox="1"/>
          <p:nvPr/>
        </p:nvSpPr>
        <p:spPr>
          <a:xfrm>
            <a:off x="640080" y="3840480"/>
            <a:ext cx="10911535" cy="731520"/>
          </a:xfrm>
          <a:prstGeom prst="rect">
            <a:avLst/>
          </a:prstGeom>
          <a:noFill/>
          <a:ln/>
        </p:spPr>
        <p:txBody>
          <a:bodyPr wrap="square" lIns="0" tIns="0" rIns="0" bIns="0" rtlCol="0" anchor="ctr"/>
          <a:lstStyle/>
          <a:p>
            <a:pPr indent="0" marL="0">
              <a:buNone/>
            </a:pPr>
            <a:r>
              <a:rPr lang="en-US" sz="2000" dirty="0">
                <a:solidFill>
                  <a:srgbClr val="C9CDD3"/>
                </a:solidFill>
                <a:latin typeface="Calibri" pitchFamily="34" charset="0"/>
                <a:ea typeface="Calibri" pitchFamily="34" charset="-122"/>
                <a:cs typeface="Calibri" pitchFamily="34" charset="-120"/>
              </a:rPr>
              <a:t>Combiner plusieurs valeurs dans une seule</a:t>
            </a:r>
            <a:endParaRPr lang="en-US" sz="20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9AA0A8"/>
                </a:solidFill>
                <a:latin typeface="Calibri" pitchFamily="34" charset="0"/>
                <a:ea typeface="Calibri" pitchFamily="34" charset="-122"/>
                <a:cs typeface="Calibri" pitchFamily="34" charset="-120"/>
              </a:rPr>
              <a:t>Complément Application · S3</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9AA0A8"/>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[FLAGS]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Une rangée d'interrupteurs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S3</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35</a:t>
            </a:r>
            <a:endParaRPr lang="en-US" sz="1000" dirty="0"/>
          </a:p>
        </p:txBody>
      </p:sp>
      <p:sp>
        <p:nvSpPr>
          <p:cNvPr id="8" name="Shape 5"/>
          <p:cNvSpPr/>
          <p:nvPr/>
        </p:nvSpPr>
        <p:spPr>
          <a:xfrm>
            <a:off x="640080" y="1783080"/>
            <a:ext cx="6766560" cy="4206240"/>
          </a:xfrm>
          <a:prstGeom prst="roundRect">
            <a:avLst>
              <a:gd name="adj" fmla="val 1739"/>
            </a:avLst>
          </a:prstGeom>
          <a:solidFill>
            <a:srgbClr val="1E2127"/>
          </a:solidFill>
          <a:ln w="12700">
            <a:solidFill>
              <a:srgbClr val="1E2127"/>
            </a:solidFill>
            <a:prstDash val="solid"/>
          </a:ln>
        </p:spPr>
      </p:sp>
      <p:sp>
        <p:nvSpPr>
          <p:cNvPr id="9" name="Text 6"/>
          <p:cNvSpPr txBox="1"/>
          <p:nvPr/>
        </p:nvSpPr>
        <p:spPr>
          <a:xfrm>
            <a:off x="914400" y="2011680"/>
            <a:ext cx="6217920" cy="3749040"/>
          </a:xfrm>
          <a:prstGeom prst="rect">
            <a:avLst/>
          </a:prstGeom>
          <a:noFill/>
          <a:ln/>
        </p:spPr>
        <p:txBody>
          <a:bodyPr wrap="square" lIns="0" tIns="0" rIns="0" bIns="0" rtlCol="0" anchor="t"/>
          <a:lstStyle/>
          <a:p>
            <a:pPr indent="0" marL="0">
              <a:buNone/>
            </a:pPr>
            <a:r>
              <a:rPr lang="en-US" sz="1350" dirty="0">
                <a:solidFill>
                  <a:srgbClr val="E6E6E6"/>
                </a:solidFill>
                <a:latin typeface="Consolas" pitchFamily="34" charset="0"/>
                <a:ea typeface="Consolas" pitchFamily="34" charset="-122"/>
                <a:cs typeface="Consolas" pitchFamily="34" charset="-120"/>
              </a:rPr>
              <a:t>[Flags]</a:t>
            </a:r>
            <a:endParaRPr lang="en-US" sz="1350" dirty="0"/>
          </a:p>
          <a:p>
            <a:pPr indent="0" marL="0">
              <a:buNone/>
            </a:pPr>
            <a:r>
              <a:rPr lang="en-US" sz="1350" dirty="0">
                <a:solidFill>
                  <a:srgbClr val="E6E6E6"/>
                </a:solidFill>
                <a:latin typeface="Consolas" pitchFamily="34" charset="0"/>
                <a:ea typeface="Consolas" pitchFamily="34" charset="-122"/>
                <a:cs typeface="Consolas" pitchFamily="34" charset="-120"/>
              </a:rPr>
              <a:t>public enum Permission</a:t>
            </a:r>
            <a:endParaRPr lang="en-US" sz="1350" dirty="0"/>
          </a:p>
          <a:p>
            <a:pPr indent="0" marL="0">
              <a:buNone/>
            </a:pPr>
            <a:r>
              <a:rPr lang="en-US" sz="1350" dirty="0">
                <a:solidFill>
                  <a:srgbClr val="E6E6E6"/>
                </a:solidFill>
                <a:latin typeface="Consolas" pitchFamily="34" charset="0"/>
                <a:ea typeface="Consolas" pitchFamily="34" charset="-122"/>
                <a:cs typeface="Consolas" pitchFamily="34" charset="-120"/>
              </a:rPr>
              <a:t>{</a:t>
            </a:r>
            <a:endParaRPr lang="en-US" sz="1350" dirty="0"/>
          </a:p>
          <a:p>
            <a:pPr indent="0" marL="0">
              <a:buNone/>
            </a:pPr>
            <a:r>
              <a:rPr lang="en-US" sz="1350" dirty="0">
                <a:solidFill>
                  <a:srgbClr val="E6E6E6"/>
                </a:solidFill>
                <a:latin typeface="Consolas" pitchFamily="34" charset="0"/>
                <a:ea typeface="Consolas" pitchFamily="34" charset="-122"/>
                <a:cs typeface="Consolas" pitchFamily="34" charset="-120"/>
              </a:rPr>
              <a:t>    None    = 0,</a:t>
            </a:r>
            <a:endParaRPr lang="en-US" sz="1350" dirty="0"/>
          </a:p>
          <a:p>
            <a:pPr indent="0" marL="0">
              <a:buNone/>
            </a:pPr>
            <a:r>
              <a:rPr lang="en-US" sz="1350" dirty="0">
                <a:solidFill>
                  <a:srgbClr val="E6E6E6"/>
                </a:solidFill>
                <a:latin typeface="Consolas" pitchFamily="34" charset="0"/>
                <a:ea typeface="Consolas" pitchFamily="34" charset="-122"/>
                <a:cs typeface="Consolas" pitchFamily="34" charset="-120"/>
              </a:rPr>
              <a:t>    Read    = 1,   // 0001</a:t>
            </a:r>
            <a:endParaRPr lang="en-US" sz="1350" dirty="0"/>
          </a:p>
          <a:p>
            <a:pPr indent="0" marL="0">
              <a:buNone/>
            </a:pPr>
            <a:r>
              <a:rPr lang="en-US" sz="1350" dirty="0">
                <a:solidFill>
                  <a:srgbClr val="E6E6E6"/>
                </a:solidFill>
                <a:latin typeface="Consolas" pitchFamily="34" charset="0"/>
                <a:ea typeface="Consolas" pitchFamily="34" charset="-122"/>
                <a:cs typeface="Consolas" pitchFamily="34" charset="-120"/>
              </a:rPr>
              <a:t>    Comment = 2,   // 0010</a:t>
            </a:r>
            <a:endParaRPr lang="en-US" sz="1350" dirty="0"/>
          </a:p>
          <a:p>
            <a:pPr indent="0" marL="0">
              <a:buNone/>
            </a:pPr>
            <a:r>
              <a:rPr lang="en-US" sz="1350" dirty="0">
                <a:solidFill>
                  <a:srgbClr val="E6E6E6"/>
                </a:solidFill>
                <a:latin typeface="Consolas" pitchFamily="34" charset="0"/>
                <a:ea typeface="Consolas" pitchFamily="34" charset="-122"/>
                <a:cs typeface="Consolas" pitchFamily="34" charset="-120"/>
              </a:rPr>
              <a:t>    Assign  = 4,   // 0100</a:t>
            </a:r>
            <a:endParaRPr lang="en-US" sz="1350" dirty="0"/>
          </a:p>
          <a:p>
            <a:pPr indent="0" marL="0">
              <a:buNone/>
            </a:pPr>
            <a:r>
              <a:rPr lang="en-US" sz="1350" dirty="0">
                <a:solidFill>
                  <a:srgbClr val="E6E6E6"/>
                </a:solidFill>
                <a:latin typeface="Consolas" pitchFamily="34" charset="0"/>
                <a:ea typeface="Consolas" pitchFamily="34" charset="-122"/>
                <a:cs typeface="Consolas" pitchFamily="34" charset="-120"/>
              </a:rPr>
              <a:t>    Close   = 8    // 1000</a:t>
            </a:r>
            <a:endParaRPr lang="en-US" sz="1350" dirty="0"/>
          </a:p>
          <a:p>
            <a:pPr indent="0" marL="0">
              <a:buNone/>
            </a:pPr>
            <a:r>
              <a:rPr lang="en-US" sz="1350" dirty="0">
                <a:solidFill>
                  <a:srgbClr val="E6E6E6"/>
                </a:solidFill>
                <a:latin typeface="Consolas" pitchFamily="34" charset="0"/>
                <a:ea typeface="Consolas" pitchFamily="34" charset="-122"/>
                <a:cs typeface="Consolas" pitchFamily="34" charset="-120"/>
              </a:rPr>
              <a:t>}</a:t>
            </a:r>
            <a:endParaRPr lang="en-US" sz="1350" dirty="0"/>
          </a:p>
          <a:p>
            <a:pPr indent="0" marL="0">
              <a:buNone/>
            </a:pPr>
            <a:r>
              <a:rPr lang="en-US" sz="1350" dirty="0">
                <a:solidFill>
                  <a:srgbClr val="E6E6E6"/>
                </a:solidFill>
                <a:latin typeface="Consolas" pitchFamily="34" charset="0"/>
                <a:ea typeface="Consolas" pitchFamily="34" charset="-122"/>
                <a:cs typeface="Consolas" pitchFamily="34" charset="-120"/>
              </a:rPr>
              <a:t> </a:t>
            </a:r>
            <a:endParaRPr lang="en-US" sz="1350" dirty="0"/>
          </a:p>
          <a:p>
            <a:pPr indent="0" marL="0">
              <a:buNone/>
            </a:pPr>
            <a:r>
              <a:rPr lang="en-US" sz="1350" b="1" dirty="0">
                <a:solidFill>
                  <a:srgbClr val="FFA94D"/>
                </a:solidFill>
                <a:latin typeface="Consolas" pitchFamily="34" charset="0"/>
                <a:ea typeface="Consolas" pitchFamily="34" charset="-122"/>
                <a:cs typeface="Consolas" pitchFamily="34" charset="-120"/>
              </a:rPr>
              <a:t>var analyste = Permission.Read</a:t>
            </a:r>
            <a:endParaRPr lang="en-US" sz="1350" dirty="0"/>
          </a:p>
          <a:p>
            <a:pPr indent="0" marL="0">
              <a:buNone/>
            </a:pPr>
            <a:r>
              <a:rPr lang="en-US" sz="1350" b="1" dirty="0">
                <a:solidFill>
                  <a:srgbClr val="FFA94D"/>
                </a:solidFill>
                <a:latin typeface="Consolas" pitchFamily="34" charset="0"/>
                <a:ea typeface="Consolas" pitchFamily="34" charset="-122"/>
                <a:cs typeface="Consolas" pitchFamily="34" charset="-120"/>
              </a:rPr>
              <a:t>            | Permission.Comment | Permission.Assign;</a:t>
            </a:r>
            <a:endParaRPr lang="en-US" sz="1350" dirty="0"/>
          </a:p>
          <a:p>
            <a:pPr indent="0" marL="0">
              <a:buNone/>
            </a:pPr>
            <a:r>
              <a:rPr lang="en-US" sz="1350" dirty="0">
                <a:solidFill>
                  <a:srgbClr val="E6E6E6"/>
                </a:solidFill>
                <a:latin typeface="Consolas" pitchFamily="34" charset="0"/>
                <a:ea typeface="Consolas" pitchFamily="34" charset="-122"/>
                <a:cs typeface="Consolas" pitchFamily="34" charset="-120"/>
              </a:rPr>
              <a:t>analyste.HasFlag(Permission.Close)   // false</a:t>
            </a:r>
            <a:endParaRPr lang="en-US" sz="1350" dirty="0"/>
          </a:p>
        </p:txBody>
      </p:sp>
      <p:sp>
        <p:nvSpPr>
          <p:cNvPr id="10" name="Shape 7"/>
          <p:cNvSpPr/>
          <p:nvPr/>
        </p:nvSpPr>
        <p:spPr>
          <a:xfrm>
            <a:off x="7680960" y="1783080"/>
            <a:ext cx="868680" cy="1737360"/>
          </a:xfrm>
          <a:prstGeom prst="roundRect">
            <a:avLst>
              <a:gd name="adj" fmla="val 8421"/>
            </a:avLst>
          </a:prstGeom>
          <a:solidFill>
            <a:srgbClr val="E8590C"/>
          </a:solidFill>
          <a:ln w="12700">
            <a:solidFill>
              <a:srgbClr val="E8590C"/>
            </a:solidFill>
            <a:prstDash val="solid"/>
          </a:ln>
        </p:spPr>
      </p:sp>
      <p:sp>
        <p:nvSpPr>
          <p:cNvPr id="11" name="Text 8"/>
          <p:cNvSpPr txBox="1"/>
          <p:nvPr/>
        </p:nvSpPr>
        <p:spPr>
          <a:xfrm>
            <a:off x="7680960" y="1920240"/>
            <a:ext cx="86868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ON</a:t>
            </a:r>
            <a:endParaRPr lang="en-US" sz="1300" dirty="0"/>
          </a:p>
        </p:txBody>
      </p:sp>
      <p:sp>
        <p:nvSpPr>
          <p:cNvPr id="12" name="Text 9"/>
          <p:cNvSpPr txBox="1"/>
          <p:nvPr/>
        </p:nvSpPr>
        <p:spPr>
          <a:xfrm>
            <a:off x="7635240" y="3611880"/>
            <a:ext cx="960120" cy="365760"/>
          </a:xfrm>
          <a:prstGeom prst="rect">
            <a:avLst/>
          </a:prstGeom>
          <a:noFill/>
          <a:ln/>
        </p:spPr>
        <p:txBody>
          <a:bodyPr wrap="square" lIns="0" tIns="0" rIns="0" bIns="0" rtlCol="0" anchor="ctr"/>
          <a:lstStyle/>
          <a:p>
            <a:pPr algn="ctr" indent="0" marL="0">
              <a:buNone/>
            </a:pPr>
            <a:r>
              <a:rPr lang="en-US" sz="1200" b="1" dirty="0">
                <a:solidFill>
                  <a:srgbClr val="16181D"/>
                </a:solidFill>
                <a:latin typeface="Calibri" pitchFamily="34" charset="0"/>
                <a:ea typeface="Calibri" pitchFamily="34" charset="-122"/>
                <a:cs typeface="Calibri" pitchFamily="34" charset="-120"/>
              </a:rPr>
              <a:t>Read</a:t>
            </a:r>
            <a:endParaRPr lang="en-US" sz="1200" dirty="0"/>
          </a:p>
        </p:txBody>
      </p:sp>
      <p:sp>
        <p:nvSpPr>
          <p:cNvPr id="13" name="Shape 10"/>
          <p:cNvSpPr/>
          <p:nvPr/>
        </p:nvSpPr>
        <p:spPr>
          <a:xfrm>
            <a:off x="8659368" y="1783080"/>
            <a:ext cx="868680" cy="1737360"/>
          </a:xfrm>
          <a:prstGeom prst="roundRect">
            <a:avLst>
              <a:gd name="adj" fmla="val 8421"/>
            </a:avLst>
          </a:prstGeom>
          <a:solidFill>
            <a:srgbClr val="E8590C"/>
          </a:solidFill>
          <a:ln w="12700">
            <a:solidFill>
              <a:srgbClr val="E8590C"/>
            </a:solidFill>
            <a:prstDash val="solid"/>
          </a:ln>
        </p:spPr>
      </p:sp>
      <p:sp>
        <p:nvSpPr>
          <p:cNvPr id="14" name="Text 11"/>
          <p:cNvSpPr txBox="1"/>
          <p:nvPr/>
        </p:nvSpPr>
        <p:spPr>
          <a:xfrm>
            <a:off x="8659368" y="1920240"/>
            <a:ext cx="86868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ON</a:t>
            </a:r>
            <a:endParaRPr lang="en-US" sz="1300" dirty="0"/>
          </a:p>
        </p:txBody>
      </p:sp>
      <p:sp>
        <p:nvSpPr>
          <p:cNvPr id="15" name="Text 12"/>
          <p:cNvSpPr txBox="1"/>
          <p:nvPr/>
        </p:nvSpPr>
        <p:spPr>
          <a:xfrm>
            <a:off x="8613648" y="3611880"/>
            <a:ext cx="960120" cy="365760"/>
          </a:xfrm>
          <a:prstGeom prst="rect">
            <a:avLst/>
          </a:prstGeom>
          <a:noFill/>
          <a:ln/>
        </p:spPr>
        <p:txBody>
          <a:bodyPr wrap="square" lIns="0" tIns="0" rIns="0" bIns="0" rtlCol="0" anchor="ctr"/>
          <a:lstStyle/>
          <a:p>
            <a:pPr algn="ctr" indent="0" marL="0">
              <a:buNone/>
            </a:pPr>
            <a:r>
              <a:rPr lang="en-US" sz="1200" b="1" dirty="0">
                <a:solidFill>
                  <a:srgbClr val="16181D"/>
                </a:solidFill>
                <a:latin typeface="Calibri" pitchFamily="34" charset="0"/>
                <a:ea typeface="Calibri" pitchFamily="34" charset="-122"/>
                <a:cs typeface="Calibri" pitchFamily="34" charset="-120"/>
              </a:rPr>
              <a:t>Comment</a:t>
            </a:r>
            <a:endParaRPr lang="en-US" sz="1200" dirty="0"/>
          </a:p>
        </p:txBody>
      </p:sp>
      <p:sp>
        <p:nvSpPr>
          <p:cNvPr id="16" name="Shape 13"/>
          <p:cNvSpPr/>
          <p:nvPr/>
        </p:nvSpPr>
        <p:spPr>
          <a:xfrm>
            <a:off x="9637776" y="1783080"/>
            <a:ext cx="868680" cy="1737360"/>
          </a:xfrm>
          <a:prstGeom prst="roundRect">
            <a:avLst>
              <a:gd name="adj" fmla="val 8421"/>
            </a:avLst>
          </a:prstGeom>
          <a:solidFill>
            <a:srgbClr val="E8590C"/>
          </a:solidFill>
          <a:ln w="12700">
            <a:solidFill>
              <a:srgbClr val="E8590C"/>
            </a:solidFill>
            <a:prstDash val="solid"/>
          </a:ln>
        </p:spPr>
      </p:sp>
      <p:sp>
        <p:nvSpPr>
          <p:cNvPr id="17" name="Text 14"/>
          <p:cNvSpPr txBox="1"/>
          <p:nvPr/>
        </p:nvSpPr>
        <p:spPr>
          <a:xfrm>
            <a:off x="9637776" y="1920240"/>
            <a:ext cx="86868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ON</a:t>
            </a:r>
            <a:endParaRPr lang="en-US" sz="1300" dirty="0"/>
          </a:p>
        </p:txBody>
      </p:sp>
      <p:sp>
        <p:nvSpPr>
          <p:cNvPr id="18" name="Text 15"/>
          <p:cNvSpPr txBox="1"/>
          <p:nvPr/>
        </p:nvSpPr>
        <p:spPr>
          <a:xfrm>
            <a:off x="9592056" y="3611880"/>
            <a:ext cx="960120" cy="365760"/>
          </a:xfrm>
          <a:prstGeom prst="rect">
            <a:avLst/>
          </a:prstGeom>
          <a:noFill/>
          <a:ln/>
        </p:spPr>
        <p:txBody>
          <a:bodyPr wrap="square" lIns="0" tIns="0" rIns="0" bIns="0" rtlCol="0" anchor="ctr"/>
          <a:lstStyle/>
          <a:p>
            <a:pPr algn="ctr" indent="0" marL="0">
              <a:buNone/>
            </a:pPr>
            <a:r>
              <a:rPr lang="en-US" sz="1200" b="1" dirty="0">
                <a:solidFill>
                  <a:srgbClr val="16181D"/>
                </a:solidFill>
                <a:latin typeface="Calibri" pitchFamily="34" charset="0"/>
                <a:ea typeface="Calibri" pitchFamily="34" charset="-122"/>
                <a:cs typeface="Calibri" pitchFamily="34" charset="-120"/>
              </a:rPr>
              <a:t>Assign</a:t>
            </a:r>
            <a:endParaRPr lang="en-US" sz="1200" dirty="0"/>
          </a:p>
        </p:txBody>
      </p:sp>
      <p:sp>
        <p:nvSpPr>
          <p:cNvPr id="19" name="Shape 16"/>
          <p:cNvSpPr/>
          <p:nvPr/>
        </p:nvSpPr>
        <p:spPr>
          <a:xfrm>
            <a:off x="10616184" y="1783080"/>
            <a:ext cx="868680" cy="1737360"/>
          </a:xfrm>
          <a:prstGeom prst="roundRect">
            <a:avLst>
              <a:gd name="adj" fmla="val 8421"/>
            </a:avLst>
          </a:prstGeom>
          <a:solidFill>
            <a:srgbClr val="D9DCE1"/>
          </a:solidFill>
          <a:ln w="12700">
            <a:solidFill>
              <a:srgbClr val="D9DCE1"/>
            </a:solidFill>
            <a:prstDash val="solid"/>
          </a:ln>
        </p:spPr>
      </p:sp>
      <p:sp>
        <p:nvSpPr>
          <p:cNvPr id="20" name="Text 17"/>
          <p:cNvSpPr txBox="1"/>
          <p:nvPr/>
        </p:nvSpPr>
        <p:spPr>
          <a:xfrm>
            <a:off x="10616184" y="1920240"/>
            <a:ext cx="868680" cy="457200"/>
          </a:xfrm>
          <a:prstGeom prst="rect">
            <a:avLst/>
          </a:prstGeom>
          <a:noFill/>
          <a:ln/>
        </p:spPr>
        <p:txBody>
          <a:bodyPr wrap="square" lIns="0" tIns="0" rIns="0" bIns="0" rtlCol="0" anchor="ctr"/>
          <a:lstStyle/>
          <a:p>
            <a:pPr algn="ctr" indent="0" marL="0">
              <a:buNone/>
            </a:pPr>
            <a:r>
              <a:rPr lang="en-US" sz="1300" b="1" dirty="0">
                <a:solidFill>
                  <a:srgbClr val="5F6670"/>
                </a:solidFill>
                <a:latin typeface="Arial" pitchFamily="34" charset="0"/>
                <a:ea typeface="Arial" pitchFamily="34" charset="-122"/>
                <a:cs typeface="Arial" pitchFamily="34" charset="-120"/>
              </a:rPr>
              <a:t>OFF</a:t>
            </a:r>
            <a:endParaRPr lang="en-US" sz="1300" dirty="0"/>
          </a:p>
        </p:txBody>
      </p:sp>
      <p:sp>
        <p:nvSpPr>
          <p:cNvPr id="21" name="Text 18"/>
          <p:cNvSpPr txBox="1"/>
          <p:nvPr/>
        </p:nvSpPr>
        <p:spPr>
          <a:xfrm>
            <a:off x="10570464" y="3611880"/>
            <a:ext cx="960120" cy="365760"/>
          </a:xfrm>
          <a:prstGeom prst="rect">
            <a:avLst/>
          </a:prstGeom>
          <a:noFill/>
          <a:ln/>
        </p:spPr>
        <p:txBody>
          <a:bodyPr wrap="square" lIns="0" tIns="0" rIns="0" bIns="0" rtlCol="0" anchor="ctr"/>
          <a:lstStyle/>
          <a:p>
            <a:pPr algn="ctr" indent="0" marL="0">
              <a:buNone/>
            </a:pPr>
            <a:r>
              <a:rPr lang="en-US" sz="1200" b="1" dirty="0">
                <a:solidFill>
                  <a:srgbClr val="16181D"/>
                </a:solidFill>
                <a:latin typeface="Calibri" pitchFamily="34" charset="0"/>
                <a:ea typeface="Calibri" pitchFamily="34" charset="-122"/>
                <a:cs typeface="Calibri" pitchFamily="34" charset="-120"/>
              </a:rPr>
              <a:t>Close</a:t>
            </a:r>
            <a:endParaRPr lang="en-US" sz="1200" dirty="0"/>
          </a:p>
        </p:txBody>
      </p:sp>
      <p:sp>
        <p:nvSpPr>
          <p:cNvPr id="22" name="Text 19"/>
          <p:cNvSpPr txBox="1"/>
          <p:nvPr/>
        </p:nvSpPr>
        <p:spPr>
          <a:xfrm>
            <a:off x="7680960" y="4069080"/>
            <a:ext cx="3840480" cy="411480"/>
          </a:xfrm>
          <a:prstGeom prst="rect">
            <a:avLst/>
          </a:prstGeom>
          <a:noFill/>
          <a:ln/>
        </p:spPr>
        <p:txBody>
          <a:bodyPr wrap="square" lIns="0" tIns="0" rIns="0" bIns="0" rtlCol="0" anchor="ctr"/>
          <a:lstStyle/>
          <a:p>
            <a:pPr indent="0" marL="0">
              <a:buNone/>
            </a:pPr>
            <a:r>
              <a:rPr lang="en-US" sz="1500" b="1" dirty="0">
                <a:solidFill>
                  <a:srgbClr val="16181D"/>
                </a:solidFill>
                <a:latin typeface="Consolas" pitchFamily="34" charset="0"/>
                <a:ea typeface="Consolas" pitchFamily="34" charset="-122"/>
                <a:cs typeface="Consolas" pitchFamily="34" charset="-120"/>
              </a:rPr>
              <a:t>Analyste : 1 + 2 + 4 = 7</a:t>
            </a:r>
            <a:endParaRPr lang="en-US" sz="1500" dirty="0"/>
          </a:p>
        </p:txBody>
      </p:sp>
      <p:sp>
        <p:nvSpPr>
          <p:cNvPr id="23" name="Shape 20"/>
          <p:cNvSpPr/>
          <p:nvPr/>
        </p:nvSpPr>
        <p:spPr>
          <a:xfrm>
            <a:off x="7680960" y="4617720"/>
            <a:ext cx="3840480" cy="1325880"/>
          </a:xfrm>
          <a:prstGeom prst="roundRect">
            <a:avLst>
              <a:gd name="adj" fmla="val 5517"/>
            </a:avLst>
          </a:prstGeom>
          <a:solidFill>
            <a:srgbClr val="16181D"/>
          </a:solidFill>
          <a:ln w="12700">
            <a:solidFill>
              <a:srgbClr val="16181D"/>
            </a:solidFill>
            <a:prstDash val="solid"/>
          </a:ln>
        </p:spPr>
      </p:sp>
      <p:sp>
        <p:nvSpPr>
          <p:cNvPr id="24" name="Text 21"/>
          <p:cNvSpPr txBox="1"/>
          <p:nvPr/>
        </p:nvSpPr>
        <p:spPr>
          <a:xfrm>
            <a:off x="7863840" y="4663440"/>
            <a:ext cx="3474720" cy="12344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Sous Linux, chmod 7 = 4 (lecture) + 2 (écriture) + 1 (exécution) : le même principe.</a:t>
            </a:r>
            <a:endParaRPr lang="en-US" sz="1450" dirty="0"/>
          </a:p>
        </p:txBody>
      </p:sp>
      <p:sp>
        <p:nvSpPr>
          <p:cNvPr id="25" name="Text 22"/>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Microsoft Learn, « Types énumération : enum comme indicateurs binaires ([Flags]) ».</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2F3F5"/>
        </a:solidFill>
      </p:bgPr>
    </p:bg>
    <p:spTree>
      <p:nvGrpSpPr>
        <p:cNvPr id="1" name=""/>
        <p:cNvGrpSpPr/>
        <p:nvPr/>
      </p:nvGrpSpPr>
      <p:grpSpPr>
        <a:xfrm>
          <a:off x="0" y="0"/>
          <a:ext cx="0" cy="0"/>
          <a:chOff x="0" y="0"/>
          <a:chExt cx="0" cy="0"/>
        </a:xfrm>
      </p:grpSpPr>
      <p:sp>
        <p:nvSpPr>
          <p:cNvPr id="2" name="Text 0"/>
          <p:cNvSpPr txBox="1"/>
          <p:nvPr/>
        </p:nvSpPr>
        <p:spPr>
          <a:xfrm>
            <a:off x="640080" y="1463040"/>
            <a:ext cx="3657600" cy="457200"/>
          </a:xfrm>
          <a:prstGeom prst="rect">
            <a:avLst/>
          </a:prstGeom>
          <a:noFill/>
          <a:ln/>
        </p:spPr>
        <p:txBody>
          <a:bodyPr wrap="square" lIns="0" tIns="0" rIns="0" bIns="0" rtlCol="0" anchor="ctr"/>
          <a:lstStyle/>
          <a:p>
            <a:pPr indent="0" marL="0">
              <a:buNone/>
            </a:pPr>
            <a:r>
              <a:rPr lang="en-US" sz="1600" b="1" spc="400" kern="0" dirty="0">
                <a:solidFill>
                  <a:srgbClr val="E8590C"/>
                </a:solidFill>
                <a:latin typeface="Calibri" pitchFamily="34" charset="0"/>
                <a:ea typeface="Calibri" pitchFamily="34" charset="-122"/>
                <a:cs typeface="Calibri" pitchFamily="34" charset="-120"/>
              </a:rPr>
              <a:t>RIDER</a:t>
            </a:r>
            <a:endParaRPr lang="en-US" sz="1600" dirty="0"/>
          </a:p>
        </p:txBody>
      </p:sp>
      <p:sp>
        <p:nvSpPr>
          <p:cNvPr id="3" name="Shape 1"/>
          <p:cNvSpPr/>
          <p:nvPr/>
        </p:nvSpPr>
        <p:spPr>
          <a:xfrm>
            <a:off x="640080" y="2011680"/>
            <a:ext cx="10911535" cy="1005840"/>
          </a:xfrm>
          <a:prstGeom prst="roundRect">
            <a:avLst>
              <a:gd name="adj" fmla="val 7273"/>
            </a:avLst>
          </a:prstGeom>
          <a:solidFill>
            <a:srgbClr val="1E2127"/>
          </a:solidFill>
          <a:ln w="12700">
            <a:solidFill>
              <a:srgbClr val="1E2127"/>
            </a:solidFill>
            <a:prstDash val="solid"/>
          </a:ln>
        </p:spPr>
      </p:sp>
      <p:sp>
        <p:nvSpPr>
          <p:cNvPr id="4" name="Text 2"/>
          <p:cNvSpPr txBox="1"/>
          <p:nvPr/>
        </p:nvSpPr>
        <p:spPr>
          <a:xfrm>
            <a:off x="1005840" y="2011680"/>
            <a:ext cx="10180015" cy="1005840"/>
          </a:xfrm>
          <a:prstGeom prst="rect">
            <a:avLst/>
          </a:prstGeom>
          <a:noFill/>
          <a:ln/>
        </p:spPr>
        <p:txBody>
          <a:bodyPr wrap="square" lIns="0" tIns="0" rIns="0" bIns="0" rtlCol="0" anchor="ctr"/>
          <a:lstStyle/>
          <a:p>
            <a:pPr indent="0" marL="0">
              <a:buNone/>
            </a:pPr>
            <a:r>
              <a:rPr lang="en-US" sz="2800" dirty="0">
                <a:solidFill>
                  <a:srgbClr val="E6E6E6"/>
                </a:solidFill>
                <a:latin typeface="Consolas" pitchFamily="34" charset="0"/>
                <a:ea typeface="Consolas" pitchFamily="34" charset="-122"/>
                <a:cs typeface="Consolas" pitchFamily="34" charset="-120"/>
              </a:rPr>
              <a:t>git checkout s03-etape7-flags</a:t>
            </a:r>
            <a:endParaRPr lang="en-US" sz="2800" dirty="0"/>
          </a:p>
        </p:txBody>
      </p:sp>
      <p:sp>
        <p:nvSpPr>
          <p:cNvPr id="5" name="Text 3"/>
          <p:cNvSpPr txBox="1"/>
          <p:nvPr/>
        </p:nvSpPr>
        <p:spPr>
          <a:xfrm>
            <a:off x="640080" y="3291840"/>
            <a:ext cx="10911535" cy="731520"/>
          </a:xfrm>
          <a:prstGeom prst="rect">
            <a:avLst/>
          </a:prstGeom>
          <a:noFill/>
          <a:ln/>
        </p:spPr>
        <p:txBody>
          <a:bodyPr wrap="square" lIns="0" tIns="0" rIns="0" bIns="0" rtlCol="0" anchor="t"/>
          <a:lstStyle/>
          <a:p>
            <a:pPr indent="0" marL="0">
              <a:buNone/>
            </a:pPr>
            <a:r>
              <a:rPr lang="en-US" sz="2400" b="1" dirty="0">
                <a:solidFill>
                  <a:srgbClr val="16181D"/>
                </a:solidFill>
                <a:latin typeface="Arial" pitchFamily="34" charset="0"/>
                <a:ea typeface="Arial" pitchFamily="34" charset="-122"/>
                <a:cs typeface="Arial" pitchFamily="34" charset="-120"/>
              </a:rPr>
              <a:t>[Flags], en vrai</a:t>
            </a:r>
            <a:endParaRPr lang="en-US" sz="2400" dirty="0"/>
          </a:p>
        </p:txBody>
      </p:sp>
      <p:sp>
        <p:nvSpPr>
          <p:cNvPr id="6" name="Text 4"/>
          <p:cNvSpPr txBox="1"/>
          <p:nvPr/>
        </p:nvSpPr>
        <p:spPr>
          <a:xfrm>
            <a:off x="640080" y="4114800"/>
            <a:ext cx="4572000" cy="365760"/>
          </a:xfrm>
          <a:prstGeom prst="rect">
            <a:avLst/>
          </a:prstGeom>
          <a:noFill/>
          <a:ln/>
        </p:spPr>
        <p:txBody>
          <a:bodyPr wrap="square" lIns="0" tIns="0" rIns="0" bIns="0" rtlCol="0" anchor="ctr"/>
          <a:lstStyle/>
          <a:p>
            <a:pPr indent="0" marL="0">
              <a:buNone/>
            </a:pPr>
            <a:r>
              <a:rPr lang="en-US" sz="1300" b="1" spc="200" kern="0" dirty="0">
                <a:solidFill>
                  <a:srgbClr val="5F6670"/>
                </a:solidFill>
                <a:latin typeface="Calibri" pitchFamily="34" charset="0"/>
                <a:ea typeface="Calibri" pitchFamily="34" charset="-122"/>
                <a:cs typeface="Calibri" pitchFamily="34" charset="-120"/>
              </a:rPr>
              <a:t>CE QU'ON REGARDE</a:t>
            </a:r>
            <a:endParaRPr lang="en-US" sz="1300" dirty="0"/>
          </a:p>
        </p:txBody>
      </p:sp>
      <p:sp>
        <p:nvSpPr>
          <p:cNvPr id="7" name="Text 5"/>
          <p:cNvSpPr txBox="1"/>
          <p:nvPr/>
        </p:nvSpPr>
        <p:spPr>
          <a:xfrm>
            <a:off x="640080" y="4526280"/>
            <a:ext cx="10911535" cy="164592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Chaque rôle reçoit ses permissions : Reporter, Analyst, Manager</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Combiner avec |, tester avec HasFlag et avec &amp;</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La valeur numérique (7) et le texte (« Read, Comment, Assign »)</a:t>
            </a:r>
            <a:endParaRPr lang="en-US" sz="1800" dirty="0"/>
          </a:p>
        </p:txBody>
      </p:sp>
      <p:sp>
        <p:nvSpPr>
          <p:cNvPr id="8" name="Text 6"/>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36</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EXERCICE · 15 MINUTES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Prédisez ce qu'affiche chaque programme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S3</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37</a:t>
            </a:r>
            <a:endParaRPr lang="en-US" sz="1000" dirty="0"/>
          </a:p>
        </p:txBody>
      </p:sp>
      <p:sp>
        <p:nvSpPr>
          <p:cNvPr id="8" name="Shape 5"/>
          <p:cNvSpPr/>
          <p:nvPr/>
        </p:nvSpPr>
        <p:spPr>
          <a:xfrm>
            <a:off x="640080" y="1783080"/>
            <a:ext cx="3474720" cy="1828800"/>
          </a:xfrm>
          <a:prstGeom prst="roundRect">
            <a:avLst>
              <a:gd name="adj" fmla="val 4000"/>
            </a:avLst>
          </a:prstGeom>
          <a:solidFill>
            <a:srgbClr val="1E2127"/>
          </a:solidFill>
          <a:ln w="12700">
            <a:solidFill>
              <a:srgbClr val="1E2127"/>
            </a:solidFill>
            <a:prstDash val="solid"/>
          </a:ln>
        </p:spPr>
      </p:sp>
      <p:sp>
        <p:nvSpPr>
          <p:cNvPr id="9" name="Text 6"/>
          <p:cNvSpPr txBox="1"/>
          <p:nvPr/>
        </p:nvSpPr>
        <p:spPr>
          <a:xfrm>
            <a:off x="822960" y="1892808"/>
            <a:ext cx="457200" cy="411480"/>
          </a:xfrm>
          <a:prstGeom prst="rect">
            <a:avLst/>
          </a:prstGeom>
          <a:noFill/>
          <a:ln/>
        </p:spPr>
        <p:txBody>
          <a:bodyPr wrap="square" lIns="0" tIns="0" rIns="0" bIns="0" rtlCol="0" anchor="ctr"/>
          <a:lstStyle/>
          <a:p>
            <a:pPr indent="0" marL="0">
              <a:buNone/>
            </a:pPr>
            <a:r>
              <a:rPr lang="en-US" sz="2000" b="1" dirty="0">
                <a:solidFill>
                  <a:srgbClr val="E8590C"/>
                </a:solidFill>
                <a:latin typeface="Arial" pitchFamily="34" charset="0"/>
                <a:ea typeface="Arial" pitchFamily="34" charset="-122"/>
                <a:cs typeface="Arial" pitchFamily="34" charset="-120"/>
              </a:rPr>
              <a:t>1</a:t>
            </a:r>
            <a:endParaRPr lang="en-US" sz="2000" dirty="0"/>
          </a:p>
        </p:txBody>
      </p:sp>
      <p:sp>
        <p:nvSpPr>
          <p:cNvPr id="10" name="Text 7"/>
          <p:cNvSpPr txBox="1"/>
          <p:nvPr/>
        </p:nvSpPr>
        <p:spPr>
          <a:xfrm>
            <a:off x="868680" y="2286000"/>
            <a:ext cx="3108960" cy="1234440"/>
          </a:xfrm>
          <a:prstGeom prst="rect">
            <a:avLst/>
          </a:prstGeom>
          <a:noFill/>
          <a:ln/>
        </p:spPr>
        <p:txBody>
          <a:bodyPr wrap="square" lIns="0" tIns="0" rIns="0" bIns="0" rtlCol="0" anchor="t"/>
          <a:lstStyle/>
          <a:p>
            <a:pPr indent="0" marL="0">
              <a:buNone/>
            </a:pPr>
            <a:r>
              <a:rPr lang="en-US" sz="1250" dirty="0">
                <a:solidFill>
                  <a:srgbClr val="E6E6E6"/>
                </a:solidFill>
                <a:latin typeface="Consolas" pitchFamily="34" charset="0"/>
                <a:ea typeface="Consolas" pitchFamily="34" charset="-122"/>
                <a:cs typeface="Consolas" pitchFamily="34" charset="-120"/>
              </a:rPr>
              <a:t>int a = 5;</a:t>
            </a:r>
            <a:endParaRPr lang="en-US" sz="1250" dirty="0"/>
          </a:p>
          <a:p>
            <a:pPr indent="0" marL="0">
              <a:buNone/>
            </a:pPr>
            <a:r>
              <a:rPr lang="en-US" sz="1250" dirty="0">
                <a:solidFill>
                  <a:srgbClr val="E6E6E6"/>
                </a:solidFill>
                <a:latin typeface="Consolas" pitchFamily="34" charset="0"/>
                <a:ea typeface="Consolas" pitchFamily="34" charset="-122"/>
                <a:cs typeface="Consolas" pitchFamily="34" charset="-120"/>
              </a:rPr>
              <a:t>int b = a;</a:t>
            </a:r>
            <a:endParaRPr lang="en-US" sz="1250" dirty="0"/>
          </a:p>
          <a:p>
            <a:pPr indent="0" marL="0">
              <a:buNone/>
            </a:pPr>
            <a:r>
              <a:rPr lang="en-US" sz="1250" dirty="0">
                <a:solidFill>
                  <a:srgbClr val="E6E6E6"/>
                </a:solidFill>
                <a:latin typeface="Consolas" pitchFamily="34" charset="0"/>
                <a:ea typeface="Consolas" pitchFamily="34" charset="-122"/>
                <a:cs typeface="Consolas" pitchFamily="34" charset="-120"/>
              </a:rPr>
              <a:t>b++;</a:t>
            </a:r>
            <a:endParaRPr lang="en-US" sz="1250" dirty="0"/>
          </a:p>
          <a:p>
            <a:pPr indent="0" marL="0">
              <a:buNone/>
            </a:pPr>
            <a:r>
              <a:rPr lang="en-US" sz="1250" dirty="0">
                <a:solidFill>
                  <a:srgbClr val="E6E6E6"/>
                </a:solidFill>
                <a:latin typeface="Consolas" pitchFamily="34" charset="0"/>
                <a:ea typeface="Consolas" pitchFamily="34" charset="-122"/>
                <a:cs typeface="Consolas" pitchFamily="34" charset="-120"/>
              </a:rPr>
              <a:t>Console.WriteLine(a);</a:t>
            </a:r>
            <a:endParaRPr lang="en-US" sz="1250" dirty="0"/>
          </a:p>
        </p:txBody>
      </p:sp>
      <p:sp>
        <p:nvSpPr>
          <p:cNvPr id="11" name="Shape 8"/>
          <p:cNvSpPr/>
          <p:nvPr/>
        </p:nvSpPr>
        <p:spPr>
          <a:xfrm>
            <a:off x="4343400" y="1783080"/>
            <a:ext cx="3474720" cy="1828800"/>
          </a:xfrm>
          <a:prstGeom prst="roundRect">
            <a:avLst>
              <a:gd name="adj" fmla="val 4000"/>
            </a:avLst>
          </a:prstGeom>
          <a:solidFill>
            <a:srgbClr val="1E2127"/>
          </a:solidFill>
          <a:ln w="12700">
            <a:solidFill>
              <a:srgbClr val="1E2127"/>
            </a:solidFill>
            <a:prstDash val="solid"/>
          </a:ln>
        </p:spPr>
      </p:sp>
      <p:sp>
        <p:nvSpPr>
          <p:cNvPr id="12" name="Text 9"/>
          <p:cNvSpPr txBox="1"/>
          <p:nvPr/>
        </p:nvSpPr>
        <p:spPr>
          <a:xfrm>
            <a:off x="4526280" y="1892808"/>
            <a:ext cx="457200" cy="411480"/>
          </a:xfrm>
          <a:prstGeom prst="rect">
            <a:avLst/>
          </a:prstGeom>
          <a:noFill/>
          <a:ln/>
        </p:spPr>
        <p:txBody>
          <a:bodyPr wrap="square" lIns="0" tIns="0" rIns="0" bIns="0" rtlCol="0" anchor="ctr"/>
          <a:lstStyle/>
          <a:p>
            <a:pPr indent="0" marL="0">
              <a:buNone/>
            </a:pPr>
            <a:r>
              <a:rPr lang="en-US" sz="2000" b="1" dirty="0">
                <a:solidFill>
                  <a:srgbClr val="E8590C"/>
                </a:solidFill>
                <a:latin typeface="Arial" pitchFamily="34" charset="0"/>
                <a:ea typeface="Arial" pitchFamily="34" charset="-122"/>
                <a:cs typeface="Arial" pitchFamily="34" charset="-120"/>
              </a:rPr>
              <a:t>2</a:t>
            </a:r>
            <a:endParaRPr lang="en-US" sz="2000" dirty="0"/>
          </a:p>
        </p:txBody>
      </p:sp>
      <p:sp>
        <p:nvSpPr>
          <p:cNvPr id="13" name="Text 10"/>
          <p:cNvSpPr txBox="1"/>
          <p:nvPr/>
        </p:nvSpPr>
        <p:spPr>
          <a:xfrm>
            <a:off x="4572000" y="2286000"/>
            <a:ext cx="3108960" cy="1234440"/>
          </a:xfrm>
          <a:prstGeom prst="rect">
            <a:avLst/>
          </a:prstGeom>
          <a:noFill/>
          <a:ln/>
        </p:spPr>
        <p:txBody>
          <a:bodyPr wrap="square" lIns="0" tIns="0" rIns="0" bIns="0" rtlCol="0" anchor="t"/>
          <a:lstStyle/>
          <a:p>
            <a:pPr indent="0" marL="0">
              <a:buNone/>
            </a:pPr>
            <a:r>
              <a:rPr lang="en-US" sz="1250" dirty="0">
                <a:solidFill>
                  <a:srgbClr val="E6E6E6"/>
                </a:solidFill>
                <a:latin typeface="Consolas" pitchFamily="34" charset="0"/>
                <a:ea typeface="Consolas" pitchFamily="34" charset="-122"/>
                <a:cs typeface="Consolas" pitchFamily="34" charset="-120"/>
              </a:rPr>
              <a:t>byte x = 255;</a:t>
            </a:r>
            <a:endParaRPr lang="en-US" sz="1250" dirty="0"/>
          </a:p>
          <a:p>
            <a:pPr indent="0" marL="0">
              <a:buNone/>
            </a:pPr>
            <a:r>
              <a:rPr lang="en-US" sz="1250" dirty="0">
                <a:solidFill>
                  <a:srgbClr val="E6E6E6"/>
                </a:solidFill>
                <a:latin typeface="Consolas" pitchFamily="34" charset="0"/>
                <a:ea typeface="Consolas" pitchFamily="34" charset="-122"/>
                <a:cs typeface="Consolas" pitchFamily="34" charset="-120"/>
              </a:rPr>
              <a:t>x++;</a:t>
            </a:r>
            <a:endParaRPr lang="en-US" sz="1250" dirty="0"/>
          </a:p>
          <a:p>
            <a:pPr indent="0" marL="0">
              <a:buNone/>
            </a:pPr>
            <a:r>
              <a:rPr lang="en-US" sz="1250" dirty="0">
                <a:solidFill>
                  <a:srgbClr val="E6E6E6"/>
                </a:solidFill>
                <a:latin typeface="Consolas" pitchFamily="34" charset="0"/>
                <a:ea typeface="Consolas" pitchFamily="34" charset="-122"/>
                <a:cs typeface="Consolas" pitchFamily="34" charset="-120"/>
              </a:rPr>
              <a:t>Console.WriteLine(x);</a:t>
            </a:r>
            <a:endParaRPr lang="en-US" sz="1250" dirty="0"/>
          </a:p>
        </p:txBody>
      </p:sp>
      <p:sp>
        <p:nvSpPr>
          <p:cNvPr id="14" name="Shape 11"/>
          <p:cNvSpPr/>
          <p:nvPr/>
        </p:nvSpPr>
        <p:spPr>
          <a:xfrm>
            <a:off x="8046720" y="1783080"/>
            <a:ext cx="3474720" cy="1828800"/>
          </a:xfrm>
          <a:prstGeom prst="roundRect">
            <a:avLst>
              <a:gd name="adj" fmla="val 4000"/>
            </a:avLst>
          </a:prstGeom>
          <a:solidFill>
            <a:srgbClr val="1E2127"/>
          </a:solidFill>
          <a:ln w="12700">
            <a:solidFill>
              <a:srgbClr val="1E2127"/>
            </a:solidFill>
            <a:prstDash val="solid"/>
          </a:ln>
        </p:spPr>
      </p:sp>
      <p:sp>
        <p:nvSpPr>
          <p:cNvPr id="15" name="Text 12"/>
          <p:cNvSpPr txBox="1"/>
          <p:nvPr/>
        </p:nvSpPr>
        <p:spPr>
          <a:xfrm>
            <a:off x="8229600" y="1892808"/>
            <a:ext cx="457200" cy="411480"/>
          </a:xfrm>
          <a:prstGeom prst="rect">
            <a:avLst/>
          </a:prstGeom>
          <a:noFill/>
          <a:ln/>
        </p:spPr>
        <p:txBody>
          <a:bodyPr wrap="square" lIns="0" tIns="0" rIns="0" bIns="0" rtlCol="0" anchor="ctr"/>
          <a:lstStyle/>
          <a:p>
            <a:pPr indent="0" marL="0">
              <a:buNone/>
            </a:pPr>
            <a:r>
              <a:rPr lang="en-US" sz="2000" b="1" dirty="0">
                <a:solidFill>
                  <a:srgbClr val="E8590C"/>
                </a:solidFill>
                <a:latin typeface="Arial" pitchFamily="34" charset="0"/>
                <a:ea typeface="Arial" pitchFamily="34" charset="-122"/>
                <a:cs typeface="Arial" pitchFamily="34" charset="-120"/>
              </a:rPr>
              <a:t>3</a:t>
            </a:r>
            <a:endParaRPr lang="en-US" sz="2000" dirty="0"/>
          </a:p>
        </p:txBody>
      </p:sp>
      <p:sp>
        <p:nvSpPr>
          <p:cNvPr id="16" name="Text 13"/>
          <p:cNvSpPr txBox="1"/>
          <p:nvPr/>
        </p:nvSpPr>
        <p:spPr>
          <a:xfrm>
            <a:off x="8275320" y="2286000"/>
            <a:ext cx="3108960" cy="1234440"/>
          </a:xfrm>
          <a:prstGeom prst="rect">
            <a:avLst/>
          </a:prstGeom>
          <a:noFill/>
          <a:ln/>
        </p:spPr>
        <p:txBody>
          <a:bodyPr wrap="square" lIns="0" tIns="0" rIns="0" bIns="0" rtlCol="0" anchor="t"/>
          <a:lstStyle/>
          <a:p>
            <a:pPr indent="0" marL="0">
              <a:buNone/>
            </a:pPr>
            <a:r>
              <a:rPr lang="en-US" sz="1250" dirty="0">
                <a:solidFill>
                  <a:srgbClr val="E6E6E6"/>
                </a:solidFill>
                <a:latin typeface="Consolas" pitchFamily="34" charset="0"/>
                <a:ea typeface="Consolas" pitchFamily="34" charset="-122"/>
                <a:cs typeface="Consolas" pitchFamily="34" charset="-120"/>
              </a:rPr>
              <a:t>Console.WriteLine(</a:t>
            </a:r>
            <a:endParaRPr lang="en-US" sz="1250" dirty="0"/>
          </a:p>
          <a:p>
            <a:pPr indent="0" marL="0">
              <a:buNone/>
            </a:pPr>
            <a:r>
              <a:rPr lang="en-US" sz="1250" dirty="0">
                <a:solidFill>
                  <a:srgbClr val="E6E6E6"/>
                </a:solidFill>
                <a:latin typeface="Consolas" pitchFamily="34" charset="0"/>
                <a:ea typeface="Consolas" pitchFamily="34" charset="-122"/>
                <a:cs typeface="Consolas" pitchFamily="34" charset="-120"/>
              </a:rPr>
              <a:t>    0.1 + 0.2 == 0.3);</a:t>
            </a:r>
            <a:endParaRPr lang="en-US" sz="1250" dirty="0"/>
          </a:p>
        </p:txBody>
      </p:sp>
      <p:sp>
        <p:nvSpPr>
          <p:cNvPr id="17" name="Shape 14"/>
          <p:cNvSpPr/>
          <p:nvPr/>
        </p:nvSpPr>
        <p:spPr>
          <a:xfrm>
            <a:off x="640080" y="3794760"/>
            <a:ext cx="3474720" cy="1828800"/>
          </a:xfrm>
          <a:prstGeom prst="roundRect">
            <a:avLst>
              <a:gd name="adj" fmla="val 4000"/>
            </a:avLst>
          </a:prstGeom>
          <a:solidFill>
            <a:srgbClr val="1E2127"/>
          </a:solidFill>
          <a:ln w="12700">
            <a:solidFill>
              <a:srgbClr val="1E2127"/>
            </a:solidFill>
            <a:prstDash val="solid"/>
          </a:ln>
        </p:spPr>
      </p:sp>
      <p:sp>
        <p:nvSpPr>
          <p:cNvPr id="18" name="Text 15"/>
          <p:cNvSpPr txBox="1"/>
          <p:nvPr/>
        </p:nvSpPr>
        <p:spPr>
          <a:xfrm>
            <a:off x="822960" y="3904488"/>
            <a:ext cx="457200" cy="411480"/>
          </a:xfrm>
          <a:prstGeom prst="rect">
            <a:avLst/>
          </a:prstGeom>
          <a:noFill/>
          <a:ln/>
        </p:spPr>
        <p:txBody>
          <a:bodyPr wrap="square" lIns="0" tIns="0" rIns="0" bIns="0" rtlCol="0" anchor="ctr"/>
          <a:lstStyle/>
          <a:p>
            <a:pPr indent="0" marL="0">
              <a:buNone/>
            </a:pPr>
            <a:r>
              <a:rPr lang="en-US" sz="2000" b="1" dirty="0">
                <a:solidFill>
                  <a:srgbClr val="E8590C"/>
                </a:solidFill>
                <a:latin typeface="Arial" pitchFamily="34" charset="0"/>
                <a:ea typeface="Arial" pitchFamily="34" charset="-122"/>
                <a:cs typeface="Arial" pitchFamily="34" charset="-120"/>
              </a:rPr>
              <a:t>4</a:t>
            </a:r>
            <a:endParaRPr lang="en-US" sz="2000" dirty="0"/>
          </a:p>
        </p:txBody>
      </p:sp>
      <p:sp>
        <p:nvSpPr>
          <p:cNvPr id="19" name="Text 16"/>
          <p:cNvSpPr txBox="1"/>
          <p:nvPr/>
        </p:nvSpPr>
        <p:spPr>
          <a:xfrm>
            <a:off x="868680" y="4297680"/>
            <a:ext cx="3108960" cy="1234440"/>
          </a:xfrm>
          <a:prstGeom prst="rect">
            <a:avLst/>
          </a:prstGeom>
          <a:noFill/>
          <a:ln/>
        </p:spPr>
        <p:txBody>
          <a:bodyPr wrap="square" lIns="0" tIns="0" rIns="0" bIns="0" rtlCol="0" anchor="t"/>
          <a:lstStyle/>
          <a:p>
            <a:pPr indent="0" marL="0">
              <a:buNone/>
            </a:pPr>
            <a:r>
              <a:rPr lang="en-US" sz="1250" dirty="0">
                <a:solidFill>
                  <a:srgbClr val="E6E6E6"/>
                </a:solidFill>
                <a:latin typeface="Consolas" pitchFamily="34" charset="0"/>
                <a:ea typeface="Consolas" pitchFamily="34" charset="-122"/>
                <a:cs typeface="Consolas" pitchFamily="34" charset="-120"/>
              </a:rPr>
              <a:t>string t = "  ok  ";</a:t>
            </a:r>
            <a:endParaRPr lang="en-US" sz="1250" dirty="0"/>
          </a:p>
          <a:p>
            <a:pPr indent="0" marL="0">
              <a:buNone/>
            </a:pPr>
            <a:r>
              <a:rPr lang="en-US" sz="1250" dirty="0">
                <a:solidFill>
                  <a:srgbClr val="E6E6E6"/>
                </a:solidFill>
                <a:latin typeface="Consolas" pitchFamily="34" charset="0"/>
                <a:ea typeface="Consolas" pitchFamily="34" charset="-122"/>
                <a:cs typeface="Consolas" pitchFamily="34" charset="-120"/>
              </a:rPr>
              <a:t>t.Trim();</a:t>
            </a:r>
            <a:endParaRPr lang="en-US" sz="1250" dirty="0"/>
          </a:p>
          <a:p>
            <a:pPr indent="0" marL="0">
              <a:buNone/>
            </a:pPr>
            <a:r>
              <a:rPr lang="en-US" sz="1250" dirty="0">
                <a:solidFill>
                  <a:srgbClr val="E6E6E6"/>
                </a:solidFill>
                <a:latin typeface="Consolas" pitchFamily="34" charset="0"/>
                <a:ea typeface="Consolas" pitchFamily="34" charset="-122"/>
                <a:cs typeface="Consolas" pitchFamily="34" charset="-120"/>
              </a:rPr>
              <a:t>Console.WriteLine($"[{t}]");</a:t>
            </a:r>
            <a:endParaRPr lang="en-US" sz="1250" dirty="0"/>
          </a:p>
        </p:txBody>
      </p:sp>
      <p:sp>
        <p:nvSpPr>
          <p:cNvPr id="20" name="Shape 17"/>
          <p:cNvSpPr/>
          <p:nvPr/>
        </p:nvSpPr>
        <p:spPr>
          <a:xfrm>
            <a:off x="4343400" y="3794760"/>
            <a:ext cx="3474720" cy="1828800"/>
          </a:xfrm>
          <a:prstGeom prst="roundRect">
            <a:avLst>
              <a:gd name="adj" fmla="val 4000"/>
            </a:avLst>
          </a:prstGeom>
          <a:solidFill>
            <a:srgbClr val="1E2127"/>
          </a:solidFill>
          <a:ln w="12700">
            <a:solidFill>
              <a:srgbClr val="1E2127"/>
            </a:solidFill>
            <a:prstDash val="solid"/>
          </a:ln>
        </p:spPr>
      </p:sp>
      <p:sp>
        <p:nvSpPr>
          <p:cNvPr id="21" name="Text 18"/>
          <p:cNvSpPr txBox="1"/>
          <p:nvPr/>
        </p:nvSpPr>
        <p:spPr>
          <a:xfrm>
            <a:off x="4526280" y="3904488"/>
            <a:ext cx="457200" cy="411480"/>
          </a:xfrm>
          <a:prstGeom prst="rect">
            <a:avLst/>
          </a:prstGeom>
          <a:noFill/>
          <a:ln/>
        </p:spPr>
        <p:txBody>
          <a:bodyPr wrap="square" lIns="0" tIns="0" rIns="0" bIns="0" rtlCol="0" anchor="ctr"/>
          <a:lstStyle/>
          <a:p>
            <a:pPr indent="0" marL="0">
              <a:buNone/>
            </a:pPr>
            <a:r>
              <a:rPr lang="en-US" sz="2000" b="1" dirty="0">
                <a:solidFill>
                  <a:srgbClr val="E8590C"/>
                </a:solidFill>
                <a:latin typeface="Arial" pitchFamily="34" charset="0"/>
                <a:ea typeface="Arial" pitchFamily="34" charset="-122"/>
                <a:cs typeface="Arial" pitchFamily="34" charset="-120"/>
              </a:rPr>
              <a:t>5</a:t>
            </a:r>
            <a:endParaRPr lang="en-US" sz="2000" dirty="0"/>
          </a:p>
        </p:txBody>
      </p:sp>
      <p:sp>
        <p:nvSpPr>
          <p:cNvPr id="22" name="Text 19"/>
          <p:cNvSpPr txBox="1"/>
          <p:nvPr/>
        </p:nvSpPr>
        <p:spPr>
          <a:xfrm>
            <a:off x="4572000" y="4297680"/>
            <a:ext cx="3108960" cy="1234440"/>
          </a:xfrm>
          <a:prstGeom prst="rect">
            <a:avLst/>
          </a:prstGeom>
          <a:noFill/>
          <a:ln/>
        </p:spPr>
        <p:txBody>
          <a:bodyPr wrap="square" lIns="0" tIns="0" rIns="0" bIns="0" rtlCol="0" anchor="t"/>
          <a:lstStyle/>
          <a:p>
            <a:pPr indent="0" marL="0">
              <a:buNone/>
            </a:pPr>
            <a:r>
              <a:rPr lang="en-US" sz="1250" dirty="0">
                <a:solidFill>
                  <a:srgbClr val="E6E6E6"/>
                </a:solidFill>
                <a:latin typeface="Consolas" pitchFamily="34" charset="0"/>
                <a:ea typeface="Consolas" pitchFamily="34" charset="-122"/>
                <a:cs typeface="Consolas" pitchFamily="34" charset="-120"/>
              </a:rPr>
              <a:t>Analyst? a = null;</a:t>
            </a:r>
            <a:endParaRPr lang="en-US" sz="1250" dirty="0"/>
          </a:p>
          <a:p>
            <a:pPr indent="0" marL="0">
              <a:buNone/>
            </a:pPr>
            <a:r>
              <a:rPr lang="en-US" sz="1250" dirty="0">
                <a:solidFill>
                  <a:srgbClr val="E6E6E6"/>
                </a:solidFill>
                <a:latin typeface="Consolas" pitchFamily="34" charset="0"/>
                <a:ea typeface="Consolas" pitchFamily="34" charset="-122"/>
                <a:cs typeface="Consolas" pitchFamily="34" charset="-120"/>
              </a:rPr>
              <a:t>Console.WriteLine(</a:t>
            </a:r>
            <a:endParaRPr lang="en-US" sz="1250" dirty="0"/>
          </a:p>
          <a:p>
            <a:pPr indent="0" marL="0">
              <a:buNone/>
            </a:pPr>
            <a:r>
              <a:rPr lang="en-US" sz="1250" dirty="0">
                <a:solidFill>
                  <a:srgbClr val="E6E6E6"/>
                </a:solidFill>
                <a:latin typeface="Consolas" pitchFamily="34" charset="0"/>
                <a:ea typeface="Consolas" pitchFamily="34" charset="-122"/>
                <a:cs typeface="Consolas" pitchFamily="34" charset="-120"/>
              </a:rPr>
              <a:t>    a?.Name ?? "personne");</a:t>
            </a:r>
            <a:endParaRPr lang="en-US" sz="1250" dirty="0"/>
          </a:p>
        </p:txBody>
      </p:sp>
      <p:sp>
        <p:nvSpPr>
          <p:cNvPr id="23" name="Shape 20"/>
          <p:cNvSpPr/>
          <p:nvPr/>
        </p:nvSpPr>
        <p:spPr>
          <a:xfrm>
            <a:off x="8046720" y="3794760"/>
            <a:ext cx="3474720" cy="1828800"/>
          </a:xfrm>
          <a:prstGeom prst="roundRect">
            <a:avLst>
              <a:gd name="adj" fmla="val 4000"/>
            </a:avLst>
          </a:prstGeom>
          <a:solidFill>
            <a:srgbClr val="1E2127"/>
          </a:solidFill>
          <a:ln w="12700">
            <a:solidFill>
              <a:srgbClr val="1E2127"/>
            </a:solidFill>
            <a:prstDash val="solid"/>
          </a:ln>
        </p:spPr>
      </p:sp>
      <p:sp>
        <p:nvSpPr>
          <p:cNvPr id="24" name="Text 21"/>
          <p:cNvSpPr txBox="1"/>
          <p:nvPr/>
        </p:nvSpPr>
        <p:spPr>
          <a:xfrm>
            <a:off x="8229600" y="3904488"/>
            <a:ext cx="457200" cy="411480"/>
          </a:xfrm>
          <a:prstGeom prst="rect">
            <a:avLst/>
          </a:prstGeom>
          <a:noFill/>
          <a:ln/>
        </p:spPr>
        <p:txBody>
          <a:bodyPr wrap="square" lIns="0" tIns="0" rIns="0" bIns="0" rtlCol="0" anchor="ctr"/>
          <a:lstStyle/>
          <a:p>
            <a:pPr indent="0" marL="0">
              <a:buNone/>
            </a:pPr>
            <a:r>
              <a:rPr lang="en-US" sz="2000" b="1" dirty="0">
                <a:solidFill>
                  <a:srgbClr val="E8590C"/>
                </a:solidFill>
                <a:latin typeface="Arial" pitchFamily="34" charset="0"/>
                <a:ea typeface="Arial" pitchFamily="34" charset="-122"/>
                <a:cs typeface="Arial" pitchFamily="34" charset="-120"/>
              </a:rPr>
              <a:t>6</a:t>
            </a:r>
            <a:endParaRPr lang="en-US" sz="2000" dirty="0"/>
          </a:p>
        </p:txBody>
      </p:sp>
      <p:sp>
        <p:nvSpPr>
          <p:cNvPr id="25" name="Text 22"/>
          <p:cNvSpPr txBox="1"/>
          <p:nvPr/>
        </p:nvSpPr>
        <p:spPr>
          <a:xfrm>
            <a:off x="8275320" y="4297680"/>
            <a:ext cx="3108960" cy="1234440"/>
          </a:xfrm>
          <a:prstGeom prst="rect">
            <a:avLst/>
          </a:prstGeom>
          <a:noFill/>
          <a:ln/>
        </p:spPr>
        <p:txBody>
          <a:bodyPr wrap="square" lIns="0" tIns="0" rIns="0" bIns="0" rtlCol="0" anchor="t"/>
          <a:lstStyle/>
          <a:p>
            <a:pPr indent="0" marL="0">
              <a:buNone/>
            </a:pPr>
            <a:r>
              <a:rPr lang="en-US" sz="1250" dirty="0">
                <a:solidFill>
                  <a:srgbClr val="E6E6E6"/>
                </a:solidFill>
                <a:latin typeface="Consolas" pitchFamily="34" charset="0"/>
                <a:ea typeface="Consolas" pitchFamily="34" charset="-122"/>
                <a:cs typeface="Consolas" pitchFamily="34" charset="-120"/>
              </a:rPr>
              <a:t>var p = Permission.Read</a:t>
            </a:r>
            <a:endParaRPr lang="en-US" sz="1250" dirty="0"/>
          </a:p>
          <a:p>
            <a:pPr indent="0" marL="0">
              <a:buNone/>
            </a:pPr>
            <a:r>
              <a:rPr lang="en-US" sz="1250" dirty="0">
                <a:solidFill>
                  <a:srgbClr val="E6E6E6"/>
                </a:solidFill>
                <a:latin typeface="Consolas" pitchFamily="34" charset="0"/>
                <a:ea typeface="Consolas" pitchFamily="34" charset="-122"/>
                <a:cs typeface="Consolas" pitchFamily="34" charset="-120"/>
              </a:rPr>
              <a:t>      | Permission.Close;</a:t>
            </a:r>
            <a:endParaRPr lang="en-US" sz="1250" dirty="0"/>
          </a:p>
          <a:p>
            <a:pPr indent="0" marL="0">
              <a:buNone/>
            </a:pPr>
            <a:r>
              <a:rPr lang="en-US" sz="1250" dirty="0">
                <a:solidFill>
                  <a:srgbClr val="E6E6E6"/>
                </a:solidFill>
                <a:latin typeface="Consolas" pitchFamily="34" charset="0"/>
                <a:ea typeface="Consolas" pitchFamily="34" charset="-122"/>
                <a:cs typeface="Consolas" pitchFamily="34" charset="-120"/>
              </a:rPr>
              <a:t>Console.WriteLine((int)p);</a:t>
            </a:r>
            <a:endParaRPr lang="en-US" sz="1250" dirty="0"/>
          </a:p>
        </p:txBody>
      </p:sp>
      <p:sp>
        <p:nvSpPr>
          <p:cNvPr id="26" name="Text 23"/>
          <p:cNvSpPr txBox="1"/>
          <p:nvPr/>
        </p:nvSpPr>
        <p:spPr>
          <a:xfrm>
            <a:off x="640080" y="5852160"/>
            <a:ext cx="10911535" cy="365760"/>
          </a:xfrm>
          <a:prstGeom prst="rect">
            <a:avLst/>
          </a:prstGeom>
          <a:noFill/>
          <a:ln/>
        </p:spPr>
        <p:txBody>
          <a:bodyPr wrap="square" lIns="0" tIns="0" rIns="0" bIns="0" rtlCol="0" anchor="ctr"/>
          <a:lstStyle/>
          <a:p>
            <a:pPr indent="0" marL="0">
              <a:buNone/>
            </a:pPr>
            <a:r>
              <a:rPr lang="en-US" sz="1500" b="1" dirty="0">
                <a:solidFill>
                  <a:srgbClr val="16181D"/>
                </a:solidFill>
                <a:latin typeface="Calibri" pitchFamily="34" charset="0"/>
                <a:ea typeface="Calibri" pitchFamily="34" charset="-122"/>
                <a:cs typeface="Calibri" pitchFamily="34" charset="-120"/>
              </a:rPr>
              <a:t>Pour chaque programme : ce qui s'affiche, et pourquoi en une phrase. Sans IA, sans lancer le code.</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CORRECTION</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Ce qu'affichent les six programmes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S3</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38</a:t>
            </a:r>
            <a:endParaRPr lang="en-US" sz="1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640080"/>
                <a:gridCol w="1828800"/>
                <a:gridCol w="8439912"/>
              </a:tblGrid>
              <a:tr h="56692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Affiche</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Pourquoi</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r>
              <a:tr h="566928">
                <a:tc>
                  <a:txBody>
                    <a:bodyPr/>
                    <a:lstStyle/>
                    <a:p>
                      <a:pPr indent="0" marL="0">
                        <a:buNone/>
                      </a:pPr>
                      <a:r>
                        <a:rPr lang="en-US" sz="1600" b="1" dirty="0">
                          <a:solidFill>
                            <a:srgbClr val="16181D"/>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600" b="1" dirty="0">
                          <a:solidFill>
                            <a:srgbClr val="E8590C"/>
                          </a:solidFill>
                          <a:latin typeface="Consolas" pitchFamily="34" charset="0"/>
                          <a:ea typeface="Consolas" pitchFamily="34" charset="-122"/>
                          <a:cs typeface="Consolas" pitchFamily="34" charset="-120"/>
                        </a:rPr>
                        <a:t>5</a:t>
                      </a:r>
                      <a:endParaRPr lang="en-US" sz="16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int est un type valeur : b est une photocopie de a</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16181D"/>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600" b="1" dirty="0">
                          <a:solidFill>
                            <a:srgbClr val="E8590C"/>
                          </a:solidFill>
                          <a:latin typeface="Consolas" pitchFamily="34" charset="0"/>
                          <a:ea typeface="Consolas" pitchFamily="34" charset="-122"/>
                          <a:cs typeface="Consolas" pitchFamily="34" charset="-120"/>
                        </a:rPr>
                        <a:t>0</a:t>
                      </a:r>
                      <a:endParaRPr lang="en-US" sz="16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un byte va de 0 à 255 : 255 + 1 repart à 0, sans erreur</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566928">
                <a:tc>
                  <a:txBody>
                    <a:bodyPr/>
                    <a:lstStyle/>
                    <a:p>
                      <a:pPr indent="0" marL="0">
                        <a:buNone/>
                      </a:pPr>
                      <a:r>
                        <a:rPr lang="en-US" sz="1600" b="1" dirty="0">
                          <a:solidFill>
                            <a:srgbClr val="16181D"/>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600" b="1" dirty="0">
                          <a:solidFill>
                            <a:srgbClr val="E8590C"/>
                          </a:solidFill>
                          <a:latin typeface="Consolas" pitchFamily="34" charset="0"/>
                          <a:ea typeface="Consolas" pitchFamily="34" charset="-122"/>
                          <a:cs typeface="Consolas" pitchFamily="34" charset="-120"/>
                        </a:rPr>
                        <a:t>False</a:t>
                      </a:r>
                      <a:endParaRPr lang="en-US" sz="16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double est approximatif : utiliser decimal pour l'exactitude</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16181D"/>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600" b="1" dirty="0">
                          <a:solidFill>
                            <a:srgbClr val="E8590C"/>
                          </a:solidFill>
                          <a:latin typeface="Consolas" pitchFamily="34" charset="0"/>
                          <a:ea typeface="Consolas" pitchFamily="34" charset="-122"/>
                          <a:cs typeface="Consolas" pitchFamily="34" charset="-120"/>
                        </a:rPr>
                        <a:t>[  ok  ]</a:t>
                      </a:r>
                      <a:endParaRPr lang="en-US" sz="16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une chaîne ne se modifie jamais : il fallait écrire t = t.Trim();</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566928">
                <a:tc>
                  <a:txBody>
                    <a:bodyPr/>
                    <a:lstStyle/>
                    <a:p>
                      <a:pPr indent="0" marL="0">
                        <a:buNone/>
                      </a:pPr>
                      <a:r>
                        <a:rPr lang="en-US" sz="1600" b="1" dirty="0">
                          <a:solidFill>
                            <a:srgbClr val="16181D"/>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600" b="1" dirty="0">
                          <a:solidFill>
                            <a:srgbClr val="E8590C"/>
                          </a:solidFill>
                          <a:latin typeface="Consolas" pitchFamily="34" charset="0"/>
                          <a:ea typeface="Consolas" pitchFamily="34" charset="-122"/>
                          <a:cs typeface="Consolas" pitchFamily="34" charset="-120"/>
                        </a:rPr>
                        <a:t>personne</a:t>
                      </a:r>
                      <a:endParaRPr lang="en-US" sz="16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 renvoie null sans planter, ?? prend la valeur par défaut</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16181D"/>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600" b="1" dirty="0">
                          <a:solidFill>
                            <a:srgbClr val="E8590C"/>
                          </a:solidFill>
                          <a:latin typeface="Consolas" pitchFamily="34" charset="0"/>
                          <a:ea typeface="Consolas" pitchFamily="34" charset="-122"/>
                          <a:cs typeface="Consolas" pitchFamily="34" charset="-120"/>
                        </a:rPr>
                        <a:t>9</a:t>
                      </a:r>
                      <a:endParaRPr lang="en-US" sz="16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Read = 1 et Close = 8 : deux interrupteurs allumés, 1 + 8</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640080" y="1463040"/>
            <a:ext cx="2743200" cy="1280160"/>
          </a:xfrm>
          <a:prstGeom prst="rect">
            <a:avLst/>
          </a:prstGeom>
          <a:noFill/>
          <a:ln/>
        </p:spPr>
        <p:txBody>
          <a:bodyPr wrap="square" lIns="0" tIns="0" rIns="0" bIns="0" rtlCol="0" anchor="ctr"/>
          <a:lstStyle/>
          <a:p>
            <a:pPr indent="0" marL="0">
              <a:buNone/>
            </a:pPr>
            <a:r>
              <a:rPr lang="en-US" sz="9600" b="1" dirty="0">
                <a:solidFill>
                  <a:srgbClr val="E8590C"/>
                </a:solidFill>
                <a:latin typeface="Arial" pitchFamily="34" charset="0"/>
                <a:ea typeface="Arial" pitchFamily="34" charset="-122"/>
                <a:cs typeface="Arial" pitchFamily="34" charset="-120"/>
              </a:rPr>
              <a:t>08</a:t>
            </a:r>
            <a:endParaRPr lang="en-US" sz="9600" dirty="0"/>
          </a:p>
        </p:txBody>
      </p:sp>
      <p:sp>
        <p:nvSpPr>
          <p:cNvPr id="3" name="Text 1"/>
          <p:cNvSpPr txBox="1"/>
          <p:nvPr/>
        </p:nvSpPr>
        <p:spPr>
          <a:xfrm>
            <a:off x="640080" y="2834640"/>
            <a:ext cx="10911535" cy="10058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Et si l'IA corrige les avertissements ?</a:t>
            </a:r>
            <a:endParaRPr lang="en-US" sz="4400" dirty="0"/>
          </a:p>
        </p:txBody>
      </p:sp>
      <p:sp>
        <p:nvSpPr>
          <p:cNvPr id="4" name="Text 2"/>
          <p:cNvSpPr txBox="1"/>
          <p:nvPr/>
        </p:nvSpPr>
        <p:spPr>
          <a:xfrm>
            <a:off x="640080" y="3840480"/>
            <a:ext cx="10911535" cy="731520"/>
          </a:xfrm>
          <a:prstGeom prst="rect">
            <a:avLst/>
          </a:prstGeom>
          <a:noFill/>
          <a:ln/>
        </p:spPr>
        <p:txBody>
          <a:bodyPr wrap="square" lIns="0" tIns="0" rIns="0" bIns="0" rtlCol="0" anchor="ctr"/>
          <a:lstStyle/>
          <a:p>
            <a:pPr indent="0" marL="0">
              <a:buNone/>
            </a:pPr>
            <a:r>
              <a:rPr lang="en-US" sz="2000" dirty="0">
                <a:solidFill>
                  <a:srgbClr val="C9CDD3"/>
                </a:solidFill>
                <a:latin typeface="Calibri" pitchFamily="34" charset="0"/>
                <a:ea typeface="Calibri" pitchFamily="34" charset="-122"/>
                <a:cs typeface="Calibri" pitchFamily="34" charset="-120"/>
              </a:rPr>
              <a:t>Le ! partout</a:t>
            </a:r>
            <a:endParaRPr lang="en-US" sz="20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9AA0A8"/>
                </a:solidFill>
                <a:latin typeface="Calibri" pitchFamily="34" charset="0"/>
                <a:ea typeface="Calibri" pitchFamily="34" charset="-122"/>
                <a:cs typeface="Calibri" pitchFamily="34" charset="-120"/>
              </a:rPr>
              <a:t>Complément Application · S3</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9AA0A8"/>
                </a:solidFill>
                <a:latin typeface="Calibri" pitchFamily="34" charset="0"/>
                <a:ea typeface="Calibri" pitchFamily="34" charset="-122"/>
                <a:cs typeface="Calibri" pitchFamily="34" charset="-120"/>
              </a:rPr>
              <a:t>39</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MOMENT IA</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 Corrige les avertissements de nullabilité »</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S3</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40</a:t>
            </a:r>
            <a:endParaRPr lang="en-US" sz="1000" dirty="0"/>
          </a:p>
        </p:txBody>
      </p:sp>
      <p:sp>
        <p:nvSpPr>
          <p:cNvPr id="8" name="Shape 5"/>
          <p:cNvSpPr/>
          <p:nvPr/>
        </p:nvSpPr>
        <p:spPr>
          <a:xfrm>
            <a:off x="640080" y="1783080"/>
            <a:ext cx="5486400" cy="1188720"/>
          </a:xfrm>
          <a:prstGeom prst="roundRect">
            <a:avLst>
              <a:gd name="adj" fmla="val 6154"/>
            </a:avLst>
          </a:prstGeom>
          <a:solidFill>
            <a:srgbClr val="16181D"/>
          </a:solidFill>
          <a:ln w="12700">
            <a:solidFill>
              <a:srgbClr val="16181D"/>
            </a:solidFill>
            <a:prstDash val="solid"/>
          </a:ln>
        </p:spPr>
      </p:sp>
      <p:sp>
        <p:nvSpPr>
          <p:cNvPr id="9" name="Text 6"/>
          <p:cNvSpPr txBox="1"/>
          <p:nvPr/>
        </p:nvSpPr>
        <p:spPr>
          <a:xfrm>
            <a:off x="960120" y="1783080"/>
            <a:ext cx="4937760" cy="1188720"/>
          </a:xfrm>
          <a:prstGeom prst="rect">
            <a:avLst/>
          </a:prstGeom>
          <a:noFill/>
          <a:ln/>
        </p:spPr>
        <p:txBody>
          <a:bodyPr wrap="square" lIns="0" tIns="0" rIns="0" bIns="0" rtlCol="0" anchor="ctr"/>
          <a:lstStyle/>
          <a:p>
            <a:pPr indent="0" marL="0">
              <a:buNone/>
            </a:pPr>
            <a:r>
              <a:rPr lang="en-US" sz="1600" dirty="0">
                <a:solidFill>
                  <a:srgbClr val="FFFFFF"/>
                </a:solidFill>
                <a:latin typeface="Consolas" pitchFamily="34" charset="0"/>
                <a:ea typeface="Consolas" pitchFamily="34" charset="-122"/>
                <a:cs typeface="Consolas" pitchFamily="34" charset="-120"/>
              </a:rPr>
              <a:t>Corrige les avertissements de nullabilité de ce fichier.</a:t>
            </a:r>
            <a:endParaRPr lang="en-US" sz="1600" dirty="0"/>
          </a:p>
        </p:txBody>
      </p:sp>
      <p:sp>
        <p:nvSpPr>
          <p:cNvPr id="10" name="Shape 7"/>
          <p:cNvSpPr/>
          <p:nvPr/>
        </p:nvSpPr>
        <p:spPr>
          <a:xfrm>
            <a:off x="640080" y="3154680"/>
            <a:ext cx="6766560" cy="2194560"/>
          </a:xfrm>
          <a:prstGeom prst="roundRect">
            <a:avLst>
              <a:gd name="adj" fmla="val 3333"/>
            </a:avLst>
          </a:prstGeom>
          <a:solidFill>
            <a:srgbClr val="1E2127"/>
          </a:solidFill>
          <a:ln w="12700">
            <a:solidFill>
              <a:srgbClr val="1E2127"/>
            </a:solidFill>
            <a:prstDash val="solid"/>
          </a:ln>
        </p:spPr>
      </p:sp>
      <p:sp>
        <p:nvSpPr>
          <p:cNvPr id="11" name="Text 8"/>
          <p:cNvSpPr txBox="1"/>
          <p:nvPr/>
        </p:nvSpPr>
        <p:spPr>
          <a:xfrm>
            <a:off x="914400" y="3383280"/>
            <a:ext cx="6217920" cy="1737360"/>
          </a:xfrm>
          <a:prstGeom prst="rect">
            <a:avLst/>
          </a:prstGeom>
          <a:noFill/>
          <a:ln/>
        </p:spPr>
        <p:txBody>
          <a:bodyPr wrap="square" lIns="0" tIns="0" rIns="0" bIns="0" rtlCol="0" anchor="t"/>
          <a:lstStyle/>
          <a:p>
            <a:pPr indent="0" marL="0">
              <a:buNone/>
            </a:pPr>
            <a:r>
              <a:rPr lang="en-US" sz="1400" dirty="0">
                <a:solidFill>
                  <a:srgbClr val="8B929C"/>
                </a:solidFill>
                <a:latin typeface="Consolas" pitchFamily="34" charset="0"/>
                <a:ea typeface="Consolas" pitchFamily="34" charset="-122"/>
                <a:cs typeface="Consolas" pitchFamily="34" charset="-120"/>
              </a:rPr>
              <a:t>// proposé par l'IA :</a:t>
            </a:r>
            <a:endParaRPr lang="en-US" sz="1400" dirty="0"/>
          </a:p>
          <a:p>
            <a:pPr indent="0" marL="0">
              <a:buNone/>
            </a:pPr>
            <a:r>
              <a:rPr lang="en-US" sz="1400" b="1" dirty="0">
                <a:solidFill>
                  <a:srgbClr val="C92A2A"/>
                </a:solidFill>
                <a:latin typeface="Consolas" pitchFamily="34" charset="0"/>
                <a:ea typeface="Consolas" pitchFamily="34" charset="-122"/>
                <a:cs typeface="Consolas" pitchFamily="34" charset="-120"/>
              </a:rPr>
              <a:t>var nom = incident.AssignedTo!.Name;</a:t>
            </a:r>
            <a:endParaRPr lang="en-US" sz="1400" dirty="0"/>
          </a:p>
          <a:p>
            <a:pPr indent="0" marL="0">
              <a:buNone/>
            </a:pPr>
            <a:r>
              <a:rPr lang="en-US" sz="1400" dirty="0">
                <a:solidFill>
                  <a:srgbClr val="E6E6E6"/>
                </a:solidFill>
                <a:latin typeface="Consolas" pitchFamily="34" charset="0"/>
                <a:ea typeface="Consolas" pitchFamily="34" charset="-122"/>
                <a:cs typeface="Consolas" pitchFamily="34" charset="-120"/>
              </a:rPr>
              <a:t> </a:t>
            </a:r>
            <a:endParaRPr lang="en-US" sz="1400" dirty="0"/>
          </a:p>
          <a:p>
            <a:pPr indent="0" marL="0">
              <a:buNone/>
            </a:pPr>
            <a:r>
              <a:rPr lang="en-US" sz="1400" dirty="0">
                <a:solidFill>
                  <a:srgbClr val="8B929C"/>
                </a:solidFill>
                <a:latin typeface="Consolas" pitchFamily="34" charset="0"/>
                <a:ea typeface="Consolas" pitchFamily="34" charset="-122"/>
                <a:cs typeface="Consolas" pitchFamily="34" charset="-120"/>
              </a:rPr>
              <a:t>// la bonne version :</a:t>
            </a:r>
            <a:endParaRPr lang="en-US" sz="1400" dirty="0"/>
          </a:p>
          <a:p>
            <a:pPr indent="0" marL="0">
              <a:buNone/>
            </a:pPr>
            <a:r>
              <a:rPr lang="en-US" sz="1400" b="1" dirty="0">
                <a:solidFill>
                  <a:srgbClr val="2F9E44"/>
                </a:solidFill>
                <a:latin typeface="Consolas" pitchFamily="34" charset="0"/>
                <a:ea typeface="Consolas" pitchFamily="34" charset="-122"/>
                <a:cs typeface="Consolas" pitchFamily="34" charset="-120"/>
              </a:rPr>
              <a:t>var nom = incident.AssignedTo?.Name ?? "non assigné";</a:t>
            </a:r>
            <a:endParaRPr lang="en-US" sz="1400" dirty="0"/>
          </a:p>
        </p:txBody>
      </p:sp>
      <p:sp>
        <p:nvSpPr>
          <p:cNvPr id="12" name="Shape 9"/>
          <p:cNvSpPr/>
          <p:nvPr/>
        </p:nvSpPr>
        <p:spPr>
          <a:xfrm>
            <a:off x="7680960" y="1783080"/>
            <a:ext cx="3840480" cy="3566160"/>
          </a:xfrm>
          <a:prstGeom prst="roundRect">
            <a:avLst>
              <a:gd name="adj" fmla="val 2051"/>
            </a:avLst>
          </a:prstGeom>
          <a:solidFill>
            <a:srgbClr val="F2F3F5"/>
          </a:solidFill>
          <a:ln w="12700">
            <a:solidFill>
              <a:srgbClr val="F2F3F5"/>
            </a:solidFill>
            <a:prstDash val="solid"/>
          </a:ln>
        </p:spPr>
      </p:sp>
      <p:sp>
        <p:nvSpPr>
          <p:cNvPr id="13" name="Text 10"/>
          <p:cNvSpPr txBox="1"/>
          <p:nvPr/>
        </p:nvSpPr>
        <p:spPr>
          <a:xfrm>
            <a:off x="7909560" y="1965960"/>
            <a:ext cx="3383280" cy="3200400"/>
          </a:xfrm>
          <a:prstGeom prst="rect">
            <a:avLst/>
          </a:prstGeom>
          <a:noFill/>
          <a:ln/>
        </p:spPr>
        <p:txBody>
          <a:bodyPr wrap="square" lIns="0" tIns="0" rIns="0" bIns="0" rtlCol="0" anchor="t"/>
          <a:lstStyle/>
          <a:p>
            <a:pPr indent="0" marL="0">
              <a:buNone/>
            </a:pPr>
            <a:r>
              <a:rPr lang="en-US" sz="1800" b="1" dirty="0">
                <a:solidFill>
                  <a:srgbClr val="16181D"/>
                </a:solidFill>
                <a:latin typeface="Calibri" pitchFamily="34" charset="0"/>
                <a:ea typeface="Calibri" pitchFamily="34" charset="-122"/>
                <a:cs typeface="Calibri" pitchFamily="34" charset="-120"/>
              </a:rPr>
              <a:t>Ce qui s'est passé</a:t>
            </a:r>
            <a:endParaRPr lang="en-US" sz="1800" dirty="0"/>
          </a:p>
          <a:p>
            <a:pPr indent="0" marL="0">
              <a:buNone/>
            </a:pPr>
            <a:endParaRPr lang="en-US" sz="1800" dirty="0"/>
          </a:p>
          <a:p>
            <a:pPr indent="0" marL="0">
              <a:buNone/>
            </a:pPr>
            <a:r>
              <a:rPr lang="en-US" sz="1500" dirty="0">
                <a:solidFill>
                  <a:srgbClr val="5F6670"/>
                </a:solidFill>
                <a:latin typeface="Calibri" pitchFamily="34" charset="0"/>
                <a:ea typeface="Calibri" pitchFamily="34" charset="-122"/>
                <a:cs typeface="Calibri" pitchFamily="34" charset="-120"/>
              </a:rPr>
              <a:t>L'IA a obéi à la lettre : on lui a demandé de faire disparaître les avertissements, pas de gérer le cas null.</a:t>
            </a:r>
            <a:endParaRPr lang="en-US" sz="1800" dirty="0"/>
          </a:p>
          <a:p>
            <a:pPr indent="0" marL="0">
              <a:buNone/>
            </a:pPr>
            <a:endParaRPr lang="en-US" sz="1800" dirty="0"/>
          </a:p>
          <a:p>
            <a:pPr indent="0" marL="0">
              <a:buNone/>
            </a:pPr>
            <a:r>
              <a:rPr lang="en-US" sz="1500" dirty="0">
                <a:solidFill>
                  <a:srgbClr val="5F6670"/>
                </a:solidFill>
                <a:latin typeface="Calibri" pitchFamily="34" charset="0"/>
                <a:ea typeface="Calibri" pitchFamily="34" charset="-122"/>
                <a:cs typeface="Calibri" pitchFamily="34" charset="-120"/>
              </a:rPr>
              <a:t>Le programme compile, puis plante à l'exécution.</a:t>
            </a:r>
            <a:endParaRPr lang="en-US" sz="1800" dirty="0"/>
          </a:p>
        </p:txBody>
      </p:sp>
      <p:sp>
        <p:nvSpPr>
          <p:cNvPr id="14" name="Text 11"/>
          <p:cNvSpPr txBox="1"/>
          <p:nvPr/>
        </p:nvSpPr>
        <p:spPr>
          <a:xfrm>
            <a:off x="640080" y="5532120"/>
            <a:ext cx="10911535" cy="411480"/>
          </a:xfrm>
          <a:prstGeom prst="rect">
            <a:avLst/>
          </a:prstGeom>
          <a:noFill/>
          <a:ln/>
        </p:spPr>
        <p:txBody>
          <a:bodyPr wrap="square" lIns="0" tIns="0" rIns="0" bIns="0" rtlCol="0" anchor="ctr"/>
          <a:lstStyle/>
          <a:p>
            <a:pPr indent="0" marL="0">
              <a:buNone/>
            </a:pPr>
            <a:r>
              <a:rPr lang="en-US" sz="1600" b="1" dirty="0">
                <a:solidFill>
                  <a:srgbClr val="E8590C"/>
                </a:solidFill>
                <a:latin typeface="Consolas" pitchFamily="34" charset="0"/>
                <a:ea typeface="Consolas" pitchFamily="34" charset="-122"/>
                <a:cs typeface="Consolas" pitchFamily="34" charset="-120"/>
              </a:rPr>
              <a:t>RIDER  ·  git checkout demo/s03-ia-nullable</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À RETENIR</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Huit réflexes sur les bases du langage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S3</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41</a:t>
            </a:r>
            <a:endParaRPr lang="en-US" sz="1000" dirty="0"/>
          </a:p>
        </p:txBody>
      </p:sp>
      <p:sp>
        <p:nvSpPr>
          <p:cNvPr id="8" name="Shape 5"/>
          <p:cNvSpPr/>
          <p:nvPr/>
        </p:nvSpPr>
        <p:spPr>
          <a:xfrm>
            <a:off x="640080" y="1783080"/>
            <a:ext cx="2560320" cy="1783080"/>
          </a:xfrm>
          <a:prstGeom prst="roundRect">
            <a:avLst>
              <a:gd name="adj" fmla="val 4103"/>
            </a:avLst>
          </a:prstGeom>
          <a:solidFill>
            <a:srgbClr val="16181D"/>
          </a:solidFill>
          <a:ln w="12700">
            <a:solidFill>
              <a:srgbClr val="16181D"/>
            </a:solidFill>
            <a:prstDash val="solid"/>
          </a:ln>
        </p:spPr>
      </p:sp>
      <p:sp>
        <p:nvSpPr>
          <p:cNvPr id="9" name="Text 6"/>
          <p:cNvSpPr txBox="1"/>
          <p:nvPr/>
        </p:nvSpPr>
        <p:spPr>
          <a:xfrm>
            <a:off x="868680" y="1965960"/>
            <a:ext cx="2148840" cy="457200"/>
          </a:xfrm>
          <a:prstGeom prst="rect">
            <a:avLst/>
          </a:prstGeom>
          <a:noFill/>
          <a:ln/>
        </p:spPr>
        <p:txBody>
          <a:bodyPr wrap="square" lIns="0" tIns="0" rIns="0" bIns="0" rtlCol="0" anchor="ctr"/>
          <a:lstStyle/>
          <a:p>
            <a:pPr indent="0" marL="0">
              <a:buNone/>
            </a:pPr>
            <a:r>
              <a:rPr lang="en-US" sz="1700" b="1" dirty="0">
                <a:solidFill>
                  <a:srgbClr val="E8590C"/>
                </a:solidFill>
                <a:latin typeface="Arial" pitchFamily="34" charset="0"/>
                <a:ea typeface="Arial" pitchFamily="34" charset="-122"/>
                <a:cs typeface="Arial" pitchFamily="34" charset="-120"/>
              </a:rPr>
              <a:t>Valeur / référence</a:t>
            </a:r>
            <a:endParaRPr lang="en-US" sz="1700" dirty="0"/>
          </a:p>
        </p:txBody>
      </p:sp>
      <p:sp>
        <p:nvSpPr>
          <p:cNvPr id="10" name="Text 7"/>
          <p:cNvSpPr txBox="1"/>
          <p:nvPr/>
        </p:nvSpPr>
        <p:spPr>
          <a:xfrm>
            <a:off x="868680" y="2514600"/>
            <a:ext cx="2148840" cy="960120"/>
          </a:xfrm>
          <a:prstGeom prst="rect">
            <a:avLst/>
          </a:prstGeom>
          <a:noFill/>
          <a:ln/>
        </p:spPr>
        <p:txBody>
          <a:bodyPr wrap="square" lIns="0" tIns="0" rIns="0" bIns="0" rtlCol="0" anchor="t"/>
          <a:lstStyle/>
          <a:p>
            <a:pPr indent="0" marL="0">
              <a:buNone/>
            </a:pPr>
            <a:r>
              <a:rPr lang="en-US" sz="1450" dirty="0">
                <a:solidFill>
                  <a:srgbClr val="FFFFFF"/>
                </a:solidFill>
                <a:latin typeface="Calibri" pitchFamily="34" charset="0"/>
                <a:ea typeface="Calibri" pitchFamily="34" charset="-122"/>
                <a:cs typeface="Calibri" pitchFamily="34" charset="-120"/>
              </a:rPr>
              <a:t>la photocopie et l'adresse</a:t>
            </a:r>
            <a:endParaRPr lang="en-US" sz="1450" dirty="0"/>
          </a:p>
        </p:txBody>
      </p:sp>
      <p:sp>
        <p:nvSpPr>
          <p:cNvPr id="11" name="Shape 8"/>
          <p:cNvSpPr/>
          <p:nvPr/>
        </p:nvSpPr>
        <p:spPr>
          <a:xfrm>
            <a:off x="3383280" y="1783080"/>
            <a:ext cx="2560320" cy="1783080"/>
          </a:xfrm>
          <a:prstGeom prst="roundRect">
            <a:avLst>
              <a:gd name="adj" fmla="val 4103"/>
            </a:avLst>
          </a:prstGeom>
          <a:solidFill>
            <a:srgbClr val="16181D"/>
          </a:solidFill>
          <a:ln w="12700">
            <a:solidFill>
              <a:srgbClr val="16181D"/>
            </a:solidFill>
            <a:prstDash val="solid"/>
          </a:ln>
        </p:spPr>
      </p:sp>
      <p:sp>
        <p:nvSpPr>
          <p:cNvPr id="12" name="Text 9"/>
          <p:cNvSpPr txBox="1"/>
          <p:nvPr/>
        </p:nvSpPr>
        <p:spPr>
          <a:xfrm>
            <a:off x="3611880" y="1965960"/>
            <a:ext cx="2148840" cy="457200"/>
          </a:xfrm>
          <a:prstGeom prst="rect">
            <a:avLst/>
          </a:prstGeom>
          <a:noFill/>
          <a:ln/>
        </p:spPr>
        <p:txBody>
          <a:bodyPr wrap="square" lIns="0" tIns="0" rIns="0" bIns="0" rtlCol="0" anchor="ctr"/>
          <a:lstStyle/>
          <a:p>
            <a:pPr indent="0" marL="0">
              <a:buNone/>
            </a:pPr>
            <a:r>
              <a:rPr lang="en-US" sz="1700" b="1" dirty="0">
                <a:solidFill>
                  <a:srgbClr val="E8590C"/>
                </a:solidFill>
                <a:latin typeface="Arial" pitchFamily="34" charset="0"/>
                <a:ea typeface="Arial" pitchFamily="34" charset="-122"/>
                <a:cs typeface="Arial" pitchFamily="34" charset="-120"/>
              </a:rPr>
              <a:t>Nombres</a:t>
            </a:r>
            <a:endParaRPr lang="en-US" sz="1700" dirty="0"/>
          </a:p>
        </p:txBody>
      </p:sp>
      <p:sp>
        <p:nvSpPr>
          <p:cNvPr id="13" name="Text 10"/>
          <p:cNvSpPr txBox="1"/>
          <p:nvPr/>
        </p:nvSpPr>
        <p:spPr>
          <a:xfrm>
            <a:off x="3611880" y="2514600"/>
            <a:ext cx="2148840" cy="960120"/>
          </a:xfrm>
          <a:prstGeom prst="rect">
            <a:avLst/>
          </a:prstGeom>
          <a:noFill/>
          <a:ln/>
        </p:spPr>
        <p:txBody>
          <a:bodyPr wrap="square" lIns="0" tIns="0" rIns="0" bIns="0" rtlCol="0" anchor="t"/>
          <a:lstStyle/>
          <a:p>
            <a:pPr indent="0" marL="0">
              <a:buNone/>
            </a:pPr>
            <a:r>
              <a:rPr lang="en-US" sz="1450" dirty="0">
                <a:solidFill>
                  <a:srgbClr val="FFFFFF"/>
                </a:solidFill>
                <a:latin typeface="Calibri" pitchFamily="34" charset="0"/>
                <a:ea typeface="Calibri" pitchFamily="34" charset="-122"/>
                <a:cs typeface="Calibri" pitchFamily="34" charset="-120"/>
              </a:rPr>
              <a:t>chaque type a un maximum ; checked protège</a:t>
            </a:r>
            <a:endParaRPr lang="en-US" sz="1450" dirty="0"/>
          </a:p>
        </p:txBody>
      </p:sp>
      <p:sp>
        <p:nvSpPr>
          <p:cNvPr id="14" name="Shape 11"/>
          <p:cNvSpPr/>
          <p:nvPr/>
        </p:nvSpPr>
        <p:spPr>
          <a:xfrm>
            <a:off x="6126480" y="1783080"/>
            <a:ext cx="2560320" cy="1783080"/>
          </a:xfrm>
          <a:prstGeom prst="roundRect">
            <a:avLst>
              <a:gd name="adj" fmla="val 4103"/>
            </a:avLst>
          </a:prstGeom>
          <a:solidFill>
            <a:srgbClr val="16181D"/>
          </a:solidFill>
          <a:ln w="12700">
            <a:solidFill>
              <a:srgbClr val="16181D"/>
            </a:solidFill>
            <a:prstDash val="solid"/>
          </a:ln>
        </p:spPr>
      </p:sp>
      <p:sp>
        <p:nvSpPr>
          <p:cNvPr id="15" name="Text 12"/>
          <p:cNvSpPr txBox="1"/>
          <p:nvPr/>
        </p:nvSpPr>
        <p:spPr>
          <a:xfrm>
            <a:off x="6355080" y="1965960"/>
            <a:ext cx="2148840" cy="457200"/>
          </a:xfrm>
          <a:prstGeom prst="rect">
            <a:avLst/>
          </a:prstGeom>
          <a:noFill/>
          <a:ln/>
        </p:spPr>
        <p:txBody>
          <a:bodyPr wrap="square" lIns="0" tIns="0" rIns="0" bIns="0" rtlCol="0" anchor="ctr"/>
          <a:lstStyle/>
          <a:p>
            <a:pPr indent="0" marL="0">
              <a:buNone/>
            </a:pPr>
            <a:r>
              <a:rPr lang="en-US" sz="1700" b="1" dirty="0">
                <a:solidFill>
                  <a:srgbClr val="E8590C"/>
                </a:solidFill>
                <a:latin typeface="Arial" pitchFamily="34" charset="0"/>
                <a:ea typeface="Arial" pitchFamily="34" charset="-122"/>
                <a:cs typeface="Arial" pitchFamily="34" charset="-120"/>
              </a:rPr>
              <a:t>Argent</a:t>
            </a:r>
            <a:endParaRPr lang="en-US" sz="1700" dirty="0"/>
          </a:p>
        </p:txBody>
      </p:sp>
      <p:sp>
        <p:nvSpPr>
          <p:cNvPr id="16" name="Text 13"/>
          <p:cNvSpPr txBox="1"/>
          <p:nvPr/>
        </p:nvSpPr>
        <p:spPr>
          <a:xfrm>
            <a:off x="6355080" y="2514600"/>
            <a:ext cx="2148840" cy="960120"/>
          </a:xfrm>
          <a:prstGeom prst="rect">
            <a:avLst/>
          </a:prstGeom>
          <a:noFill/>
          <a:ln/>
        </p:spPr>
        <p:txBody>
          <a:bodyPr wrap="square" lIns="0" tIns="0" rIns="0" bIns="0" rtlCol="0" anchor="t"/>
          <a:lstStyle/>
          <a:p>
            <a:pPr indent="0" marL="0">
              <a:buNone/>
            </a:pPr>
            <a:r>
              <a:rPr lang="en-US" sz="1450" dirty="0">
                <a:solidFill>
                  <a:srgbClr val="FFFFFF"/>
                </a:solidFill>
                <a:latin typeface="Calibri" pitchFamily="34" charset="0"/>
                <a:ea typeface="Calibri" pitchFamily="34" charset="-122"/>
                <a:cs typeface="Calibri" pitchFamily="34" charset="-120"/>
              </a:rPr>
              <a:t>toujours decimal</a:t>
            </a:r>
            <a:endParaRPr lang="en-US" sz="1450" dirty="0"/>
          </a:p>
        </p:txBody>
      </p:sp>
      <p:sp>
        <p:nvSpPr>
          <p:cNvPr id="17" name="Shape 14"/>
          <p:cNvSpPr/>
          <p:nvPr/>
        </p:nvSpPr>
        <p:spPr>
          <a:xfrm>
            <a:off x="8869680" y="1783080"/>
            <a:ext cx="2560320" cy="1783080"/>
          </a:xfrm>
          <a:prstGeom prst="roundRect">
            <a:avLst>
              <a:gd name="adj" fmla="val 4103"/>
            </a:avLst>
          </a:prstGeom>
          <a:solidFill>
            <a:srgbClr val="16181D"/>
          </a:solidFill>
          <a:ln w="12700">
            <a:solidFill>
              <a:srgbClr val="16181D"/>
            </a:solidFill>
            <a:prstDash val="solid"/>
          </a:ln>
        </p:spPr>
      </p:sp>
      <p:sp>
        <p:nvSpPr>
          <p:cNvPr id="18" name="Text 15"/>
          <p:cNvSpPr txBox="1"/>
          <p:nvPr/>
        </p:nvSpPr>
        <p:spPr>
          <a:xfrm>
            <a:off x="9098280" y="1965960"/>
            <a:ext cx="2148840" cy="457200"/>
          </a:xfrm>
          <a:prstGeom prst="rect">
            <a:avLst/>
          </a:prstGeom>
          <a:noFill/>
          <a:ln/>
        </p:spPr>
        <p:txBody>
          <a:bodyPr wrap="square" lIns="0" tIns="0" rIns="0" bIns="0" rtlCol="0" anchor="ctr"/>
          <a:lstStyle/>
          <a:p>
            <a:pPr indent="0" marL="0">
              <a:buNone/>
            </a:pPr>
            <a:r>
              <a:rPr lang="en-US" sz="1700" b="1" dirty="0">
                <a:solidFill>
                  <a:srgbClr val="E8590C"/>
                </a:solidFill>
                <a:latin typeface="Arial" pitchFamily="34" charset="0"/>
                <a:ea typeface="Arial" pitchFamily="34" charset="-122"/>
                <a:cs typeface="Arial" pitchFamily="34" charset="-120"/>
              </a:rPr>
              <a:t>null</a:t>
            </a:r>
            <a:endParaRPr lang="en-US" sz="1700" dirty="0"/>
          </a:p>
        </p:txBody>
      </p:sp>
      <p:sp>
        <p:nvSpPr>
          <p:cNvPr id="19" name="Text 16"/>
          <p:cNvSpPr txBox="1"/>
          <p:nvPr/>
        </p:nvSpPr>
        <p:spPr>
          <a:xfrm>
            <a:off x="9098280" y="2514600"/>
            <a:ext cx="2148840" cy="960120"/>
          </a:xfrm>
          <a:prstGeom prst="rect">
            <a:avLst/>
          </a:prstGeom>
          <a:noFill/>
          <a:ln/>
        </p:spPr>
        <p:txBody>
          <a:bodyPr wrap="square" lIns="0" tIns="0" rIns="0" bIns="0" rtlCol="0" anchor="t"/>
          <a:lstStyle/>
          <a:p>
            <a:pPr indent="0" marL="0">
              <a:buNone/>
            </a:pPr>
            <a:r>
              <a:rPr lang="en-US" sz="1450" dirty="0">
                <a:solidFill>
                  <a:srgbClr val="FFFFFF"/>
                </a:solidFill>
                <a:latin typeface="Calibri" pitchFamily="34" charset="0"/>
                <a:ea typeface="Calibri" pitchFamily="34" charset="-122"/>
                <a:cs typeface="Calibri" pitchFamily="34" charset="-120"/>
              </a:rPr>
              <a:t>? prévient, ?. et ?? protègent, ! fait taire le compilateur</a:t>
            </a:r>
            <a:endParaRPr lang="en-US" sz="1450" dirty="0"/>
          </a:p>
        </p:txBody>
      </p:sp>
      <p:sp>
        <p:nvSpPr>
          <p:cNvPr id="20" name="Shape 17"/>
          <p:cNvSpPr/>
          <p:nvPr/>
        </p:nvSpPr>
        <p:spPr>
          <a:xfrm>
            <a:off x="640080" y="3749040"/>
            <a:ext cx="2560320" cy="1783080"/>
          </a:xfrm>
          <a:prstGeom prst="roundRect">
            <a:avLst>
              <a:gd name="adj" fmla="val 4103"/>
            </a:avLst>
          </a:prstGeom>
          <a:solidFill>
            <a:srgbClr val="16181D"/>
          </a:solidFill>
          <a:ln w="12700">
            <a:solidFill>
              <a:srgbClr val="16181D"/>
            </a:solidFill>
            <a:prstDash val="solid"/>
          </a:ln>
        </p:spPr>
      </p:sp>
      <p:sp>
        <p:nvSpPr>
          <p:cNvPr id="21" name="Text 18"/>
          <p:cNvSpPr txBox="1"/>
          <p:nvPr/>
        </p:nvSpPr>
        <p:spPr>
          <a:xfrm>
            <a:off x="868680" y="3931920"/>
            <a:ext cx="2148840" cy="457200"/>
          </a:xfrm>
          <a:prstGeom prst="rect">
            <a:avLst/>
          </a:prstGeom>
          <a:noFill/>
          <a:ln/>
        </p:spPr>
        <p:txBody>
          <a:bodyPr wrap="square" lIns="0" tIns="0" rIns="0" bIns="0" rtlCol="0" anchor="ctr"/>
          <a:lstStyle/>
          <a:p>
            <a:pPr indent="0" marL="0">
              <a:buNone/>
            </a:pPr>
            <a:r>
              <a:rPr lang="en-US" sz="1700" b="1" dirty="0">
                <a:solidFill>
                  <a:srgbClr val="E8590C"/>
                </a:solidFill>
                <a:latin typeface="Arial" pitchFamily="34" charset="0"/>
                <a:ea typeface="Arial" pitchFamily="34" charset="-122"/>
                <a:cs typeface="Arial" pitchFamily="34" charset="-120"/>
              </a:rPr>
              <a:t>Chaînes</a:t>
            </a:r>
            <a:endParaRPr lang="en-US" sz="1700" dirty="0"/>
          </a:p>
        </p:txBody>
      </p:sp>
      <p:sp>
        <p:nvSpPr>
          <p:cNvPr id="22" name="Text 19"/>
          <p:cNvSpPr txBox="1"/>
          <p:nvPr/>
        </p:nvSpPr>
        <p:spPr>
          <a:xfrm>
            <a:off x="868680" y="4480560"/>
            <a:ext cx="2148840" cy="960120"/>
          </a:xfrm>
          <a:prstGeom prst="rect">
            <a:avLst/>
          </a:prstGeom>
          <a:noFill/>
          <a:ln/>
        </p:spPr>
        <p:txBody>
          <a:bodyPr wrap="square" lIns="0" tIns="0" rIns="0" bIns="0" rtlCol="0" anchor="t"/>
          <a:lstStyle/>
          <a:p>
            <a:pPr indent="0" marL="0">
              <a:buNone/>
            </a:pPr>
            <a:r>
              <a:rPr lang="en-US" sz="1450" dirty="0">
                <a:solidFill>
                  <a:srgbClr val="FFFFFF"/>
                </a:solidFill>
                <a:latin typeface="Calibri" pitchFamily="34" charset="0"/>
                <a:ea typeface="Calibri" pitchFamily="34" charset="-122"/>
                <a:cs typeface="Calibri" pitchFamily="34" charset="-120"/>
              </a:rPr>
              <a:t>interpolation pour afficher, jamais pour du SQL</a:t>
            </a:r>
            <a:endParaRPr lang="en-US" sz="1450" dirty="0"/>
          </a:p>
        </p:txBody>
      </p:sp>
      <p:sp>
        <p:nvSpPr>
          <p:cNvPr id="23" name="Shape 20"/>
          <p:cNvSpPr/>
          <p:nvPr/>
        </p:nvSpPr>
        <p:spPr>
          <a:xfrm>
            <a:off x="3383280" y="3749040"/>
            <a:ext cx="2560320" cy="1783080"/>
          </a:xfrm>
          <a:prstGeom prst="roundRect">
            <a:avLst>
              <a:gd name="adj" fmla="val 4103"/>
            </a:avLst>
          </a:prstGeom>
          <a:solidFill>
            <a:srgbClr val="16181D"/>
          </a:solidFill>
          <a:ln w="12700">
            <a:solidFill>
              <a:srgbClr val="16181D"/>
            </a:solidFill>
            <a:prstDash val="solid"/>
          </a:ln>
        </p:spPr>
      </p:sp>
      <p:sp>
        <p:nvSpPr>
          <p:cNvPr id="24" name="Text 21"/>
          <p:cNvSpPr txBox="1"/>
          <p:nvPr/>
        </p:nvSpPr>
        <p:spPr>
          <a:xfrm>
            <a:off x="3611880" y="3931920"/>
            <a:ext cx="2148840" cy="457200"/>
          </a:xfrm>
          <a:prstGeom prst="rect">
            <a:avLst/>
          </a:prstGeom>
          <a:noFill/>
          <a:ln/>
        </p:spPr>
        <p:txBody>
          <a:bodyPr wrap="square" lIns="0" tIns="0" rIns="0" bIns="0" rtlCol="0" anchor="ctr"/>
          <a:lstStyle/>
          <a:p>
            <a:pPr indent="0" marL="0">
              <a:buNone/>
            </a:pPr>
            <a:r>
              <a:rPr lang="en-US" sz="1700" b="1" dirty="0">
                <a:solidFill>
                  <a:srgbClr val="E8590C"/>
                </a:solidFill>
                <a:latin typeface="Arial" pitchFamily="34" charset="0"/>
                <a:ea typeface="Arial" pitchFamily="34" charset="-122"/>
                <a:cs typeface="Arial" pitchFamily="34" charset="-120"/>
              </a:rPr>
              <a:t>static</a:t>
            </a:r>
            <a:endParaRPr lang="en-US" sz="1700" dirty="0"/>
          </a:p>
        </p:txBody>
      </p:sp>
      <p:sp>
        <p:nvSpPr>
          <p:cNvPr id="25" name="Text 22"/>
          <p:cNvSpPr txBox="1"/>
          <p:nvPr/>
        </p:nvSpPr>
        <p:spPr>
          <a:xfrm>
            <a:off x="3611880" y="4480560"/>
            <a:ext cx="2148840" cy="960120"/>
          </a:xfrm>
          <a:prstGeom prst="rect">
            <a:avLst/>
          </a:prstGeom>
          <a:noFill/>
          <a:ln/>
        </p:spPr>
        <p:txBody>
          <a:bodyPr wrap="square" lIns="0" tIns="0" rIns="0" bIns="0" rtlCol="0" anchor="t"/>
          <a:lstStyle/>
          <a:p>
            <a:pPr indent="0" marL="0">
              <a:buNone/>
            </a:pPr>
            <a:r>
              <a:rPr lang="en-US" sz="1450" dirty="0">
                <a:solidFill>
                  <a:srgbClr val="FFFFFF"/>
                </a:solidFill>
                <a:latin typeface="Calibri" pitchFamily="34" charset="0"/>
                <a:ea typeface="Calibri" pitchFamily="34" charset="-122"/>
                <a:cs typeface="Calibri" pitchFamily="34" charset="-120"/>
              </a:rPr>
              <a:t>appartient à la classe, pas à chaque objet</a:t>
            </a:r>
            <a:endParaRPr lang="en-US" sz="1450" dirty="0"/>
          </a:p>
        </p:txBody>
      </p:sp>
      <p:sp>
        <p:nvSpPr>
          <p:cNvPr id="26" name="Shape 23"/>
          <p:cNvSpPr/>
          <p:nvPr/>
        </p:nvSpPr>
        <p:spPr>
          <a:xfrm>
            <a:off x="6126480" y="3749040"/>
            <a:ext cx="2560320" cy="1783080"/>
          </a:xfrm>
          <a:prstGeom prst="roundRect">
            <a:avLst>
              <a:gd name="adj" fmla="val 4103"/>
            </a:avLst>
          </a:prstGeom>
          <a:solidFill>
            <a:srgbClr val="16181D"/>
          </a:solidFill>
          <a:ln w="12700">
            <a:solidFill>
              <a:srgbClr val="16181D"/>
            </a:solidFill>
            <a:prstDash val="solid"/>
          </a:ln>
        </p:spPr>
      </p:sp>
      <p:sp>
        <p:nvSpPr>
          <p:cNvPr id="27" name="Text 24"/>
          <p:cNvSpPr txBox="1"/>
          <p:nvPr/>
        </p:nvSpPr>
        <p:spPr>
          <a:xfrm>
            <a:off x="6355080" y="3931920"/>
            <a:ext cx="2148840" cy="457200"/>
          </a:xfrm>
          <a:prstGeom prst="rect">
            <a:avLst/>
          </a:prstGeom>
          <a:noFill/>
          <a:ln/>
        </p:spPr>
        <p:txBody>
          <a:bodyPr wrap="square" lIns="0" tIns="0" rIns="0" bIns="0" rtlCol="0" anchor="ctr"/>
          <a:lstStyle/>
          <a:p>
            <a:pPr indent="0" marL="0">
              <a:buNone/>
            </a:pPr>
            <a:r>
              <a:rPr lang="en-US" sz="1700" b="1" dirty="0">
                <a:solidFill>
                  <a:srgbClr val="E8590C"/>
                </a:solidFill>
                <a:latin typeface="Arial" pitchFamily="34" charset="0"/>
                <a:ea typeface="Arial" pitchFamily="34" charset="-122"/>
                <a:cs typeface="Arial" pitchFamily="34" charset="-120"/>
              </a:rPr>
              <a:t>virtual / override</a:t>
            </a:r>
            <a:endParaRPr lang="en-US" sz="1700" dirty="0"/>
          </a:p>
        </p:txBody>
      </p:sp>
      <p:sp>
        <p:nvSpPr>
          <p:cNvPr id="28" name="Text 25"/>
          <p:cNvSpPr txBox="1"/>
          <p:nvPr/>
        </p:nvSpPr>
        <p:spPr>
          <a:xfrm>
            <a:off x="6355080" y="4480560"/>
            <a:ext cx="2148840" cy="960120"/>
          </a:xfrm>
          <a:prstGeom prst="rect">
            <a:avLst/>
          </a:prstGeom>
          <a:noFill/>
          <a:ln/>
        </p:spPr>
        <p:txBody>
          <a:bodyPr wrap="square" lIns="0" tIns="0" rIns="0" bIns="0" rtlCol="0" anchor="t"/>
          <a:lstStyle/>
          <a:p>
            <a:pPr indent="0" marL="0">
              <a:buNone/>
            </a:pPr>
            <a:r>
              <a:rPr lang="en-US" sz="1450" dirty="0">
                <a:solidFill>
                  <a:srgbClr val="FFFFFF"/>
                </a:solidFill>
                <a:latin typeface="Calibri" pitchFamily="34" charset="0"/>
                <a:ea typeface="Calibri" pitchFamily="34" charset="-122"/>
                <a:cs typeface="Calibri" pitchFamily="34" charset="-120"/>
              </a:rPr>
              <a:t>la recette par défaut, et ma version</a:t>
            </a:r>
            <a:endParaRPr lang="en-US" sz="1450" dirty="0"/>
          </a:p>
        </p:txBody>
      </p:sp>
      <p:sp>
        <p:nvSpPr>
          <p:cNvPr id="29" name="Shape 26"/>
          <p:cNvSpPr/>
          <p:nvPr/>
        </p:nvSpPr>
        <p:spPr>
          <a:xfrm>
            <a:off x="8869680" y="3749040"/>
            <a:ext cx="2560320" cy="1783080"/>
          </a:xfrm>
          <a:prstGeom prst="roundRect">
            <a:avLst>
              <a:gd name="adj" fmla="val 4103"/>
            </a:avLst>
          </a:prstGeom>
          <a:solidFill>
            <a:srgbClr val="16181D"/>
          </a:solidFill>
          <a:ln w="12700">
            <a:solidFill>
              <a:srgbClr val="16181D"/>
            </a:solidFill>
            <a:prstDash val="solid"/>
          </a:ln>
        </p:spPr>
      </p:sp>
      <p:sp>
        <p:nvSpPr>
          <p:cNvPr id="30" name="Text 27"/>
          <p:cNvSpPr txBox="1"/>
          <p:nvPr/>
        </p:nvSpPr>
        <p:spPr>
          <a:xfrm>
            <a:off x="9098280" y="3931920"/>
            <a:ext cx="2148840" cy="457200"/>
          </a:xfrm>
          <a:prstGeom prst="rect">
            <a:avLst/>
          </a:prstGeom>
          <a:noFill/>
          <a:ln/>
        </p:spPr>
        <p:txBody>
          <a:bodyPr wrap="square" lIns="0" tIns="0" rIns="0" bIns="0" rtlCol="0" anchor="ctr"/>
          <a:lstStyle/>
          <a:p>
            <a:pPr indent="0" marL="0">
              <a:buNone/>
            </a:pPr>
            <a:r>
              <a:rPr lang="en-US" sz="1700" b="1" dirty="0">
                <a:solidFill>
                  <a:srgbClr val="E8590C"/>
                </a:solidFill>
                <a:latin typeface="Arial" pitchFamily="34" charset="0"/>
                <a:ea typeface="Arial" pitchFamily="34" charset="-122"/>
                <a:cs typeface="Arial" pitchFamily="34" charset="-120"/>
              </a:rPr>
              <a:t>[Flags]</a:t>
            </a:r>
            <a:endParaRPr lang="en-US" sz="1700" dirty="0"/>
          </a:p>
        </p:txBody>
      </p:sp>
      <p:sp>
        <p:nvSpPr>
          <p:cNvPr id="31" name="Text 28"/>
          <p:cNvSpPr txBox="1"/>
          <p:nvPr/>
        </p:nvSpPr>
        <p:spPr>
          <a:xfrm>
            <a:off x="9098280" y="4480560"/>
            <a:ext cx="2148840" cy="960120"/>
          </a:xfrm>
          <a:prstGeom prst="rect">
            <a:avLst/>
          </a:prstGeom>
          <a:noFill/>
          <a:ln/>
        </p:spPr>
        <p:txBody>
          <a:bodyPr wrap="square" lIns="0" tIns="0" rIns="0" bIns="0" rtlCol="0" anchor="t"/>
          <a:lstStyle/>
          <a:p>
            <a:pPr indent="0" marL="0">
              <a:buNone/>
            </a:pPr>
            <a:r>
              <a:rPr lang="en-US" sz="1450" dirty="0">
                <a:solidFill>
                  <a:srgbClr val="FFFFFF"/>
                </a:solidFill>
                <a:latin typeface="Calibri" pitchFamily="34" charset="0"/>
                <a:ea typeface="Calibri" pitchFamily="34" charset="-122"/>
                <a:cs typeface="Calibri" pitchFamily="34" charset="-120"/>
              </a:rPr>
              <a:t>des interrupteurs : 1, 2, 4, 8</a:t>
            </a:r>
            <a:endParaRPr lang="en-US" sz="14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CLÔTURE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Check-in et QCM de la séance 3 · 5 minutes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S3</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42</a:t>
            </a:r>
            <a:endParaRPr lang="en-US" sz="1000" dirty="0"/>
          </a:p>
        </p:txBody>
      </p:sp>
      <p:sp>
        <p:nvSpPr>
          <p:cNvPr id="8" name="Text 5"/>
          <p:cNvSpPr txBox="1"/>
          <p:nvPr/>
        </p:nvSpPr>
        <p:spPr>
          <a:xfrm>
            <a:off x="640080" y="1920240"/>
            <a:ext cx="10911535" cy="731520"/>
          </a:xfrm>
          <a:prstGeom prst="rect">
            <a:avLst/>
          </a:prstGeom>
          <a:noFill/>
          <a:ln/>
        </p:spPr>
        <p:txBody>
          <a:bodyPr wrap="square" lIns="0" tIns="0" rIns="0" bIns="0" rtlCol="0" anchor="ctr"/>
          <a:lstStyle/>
          <a:p>
            <a:pPr indent="0" marL="0">
              <a:buNone/>
            </a:pPr>
            <a:r>
              <a:rPr lang="en-US" sz="3000" b="1" dirty="0">
                <a:solidFill>
                  <a:srgbClr val="E8590C"/>
                </a:solidFill>
                <a:latin typeface="Arial" pitchFamily="34" charset="0"/>
                <a:ea typeface="Arial" pitchFamily="34" charset="-122"/>
                <a:cs typeface="Arial" pitchFamily="34" charset="-120"/>
              </a:rPr>
              <a:t>Lien dans le chat.</a:t>
            </a:r>
            <a:endParaRPr lang="en-US" sz="3000" dirty="0"/>
          </a:p>
        </p:txBody>
      </p:sp>
      <p:sp>
        <p:nvSpPr>
          <p:cNvPr id="9" name="Text 6"/>
          <p:cNvSpPr txBox="1"/>
          <p:nvPr/>
        </p:nvSpPr>
        <p:spPr>
          <a:xfrm>
            <a:off x="640080" y="2926080"/>
            <a:ext cx="8229600" cy="2377440"/>
          </a:xfrm>
          <a:prstGeom prst="rect">
            <a:avLst/>
          </a:prstGeom>
          <a:noFill/>
          <a:ln/>
        </p:spPr>
        <p:txBody>
          <a:bodyPr wrap="square" lIns="0" tIns="0" rIns="0" bIns="0" rtlCol="0" anchor="t"/>
          <a:lstStyle/>
          <a:p>
            <a:pPr marL="228600" indent="-228600">
              <a:spcAft>
                <a:spcPts val="800"/>
              </a:spcAft>
              <a:buSzPct val="100000"/>
              <a:buChar char="•"/>
            </a:pPr>
            <a:r>
              <a:rPr lang="en-US" sz="2100" dirty="0">
                <a:solidFill>
                  <a:srgbClr val="16181D"/>
                </a:solidFill>
                <a:latin typeface="Calibri" pitchFamily="34" charset="0"/>
                <a:ea typeface="Calibri" pitchFamily="34" charset="-122"/>
                <a:cs typeface="Calibri" pitchFamily="34" charset="-120"/>
              </a:rPr>
              <a:t>Votre présence du jour</a:t>
            </a:r>
            <a:endParaRPr lang="en-US" sz="2100" dirty="0"/>
          </a:p>
          <a:p>
            <a:pPr marL="228600" indent="-228600">
              <a:spcAft>
                <a:spcPts val="800"/>
              </a:spcAft>
              <a:buSzPct val="100000"/>
              <a:buChar char="•"/>
            </a:pPr>
            <a:r>
              <a:rPr lang="en-US" sz="2100" dirty="0">
                <a:solidFill>
                  <a:srgbClr val="16181D"/>
                </a:solidFill>
                <a:latin typeface="Calibri" pitchFamily="34" charset="0"/>
                <a:ea typeface="Calibri" pitchFamily="34" charset="-122"/>
                <a:cs typeface="Calibri" pitchFamily="34" charset="-120"/>
              </a:rPr>
              <a:t>6 questions sur les types, null, les chaînes, static, virtual et [Flags]</a:t>
            </a:r>
            <a:endParaRPr lang="en-US" sz="2100" dirty="0"/>
          </a:p>
          <a:p>
            <a:pPr marL="228600" indent="-228600">
              <a:spcAft>
                <a:spcPts val="800"/>
              </a:spcAft>
              <a:buSzPct val="100000"/>
              <a:buChar char="•"/>
            </a:pPr>
            <a:r>
              <a:rPr lang="en-US" sz="2100" dirty="0">
                <a:solidFill>
                  <a:srgbClr val="16181D"/>
                </a:solidFill>
                <a:latin typeface="Calibri" pitchFamily="34" charset="0"/>
                <a:ea typeface="Calibri" pitchFamily="34" charset="-122"/>
                <a:cs typeface="Calibri" pitchFamily="34" charset="-120"/>
              </a:rPr>
              <a:t>Couleur rouge : sans IA</a:t>
            </a:r>
            <a:endParaRPr lang="en-US" sz="2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6181D"/>
        </a:solidFill>
      </p:bgPr>
    </p:bg>
    <p:spTree>
      <p:nvGrpSpPr>
        <p:cNvPr id="1" name=""/>
        <p:cNvGrpSpPr/>
        <p:nvPr/>
      </p:nvGrpSpPr>
      <p:grpSpPr>
        <a:xfrm>
          <a:off x="0" y="0"/>
          <a:ext cx="0" cy="0"/>
          <a:chOff x="0" y="0"/>
          <a:chExt cx="0" cy="0"/>
        </a:xfrm>
      </p:grpSpPr>
      <p:sp>
        <p:nvSpPr>
          <p:cNvPr id="2" name="Shape 0"/>
          <p:cNvSpPr/>
          <p:nvPr/>
        </p:nvSpPr>
        <p:spPr>
          <a:xfrm>
            <a:off x="640080" y="2286000"/>
            <a:ext cx="274320" cy="274320"/>
          </a:xfrm>
          <a:prstGeom prst="rect">
            <a:avLst/>
          </a:prstGeom>
          <a:solidFill>
            <a:srgbClr val="E8590C"/>
          </a:solidFill>
          <a:ln w="12700">
            <a:solidFill>
              <a:srgbClr val="E8590C"/>
            </a:solidFill>
            <a:prstDash val="solid"/>
          </a:ln>
        </p:spPr>
      </p:sp>
      <p:sp>
        <p:nvSpPr>
          <p:cNvPr id="3" name="Text 1"/>
          <p:cNvSpPr txBox="1"/>
          <p:nvPr/>
        </p:nvSpPr>
        <p:spPr>
          <a:xfrm>
            <a:off x="640080" y="2743200"/>
            <a:ext cx="10911535" cy="9144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Merci. À mercredi prochain.</a:t>
            </a:r>
            <a:endParaRPr lang="en-US" sz="4400" dirty="0"/>
          </a:p>
        </p:txBody>
      </p:sp>
      <p:sp>
        <p:nvSpPr>
          <p:cNvPr id="4" name="Text 2"/>
          <p:cNvSpPr txBox="1"/>
          <p:nvPr/>
        </p:nvSpPr>
        <p:spPr>
          <a:xfrm>
            <a:off x="640080" y="3749040"/>
            <a:ext cx="10911535" cy="548640"/>
          </a:xfrm>
          <a:prstGeom prst="rect">
            <a:avLst/>
          </a:prstGeom>
          <a:noFill/>
          <a:ln/>
        </p:spPr>
        <p:txBody>
          <a:bodyPr wrap="square" lIns="0" tIns="0" rIns="0" bIns="0" rtlCol="0" anchor="ctr"/>
          <a:lstStyle/>
          <a:p>
            <a:pPr indent="0" marL="0">
              <a:buNone/>
            </a:pPr>
            <a:r>
              <a:rPr lang="en-US" sz="2000" dirty="0">
                <a:solidFill>
                  <a:srgbClr val="C9CDD3"/>
                </a:solidFill>
                <a:latin typeface="Calibri" pitchFamily="34" charset="0"/>
                <a:ea typeface="Calibri" pitchFamily="34" charset="-122"/>
                <a:cs typeface="Calibri" pitchFamily="34" charset="-120"/>
              </a:rPr>
              <a:t>Séance 4 · Travailler en équipe : Git, Conventional Commits, pull requests, Scrum, Livrable 1</a:t>
            </a:r>
            <a:endParaRPr lang="en-US" sz="2000" dirty="0"/>
          </a:p>
        </p:txBody>
      </p:sp>
      <p:sp>
        <p:nvSpPr>
          <p:cNvPr id="5" name="Text 3"/>
          <p:cNvSpPr txBox="1"/>
          <p:nvPr/>
        </p:nvSpPr>
        <p:spPr>
          <a:xfrm>
            <a:off x="640080" y="5303520"/>
            <a:ext cx="10911535" cy="365760"/>
          </a:xfrm>
          <a:prstGeom prst="rect">
            <a:avLst/>
          </a:prstGeom>
          <a:noFill/>
          <a:ln/>
        </p:spPr>
        <p:txBody>
          <a:bodyPr wrap="square" lIns="0" tIns="0" rIns="0" bIns="0" rtlCol="0" anchor="ctr"/>
          <a:lstStyle/>
          <a:p>
            <a:pPr indent="0" marL="0">
              <a:buNone/>
            </a:pPr>
            <a:r>
              <a:rPr lang="en-US" sz="1400" dirty="0">
                <a:solidFill>
                  <a:srgbClr val="9AA0A8"/>
                </a:solidFill>
                <a:latin typeface="Calibri" pitchFamily="34" charset="0"/>
                <a:ea typeface="Calibri" pitchFamily="34" charset="-122"/>
                <a:cs typeface="Calibri" pitchFamily="34" charset="-120"/>
              </a:rPr>
              <a:t>Pour la séance 4 : installer Git (git-scm.com). Les identifiants de la forge du cours arriveront par e-mail.</a:t>
            </a:r>
            <a:endParaRPr lang="en-US" sz="14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9AA0A8"/>
                </a:solidFill>
                <a:latin typeface="Calibri" pitchFamily="34" charset="0"/>
                <a:ea typeface="Calibri" pitchFamily="34" charset="-122"/>
                <a:cs typeface="Calibri" pitchFamily="34" charset="-120"/>
              </a:rPr>
              <a:t>43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Complément Application — Séance 3</dc:title>
  <dc:subject>PptxGenJS Presentation</dc:subject>
  <dc:creator>Ludwig Lebrun</dc:creator>
  <cp:lastModifiedBy>Ludwig Lebrun</cp:lastModifiedBy>
  <cp:revision>1</cp:revision>
  <dcterms:created xsi:type="dcterms:W3CDTF">2026-10-21T18:03:54Z</dcterms:created>
  <dcterms:modified xsi:type="dcterms:W3CDTF">2026-10-21T18:03:54Z</dcterms:modified>
</cp:coreProperties>
</file>