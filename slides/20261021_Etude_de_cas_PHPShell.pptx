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Le nom « PHPShell » qui circule désigne en réalité « PHP2Shell » (parfois écrit php2shell) : c'est le nom donné à deux vulnérabilités critiques du moteur PHP, corrigées hier en urgence. Le nom vient d'une capture d'écran d'un outil d'exploitation qui a fuité la veille. Il ne faut pas le confondre avec les « web shells » PHP en général, ces petits scripts qu'un attaquant dépose sur un serveur pour le piloter. Ici, la faille n'est pas dans une application mais dans l'interpréteur lui-même. Les faits datent de moins de 48 heures : certains points vont encore évoluer, et je le signalerai à chaque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3 min] Commencer par les chiffres. Deux CVE, chacune notée 9,2 sur 10 en CVSS version 4 par l'équipe PHP. Toutes les versions depuis PHP 5.4 sont touchées, selon Wiz, qui a découvert les failles. PHP fait tourner environ sept sites web sur dix, dont WordPress, Drupal et Joomla. Ensuite la chronologie. Fin août, l'équipe de recherche de Wiz trouve les failles en s'aidant de modèles d'IA et les signale à l'équipe PHP le 24 août ; OpenAI et la société Calif sont aussi crédités. La publication coordonnée était prévue le jeudi 22 octobre. Mais le mardi 20 octobre vers 15 h 20 UTC, l'information fuite : un message sur Hacker News, puis une capture d'écran d'un outil nommé PHP2Shell. Le soir même, l'équipe PHP annonce une publication anticipée. Le 21 octobre, Cloudflare active des règles de filtrage vers 3 h UTC et dit observer du trafic d'attaque. Les versions corrigées sortent vers 13 h 30 UTC, et les CERT publient leurs alertes dans l'après-midi.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5 min] Lire le schéma colonne par colonne. Point de départ : un serveur PHP ne démarre pas un nouveau processus à chaque visite. Un même worker (un processus PHP-FPM ou Apache avec mod_php) traite des requêtes les unes après les autres. Colonne 1 : au début de chaque requête, phase appelée RINIT, PHP lit lui-même le corps de la requête. Pour un envoi de fichiers au format multipart/form-data, il découpe les parties et peut suivre la progression de l'envoi dans la session. L'attaquant construit un envoi qui fait atteindre memory_limit à ce moment précis : PHP déclenche une erreur fatale et abandonne la requête d'un coup, c'est le « bailout ». Colonne 2 : en fin de requête, phase RSHUTDOWN, PHP libère toute la mémoire de la requête. Première faille, CVE-2026-109618 : ce nettoyage parcourt des structures qui n'étaient qu'à moitié initialisées et les traite comme valides, ce qui corrompt la mémoire. Seconde faille, CVE-2026-109619 : une variable globale du moteur pointe encore vers la zone libérée, personne ne l'a remise à zéro. On parle de pointeur pendant. Colonne 3 : la requête suivante, dans le même worker, réutilise ce pointeur alors que la zone a été réattribuée à d'autres données. C'est une utilisation après libération, un use-after-free (CWE-416). Si l'attaquant parvient à placer ses propres données dans cette zone, et il peut envoyer lui-même la requête suivante, il peut détourner l'exécution. Insister sur le bas du schéma : le script de l'application n'est jamais exécuté, une page « Hello World » suffit. Ne pas entrer dans le détail de l'exploitation.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[0:09 – 3 min] Reprendre les termes du schéma. Le worker : un processus réutilisé, c'est ce qui rend possible le passage d'état entre deux requêtes. RINIT et RSHUTDOWN : les noms des phases de début et de fin de requête dans le moteur PHP. multipart/form-data : le format d'un formulaire d'envoi de fichiers ; PHP le découpe avant que votre code ne s'exécute. memory_limit et bailout : quand la limite de mémoire est atteinte, PHP ne termine pas proprement ce qu'il faisait, il saute directement à la fin de la requête. Use-after-free : utiliser une mémoire déjà rendue, référencée par la CWE-416. Le code à droite est une illustration en C, pas le vrai code de PHP : une variable static survit entre les requêtes, comme un membre static en C# appartient à la classe et non à un objet (lien avec la séance 3). La correction tient en une ligne : remettre le pointeur à NULL au nettoyage. C'est le type d'erreur que les langages à mémoire gérée comme C# évitent, mais le moteur qui exécute un langage, lui, est souvent écrit en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3 min] Qui est concerné : toutes les installations PHP qui servent des requêtes web, quel que soit le mode : PHP-FPM, Apache avec mod_php, php-cgi, FrankenPHP, LiteSpeed. Selon l'équipe PHP, mod_php est le cas le plus exposé. Peu importe l'application : WordPress, Drupal, Laravel ou un script maison. Les versions corrigées sont dans le tableau. La branche 8.2 sera encore corrigée jusqu'au 31 décembre 2026. Pour 7.4, 8.0 et 8.1, l'équipe PHP ne publie pas de version, seulement des correctifs à compiler soi-même ; en dessous, rien. Que faire : d'abord l'inventaire, y compris les images Docker et les produits qui embarquent PHP. Ensuite mettre à jour, via les paquets de la distribution, qui ont reçu les correctifs à l'avance. Les mesures temporaires (désactiver session.upload_progress, limiter la taille des requêtes, bloquer les envois multipart inutiles) réduisent le risque mais, selon l'équipe PHP et le CERT-EU, ne rendent pas l'installation sûre. Si on ne peut ni corriger ni atténuer, le CERT-FR et le NCSC recommandent d'isoler le serveur, voire de le couper.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2 min] Bien séparer les deux colonnes. À gauche, ce qui est publié par l'équipe PHP et confirmé par les CERT. À droite, ce qui reste flou à la date d'aujourd'hui. Sur l'exploitation, les sources divergent : Cloudflare dit voir du trafic d'attaque et des attaquants qui modifient leurs requêtes pour contourner ses règles ; mais au moment de leurs publications, watchTowr et Huntress n'avaient pas observé d'exploitation, et l'alerte du CERT-FR n'en mentionne pas. Des tentatives ne sont pas forcément des compromissions réussies. Des preuves de concept circulent sur GitHub : leur fiabilité n'est pas vérifiée, et en télécharger une, c'est aussi risquer d'exécuter un code piégé. Enfin, la presse évoque des sites mis hors ligne par précaution : à confirmer.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 – 4 min] Ramener le cas au cours, ligne par ligne. Validation des entrées : on apprend à valider ce qui entre dans notre code ; ici l'attaque arrive avant. Il faut donc aussi poser des limites en amont, au niveau du serveur web ou du proxy (taille des requêtes, nombre de champs). Upload de fichiers : le traitement d'un envoi de fichiers est une surface d'attaque en soi ; on désactive ce qui ne sert pas, et on fixe des tailles maximales. Exécution de code : l'attaquant obtient les droits du processus web ; d'où le moindre privilège, un compte dédié, pas de droit d'écriture sur le dossier du site. État global : la seconde faille vient d'un état partagé qui survit d'une requête à l'autre ; c'est exactement ce que l'encapsulation cherche à éviter dans notre propre code. Mises à jour : un correctif n'a de valeur que s'il est appliqué ; savoir quelles versions tournent, reconstruire les images Docker, rester sur une branche supportée. Secrets : la faille permet aussi de lire la mémoire du serveur ; après une compromission, on considère les mots de passe et clés d'API comme connus et on les renouvelle.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 – 0 min] Slide de référence, à partager. Rappeler l'esprit critique : les sources primaires (équipe PHP, CERT) d'abord, la presse ensuite. La situation évolue d'heure en heure ; vérifier les mises à jour des alertes avant de citer un chiffre.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554480"/>
            <a:ext cx="10911535" cy="457200"/>
          </a:xfrm>
          <a:prstGeom prst="rect">
            <a:avLst/>
          </a:prstGeom>
          <a:noFill/>
          <a:ln/>
        </p:spPr>
        <p:txBody>
          <a:bodyPr wrap="square" lIns="0" tIns="0" rIns="0" bIns="0" rtlCol="0" anchor="ctr"/>
          <a:lstStyle/>
          <a:p>
            <a:pPr indent="0" marL="0">
              <a:buNone/>
            </a:pPr>
            <a:r>
              <a:rPr lang="en-US" sz="1600" b="1" spc="300" kern="0" dirty="0">
                <a:solidFill>
                  <a:srgbClr val="E8590C"/>
                </a:solidFill>
                <a:latin typeface="Calibri" pitchFamily="34" charset="0"/>
                <a:ea typeface="Calibri" pitchFamily="34" charset="-122"/>
                <a:cs typeface="Calibri" pitchFamily="34" charset="-120"/>
              </a:rPr>
              <a:t>FAILLE DU JOUR · 21 OCTOBRE 2026</a:t>
            </a:r>
            <a:endParaRPr lang="en-US" sz="1600" dirty="0"/>
          </a:p>
        </p:txBody>
      </p:sp>
      <p:sp>
        <p:nvSpPr>
          <p:cNvPr id="3" name="Text 1"/>
          <p:cNvSpPr txBox="1"/>
          <p:nvPr/>
        </p:nvSpPr>
        <p:spPr>
          <a:xfrm>
            <a:off x="640080" y="2103120"/>
            <a:ext cx="10911535" cy="18288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PHP2Shell :</a:t>
            </a:r>
            <a:endParaRPr lang="en-US" sz="4600" dirty="0"/>
          </a:p>
          <a:p>
            <a:pPr indent="0" marL="0">
              <a:buNone/>
            </a:pPr>
            <a:r>
              <a:rPr lang="en-US" sz="4600" b="1" dirty="0">
                <a:solidFill>
                  <a:srgbClr val="FFFFFF"/>
                </a:solidFill>
                <a:latin typeface="Arial" pitchFamily="34" charset="0"/>
                <a:ea typeface="Arial" pitchFamily="34" charset="-122"/>
                <a:cs typeface="Arial" pitchFamily="34" charset="-120"/>
              </a:rPr>
              <a:t>une faille dans PHP lui-même</a:t>
            </a:r>
            <a:endParaRPr lang="en-US" sz="4600" dirty="0"/>
          </a:p>
        </p:txBody>
      </p:sp>
      <p:sp>
        <p:nvSpPr>
          <p:cNvPr id="4" name="Text 2"/>
          <p:cNvSpPr txBox="1"/>
          <p:nvPr/>
        </p:nvSpPr>
        <p:spPr>
          <a:xfrm>
            <a:off x="640080" y="4069080"/>
            <a:ext cx="9875520" cy="1005840"/>
          </a:xfrm>
          <a:prstGeom prst="rect">
            <a:avLst/>
          </a:prstGeom>
          <a:noFill/>
          <a:ln/>
        </p:spPr>
        <p:txBody>
          <a:bodyPr wrap="square" lIns="0" tIns="0" rIns="0" bIns="0" rtlCol="0" anchor="t"/>
          <a:lstStyle/>
          <a:p>
            <a:pPr indent="0" marL="0">
              <a:buNone/>
            </a:pPr>
            <a:r>
              <a:rPr lang="en-US" sz="2000" dirty="0">
                <a:solidFill>
                  <a:srgbClr val="C9CDD3"/>
                </a:solidFill>
                <a:latin typeface="Calibri" pitchFamily="34" charset="0"/>
                <a:ea typeface="Calibri" pitchFamily="34" charset="-122"/>
                <a:cs typeface="Calibri" pitchFamily="34" charset="-120"/>
              </a:rPr>
              <a:t>Deux vulnérabilités critiques (CVE-2026-109618 et CVE-2026-109619) permettent d'exécuter du code à distance sur un serveur web PHP, sans authentification.</a:t>
            </a:r>
            <a:endParaRPr lang="en-US" sz="2000" dirty="0"/>
          </a:p>
        </p:txBody>
      </p:sp>
      <p:sp>
        <p:nvSpPr>
          <p:cNvPr id="5" name="Text 3"/>
          <p:cNvSpPr txBox="1"/>
          <p:nvPr/>
        </p:nvSpPr>
        <p:spPr>
          <a:xfrm>
            <a:off x="640080" y="5486400"/>
            <a:ext cx="10911535" cy="365760"/>
          </a:xfrm>
          <a:prstGeom prst="rect">
            <a:avLst/>
          </a:prstGeom>
          <a:noFill/>
          <a:ln/>
        </p:spPr>
        <p:txBody>
          <a:bodyPr wrap="square" lIns="0" tIns="0" rIns="0" bIns="0" rtlCol="0" anchor="ctr"/>
          <a:lstStyle/>
          <a:p>
            <a:pPr indent="0" marL="0">
              <a:buNone/>
            </a:pPr>
            <a:r>
              <a:rPr lang="en-US" sz="1300" dirty="0">
                <a:solidFill>
                  <a:srgbClr val="9AA0A8"/>
                </a:solidFill>
                <a:latin typeface="Calibri" pitchFamily="34" charset="0"/>
                <a:ea typeface="Calibri" pitchFamily="34" charset="-122"/>
                <a:cs typeface="Calibri" pitchFamily="34" charset="-120"/>
              </a:rPr>
              <a:t>Sources : avis de l'équipe PHP, CERT-FR, CERT-EU, NCSC, Wiz Research, Cloudflare, presse spécialisée. Liste complète en fin de présentation.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CE QUI S'EST PASSÉ</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Une fuite, puis un correctif publié en urgence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640080" y="1783080"/>
            <a:ext cx="2560320" cy="1463040"/>
          </a:xfrm>
          <a:prstGeom prst="roundRect">
            <a:avLst>
              <a:gd name="adj" fmla="val 5000"/>
            </a:avLst>
          </a:prstGeom>
          <a:solidFill>
            <a:srgbClr val="16181D"/>
          </a:solidFill>
          <a:ln w="12700">
            <a:solidFill>
              <a:srgbClr val="16181D"/>
            </a:solidFill>
            <a:prstDash val="solid"/>
          </a:ln>
        </p:spPr>
      </p:sp>
      <p:sp>
        <p:nvSpPr>
          <p:cNvPr id="9" name="Text 6"/>
          <p:cNvSpPr txBox="1"/>
          <p:nvPr/>
        </p:nvSpPr>
        <p:spPr>
          <a:xfrm>
            <a:off x="868680" y="1874520"/>
            <a:ext cx="2194560" cy="822960"/>
          </a:xfrm>
          <a:prstGeom prst="rect">
            <a:avLst/>
          </a:prstGeom>
          <a:noFill/>
          <a:ln/>
        </p:spPr>
        <p:txBody>
          <a:bodyPr wrap="square" lIns="0" tIns="0" rIns="0" bIns="0" rtlCol="0" anchor="ctr"/>
          <a:lstStyle/>
          <a:p>
            <a:pPr indent="0" marL="0">
              <a:buNone/>
            </a:pPr>
            <a:r>
              <a:rPr lang="en-US" sz="4000" b="1" dirty="0">
                <a:solidFill>
                  <a:srgbClr val="E8590C"/>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868680" y="2697480"/>
            <a:ext cx="2194560" cy="4114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CVE critiques</a:t>
            </a:r>
            <a:endParaRPr lang="en-US" sz="1600" dirty="0"/>
          </a:p>
        </p:txBody>
      </p:sp>
      <p:sp>
        <p:nvSpPr>
          <p:cNvPr id="11" name="Shape 8"/>
          <p:cNvSpPr/>
          <p:nvPr/>
        </p:nvSpPr>
        <p:spPr>
          <a:xfrm>
            <a:off x="3383280" y="1783080"/>
            <a:ext cx="2560320" cy="1463040"/>
          </a:xfrm>
          <a:prstGeom prst="roundRect">
            <a:avLst>
              <a:gd name="adj" fmla="val 5000"/>
            </a:avLst>
          </a:prstGeom>
          <a:solidFill>
            <a:srgbClr val="F2F3F5"/>
          </a:solidFill>
          <a:ln w="12700">
            <a:solidFill>
              <a:srgbClr val="F2F3F5"/>
            </a:solidFill>
            <a:prstDash val="solid"/>
          </a:ln>
        </p:spPr>
      </p:sp>
      <p:sp>
        <p:nvSpPr>
          <p:cNvPr id="12" name="Text 9"/>
          <p:cNvSpPr txBox="1"/>
          <p:nvPr/>
        </p:nvSpPr>
        <p:spPr>
          <a:xfrm>
            <a:off x="3611880" y="1874520"/>
            <a:ext cx="2194560" cy="822960"/>
          </a:xfrm>
          <a:prstGeom prst="rect">
            <a:avLst/>
          </a:prstGeom>
          <a:noFill/>
          <a:ln/>
        </p:spPr>
        <p:txBody>
          <a:bodyPr wrap="square" lIns="0" tIns="0" rIns="0" bIns="0" rtlCol="0" anchor="ctr"/>
          <a:lstStyle/>
          <a:p>
            <a:pPr indent="0" marL="0">
              <a:buNone/>
            </a:pPr>
            <a:r>
              <a:rPr lang="en-US" sz="4000" b="1" dirty="0">
                <a:solidFill>
                  <a:srgbClr val="16181D"/>
                </a:solidFill>
                <a:latin typeface="Arial" pitchFamily="34" charset="0"/>
                <a:ea typeface="Arial" pitchFamily="34" charset="-122"/>
                <a:cs typeface="Arial" pitchFamily="34" charset="-120"/>
              </a:rPr>
              <a:t>9,2</a:t>
            </a:r>
            <a:endParaRPr lang="en-US" sz="4000" dirty="0"/>
          </a:p>
        </p:txBody>
      </p:sp>
      <p:sp>
        <p:nvSpPr>
          <p:cNvPr id="13" name="Text 10"/>
          <p:cNvSpPr txBox="1"/>
          <p:nvPr/>
        </p:nvSpPr>
        <p:spPr>
          <a:xfrm>
            <a:off x="3611880" y="2697480"/>
            <a:ext cx="2194560" cy="4114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score CVSS v4</a:t>
            </a:r>
            <a:endParaRPr lang="en-US" sz="1600" dirty="0"/>
          </a:p>
        </p:txBody>
      </p:sp>
      <p:sp>
        <p:nvSpPr>
          <p:cNvPr id="14" name="Shape 11"/>
          <p:cNvSpPr/>
          <p:nvPr/>
        </p:nvSpPr>
        <p:spPr>
          <a:xfrm>
            <a:off x="6126480" y="1783080"/>
            <a:ext cx="2560320" cy="1463040"/>
          </a:xfrm>
          <a:prstGeom prst="roundRect">
            <a:avLst>
              <a:gd name="adj" fmla="val 5000"/>
            </a:avLst>
          </a:prstGeom>
          <a:solidFill>
            <a:srgbClr val="F2F3F5"/>
          </a:solidFill>
          <a:ln w="12700">
            <a:solidFill>
              <a:srgbClr val="F2F3F5"/>
            </a:solidFill>
            <a:prstDash val="solid"/>
          </a:ln>
        </p:spPr>
      </p:sp>
      <p:sp>
        <p:nvSpPr>
          <p:cNvPr id="15" name="Text 12"/>
          <p:cNvSpPr txBox="1"/>
          <p:nvPr/>
        </p:nvSpPr>
        <p:spPr>
          <a:xfrm>
            <a:off x="6355080" y="1874520"/>
            <a:ext cx="2194560" cy="822960"/>
          </a:xfrm>
          <a:prstGeom prst="rect">
            <a:avLst/>
          </a:prstGeom>
          <a:noFill/>
          <a:ln/>
        </p:spPr>
        <p:txBody>
          <a:bodyPr wrap="square" lIns="0" tIns="0" rIns="0" bIns="0" rtlCol="0" anchor="ctr"/>
          <a:lstStyle/>
          <a:p>
            <a:pPr indent="0" marL="0">
              <a:buNone/>
            </a:pPr>
            <a:r>
              <a:rPr lang="en-US" sz="4000" b="1" dirty="0">
                <a:solidFill>
                  <a:srgbClr val="16181D"/>
                </a:solidFill>
                <a:latin typeface="Arial" pitchFamily="34" charset="0"/>
                <a:ea typeface="Arial" pitchFamily="34" charset="-122"/>
                <a:cs typeface="Arial" pitchFamily="34" charset="-120"/>
              </a:rPr>
              <a:t>5.4+</a:t>
            </a:r>
            <a:endParaRPr lang="en-US" sz="4000" dirty="0"/>
          </a:p>
        </p:txBody>
      </p:sp>
      <p:sp>
        <p:nvSpPr>
          <p:cNvPr id="16" name="Text 13"/>
          <p:cNvSpPr txBox="1"/>
          <p:nvPr/>
        </p:nvSpPr>
        <p:spPr>
          <a:xfrm>
            <a:off x="6355080" y="2697480"/>
            <a:ext cx="2194560" cy="4114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versions touchées</a:t>
            </a:r>
            <a:endParaRPr lang="en-US" sz="1600" dirty="0"/>
          </a:p>
        </p:txBody>
      </p:sp>
      <p:sp>
        <p:nvSpPr>
          <p:cNvPr id="17" name="Shape 14"/>
          <p:cNvSpPr/>
          <p:nvPr/>
        </p:nvSpPr>
        <p:spPr>
          <a:xfrm>
            <a:off x="8869680" y="1783080"/>
            <a:ext cx="2560320" cy="1463040"/>
          </a:xfrm>
          <a:prstGeom prst="roundRect">
            <a:avLst>
              <a:gd name="adj" fmla="val 5000"/>
            </a:avLst>
          </a:prstGeom>
          <a:solidFill>
            <a:srgbClr val="F2F3F5"/>
          </a:solidFill>
          <a:ln w="12700">
            <a:solidFill>
              <a:srgbClr val="F2F3F5"/>
            </a:solidFill>
            <a:prstDash val="solid"/>
          </a:ln>
        </p:spPr>
      </p:sp>
      <p:sp>
        <p:nvSpPr>
          <p:cNvPr id="18" name="Text 15"/>
          <p:cNvSpPr txBox="1"/>
          <p:nvPr/>
        </p:nvSpPr>
        <p:spPr>
          <a:xfrm>
            <a:off x="9098280" y="1874520"/>
            <a:ext cx="2194560" cy="822960"/>
          </a:xfrm>
          <a:prstGeom prst="rect">
            <a:avLst/>
          </a:prstGeom>
          <a:noFill/>
          <a:ln/>
        </p:spPr>
        <p:txBody>
          <a:bodyPr wrap="square" lIns="0" tIns="0" rIns="0" bIns="0" rtlCol="0" anchor="ctr"/>
          <a:lstStyle/>
          <a:p>
            <a:pPr indent="0" marL="0">
              <a:buNone/>
            </a:pPr>
            <a:r>
              <a:rPr lang="en-US" sz="4000" b="1" dirty="0">
                <a:solidFill>
                  <a:srgbClr val="16181D"/>
                </a:solidFill>
                <a:latin typeface="Arial" pitchFamily="34" charset="0"/>
                <a:ea typeface="Arial" pitchFamily="34" charset="-122"/>
                <a:cs typeface="Arial" pitchFamily="34" charset="-120"/>
              </a:rPr>
              <a:t>~70 %</a:t>
            </a:r>
            <a:endParaRPr lang="en-US" sz="4000" dirty="0"/>
          </a:p>
        </p:txBody>
      </p:sp>
      <p:sp>
        <p:nvSpPr>
          <p:cNvPr id="19" name="Text 16"/>
          <p:cNvSpPr txBox="1"/>
          <p:nvPr/>
        </p:nvSpPr>
        <p:spPr>
          <a:xfrm>
            <a:off x="9098280" y="2697480"/>
            <a:ext cx="2194560" cy="41148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des sites web en PHP</a:t>
            </a:r>
            <a:endParaRPr lang="en-US" sz="1600" dirty="0"/>
          </a:p>
        </p:txBody>
      </p:sp>
      <p:sp>
        <p:nvSpPr>
          <p:cNvPr id="20" name="Shape 17"/>
          <p:cNvSpPr/>
          <p:nvPr/>
        </p:nvSpPr>
        <p:spPr>
          <a:xfrm>
            <a:off x="868680" y="3703320"/>
            <a:ext cx="8412480" cy="0"/>
          </a:xfrm>
          <a:prstGeom prst="line">
            <a:avLst/>
          </a:prstGeom>
          <a:noFill/>
          <a:ln w="25400">
            <a:solidFill>
              <a:srgbClr val="D9DCE1"/>
            </a:solidFill>
            <a:prstDash val="solid"/>
          </a:ln>
        </p:spPr>
      </p:sp>
      <p:sp>
        <p:nvSpPr>
          <p:cNvPr id="21" name="Shape 18"/>
          <p:cNvSpPr/>
          <p:nvPr/>
        </p:nvSpPr>
        <p:spPr>
          <a:xfrm>
            <a:off x="685800" y="3520440"/>
            <a:ext cx="365760" cy="365760"/>
          </a:xfrm>
          <a:prstGeom prst="ellipse">
            <a:avLst/>
          </a:prstGeom>
          <a:solidFill>
            <a:srgbClr val="E8590C"/>
          </a:solidFill>
          <a:ln w="25400">
            <a:solidFill>
              <a:srgbClr val="FFFFFF"/>
            </a:solidFill>
            <a:prstDash val="solid"/>
          </a:ln>
        </p:spPr>
      </p:sp>
      <p:sp>
        <p:nvSpPr>
          <p:cNvPr id="22" name="Text 19"/>
          <p:cNvSpPr txBox="1"/>
          <p:nvPr/>
        </p:nvSpPr>
        <p:spPr>
          <a:xfrm>
            <a:off x="640080" y="4023360"/>
            <a:ext cx="2606040" cy="41148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19-24 août</a:t>
            </a:r>
            <a:endParaRPr lang="en-US" sz="1600" dirty="0"/>
          </a:p>
        </p:txBody>
      </p:sp>
      <p:sp>
        <p:nvSpPr>
          <p:cNvPr id="23" name="Text 20"/>
          <p:cNvSpPr txBox="1"/>
          <p:nvPr/>
        </p:nvSpPr>
        <p:spPr>
          <a:xfrm>
            <a:off x="640080" y="4434840"/>
            <a:ext cx="2560320" cy="1371600"/>
          </a:xfrm>
          <a:prstGeom prst="rect">
            <a:avLst/>
          </a:prstGeom>
          <a:noFill/>
          <a:ln/>
        </p:spPr>
        <p:txBody>
          <a:bodyPr wrap="square" lIns="0" tIns="0" rIns="0" bIns="0" rtlCol="0" anchor="t"/>
          <a:lstStyle/>
          <a:p>
            <a:pPr indent="0" marL="0">
              <a:buNone/>
            </a:pPr>
            <a:r>
              <a:rPr lang="en-US" sz="1450" dirty="0">
                <a:solidFill>
                  <a:srgbClr val="16181D"/>
                </a:solidFill>
                <a:latin typeface="Calibri" pitchFamily="34" charset="0"/>
                <a:ea typeface="Calibri" pitchFamily="34" charset="-122"/>
                <a:cs typeface="Calibri" pitchFamily="34" charset="-120"/>
              </a:rPr>
              <a:t>Wiz découvre les failles avec l'aide de modèles d'IA et les signale à l'équipe PHP.</a:t>
            </a:r>
            <a:endParaRPr lang="en-US" sz="1450" dirty="0"/>
          </a:p>
        </p:txBody>
      </p:sp>
      <p:sp>
        <p:nvSpPr>
          <p:cNvPr id="24" name="Shape 21"/>
          <p:cNvSpPr/>
          <p:nvPr/>
        </p:nvSpPr>
        <p:spPr>
          <a:xfrm>
            <a:off x="3429000" y="3520440"/>
            <a:ext cx="365760" cy="365760"/>
          </a:xfrm>
          <a:prstGeom prst="ellipse">
            <a:avLst/>
          </a:prstGeom>
          <a:solidFill>
            <a:srgbClr val="E8590C"/>
          </a:solidFill>
          <a:ln w="25400">
            <a:solidFill>
              <a:srgbClr val="FFFFFF"/>
            </a:solidFill>
            <a:prstDash val="solid"/>
          </a:ln>
        </p:spPr>
      </p:sp>
      <p:sp>
        <p:nvSpPr>
          <p:cNvPr id="25" name="Text 22"/>
          <p:cNvSpPr txBox="1"/>
          <p:nvPr/>
        </p:nvSpPr>
        <p:spPr>
          <a:xfrm>
            <a:off x="3383280" y="4023360"/>
            <a:ext cx="2606040" cy="41148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20 oct., 15 h 20 UTC</a:t>
            </a:r>
            <a:endParaRPr lang="en-US" sz="1600" dirty="0"/>
          </a:p>
        </p:txBody>
      </p:sp>
      <p:sp>
        <p:nvSpPr>
          <p:cNvPr id="26" name="Text 23"/>
          <p:cNvSpPr txBox="1"/>
          <p:nvPr/>
        </p:nvSpPr>
        <p:spPr>
          <a:xfrm>
            <a:off x="3383280" y="4434840"/>
            <a:ext cx="2560320" cy="1371600"/>
          </a:xfrm>
          <a:prstGeom prst="rect">
            <a:avLst/>
          </a:prstGeom>
          <a:noFill/>
          <a:ln/>
        </p:spPr>
        <p:txBody>
          <a:bodyPr wrap="square" lIns="0" tIns="0" rIns="0" bIns="0" rtlCol="0" anchor="t"/>
          <a:lstStyle/>
          <a:p>
            <a:pPr indent="0" marL="0">
              <a:buNone/>
            </a:pPr>
            <a:r>
              <a:rPr lang="en-US" sz="1450" dirty="0">
                <a:solidFill>
                  <a:srgbClr val="16181D"/>
                </a:solidFill>
                <a:latin typeface="Calibri" pitchFamily="34" charset="0"/>
                <a:ea typeface="Calibri" pitchFamily="34" charset="-122"/>
                <a:cs typeface="Calibri" pitchFamily="34" charset="-120"/>
              </a:rPr>
              <a:t>Fuite avant la date prévue (22 oct.). L'équipe PHP annonce une publication anticipée.</a:t>
            </a:r>
            <a:endParaRPr lang="en-US" sz="1450" dirty="0"/>
          </a:p>
        </p:txBody>
      </p:sp>
      <p:sp>
        <p:nvSpPr>
          <p:cNvPr id="27" name="Shape 24"/>
          <p:cNvSpPr/>
          <p:nvPr/>
        </p:nvSpPr>
        <p:spPr>
          <a:xfrm>
            <a:off x="6172200" y="3520440"/>
            <a:ext cx="365760" cy="365760"/>
          </a:xfrm>
          <a:prstGeom prst="ellipse">
            <a:avLst/>
          </a:prstGeom>
          <a:solidFill>
            <a:srgbClr val="C92A2A"/>
          </a:solidFill>
          <a:ln w="25400">
            <a:solidFill>
              <a:srgbClr val="FFFFFF"/>
            </a:solidFill>
            <a:prstDash val="solid"/>
          </a:ln>
        </p:spPr>
      </p:sp>
      <p:sp>
        <p:nvSpPr>
          <p:cNvPr id="28" name="Text 25"/>
          <p:cNvSpPr txBox="1"/>
          <p:nvPr/>
        </p:nvSpPr>
        <p:spPr>
          <a:xfrm>
            <a:off x="6126480" y="4023360"/>
            <a:ext cx="2606040" cy="411480"/>
          </a:xfrm>
          <a:prstGeom prst="rect">
            <a:avLst/>
          </a:prstGeom>
          <a:noFill/>
          <a:ln/>
        </p:spPr>
        <p:txBody>
          <a:bodyPr wrap="square" lIns="0" tIns="0" rIns="0" bIns="0" rtlCol="0" anchor="ctr"/>
          <a:lstStyle/>
          <a:p>
            <a:pPr indent="0" marL="0">
              <a:buNone/>
            </a:pPr>
            <a:r>
              <a:rPr lang="en-US" sz="1600" b="1" dirty="0">
                <a:solidFill>
                  <a:srgbClr val="C92A2A"/>
                </a:solidFill>
                <a:latin typeface="Arial" pitchFamily="34" charset="0"/>
                <a:ea typeface="Arial" pitchFamily="34" charset="-122"/>
                <a:cs typeface="Arial" pitchFamily="34" charset="-120"/>
              </a:rPr>
              <a:t>21 oct., 3 h UTC</a:t>
            </a:r>
            <a:endParaRPr lang="en-US" sz="1600" dirty="0"/>
          </a:p>
        </p:txBody>
      </p:sp>
      <p:sp>
        <p:nvSpPr>
          <p:cNvPr id="29" name="Text 26"/>
          <p:cNvSpPr txBox="1"/>
          <p:nvPr/>
        </p:nvSpPr>
        <p:spPr>
          <a:xfrm>
            <a:off x="6126480" y="4434840"/>
            <a:ext cx="2560320" cy="1371600"/>
          </a:xfrm>
          <a:prstGeom prst="rect">
            <a:avLst/>
          </a:prstGeom>
          <a:noFill/>
          <a:ln/>
        </p:spPr>
        <p:txBody>
          <a:bodyPr wrap="square" lIns="0" tIns="0" rIns="0" bIns="0" rtlCol="0" anchor="t"/>
          <a:lstStyle/>
          <a:p>
            <a:pPr indent="0" marL="0">
              <a:buNone/>
            </a:pPr>
            <a:r>
              <a:rPr lang="en-US" sz="1450" dirty="0">
                <a:solidFill>
                  <a:srgbClr val="16181D"/>
                </a:solidFill>
                <a:latin typeface="Calibri" pitchFamily="34" charset="0"/>
                <a:ea typeface="Calibri" pitchFamily="34" charset="-122"/>
                <a:cs typeface="Calibri" pitchFamily="34" charset="-120"/>
              </a:rPr>
              <a:t>Cloudflare active des règles de filtrage et dit observer du trafic d'attaque.</a:t>
            </a:r>
            <a:endParaRPr lang="en-US" sz="1450" dirty="0"/>
          </a:p>
        </p:txBody>
      </p:sp>
      <p:sp>
        <p:nvSpPr>
          <p:cNvPr id="30" name="Shape 27"/>
          <p:cNvSpPr/>
          <p:nvPr/>
        </p:nvSpPr>
        <p:spPr>
          <a:xfrm>
            <a:off x="8915400" y="3520440"/>
            <a:ext cx="365760" cy="365760"/>
          </a:xfrm>
          <a:prstGeom prst="ellipse">
            <a:avLst/>
          </a:prstGeom>
          <a:solidFill>
            <a:srgbClr val="E8590C"/>
          </a:solidFill>
          <a:ln w="25400">
            <a:solidFill>
              <a:srgbClr val="FFFFFF"/>
            </a:solidFill>
            <a:prstDash val="solid"/>
          </a:ln>
        </p:spPr>
      </p:sp>
      <p:sp>
        <p:nvSpPr>
          <p:cNvPr id="31" name="Text 28"/>
          <p:cNvSpPr txBox="1"/>
          <p:nvPr/>
        </p:nvSpPr>
        <p:spPr>
          <a:xfrm>
            <a:off x="8869680" y="4023360"/>
            <a:ext cx="2606040" cy="41148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21 oct., 13 h 30 UTC</a:t>
            </a:r>
            <a:endParaRPr lang="en-US" sz="1600" dirty="0"/>
          </a:p>
        </p:txBody>
      </p:sp>
      <p:sp>
        <p:nvSpPr>
          <p:cNvPr id="32" name="Text 29"/>
          <p:cNvSpPr txBox="1"/>
          <p:nvPr/>
        </p:nvSpPr>
        <p:spPr>
          <a:xfrm>
            <a:off x="8869680" y="4434840"/>
            <a:ext cx="2560320" cy="1371600"/>
          </a:xfrm>
          <a:prstGeom prst="rect">
            <a:avLst/>
          </a:prstGeom>
          <a:noFill/>
          <a:ln/>
        </p:spPr>
        <p:txBody>
          <a:bodyPr wrap="square" lIns="0" tIns="0" rIns="0" bIns="0" rtlCol="0" anchor="t"/>
          <a:lstStyle/>
          <a:p>
            <a:pPr indent="0" marL="0">
              <a:buNone/>
            </a:pPr>
            <a:r>
              <a:rPr lang="en-US" sz="1450" dirty="0">
                <a:solidFill>
                  <a:srgbClr val="16181D"/>
                </a:solidFill>
                <a:latin typeface="Calibri" pitchFamily="34" charset="0"/>
                <a:ea typeface="Calibri" pitchFamily="34" charset="-122"/>
                <a:cs typeface="Calibri" pitchFamily="34" charset="-120"/>
              </a:rPr>
              <a:t>Sortie de PHP 8.5.12, 8.4.27, 8.3.36 et 8.2.35. Alertes CERT-FR, CERT-EU, NCSC.</a:t>
            </a:r>
            <a:endParaRPr lang="en-US" sz="1450" dirty="0"/>
          </a:p>
        </p:txBody>
      </p:sp>
      <p:sp>
        <p:nvSpPr>
          <p:cNvPr id="33" name="Text 30"/>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php.net, annonces des 20 et 21/10/2026 ; Wiz Research ; Cloudflare ; Sansec et Huntress (chronologie de la fuite). Part des sites : chiffre cité par Wiz.</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COMMENT ÇA MARCHE · LE SCHÉMA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pointeur global qui survit à la requête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Text 5"/>
          <p:cNvSpPr txBox="1"/>
          <p:nvPr/>
        </p:nvSpPr>
        <p:spPr>
          <a:xfrm>
            <a:off x="640080" y="1783080"/>
            <a:ext cx="1508760" cy="1234440"/>
          </a:xfrm>
          <a:prstGeom prst="rect">
            <a:avLst/>
          </a:prstGeom>
          <a:noFill/>
          <a:ln/>
        </p:spPr>
        <p:txBody>
          <a:bodyPr wrap="square" lIns="0" tIns="0" rIns="0" bIns="0" rtlCol="0" anchor="ctr"/>
          <a:lstStyle/>
          <a:p>
            <a:pPr indent="0" marL="0">
              <a:buNone/>
            </a:pPr>
            <a:r>
              <a:rPr lang="en-US" sz="1500" b="1" dirty="0">
                <a:solidFill>
                  <a:srgbClr val="5F6670"/>
                </a:solidFill>
                <a:latin typeface="Arial" pitchFamily="34" charset="0"/>
                <a:ea typeface="Arial" pitchFamily="34" charset="-122"/>
                <a:cs typeface="Arial" pitchFamily="34" charset="-120"/>
              </a:rPr>
              <a:t>PHP</a:t>
            </a:r>
            <a:endParaRPr lang="en-US" sz="1500" dirty="0"/>
          </a:p>
        </p:txBody>
      </p:sp>
      <p:sp>
        <p:nvSpPr>
          <p:cNvPr id="9" name="Text 6"/>
          <p:cNvSpPr txBox="1"/>
          <p:nvPr/>
        </p:nvSpPr>
        <p:spPr>
          <a:xfrm>
            <a:off x="640080" y="3154680"/>
            <a:ext cx="1508760" cy="868680"/>
          </a:xfrm>
          <a:prstGeom prst="rect">
            <a:avLst/>
          </a:prstGeom>
          <a:noFill/>
          <a:ln/>
        </p:spPr>
        <p:txBody>
          <a:bodyPr wrap="square" lIns="0" tIns="0" rIns="0" bIns="0" rtlCol="0" anchor="ctr"/>
          <a:lstStyle/>
          <a:p>
            <a:pPr indent="0" marL="0">
              <a:buNone/>
            </a:pPr>
            <a:r>
              <a:rPr lang="en-US" sz="1500" b="1" dirty="0">
                <a:solidFill>
                  <a:srgbClr val="5F6670"/>
                </a:solidFill>
                <a:latin typeface="Arial" pitchFamily="34" charset="0"/>
                <a:ea typeface="Arial" pitchFamily="34" charset="-122"/>
                <a:cs typeface="Arial" pitchFamily="34" charset="-120"/>
              </a:rPr>
              <a:t>Mémoire (tas)</a:t>
            </a:r>
            <a:endParaRPr lang="en-US" sz="1500" dirty="0"/>
          </a:p>
        </p:txBody>
      </p:sp>
      <p:sp>
        <p:nvSpPr>
          <p:cNvPr id="10" name="Text 7"/>
          <p:cNvSpPr txBox="1"/>
          <p:nvPr/>
        </p:nvSpPr>
        <p:spPr>
          <a:xfrm>
            <a:off x="640080" y="4160520"/>
            <a:ext cx="1508760" cy="640080"/>
          </a:xfrm>
          <a:prstGeom prst="rect">
            <a:avLst/>
          </a:prstGeom>
          <a:noFill/>
          <a:ln/>
        </p:spPr>
        <p:txBody>
          <a:bodyPr wrap="square" lIns="0" tIns="0" rIns="0" bIns="0" rtlCol="0" anchor="ctr"/>
          <a:lstStyle/>
          <a:p>
            <a:pPr indent="0" marL="0">
              <a:buNone/>
            </a:pPr>
            <a:r>
              <a:rPr lang="en-US" sz="1500" b="1" dirty="0">
                <a:solidFill>
                  <a:srgbClr val="5F6670"/>
                </a:solidFill>
                <a:latin typeface="Arial" pitchFamily="34" charset="0"/>
                <a:ea typeface="Arial" pitchFamily="34" charset="-122"/>
                <a:cs typeface="Arial" pitchFamily="34" charset="-120"/>
              </a:rPr>
              <a:t>État global</a:t>
            </a:r>
            <a:endParaRPr lang="en-US" sz="1500" dirty="0"/>
          </a:p>
        </p:txBody>
      </p:sp>
      <p:sp>
        <p:nvSpPr>
          <p:cNvPr id="11" name="Shape 8"/>
          <p:cNvSpPr/>
          <p:nvPr/>
        </p:nvSpPr>
        <p:spPr>
          <a:xfrm>
            <a:off x="2404872" y="1783080"/>
            <a:ext cx="2939186" cy="1234440"/>
          </a:xfrm>
          <a:prstGeom prst="roundRect">
            <a:avLst>
              <a:gd name="adj" fmla="val 5926"/>
            </a:avLst>
          </a:prstGeom>
          <a:solidFill>
            <a:srgbClr val="F2F3F5"/>
          </a:solidFill>
          <a:ln w="12700">
            <a:solidFill>
              <a:srgbClr val="F2F3F5"/>
            </a:solidFill>
            <a:prstDash val="solid"/>
          </a:ln>
        </p:spPr>
      </p:sp>
      <p:sp>
        <p:nvSpPr>
          <p:cNvPr id="12" name="Text 9"/>
          <p:cNvSpPr txBox="1"/>
          <p:nvPr/>
        </p:nvSpPr>
        <p:spPr>
          <a:xfrm>
            <a:off x="2542032" y="1847088"/>
            <a:ext cx="2664866" cy="1115568"/>
          </a:xfrm>
          <a:prstGeom prst="rect">
            <a:avLst/>
          </a:prstGeom>
          <a:noFill/>
          <a:ln/>
        </p:spPr>
        <p:txBody>
          <a:bodyPr wrap="square" lIns="0" tIns="0" rIns="0" bIns="0" rtlCol="0" anchor="t"/>
          <a:lstStyle/>
          <a:p>
            <a:pPr indent="0" marL="0">
              <a:spcAft>
                <a:spcPts val="200"/>
              </a:spcAft>
              <a:buNone/>
            </a:pPr>
            <a:r>
              <a:rPr lang="en-US" sz="1400" b="1" dirty="0">
                <a:solidFill>
                  <a:srgbClr val="16181D"/>
                </a:solidFill>
                <a:latin typeface="Calibri" pitchFamily="34" charset="0"/>
                <a:ea typeface="Calibri" pitchFamily="34" charset="-122"/>
                <a:cs typeface="Calibri" pitchFamily="34" charset="-120"/>
              </a:rPr>
              <a:t>Requête 1 · l'attaquant</a:t>
            </a:r>
            <a:endParaRPr lang="en-US" sz="1400" dirty="0"/>
          </a:p>
          <a:p>
            <a:pPr indent="0" marL="0">
              <a:spcAft>
                <a:spcPts val="200"/>
              </a:spcAft>
              <a:buNone/>
            </a:pPr>
            <a:r>
              <a:rPr lang="en-US" sz="1300" dirty="0">
                <a:solidFill>
                  <a:srgbClr val="16181D"/>
                </a:solidFill>
                <a:latin typeface="Calibri" pitchFamily="34" charset="0"/>
                <a:ea typeface="Calibri" pitchFamily="34" charset="-122"/>
                <a:cs typeface="Calibri" pitchFamily="34" charset="-120"/>
              </a:rPr>
              <a:t>RINIT : PHP lit le corps multipart et suit l'upload.</a:t>
            </a:r>
            <a:endParaRPr lang="en-US" sz="1400" dirty="0"/>
          </a:p>
          <a:p>
            <a:pPr indent="0" marL="0">
              <a:spcAft>
                <a:spcPts val="200"/>
              </a:spcAft>
              <a:buNone/>
            </a:pPr>
            <a:r>
              <a:rPr lang="en-US" sz="1300" b="1" dirty="0">
                <a:solidFill>
                  <a:srgbClr val="E8590C"/>
                </a:solidFill>
                <a:latin typeface="Calibri" pitchFamily="34" charset="0"/>
                <a:ea typeface="Calibri" pitchFamily="34" charset="-122"/>
                <a:cs typeface="Calibri" pitchFamily="34" charset="-120"/>
              </a:rPr>
              <a:t>memory_limit atteint → erreur fatale (bailout).</a:t>
            </a:r>
            <a:endParaRPr lang="en-US" sz="1400" dirty="0"/>
          </a:p>
        </p:txBody>
      </p:sp>
      <p:sp>
        <p:nvSpPr>
          <p:cNvPr id="13" name="Shape 10"/>
          <p:cNvSpPr/>
          <p:nvPr/>
        </p:nvSpPr>
        <p:spPr>
          <a:xfrm>
            <a:off x="5508650" y="1783080"/>
            <a:ext cx="2939186" cy="1234440"/>
          </a:xfrm>
          <a:prstGeom prst="roundRect">
            <a:avLst>
              <a:gd name="adj" fmla="val 5926"/>
            </a:avLst>
          </a:prstGeom>
          <a:solidFill>
            <a:srgbClr val="F2F3F5"/>
          </a:solidFill>
          <a:ln w="12700">
            <a:solidFill>
              <a:srgbClr val="F2F3F5"/>
            </a:solidFill>
            <a:prstDash val="solid"/>
          </a:ln>
        </p:spPr>
      </p:sp>
      <p:sp>
        <p:nvSpPr>
          <p:cNvPr id="14" name="Text 11"/>
          <p:cNvSpPr txBox="1"/>
          <p:nvPr/>
        </p:nvSpPr>
        <p:spPr>
          <a:xfrm>
            <a:off x="5645810" y="1847088"/>
            <a:ext cx="2664866" cy="1115568"/>
          </a:xfrm>
          <a:prstGeom prst="rect">
            <a:avLst/>
          </a:prstGeom>
          <a:noFill/>
          <a:ln/>
        </p:spPr>
        <p:txBody>
          <a:bodyPr wrap="square" lIns="0" tIns="0" rIns="0" bIns="0" rtlCol="0" anchor="t"/>
          <a:lstStyle/>
          <a:p>
            <a:pPr indent="0" marL="0">
              <a:spcAft>
                <a:spcPts val="200"/>
              </a:spcAft>
              <a:buNone/>
            </a:pPr>
            <a:r>
              <a:rPr lang="en-US" sz="1400" b="1" dirty="0">
                <a:solidFill>
                  <a:srgbClr val="16181D"/>
                </a:solidFill>
                <a:latin typeface="Calibri" pitchFamily="34" charset="0"/>
                <a:ea typeface="Calibri" pitchFamily="34" charset="-122"/>
                <a:cs typeface="Calibri" pitchFamily="34" charset="-120"/>
              </a:rPr>
              <a:t>Fin de la requête 1</a:t>
            </a:r>
            <a:endParaRPr lang="en-US" sz="1400" dirty="0"/>
          </a:p>
          <a:p>
            <a:pPr indent="0" marL="0">
              <a:spcAft>
                <a:spcPts val="200"/>
              </a:spcAft>
              <a:buNone/>
            </a:pPr>
            <a:r>
              <a:rPr lang="en-US" sz="1300" dirty="0">
                <a:solidFill>
                  <a:srgbClr val="16181D"/>
                </a:solidFill>
                <a:latin typeface="Calibri" pitchFamily="34" charset="0"/>
                <a:ea typeface="Calibri" pitchFamily="34" charset="-122"/>
                <a:cs typeface="Calibri" pitchFamily="34" charset="-120"/>
              </a:rPr>
              <a:t>RSHUTDOWN : la mémoire de la requête est libérée.</a:t>
            </a:r>
            <a:endParaRPr lang="en-US" sz="1400" dirty="0"/>
          </a:p>
          <a:p>
            <a:pPr indent="0" marL="0">
              <a:spcAft>
                <a:spcPts val="200"/>
              </a:spcAft>
              <a:buNone/>
            </a:pPr>
            <a:r>
              <a:rPr lang="en-US" sz="1300" b="1" dirty="0">
                <a:solidFill>
                  <a:srgbClr val="E8590C"/>
                </a:solidFill>
                <a:latin typeface="Calibri" pitchFamily="34" charset="0"/>
                <a:ea typeface="Calibri" pitchFamily="34" charset="-122"/>
                <a:cs typeface="Calibri" pitchFamily="34" charset="-120"/>
              </a:rPr>
              <a:t>109618 : nettoyage de structures à moitié prêtes.</a:t>
            </a:r>
            <a:endParaRPr lang="en-US" sz="1400" dirty="0"/>
          </a:p>
        </p:txBody>
      </p:sp>
      <p:sp>
        <p:nvSpPr>
          <p:cNvPr id="15" name="Shape 12"/>
          <p:cNvSpPr/>
          <p:nvPr/>
        </p:nvSpPr>
        <p:spPr>
          <a:xfrm>
            <a:off x="8612429" y="1783080"/>
            <a:ext cx="2939186" cy="1234440"/>
          </a:xfrm>
          <a:prstGeom prst="roundRect">
            <a:avLst>
              <a:gd name="adj" fmla="val 5926"/>
            </a:avLst>
          </a:prstGeom>
          <a:solidFill>
            <a:srgbClr val="F2F3F5"/>
          </a:solidFill>
          <a:ln w="12700">
            <a:solidFill>
              <a:srgbClr val="F2F3F5"/>
            </a:solidFill>
            <a:prstDash val="solid"/>
          </a:ln>
        </p:spPr>
      </p:sp>
      <p:sp>
        <p:nvSpPr>
          <p:cNvPr id="16" name="Text 13"/>
          <p:cNvSpPr txBox="1"/>
          <p:nvPr/>
        </p:nvSpPr>
        <p:spPr>
          <a:xfrm>
            <a:off x="8749589" y="1847088"/>
            <a:ext cx="2664866" cy="1115568"/>
          </a:xfrm>
          <a:prstGeom prst="rect">
            <a:avLst/>
          </a:prstGeom>
          <a:noFill/>
          <a:ln/>
        </p:spPr>
        <p:txBody>
          <a:bodyPr wrap="square" lIns="0" tIns="0" rIns="0" bIns="0" rtlCol="0" anchor="t"/>
          <a:lstStyle/>
          <a:p>
            <a:pPr indent="0" marL="0">
              <a:spcAft>
                <a:spcPts val="200"/>
              </a:spcAft>
              <a:buNone/>
            </a:pPr>
            <a:r>
              <a:rPr lang="en-US" sz="1400" b="1" dirty="0">
                <a:solidFill>
                  <a:srgbClr val="C92A2A"/>
                </a:solidFill>
                <a:latin typeface="Calibri" pitchFamily="34" charset="0"/>
                <a:ea typeface="Calibri" pitchFamily="34" charset="-122"/>
                <a:cs typeface="Calibri" pitchFamily="34" charset="-120"/>
              </a:rPr>
              <a:t>Requête suivante · même worker</a:t>
            </a:r>
            <a:endParaRPr lang="en-US" sz="1400" dirty="0"/>
          </a:p>
          <a:p>
            <a:pPr indent="0" marL="0">
              <a:spcAft>
                <a:spcPts val="200"/>
              </a:spcAft>
              <a:buNone/>
            </a:pPr>
            <a:r>
              <a:rPr lang="en-US" sz="1300" dirty="0">
                <a:solidFill>
                  <a:srgbClr val="16181D"/>
                </a:solidFill>
                <a:latin typeface="Calibri" pitchFamily="34" charset="0"/>
                <a:ea typeface="Calibri" pitchFamily="34" charset="-122"/>
                <a:cs typeface="Calibri" pitchFamily="34" charset="-120"/>
              </a:rPr>
              <a:t>RINIT : PHP relit l'état global laissé par la requête 1.</a:t>
            </a:r>
            <a:endParaRPr lang="en-US" sz="1400" dirty="0"/>
          </a:p>
          <a:p>
            <a:pPr indent="0" marL="0">
              <a:spcAft>
                <a:spcPts val="200"/>
              </a:spcAft>
              <a:buNone/>
            </a:pPr>
            <a:r>
              <a:rPr lang="en-US" sz="1300" b="1" dirty="0">
                <a:solidFill>
                  <a:srgbClr val="E8590C"/>
                </a:solidFill>
                <a:latin typeface="Calibri" pitchFamily="34" charset="0"/>
                <a:ea typeface="Calibri" pitchFamily="34" charset="-122"/>
                <a:cs typeface="Calibri" pitchFamily="34" charset="-120"/>
              </a:rPr>
              <a:t>109619 : use-after-free.</a:t>
            </a:r>
            <a:endParaRPr lang="en-US" sz="1400" dirty="0"/>
          </a:p>
        </p:txBody>
      </p:sp>
      <p:sp>
        <p:nvSpPr>
          <p:cNvPr id="17" name="Shape 14"/>
          <p:cNvSpPr/>
          <p:nvPr/>
        </p:nvSpPr>
        <p:spPr>
          <a:xfrm>
            <a:off x="5362346" y="2395728"/>
            <a:ext cx="128016" cy="0"/>
          </a:xfrm>
          <a:prstGeom prst="line">
            <a:avLst/>
          </a:prstGeom>
          <a:noFill/>
          <a:ln w="19050">
            <a:solidFill>
              <a:srgbClr val="16181D"/>
            </a:solidFill>
            <a:prstDash val="solid"/>
            <a:tailEnd type="triangle"/>
          </a:ln>
        </p:spPr>
      </p:sp>
      <p:sp>
        <p:nvSpPr>
          <p:cNvPr id="18" name="Shape 15"/>
          <p:cNvSpPr/>
          <p:nvPr/>
        </p:nvSpPr>
        <p:spPr>
          <a:xfrm>
            <a:off x="8466125" y="2395728"/>
            <a:ext cx="128016" cy="0"/>
          </a:xfrm>
          <a:prstGeom prst="line">
            <a:avLst/>
          </a:prstGeom>
          <a:noFill/>
          <a:ln w="19050">
            <a:solidFill>
              <a:srgbClr val="16181D"/>
            </a:solidFill>
            <a:prstDash val="solid"/>
            <a:tailEnd type="triangle"/>
          </a:ln>
        </p:spPr>
      </p:sp>
      <p:sp>
        <p:nvSpPr>
          <p:cNvPr id="19" name="Shape 16"/>
          <p:cNvSpPr/>
          <p:nvPr/>
        </p:nvSpPr>
        <p:spPr>
          <a:xfrm>
            <a:off x="2816352" y="3246120"/>
            <a:ext cx="2116226" cy="548640"/>
          </a:xfrm>
          <a:prstGeom prst="rect">
            <a:avLst/>
          </a:prstGeom>
          <a:solidFill>
            <a:srgbClr val="FFA94D"/>
          </a:solidFill>
          <a:ln w="19050">
            <a:solidFill>
              <a:srgbClr val="FFA94D"/>
            </a:solidFill>
            <a:prstDash val="solid"/>
          </a:ln>
        </p:spPr>
      </p:sp>
      <p:sp>
        <p:nvSpPr>
          <p:cNvPr id="20" name="Text 17"/>
          <p:cNvSpPr txBox="1"/>
          <p:nvPr/>
        </p:nvSpPr>
        <p:spPr>
          <a:xfrm>
            <a:off x="2889504" y="3246120"/>
            <a:ext cx="1969922" cy="548640"/>
          </a:xfrm>
          <a:prstGeom prst="rect">
            <a:avLst/>
          </a:prstGeom>
          <a:noFill/>
          <a:ln/>
        </p:spPr>
        <p:txBody>
          <a:bodyPr wrap="square" lIns="0" tIns="0" rIns="0" bIns="0" rtlCol="0" anchor="ctr"/>
          <a:lstStyle/>
          <a:p>
            <a:pPr algn="ctr" indent="0" marL="0">
              <a:buNone/>
            </a:pPr>
            <a:r>
              <a:rPr lang="en-US" sz="1250" b="1" dirty="0">
                <a:solidFill>
                  <a:srgbClr val="16181D"/>
                </a:solidFill>
                <a:latin typeface="Calibri" pitchFamily="34" charset="0"/>
                <a:ea typeface="Calibri" pitchFamily="34" charset="-122"/>
                <a:cs typeface="Calibri" pitchFamily="34" charset="-120"/>
              </a:rPr>
              <a:t>Zone A : données de la requête 1</a:t>
            </a:r>
            <a:endParaRPr lang="en-US" sz="1250" dirty="0"/>
          </a:p>
        </p:txBody>
      </p:sp>
      <p:sp>
        <p:nvSpPr>
          <p:cNvPr id="21" name="Shape 18"/>
          <p:cNvSpPr/>
          <p:nvPr/>
        </p:nvSpPr>
        <p:spPr>
          <a:xfrm flipV="1">
            <a:off x="3874465" y="3822192"/>
            <a:ext cx="0" cy="365760"/>
          </a:xfrm>
          <a:prstGeom prst="line">
            <a:avLst/>
          </a:prstGeom>
          <a:noFill/>
          <a:ln w="25400">
            <a:solidFill>
              <a:srgbClr val="16181D"/>
            </a:solidFill>
            <a:prstDash val="solid"/>
            <a:tailEnd type="triangle"/>
          </a:ln>
        </p:spPr>
      </p:sp>
      <p:sp>
        <p:nvSpPr>
          <p:cNvPr id="22" name="Shape 19"/>
          <p:cNvSpPr/>
          <p:nvPr/>
        </p:nvSpPr>
        <p:spPr>
          <a:xfrm>
            <a:off x="5920130" y="3246120"/>
            <a:ext cx="2116226" cy="548640"/>
          </a:xfrm>
          <a:prstGeom prst="rect">
            <a:avLst/>
          </a:prstGeom>
          <a:solidFill>
            <a:srgbClr val="FFFFFF"/>
          </a:solidFill>
          <a:ln w="19050">
            <a:solidFill>
              <a:srgbClr val="5F6670"/>
            </a:solidFill>
            <a:prstDash val="dash"/>
          </a:ln>
        </p:spPr>
      </p:sp>
      <p:sp>
        <p:nvSpPr>
          <p:cNvPr id="23" name="Text 20"/>
          <p:cNvSpPr txBox="1"/>
          <p:nvPr/>
        </p:nvSpPr>
        <p:spPr>
          <a:xfrm>
            <a:off x="5993282" y="3246120"/>
            <a:ext cx="1969922" cy="548640"/>
          </a:xfrm>
          <a:prstGeom prst="rect">
            <a:avLst/>
          </a:prstGeom>
          <a:noFill/>
          <a:ln/>
        </p:spPr>
        <p:txBody>
          <a:bodyPr wrap="square" lIns="0" tIns="0" rIns="0" bIns="0" rtlCol="0" anchor="ctr"/>
          <a:lstStyle/>
          <a:p>
            <a:pPr algn="ctr" indent="0" marL="0">
              <a:buNone/>
            </a:pPr>
            <a:r>
              <a:rPr lang="en-US" sz="1250" b="1" dirty="0">
                <a:solidFill>
                  <a:srgbClr val="5F6670"/>
                </a:solidFill>
                <a:latin typeface="Calibri" pitchFamily="34" charset="0"/>
                <a:ea typeface="Calibri" pitchFamily="34" charset="-122"/>
                <a:cs typeface="Calibri" pitchFamily="34" charset="-120"/>
              </a:rPr>
              <a:t>Zone A : libérée</a:t>
            </a:r>
            <a:endParaRPr lang="en-US" sz="1250" dirty="0"/>
          </a:p>
        </p:txBody>
      </p:sp>
      <p:sp>
        <p:nvSpPr>
          <p:cNvPr id="24" name="Shape 21"/>
          <p:cNvSpPr/>
          <p:nvPr/>
        </p:nvSpPr>
        <p:spPr>
          <a:xfrm flipV="1">
            <a:off x="6978244" y="3822192"/>
            <a:ext cx="0" cy="365760"/>
          </a:xfrm>
          <a:prstGeom prst="line">
            <a:avLst/>
          </a:prstGeom>
          <a:noFill/>
          <a:ln w="25400">
            <a:solidFill>
              <a:srgbClr val="16181D"/>
            </a:solidFill>
            <a:prstDash val="solid"/>
            <a:tailEnd type="triangle"/>
          </a:ln>
        </p:spPr>
      </p:sp>
      <p:sp>
        <p:nvSpPr>
          <p:cNvPr id="25" name="Shape 22"/>
          <p:cNvSpPr/>
          <p:nvPr/>
        </p:nvSpPr>
        <p:spPr>
          <a:xfrm>
            <a:off x="9023909" y="3246120"/>
            <a:ext cx="2116226" cy="548640"/>
          </a:xfrm>
          <a:prstGeom prst="rect">
            <a:avLst/>
          </a:prstGeom>
          <a:solidFill>
            <a:srgbClr val="C92A2A"/>
          </a:solidFill>
          <a:ln w="19050">
            <a:solidFill>
              <a:srgbClr val="C92A2A"/>
            </a:solidFill>
            <a:prstDash val="solid"/>
          </a:ln>
        </p:spPr>
      </p:sp>
      <p:sp>
        <p:nvSpPr>
          <p:cNvPr id="26" name="Text 23"/>
          <p:cNvSpPr txBox="1"/>
          <p:nvPr/>
        </p:nvSpPr>
        <p:spPr>
          <a:xfrm>
            <a:off x="9097061" y="3246120"/>
            <a:ext cx="1969922" cy="5486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Zone A : réattribuée à d'autres données</a:t>
            </a:r>
            <a:endParaRPr lang="en-US" sz="1250" dirty="0"/>
          </a:p>
        </p:txBody>
      </p:sp>
      <p:sp>
        <p:nvSpPr>
          <p:cNvPr id="27" name="Shape 24"/>
          <p:cNvSpPr/>
          <p:nvPr/>
        </p:nvSpPr>
        <p:spPr>
          <a:xfrm flipV="1">
            <a:off x="10082022" y="3822192"/>
            <a:ext cx="0" cy="365760"/>
          </a:xfrm>
          <a:prstGeom prst="line">
            <a:avLst/>
          </a:prstGeom>
          <a:noFill/>
          <a:ln w="25400">
            <a:solidFill>
              <a:srgbClr val="C92A2A"/>
            </a:solidFill>
            <a:prstDash val="solid"/>
            <a:tailEnd type="triangle"/>
          </a:ln>
        </p:spPr>
      </p:sp>
      <p:sp>
        <p:nvSpPr>
          <p:cNvPr id="28" name="Shape 25"/>
          <p:cNvSpPr/>
          <p:nvPr/>
        </p:nvSpPr>
        <p:spPr>
          <a:xfrm>
            <a:off x="2404872" y="4206240"/>
            <a:ext cx="9146743" cy="548640"/>
          </a:xfrm>
          <a:prstGeom prst="roundRect">
            <a:avLst>
              <a:gd name="adj" fmla="val 13333"/>
            </a:avLst>
          </a:prstGeom>
          <a:solidFill>
            <a:srgbClr val="16181D"/>
          </a:solidFill>
          <a:ln w="12700">
            <a:solidFill>
              <a:srgbClr val="16181D"/>
            </a:solidFill>
            <a:prstDash val="solid"/>
          </a:ln>
        </p:spPr>
      </p:sp>
      <p:sp>
        <p:nvSpPr>
          <p:cNvPr id="29" name="Text 26"/>
          <p:cNvSpPr txBox="1"/>
          <p:nvPr/>
        </p:nvSpPr>
        <p:spPr>
          <a:xfrm>
            <a:off x="2587752" y="4206240"/>
            <a:ext cx="8780983" cy="548640"/>
          </a:xfrm>
          <a:prstGeom prst="rect">
            <a:avLst/>
          </a:prstGeom>
          <a:noFill/>
          <a:ln/>
        </p:spPr>
        <p:txBody>
          <a:bodyPr wrap="square" lIns="0" tIns="0" rIns="0" bIns="0" rtlCol="0" anchor="ctr"/>
          <a:lstStyle/>
          <a:p>
            <a:pPr algn="ctr" indent="0" marL="0">
              <a:buNone/>
            </a:pPr>
            <a:r>
              <a:rPr lang="en-US" sz="1450" b="1" dirty="0">
                <a:solidFill>
                  <a:srgbClr val="E8590C"/>
                </a:solidFill>
                <a:latin typeface="Calibri" pitchFamily="34" charset="0"/>
                <a:ea typeface="Calibri" pitchFamily="34" charset="-122"/>
                <a:cs typeface="Calibri" pitchFamily="34" charset="-120"/>
              </a:rPr>
              <a:t>Pointeur global → Zone A  </a:t>
            </a:r>
            <a:pPr algn="ctr" indent="0" marL="0">
              <a:buNone/>
            </a:pPr>
            <a:r>
              <a:rPr lang="en-US" sz="1450" dirty="0">
                <a:solidFill>
                  <a:srgbClr val="FFFFFF"/>
                </a:solidFill>
                <a:latin typeface="Calibri" pitchFamily="34" charset="0"/>
                <a:ea typeface="Calibri" pitchFamily="34" charset="-122"/>
                <a:cs typeface="Calibri" pitchFamily="34" charset="-120"/>
              </a:rPr>
              <a:t>il n'est jamais remis à zéro : il « pend » d'une requête à l'autre</a:t>
            </a:r>
            <a:endParaRPr lang="en-US" sz="1450" dirty="0"/>
          </a:p>
        </p:txBody>
      </p:sp>
      <p:sp>
        <p:nvSpPr>
          <p:cNvPr id="30" name="Shape 27"/>
          <p:cNvSpPr/>
          <p:nvPr/>
        </p:nvSpPr>
        <p:spPr>
          <a:xfrm>
            <a:off x="640080" y="4983480"/>
            <a:ext cx="10911535" cy="868680"/>
          </a:xfrm>
          <a:prstGeom prst="roundRect">
            <a:avLst>
              <a:gd name="adj" fmla="val 8421"/>
            </a:avLst>
          </a:prstGeom>
          <a:solidFill>
            <a:srgbClr val="F2F3F5"/>
          </a:solidFill>
          <a:ln w="12700">
            <a:solidFill>
              <a:srgbClr val="F2F3F5"/>
            </a:solidFill>
            <a:prstDash val="solid"/>
          </a:ln>
        </p:spPr>
      </p:sp>
      <p:sp>
        <p:nvSpPr>
          <p:cNvPr id="31" name="Text 28"/>
          <p:cNvSpPr txBox="1"/>
          <p:nvPr/>
        </p:nvSpPr>
        <p:spPr>
          <a:xfrm>
            <a:off x="914400" y="4983480"/>
            <a:ext cx="10362895" cy="868680"/>
          </a:xfrm>
          <a:prstGeom prst="rect">
            <a:avLst/>
          </a:prstGeom>
          <a:noFill/>
          <a:ln/>
        </p:spPr>
        <p:txBody>
          <a:bodyPr wrap="square" lIns="0" tIns="0" rIns="0" bIns="0" rtlCol="0" anchor="ctr"/>
          <a:lstStyle/>
          <a:p>
            <a:pPr indent="0" marL="0">
              <a:buNone/>
            </a:pPr>
            <a:r>
              <a:rPr lang="en-US" sz="1500" b="1" dirty="0">
                <a:solidFill>
                  <a:srgbClr val="C92A2A"/>
                </a:solidFill>
                <a:latin typeface="Calibri" pitchFamily="34" charset="0"/>
                <a:ea typeface="Calibri" pitchFamily="34" charset="-122"/>
                <a:cs typeface="Calibri" pitchFamily="34" charset="-120"/>
              </a:rPr>
              <a:t>Votre script n'est jamais exécuté.  </a:t>
            </a:r>
            <a:pPr indent="0" marL="0">
              <a:buNone/>
            </a:pPr>
            <a:r>
              <a:rPr lang="en-US" sz="1500" dirty="0">
                <a:solidFill>
                  <a:srgbClr val="16181D"/>
                </a:solidFill>
                <a:latin typeface="Calibri" pitchFamily="34" charset="0"/>
                <a:ea typeface="Calibri" pitchFamily="34" charset="-122"/>
                <a:cs typeface="Calibri" pitchFamily="34" charset="-120"/>
              </a:rPr>
              <a:t>Tout se passe pendant le démarrage et le nettoyage de la requête, dans le moteur PHP : une simple page « Hello World » est vulnérable.</a:t>
            </a:r>
            <a:endParaRPr lang="en-US" sz="1500" dirty="0"/>
          </a:p>
        </p:txBody>
      </p:sp>
      <p:sp>
        <p:nvSpPr>
          <p:cNvPr id="32" name="Text 2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Avis GitHub GHSA-w8hw-w9fx-j79w et GHSA-6wmf-4rv5-p3rp (équipe PHP, 21/10/2026) ; Wiz Research. Schéma simplifié.</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COMMENT ÇA MARCHE · LE VOCABULAIRE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Les mots pour en parler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640080" y="1783080"/>
            <a:ext cx="5486400" cy="713232"/>
          </a:xfrm>
          <a:prstGeom prst="roundRect">
            <a:avLst>
              <a:gd name="adj" fmla="val 10256"/>
            </a:avLst>
          </a:prstGeom>
          <a:solidFill>
            <a:srgbClr val="F2F3F5"/>
          </a:solidFill>
          <a:ln w="12700">
            <a:solidFill>
              <a:srgbClr val="F2F3F5"/>
            </a:solidFill>
            <a:prstDash val="solid"/>
          </a:ln>
        </p:spPr>
      </p:sp>
      <p:sp>
        <p:nvSpPr>
          <p:cNvPr id="9" name="Text 6"/>
          <p:cNvSpPr txBox="1"/>
          <p:nvPr/>
        </p:nvSpPr>
        <p:spPr>
          <a:xfrm>
            <a:off x="822960" y="1819656"/>
            <a:ext cx="5120640" cy="64008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Worker</a:t>
            </a:r>
            <a:endParaRPr lang="en-US" sz="1450" dirty="0"/>
          </a:p>
          <a:p>
            <a:pPr indent="0" marL="0">
              <a:buNone/>
            </a:pPr>
            <a:r>
              <a:rPr lang="en-US" sz="1300" dirty="0">
                <a:solidFill>
                  <a:srgbClr val="16181D"/>
                </a:solidFill>
                <a:latin typeface="Calibri" pitchFamily="34" charset="0"/>
                <a:ea typeface="Calibri" pitchFamily="34" charset="-122"/>
                <a:cs typeface="Calibri" pitchFamily="34" charset="-120"/>
              </a:rPr>
              <a:t>processus PHP (PHP-FPM, mod_php) qui traite les requêtes à la suite, sans redémarrer</a:t>
            </a:r>
            <a:endParaRPr lang="en-US" sz="1450" dirty="0"/>
          </a:p>
        </p:txBody>
      </p:sp>
      <p:sp>
        <p:nvSpPr>
          <p:cNvPr id="10" name="Shape 7"/>
          <p:cNvSpPr/>
          <p:nvPr/>
        </p:nvSpPr>
        <p:spPr>
          <a:xfrm>
            <a:off x="640080" y="2587752"/>
            <a:ext cx="5486400" cy="713232"/>
          </a:xfrm>
          <a:prstGeom prst="roundRect">
            <a:avLst>
              <a:gd name="adj" fmla="val 10256"/>
            </a:avLst>
          </a:prstGeom>
          <a:solidFill>
            <a:srgbClr val="F2F3F5"/>
          </a:solidFill>
          <a:ln w="12700">
            <a:solidFill>
              <a:srgbClr val="F2F3F5"/>
            </a:solidFill>
            <a:prstDash val="solid"/>
          </a:ln>
        </p:spPr>
      </p:sp>
      <p:sp>
        <p:nvSpPr>
          <p:cNvPr id="11" name="Text 8"/>
          <p:cNvSpPr txBox="1"/>
          <p:nvPr/>
        </p:nvSpPr>
        <p:spPr>
          <a:xfrm>
            <a:off x="822960" y="2624328"/>
            <a:ext cx="5120640" cy="64008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RINIT / RSHUTDOWN</a:t>
            </a:r>
            <a:endParaRPr lang="en-US" sz="1450" dirty="0"/>
          </a:p>
          <a:p>
            <a:pPr indent="0" marL="0">
              <a:buNone/>
            </a:pPr>
            <a:r>
              <a:rPr lang="en-US" sz="1300" dirty="0">
                <a:solidFill>
                  <a:srgbClr val="16181D"/>
                </a:solidFill>
                <a:latin typeface="Calibri" pitchFamily="34" charset="0"/>
                <a:ea typeface="Calibri" pitchFamily="34" charset="-122"/>
                <a:cs typeface="Calibri" pitchFamily="34" charset="-120"/>
              </a:rPr>
              <a:t>début et fin de requête : PHP prépare, puis nettoie son état</a:t>
            </a:r>
            <a:endParaRPr lang="en-US" sz="1450" dirty="0"/>
          </a:p>
        </p:txBody>
      </p:sp>
      <p:sp>
        <p:nvSpPr>
          <p:cNvPr id="12" name="Shape 9"/>
          <p:cNvSpPr/>
          <p:nvPr/>
        </p:nvSpPr>
        <p:spPr>
          <a:xfrm>
            <a:off x="640080" y="3392424"/>
            <a:ext cx="5486400" cy="713232"/>
          </a:xfrm>
          <a:prstGeom prst="roundRect">
            <a:avLst>
              <a:gd name="adj" fmla="val 10256"/>
            </a:avLst>
          </a:prstGeom>
          <a:solidFill>
            <a:srgbClr val="F2F3F5"/>
          </a:solidFill>
          <a:ln w="12700">
            <a:solidFill>
              <a:srgbClr val="F2F3F5"/>
            </a:solidFill>
            <a:prstDash val="solid"/>
          </a:ln>
        </p:spPr>
      </p:sp>
      <p:sp>
        <p:nvSpPr>
          <p:cNvPr id="13" name="Text 10"/>
          <p:cNvSpPr txBox="1"/>
          <p:nvPr/>
        </p:nvSpPr>
        <p:spPr>
          <a:xfrm>
            <a:off x="822960" y="3429000"/>
            <a:ext cx="5120640" cy="64008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multipart/form-data</a:t>
            </a:r>
            <a:endParaRPr lang="en-US" sz="1450" dirty="0"/>
          </a:p>
          <a:p>
            <a:pPr indent="0" marL="0">
              <a:buNone/>
            </a:pPr>
            <a:r>
              <a:rPr lang="en-US" sz="1300" dirty="0">
                <a:solidFill>
                  <a:srgbClr val="16181D"/>
                </a:solidFill>
                <a:latin typeface="Calibri" pitchFamily="34" charset="0"/>
                <a:ea typeface="Calibri" pitchFamily="34" charset="-122"/>
                <a:cs typeface="Calibri" pitchFamily="34" charset="-120"/>
              </a:rPr>
              <a:t>format d'envoi de fichiers, découpé par PHP avant votre script</a:t>
            </a:r>
            <a:endParaRPr lang="en-US" sz="1450" dirty="0"/>
          </a:p>
        </p:txBody>
      </p:sp>
      <p:sp>
        <p:nvSpPr>
          <p:cNvPr id="14" name="Shape 11"/>
          <p:cNvSpPr/>
          <p:nvPr/>
        </p:nvSpPr>
        <p:spPr>
          <a:xfrm>
            <a:off x="640080" y="4197096"/>
            <a:ext cx="5486400" cy="713232"/>
          </a:xfrm>
          <a:prstGeom prst="roundRect">
            <a:avLst>
              <a:gd name="adj" fmla="val 10256"/>
            </a:avLst>
          </a:prstGeom>
          <a:solidFill>
            <a:srgbClr val="F2F3F5"/>
          </a:solidFill>
          <a:ln w="12700">
            <a:solidFill>
              <a:srgbClr val="F2F3F5"/>
            </a:solidFill>
            <a:prstDash val="solid"/>
          </a:ln>
        </p:spPr>
      </p:sp>
      <p:sp>
        <p:nvSpPr>
          <p:cNvPr id="15" name="Text 12"/>
          <p:cNvSpPr txBox="1"/>
          <p:nvPr/>
        </p:nvSpPr>
        <p:spPr>
          <a:xfrm>
            <a:off x="822960" y="4233672"/>
            <a:ext cx="5120640" cy="64008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memory_limit, bailout</a:t>
            </a:r>
            <a:endParaRPr lang="en-US" sz="1450" dirty="0"/>
          </a:p>
          <a:p>
            <a:pPr indent="0" marL="0">
              <a:buNone/>
            </a:pPr>
            <a:r>
              <a:rPr lang="en-US" sz="1300" dirty="0">
                <a:solidFill>
                  <a:srgbClr val="16181D"/>
                </a:solidFill>
                <a:latin typeface="Calibri" pitchFamily="34" charset="0"/>
                <a:ea typeface="Calibri" pitchFamily="34" charset="-122"/>
                <a:cs typeface="Calibri" pitchFamily="34" charset="-120"/>
              </a:rPr>
              <a:t>limite atteinte : PHP abandonne la requête d'un coup, sans finir</a:t>
            </a:r>
            <a:endParaRPr lang="en-US" sz="1450" dirty="0"/>
          </a:p>
        </p:txBody>
      </p:sp>
      <p:sp>
        <p:nvSpPr>
          <p:cNvPr id="16" name="Shape 13"/>
          <p:cNvSpPr/>
          <p:nvPr/>
        </p:nvSpPr>
        <p:spPr>
          <a:xfrm>
            <a:off x="640080" y="5001768"/>
            <a:ext cx="5486400" cy="713232"/>
          </a:xfrm>
          <a:prstGeom prst="roundRect">
            <a:avLst>
              <a:gd name="adj" fmla="val 10256"/>
            </a:avLst>
          </a:prstGeom>
          <a:solidFill>
            <a:srgbClr val="F2F3F5"/>
          </a:solidFill>
          <a:ln w="12700">
            <a:solidFill>
              <a:srgbClr val="F2F3F5"/>
            </a:solidFill>
            <a:prstDash val="solid"/>
          </a:ln>
        </p:spPr>
      </p:sp>
      <p:sp>
        <p:nvSpPr>
          <p:cNvPr id="17" name="Text 14"/>
          <p:cNvSpPr txBox="1"/>
          <p:nvPr/>
        </p:nvSpPr>
        <p:spPr>
          <a:xfrm>
            <a:off x="822960" y="5038344"/>
            <a:ext cx="5120640" cy="640080"/>
          </a:xfrm>
          <a:prstGeom prst="rect">
            <a:avLst/>
          </a:prstGeom>
          <a:noFill/>
          <a:ln/>
        </p:spPr>
        <p:txBody>
          <a:bodyPr wrap="square" lIns="0" tIns="0" rIns="0" bIns="0" rtlCol="0" anchor="ctr"/>
          <a:lstStyle/>
          <a:p>
            <a:pPr indent="0" marL="0">
              <a:buNone/>
            </a:pPr>
            <a:r>
              <a:rPr lang="en-US" sz="1450" b="1" dirty="0">
                <a:solidFill>
                  <a:srgbClr val="E8590C"/>
                </a:solidFill>
                <a:latin typeface="Calibri" pitchFamily="34" charset="0"/>
                <a:ea typeface="Calibri" pitchFamily="34" charset="-122"/>
                <a:cs typeface="Calibri" pitchFamily="34" charset="-120"/>
              </a:rPr>
              <a:t>Use-after-free</a:t>
            </a:r>
            <a:endParaRPr lang="en-US" sz="1450" dirty="0"/>
          </a:p>
          <a:p>
            <a:pPr indent="0" marL="0">
              <a:buNone/>
            </a:pPr>
            <a:r>
              <a:rPr lang="en-US" sz="1300" dirty="0">
                <a:solidFill>
                  <a:srgbClr val="16181D"/>
                </a:solidFill>
                <a:latin typeface="Calibri" pitchFamily="34" charset="0"/>
                <a:ea typeface="Calibri" pitchFamily="34" charset="-122"/>
                <a:cs typeface="Calibri" pitchFamily="34" charset="-120"/>
              </a:rPr>
              <a:t>utiliser une mémoire déjà libérée via un pointeur « pendant » (CWE-416)</a:t>
            </a:r>
            <a:endParaRPr lang="en-US" sz="1450" dirty="0"/>
          </a:p>
        </p:txBody>
      </p:sp>
      <p:sp>
        <p:nvSpPr>
          <p:cNvPr id="18" name="Shape 15"/>
          <p:cNvSpPr/>
          <p:nvPr/>
        </p:nvSpPr>
        <p:spPr>
          <a:xfrm>
            <a:off x="6355080" y="1783080"/>
            <a:ext cx="5196535" cy="3931920"/>
          </a:xfrm>
          <a:prstGeom prst="roundRect">
            <a:avLst>
              <a:gd name="adj" fmla="val 1860"/>
            </a:avLst>
          </a:prstGeom>
          <a:solidFill>
            <a:srgbClr val="1E2127"/>
          </a:solidFill>
          <a:ln w="12700">
            <a:solidFill>
              <a:srgbClr val="1E2127"/>
            </a:solidFill>
            <a:prstDash val="solid"/>
          </a:ln>
        </p:spPr>
      </p:sp>
      <p:sp>
        <p:nvSpPr>
          <p:cNvPr id="19" name="Text 16"/>
          <p:cNvSpPr txBox="1"/>
          <p:nvPr/>
        </p:nvSpPr>
        <p:spPr>
          <a:xfrm>
            <a:off x="6629400" y="2011680"/>
            <a:ext cx="4647895" cy="3474720"/>
          </a:xfrm>
          <a:prstGeom prst="rect">
            <a:avLst/>
          </a:prstGeom>
          <a:noFill/>
          <a:ln/>
        </p:spPr>
        <p:txBody>
          <a:bodyPr wrap="square" lIns="0" tIns="0" rIns="0" bIns="0" rtlCol="0" anchor="t"/>
          <a:lstStyle/>
          <a:p>
            <a:pPr indent="0" marL="0">
              <a:buNone/>
            </a:pPr>
            <a:r>
              <a:rPr lang="en-US" sz="1350" dirty="0">
                <a:solidFill>
                  <a:srgbClr val="8B929C"/>
                </a:solidFill>
                <a:latin typeface="Consolas" pitchFamily="34" charset="0"/>
                <a:ea typeface="Consolas" pitchFamily="34" charset="-122"/>
                <a:cs typeface="Consolas" pitchFamily="34" charset="-120"/>
              </a:rPr>
              <a:t>// Illustration en C (pas le code de PHP)</a:t>
            </a:r>
            <a:endParaRPr lang="en-US" sz="1350" dirty="0"/>
          </a:p>
          <a:p>
            <a:pPr indent="0" marL="0">
              <a:buNone/>
            </a:pPr>
            <a:r>
              <a:rPr lang="en-US" sz="1350" b="1" dirty="0">
                <a:solidFill>
                  <a:srgbClr val="FFA94D"/>
                </a:solidFill>
                <a:latin typeface="Consolas" pitchFamily="34" charset="0"/>
                <a:ea typeface="Consolas" pitchFamily="34" charset="-122"/>
                <a:cs typeface="Consolas" pitchFamily="34" charset="-120"/>
              </a:rPr>
              <a:t>static char *suivi = NULL;  // global : survit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void debut_requete(void) {      // RINIT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suivi = emalloc(64);</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lire_multipart();  // memory_limit → bailout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void fin_requete(void) {        // RSHUTDOWN</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    liberer_memoire_requete();</a:t>
            </a:r>
            <a:endParaRPr lang="en-US" sz="1350" dirty="0"/>
          </a:p>
          <a:p>
            <a:pPr indent="0" marL="0">
              <a:buNone/>
            </a:pPr>
            <a:r>
              <a:rPr lang="en-US" sz="1350" b="1" dirty="0">
                <a:solidFill>
                  <a:srgbClr val="69DB7C"/>
                </a:solidFill>
                <a:latin typeface="Consolas" pitchFamily="34" charset="0"/>
                <a:ea typeface="Consolas" pitchFamily="34" charset="-122"/>
                <a:cs typeface="Consolas" pitchFamily="34" charset="-120"/>
              </a:rPr>
              <a:t>    // oubli : suivi = NULL;</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void requete_suivante(void) {</a:t>
            </a:r>
            <a:endParaRPr lang="en-US" sz="1350" dirty="0"/>
          </a:p>
          <a:p>
            <a:pPr indent="0" marL="0">
              <a:buNone/>
            </a:pPr>
            <a:r>
              <a:rPr lang="en-US" sz="1350" b="1" dirty="0">
                <a:solidFill>
                  <a:srgbClr val="FF8787"/>
                </a:solidFill>
                <a:latin typeface="Consolas" pitchFamily="34" charset="0"/>
                <a:ea typeface="Consolas" pitchFamily="34" charset="-122"/>
                <a:cs typeface="Consolas" pitchFamily="34" charset="-120"/>
              </a:rPr>
              <a:t>    if (suivi) ecrire(suivi); // use-after-free</a:t>
            </a:r>
            <a:endParaRPr lang="en-US" sz="1350" dirty="0"/>
          </a:p>
          <a:p>
            <a:pPr indent="0" marL="0">
              <a:buNone/>
            </a:pPr>
            <a:r>
              <a:rPr lang="en-US" sz="1350" dirty="0">
                <a:solidFill>
                  <a:srgbClr val="E6E6E6"/>
                </a:solidFill>
                <a:latin typeface="Consolas" pitchFamily="34" charset="0"/>
                <a:ea typeface="Consolas" pitchFamily="34" charset="-122"/>
                <a:cs typeface="Consolas" pitchFamily="34" charset="-120"/>
              </a:rPr>
              <a:t>}</a:t>
            </a:r>
            <a:endParaRPr lang="en-US" sz="1350" dirty="0"/>
          </a:p>
        </p:txBody>
      </p:sp>
      <p:sp>
        <p:nvSpPr>
          <p:cNvPr id="20" name="Text 1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Termes : documentation interne de PHP (cycle de vie d'une requête) ; MITRE CWE-416. Code : illustration pédagogique.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QUI EST CONCERNÉ, QUE FAIRE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Tout serveur web PHP non mis à jour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394960" cy="914400"/>
        </p:xfrm>
        <a:graphic>
          <a:graphicData uri="http://schemas.openxmlformats.org/drawingml/2006/table">
            <a:tbl>
              <a:tblPr/>
              <a:tblGrid>
                <a:gridCol w="2103120"/>
                <a:gridCol w="329184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Branche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Version corrigée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8.5</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8.5.12</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8.4</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8.4.27</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8.3</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8.3.36</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8.2</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8.2.35 (support jusqu'au 31/12/2026)</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7.4, 8.0, 8.1</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correctif source uniquement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PHP 5.4 à 7.3</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aucun correctif</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Shape 5"/>
          <p:cNvSpPr/>
          <p:nvPr/>
        </p:nvSpPr>
        <p:spPr>
          <a:xfrm>
            <a:off x="6400800" y="1783080"/>
            <a:ext cx="5148072" cy="3840480"/>
          </a:xfrm>
          <a:prstGeom prst="roundRect">
            <a:avLst>
              <a:gd name="adj" fmla="val 1905"/>
            </a:avLst>
          </a:prstGeom>
          <a:solidFill>
            <a:srgbClr val="16181D"/>
          </a:solidFill>
          <a:ln w="12700">
            <a:solidFill>
              <a:srgbClr val="16181D"/>
            </a:solidFill>
            <a:prstDash val="solid"/>
          </a:ln>
        </p:spPr>
      </p:sp>
      <p:sp>
        <p:nvSpPr>
          <p:cNvPr id="10" name="Text 6"/>
          <p:cNvSpPr txBox="1"/>
          <p:nvPr/>
        </p:nvSpPr>
        <p:spPr>
          <a:xfrm>
            <a:off x="6675120" y="1920240"/>
            <a:ext cx="4572000" cy="411480"/>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Dans l'ordre</a:t>
            </a:r>
            <a:endParaRPr lang="en-US" sz="1800" dirty="0"/>
          </a:p>
        </p:txBody>
      </p:sp>
      <p:sp>
        <p:nvSpPr>
          <p:cNvPr id="11" name="Text 7"/>
          <p:cNvSpPr txBox="1"/>
          <p:nvPr/>
        </p:nvSpPr>
        <p:spPr>
          <a:xfrm>
            <a:off x="6675120" y="2423160"/>
            <a:ext cx="4663440" cy="31089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Faire l'inventaire des serveurs PHP, images Docker comprises.</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Mettre à jour maintenant, avec les paquets de la distribution.</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À défaut, appliquer les mesures temporaires : elles réduisent le risque sans le supprimer.</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Sinon, isoler le serveur d'Internet (CERT-FR, NCSC).</a:t>
            </a:r>
            <a:endParaRPr lang="en-US" sz="1500" dirty="0"/>
          </a:p>
          <a:p>
            <a:pPr marL="228600" indent="-2286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Rechercher des traces de compromission et renouveler les secrets.</a:t>
            </a:r>
            <a:endParaRPr lang="en-US" sz="1500" dirty="0"/>
          </a:p>
        </p:txBody>
      </p:sp>
      <p:sp>
        <p:nvSpPr>
          <p:cNvPr id="12" name="Text 8"/>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php.net (21/10/2026) ; CERT-FR, alerte CERTFR-2026-ALE-014 ; CERT-EU, avis 2026-018 ; NCSC (21/10/2026).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ÉTAT DES CONNAISSANCES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qu'on sait, ce qu'on ne sait pas encore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640080" y="1783080"/>
            <a:ext cx="5349240" cy="4069080"/>
          </a:xfrm>
          <a:prstGeom prst="roundRect">
            <a:avLst>
              <a:gd name="adj" fmla="val 1798"/>
            </a:avLst>
          </a:prstGeom>
          <a:solidFill>
            <a:srgbClr val="F2F3F5"/>
          </a:solidFill>
          <a:ln w="12700">
            <a:solidFill>
              <a:srgbClr val="F2F3F5"/>
            </a:solidFill>
            <a:prstDash val="solid"/>
          </a:ln>
        </p:spPr>
      </p:sp>
      <p:sp>
        <p:nvSpPr>
          <p:cNvPr id="9" name="Shape 6"/>
          <p:cNvSpPr/>
          <p:nvPr/>
        </p:nvSpPr>
        <p:spPr>
          <a:xfrm>
            <a:off x="640080" y="1783080"/>
            <a:ext cx="5349240" cy="109728"/>
          </a:xfrm>
          <a:prstGeom prst="rect">
            <a:avLst/>
          </a:prstGeom>
          <a:solidFill>
            <a:srgbClr val="2F9E44"/>
          </a:solidFill>
          <a:ln w="12700">
            <a:solidFill>
              <a:srgbClr val="2F9E44"/>
            </a:solidFill>
            <a:prstDash val="solid"/>
          </a:ln>
        </p:spPr>
      </p:sp>
      <p:sp>
        <p:nvSpPr>
          <p:cNvPr id="10" name="Text 7"/>
          <p:cNvSpPr txBox="1"/>
          <p:nvPr/>
        </p:nvSpPr>
        <p:spPr>
          <a:xfrm>
            <a:off x="914400" y="2011680"/>
            <a:ext cx="4754880" cy="411480"/>
          </a:xfrm>
          <a:prstGeom prst="rect">
            <a:avLst/>
          </a:prstGeom>
          <a:noFill/>
          <a:ln/>
        </p:spPr>
        <p:txBody>
          <a:bodyPr wrap="square" lIns="0" tIns="0" rIns="0" bIns="0" rtlCol="0" anchor="ctr"/>
          <a:lstStyle/>
          <a:p>
            <a:pPr indent="0" marL="0">
              <a:buNone/>
            </a:pPr>
            <a:r>
              <a:rPr lang="en-US" sz="1800" b="1" dirty="0">
                <a:solidFill>
                  <a:srgbClr val="2F9E44"/>
                </a:solidFill>
                <a:latin typeface="Arial" pitchFamily="34" charset="0"/>
                <a:ea typeface="Arial" pitchFamily="34" charset="-122"/>
                <a:cs typeface="Arial" pitchFamily="34" charset="-120"/>
              </a:rPr>
              <a:t>Établi</a:t>
            </a:r>
            <a:endParaRPr lang="en-US" sz="1800" dirty="0"/>
          </a:p>
        </p:txBody>
      </p:sp>
      <p:sp>
        <p:nvSpPr>
          <p:cNvPr id="11" name="Text 8"/>
          <p:cNvSpPr txBox="1"/>
          <p:nvPr/>
        </p:nvSpPr>
        <p:spPr>
          <a:xfrm>
            <a:off x="914400" y="2514600"/>
            <a:ext cx="4846320" cy="324612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Deux failles critiques permettent d'exécuter du code à distance, sans authentification.</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Elles sont dans le moteur PHP, pas dans une application ; elles touchent PHP 5.4 et suivants.</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Les versions corrigées sont publiées depuis le 21 octobre.</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Les mesures temporaires ne remplacent pas la mise à jour.</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Les détails ont fuité avant la date de publication prévue.</a:t>
            </a:r>
            <a:endParaRPr lang="en-US" sz="1450" dirty="0"/>
          </a:p>
        </p:txBody>
      </p:sp>
      <p:sp>
        <p:nvSpPr>
          <p:cNvPr id="12" name="Shape 9"/>
          <p:cNvSpPr/>
          <p:nvPr/>
        </p:nvSpPr>
        <p:spPr>
          <a:xfrm>
            <a:off x="6199632" y="1783080"/>
            <a:ext cx="5349240" cy="4069080"/>
          </a:xfrm>
          <a:prstGeom prst="roundRect">
            <a:avLst>
              <a:gd name="adj" fmla="val 1798"/>
            </a:avLst>
          </a:prstGeom>
          <a:solidFill>
            <a:srgbClr val="F2F3F5"/>
          </a:solidFill>
          <a:ln w="12700">
            <a:solidFill>
              <a:srgbClr val="F2F3F5"/>
            </a:solidFill>
            <a:prstDash val="solid"/>
          </a:ln>
        </p:spPr>
      </p:sp>
      <p:sp>
        <p:nvSpPr>
          <p:cNvPr id="13" name="Shape 10"/>
          <p:cNvSpPr/>
          <p:nvPr/>
        </p:nvSpPr>
        <p:spPr>
          <a:xfrm>
            <a:off x="6199632" y="1783080"/>
            <a:ext cx="5349240" cy="109728"/>
          </a:xfrm>
          <a:prstGeom prst="rect">
            <a:avLst/>
          </a:prstGeom>
          <a:solidFill>
            <a:srgbClr val="E67700"/>
          </a:solidFill>
          <a:ln w="12700">
            <a:solidFill>
              <a:srgbClr val="E67700"/>
            </a:solidFill>
            <a:prstDash val="solid"/>
          </a:ln>
        </p:spPr>
      </p:sp>
      <p:sp>
        <p:nvSpPr>
          <p:cNvPr id="14" name="Text 11"/>
          <p:cNvSpPr txBox="1"/>
          <p:nvPr/>
        </p:nvSpPr>
        <p:spPr>
          <a:xfrm>
            <a:off x="6473952" y="2011680"/>
            <a:ext cx="4754880" cy="411480"/>
          </a:xfrm>
          <a:prstGeom prst="rect">
            <a:avLst/>
          </a:prstGeom>
          <a:noFill/>
          <a:ln/>
        </p:spPr>
        <p:txBody>
          <a:bodyPr wrap="square" lIns="0" tIns="0" rIns="0" bIns="0" rtlCol="0" anchor="ctr"/>
          <a:lstStyle/>
          <a:p>
            <a:pPr indent="0" marL="0">
              <a:buNone/>
            </a:pPr>
            <a:r>
              <a:rPr lang="en-US" sz="1800" b="1" dirty="0">
                <a:solidFill>
                  <a:srgbClr val="E67700"/>
                </a:solidFill>
                <a:latin typeface="Arial" pitchFamily="34" charset="0"/>
                <a:ea typeface="Arial" pitchFamily="34" charset="-122"/>
                <a:cs typeface="Arial" pitchFamily="34" charset="-120"/>
              </a:rPr>
              <a:t>Pas encore établi</a:t>
            </a:r>
            <a:endParaRPr lang="en-US" sz="1800" dirty="0"/>
          </a:p>
        </p:txBody>
      </p:sp>
      <p:sp>
        <p:nvSpPr>
          <p:cNvPr id="15" name="Text 12"/>
          <p:cNvSpPr txBox="1"/>
          <p:nvPr/>
        </p:nvSpPr>
        <p:spPr>
          <a:xfrm>
            <a:off x="6473952" y="2514600"/>
            <a:ext cx="4846320" cy="324612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L'ampleur réelle de l'exploitation : tentatives vues par Cloudflare, aucune compromission confirmée par les CERT à ce stade.</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L'origine exacte de la fuite.</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La fiabilité des preuves de concept publiées sur GitHub.</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Le calendrier des correctifs pour les versions en fin de vie, selon les distributions.</a:t>
            </a:r>
            <a:endParaRPr lang="en-US" sz="1450" dirty="0"/>
          </a:p>
        </p:txBody>
      </p:sp>
      <p:sp>
        <p:nvSpPr>
          <p:cNvPr id="16" name="Text 13"/>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Cloudflare ; SecurityWeek (déclarations de watchTowr et Huntress) ; CERT-FR ALE-014 ; Tenable. Situation au 21/10/2026, susceptible d'évoluer.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ET POUR NOUS, DÉVELOPPEURS ?</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que ce cas enseigne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5120640"/>
                <a:gridCol w="5788152"/>
              </a:tblGrid>
              <a:tr h="54864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Ce qui s'est passé</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La leçon pour le code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L'attaque a lieu avant la première ligne de l'application.</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Valider ses entrées ne suffit pas : limiter aussi la taille des requêtes en amont.</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Le point d'entrée est l'envoi de fichiers (multipart).</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L'upload est une surface d'attaque : désactiver l'inutile, fixer des tailles maximales.</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L'attaquant exécute du code avec les droits du serveur web.</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Moindre privilège : compte dédié, aucun droit d'écriture sur le dossier du site.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Un état global survit d'une requête à l'autre.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Éviter l'état global partagé ; réinitialiser explicitement ce qu'on réutilise.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Le correctif existe, encore faut-il l'appliquer.</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Connaître ses versions, reconstruire ses images, rester sur une branche supportée.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La mémoire du serveur peut être lue.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50" dirty="0">
                          <a:solidFill>
                            <a:srgbClr val="16181D"/>
                          </a:solidFill>
                          <a:latin typeface="Calibri" pitchFamily="34" charset="0"/>
                          <a:ea typeface="Calibri" pitchFamily="34" charset="-122"/>
                          <a:cs typeface="Calibri" pitchFamily="34" charset="-120"/>
                        </a:rPr>
                        <a:t>Après incident, renouveler mots de passe et clés d'API ; ne pas les écrire dans le code.</a:t>
                      </a:r>
                      <a:endParaRPr lang="en-US" sz="14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Shape 5"/>
          <p:cNvSpPr/>
          <p:nvPr/>
        </p:nvSpPr>
        <p:spPr>
          <a:xfrm>
            <a:off x="640080" y="5760720"/>
            <a:ext cx="10911535" cy="502920"/>
          </a:xfrm>
          <a:prstGeom prst="roundRect">
            <a:avLst>
              <a:gd name="adj" fmla="val 14545"/>
            </a:avLst>
          </a:prstGeom>
          <a:solidFill>
            <a:srgbClr val="16181D"/>
          </a:solidFill>
          <a:ln w="12700">
            <a:solidFill>
              <a:srgbClr val="16181D"/>
            </a:solidFill>
            <a:prstDash val="solid"/>
          </a:ln>
        </p:spPr>
      </p:sp>
      <p:sp>
        <p:nvSpPr>
          <p:cNvPr id="10" name="Text 6"/>
          <p:cNvSpPr txBox="1"/>
          <p:nvPr/>
        </p:nvSpPr>
        <p:spPr>
          <a:xfrm>
            <a:off x="914400" y="5760720"/>
            <a:ext cx="10362895"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Notre code peut être irréprochable et le serveur vulnérable : la sécurité se joue aussi sous l'application.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SOURCES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Pour aller plus loin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PHPShell</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sp>
        <p:nvSpPr>
          <p:cNvPr id="8" name="Text 5"/>
          <p:cNvSpPr txBox="1"/>
          <p:nvPr/>
        </p:nvSpPr>
        <p:spPr>
          <a:xfrm>
            <a:off x="640080" y="1783080"/>
            <a:ext cx="10911535" cy="420624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PHP, annonces du 20/10/2026 et du 21/10/2026 · php.net/archive/2026.php</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PHP, avis GHSA-w8hw-w9fx-j79w (CVE-2026-109618) et GHSA-6wmf-4rv5-p3rp (CVE-2026-109619) · github.com/php/php-src/security/advisories</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CERT-FR (ANSSI), alerte CERTFR-2026-ALE-014 · cert.cyber.gouv.fr</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CERT-EU, avis de sécurité 2026-018 · cert.europa.eu</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NCSC (Royaume-Uni), « Critical security issue affecting PHP », 21/10/2026 · ncsc.gov.uk</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Wiz Research, « PHP2Shell » · wiz.io/blog/php2shell-php-rce</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Cloudflare, protections WAF contre php2shell · blog.cloudflare.com</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Tenable, FAQ php2shell ; Huntress ; Sansec ; watchTowr</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Help Net Security et SecurityWeek, 20-21/10/2026</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 PHPShell</dc:title>
  <dc:subject>PptxGenJS Presentation</dc:subject>
  <dc:creator>Ludwig Lebrun</dc:creator>
  <cp:lastModifiedBy>Ludwig Lebrun</cp:lastModifiedBy>
  <cp:revision>1</cp:revision>
  <dcterms:created xsi:type="dcterms:W3CDTF">2026-10-21T16:08:36Z</dcterms:created>
  <dcterms:modified xsi:type="dcterms:W3CDTF">2026-10-21T16:08:36Z</dcterms:modified>
</cp:coreProperties>
</file>