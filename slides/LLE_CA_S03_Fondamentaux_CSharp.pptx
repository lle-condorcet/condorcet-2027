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min] Accueil. Annoncer : d'abord le QCM de la séance 2, ensuite les briques de base du langage qu'on utilise depuis le début sans les avoir expliquées.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[0:01 – 8 min] Coller le lien Forms du QCM S2 dans le chat. Couleur rouge : sans IA. Ce QCM compte. Pendant ce temps, ouvrir Rider sur incidenthub-demo, tag s03-etape1-valeur-reference, police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[0:09 – 2 min] Depuis la séance 1, on écrit des int, des string, des Analyst?, des $"…", des static, des override, sans les avoir vraiment expliqués. Aujourd'hui, on prend le temps. Chaque thème : une image, le code dans Rider, et ce que ça change pour la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 Bloc de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 – 4 min] Deux façons de ranger une donnée. Type valeur (int, double, decimal, bool, DateTime, enum, struct) : la variable contient la valeur elle-même. Copier, c'est faire une photocopie : modifier la copie ne change pas l'original. Type référence (class, string, tableaux, List) : la variable contient l'adresse de l'objet. Copier, c'est donner l'adresse d'une maison : deux personnes, une seule maison ; si l'une repeint la porte, l'autre le voit. C'est pour ça que, dans IncidentHub, passer un incident à une méthode lui permet de le modifier. Cas particulier : string est un type référence, mais il se comporte comme une valeur, car on ne peut pas le modifier (on y revient au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6 min] Lancer la démo, lire la sortie. Faire prédire le résultat avant chaque ligne (réaction 👍 ou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 Bloc de 25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[0:21 – 3 min] Raconter. Premier vol d'Ariane 5. 37 secondes après le décollage, la fusée dévie et s'autodétruit. La cause, établie par la commission d'enquête : dans le logiciel de guidage, repris d'Ariane 4, une valeur liée à la vitesse horizontale, stockée sur 64 bits, est convertie en un entier sur 16 bits, qui ne peut pas dépasser 32 767. Ariane 5 allant beaucoup plus vite qu'Ariane 4, la valeur ne tient plus. Le programme s'arrête sur une erreur, le calculateur de secours (identique) aussi. Un nombre trop grand pour sa boîte. Coût estimé : plusieurs centaines de millions de dollars de charge utile perdue.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 – 4 min] Lire le tableau. Plus il y a d'octets, plus le nombre peut être grand. Les types qui commencent par u (unsigned, non signé) ne peuvent pas être négatifs, mais vont deux fois plus haut. Dans la vie courante : int pour un compteur, long pour un identifiant ou un nombre de millisecondes, byte pour une donnée binaire. Exemples IncidentHub : le nombre d'incidents d'un mois tient dans un int ; un horodatage en millisecondes depuis 1970 demande un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[0:28 – 4 min] Par défaut, C# ne prévient pas : int.MaxValue + 1 donne… le plus petit int possible, comme un compteur kilométrique qui repasse à zéro. Exemple réel : en décembre 2014, la vidéo Gangnam Style dépasse 2 147 483 647 vues, le maximum d'un int ; YouTube a dû passer son compteur en 64 bits. Plus grave : en 2015, la FAA (aviation américaine) impose de redémarrer régulièrement le Boeing 787, dont un compteur interne débordait après 248 jours de fonctionnement continu, avec risque de perte d'alimentation électrique. Le mot-clé checked demande à C# de lever une erreur (OverflowException) plutôt que de continuer avec un nombre faux. En sécurité, un dépassement non détecté est une faille classique (CWE-190).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 – 4 min] Les nombres à virgule ont aussi leurs pièges. float et double sont rapides mais approximatifs : ils stockent les nombres en binaire, et 0,1 ne s'écrit pas exactement en binaire, comme 1/3 ne s'écrit pas exactement en décimal (0,3333…). Résultat : 0,1 + 0,2 == 0,3 est faux en double. decimal est exact pour les nombres décimaux (28-29 chiffres), plus lent, et c'est le type de l'argent. Exemple réel : en 1991, pendant la guerre du Golfe, une batterie de missiles Patriot à Dhahran n'intercepte pas un missile Scud ; 28 soldats américains sont tués. La cause : une erreur d'arrondi sur le temps, qui s'accumulait depuis 100 heures de fonctionnement continu. Règle : de l'argent, des montants, des taux : decimal. Des mesures physiques, des calculs scientifiques : double.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 6 min] Lancer la démo, lire la sortie section par section. Faire prédire le résultat de int.MaxValue + 1 dans le chat avant de l'afficher.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 Bloc de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[0:42 – 2 min] Tony Hoare, prix Turing, a inventé la référence nulle en 1965 pour le langage ALGOL W. En 2009, à la conférence QCon, il présente ses excuses : « Je l'appelle mon erreur à un milliard de dollars ». null veut dire « il n'y a rien ». Le problème : on peut utiliser une variable null comme si elle contenait un objet, et le programme plante (NullReferenceException), parfois très loin de l'endroit où le null est apparu. C'est l'erreur la plus fréquente des programmes C#. Et en sécurité, un plantage peut être un déni de service (CWE-476).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[0:44 – 4 min] Depuis C# 8, on peut dire au compilateur si une variable a le droit d'être null. Analyst? (avec le point d'interrogation) : « peut être vide ». Analyst (sans) : « ne doit jamais être vide ». Exemple IncidentHub : un incident n'a pas toujours d'analyste (AssignedTo est un Analyst?), mais il a toujours un titre (Title est un string). Le compilateur vérifie alors pour nous : si on utilise AssignedTo sans vérifier, il affiche un avertissement. C'est comme une étiquette « fragile » sur un colis : elle ne casse rien, elle prévient.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[0:48 – 4 min] Lire le tableau. ?. : « si ce n'est pas null, continue ; sinon, donne null » (on ne plante pas). ?? : « si c'est null, prends cette valeur par défaut ». ??= : « si c'est null, remplis-le ». Et le !, le plus dangereux : il dit au compilateur « fais-moi confiance, ce n'est pas null ». Il fait disparaître l'avertissement, mais il ne vérifie rien : si la variable est null, le programme plante quand même. C'est comme arracher l'étiquette « fragile » du colis. À éviter, sauf quand on est vraiment sûr (et qu'on peut l'expliquer).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 – 6 min] Montrer l'avertissement de Rider (souligné jaune) avant de lancer. Puis le ! qui le fait disparaître, et le plantage à l'exécution.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Bloc de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[0:58 – 4 min] La concaténation avec + : lisible pour deux morceaux, illisible au-delà. string.Format : des trous numérotés {0}, {1} remplis dans l'ordre ; c'est l'ancienne façon, encore très présente. L'interpolation $"…" (C# 6, 2015) : on écrit directement les variables entre accolades ; c'est la façon recommandée aujourd'hui. Dans les accolades, on peut ajouter un format après les deux-points : N2 pour deux décimales avec séparateur de milliers, dd/MM/yyyy pour une date. Attention sécurité : l'interpolation est faite pour l'affichage, jamais pour construire une requête SQL (c'est l'injection de Stanford,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 – 3 min] Le même nombre ne s'écrit pas pareil partout. En Belgique et en France, la virgule sépare les décimales ; aux États-Unis, c'est le point. Une date aussi : 14/10/2026 ici, 10/14/2026 aux États-Unis. .NET utilise la culture du poste. Piège classique : lire un fichier qui contient « 3.5 » sur un poste réglé en français fait planter ou donne un mauvais nombre. Règle : pour l'affichage, la culture de l'utilisateur ; pour les fichiers, les échanges et les API, la culture invariante (CultureInfo.InvariantCulture).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 3 min] Parcourir le tableau avec le titre d'un incident. Point important : une chaîne ne se modifie jamais (elle est immuable). Trim() ne change pas le titre : il renvoie un nouveau titre. Il faut donc écrire titre = titre.Trim(). Pour construire un long texte morceau par morceau (un rapport), StringBuilder évite de recréer une chaîne à chaque ajout. Deux écritures pratiques : @"C:\logs" (verbatim : pas besoin de doubler les barres) et les raw string literals entre triples guillemets (C# 11), pour du JSON ou du texte sur plusieurs lignes.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[1:08 – 6 min] Lancer la démo. Insister sur l'immuabilité : appeler Trim() sans réaffecter et montrer que rien ne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 – 10 min] Pendant la pause : git checkout s03-etape5-static dans Rider.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 Bloc de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 – 4 min] Reprendre l'image de la séance 2. Un membre normal appartient à chaque objet : chaque client a son propre solde. Un membre static appartient à la classe elle-même, partagé par tous : le compteur des clients de la banque. On l'appelle par le nom de la classe, sans créer d'objet : Math.Max(a, b), DateTime.UtcNow, string.IsNullOrWhiteSpace(titre), int.MaxValue. Dans IncidentHub : un générateur de numéros INC-0001, INC-0002… est static, car le compteur est commun à tous les incidents. Une classe static ne contient que des membres static, comme une boîte à outils. Attention : une donnée static partagée et modifiable, c'est une variable globale ; à utiliser avec parcimonie.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[1:28 – 3 min] Une méthode d'extension est une méthode static, dans une classe static, dont le premier paramètre commence par this. Elle s'utilise ensuite comme si elle faisait partie du type. Exemple : on ne peut pas modifier l'enum Severity pour lui ajouter une méthode, mais on peut écrire ToLabel(this Severity s) et appeler severity.ToLabel() pour obtenir « Critique ». C'est ce que fait LINQ (Where, Select…), qu'on verra en séance EF Core : des méthodes d'extension sur les listes.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 – 5 min] Lancer la démo. Montrer que le compteur continue d'un incident à l'autre : c'est la même donnée pour tous.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[1:36] Bloc de 15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[1:36 – 5 min] En séance 2, on a vu le polymorphisme avec abstract. Voici le mécanisme complet, avec l'image d'une recette de famille. abstract : « chacun doit écrire sa propre recette » ; il n'y a pas de version par défaut (RoleName()). virtual : « voici la recette de grand-mère, vous pouvez l'adapter » ; il y a une version par défaut, qu'une classe fille peut remplacer (Signature()). override : « voici ma version » ; c'est la classe fille qui remplace. sealed : « on n'y touche plus » ; plus personne ne peut hériter ou redéfinir. Exemple célèbre : ToString() est virtual dans la classe object, dont héritent toutes les classes ; c'est pour ça qu'on peut la redéfinir partout. Piège : sans le mot override (avec new, ou rien), on masque la méthode au lieu de la remplacer, et le polymorphisme ne fonctionne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 – 6 min] Lancer la démo : la même boucle sur une List&lt;User&gt; affiche des signatures différentes. Montrer l'erreur de compilation si on tente d'hériter de Reporter.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[1:47] Bloc de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[1:47 – 4 min] Un enum normal contient une seule valeur à la fois : un incident a une seule gravité. Mais certaines choses se combinent : les permissions d'un utilisateur (lire, commenter, assigner, clôturer). Image : une rangée d'interrupteurs, chacun allumé ou éteint. Chaque permission vaut une puissance de 2 (1, 2, 4, 8) : c'est un interrupteur différent. On allume avec | (le « ou » bit à bit), on teste avec HasFlag ou avec &amp;. Les administrateurs systèmes le connaissent déjà : chmod 7 sous Linux, c'est 4 (lecture) + 2 (écriture) + 1 (exécution). Au Q2, ces permissions deviendront des rôles et des politiques d'autorisation (Keycloak).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 – 5 min] Lancer la démo. Faire calculer dans le chat la valeur d'un Manager (All =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[1:56 – 15 min] Exercice en salles de sous-groupe (ou individuel avec réponses dans le chat). Six petits programmes, un par thème. Pour chacun : écrire ce qui s'affiche, et une phrase pour expliquer pourquoi. Sans IA et sans lancer le code : le but est de raisonner. Les tuteurs aident dans les salles. 10 minutes de travail, 5 minutes de correction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[2:11 – 5 min] Corriger en faisant expliquer par les salles. Le 4 piège souvent : Trim() renvoie une nouvelle chaîne, t n'a pas changé. Le 2 : un byte va de 0 à 255, 255 + 1 repart à 0, sans erreur.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[2:16] Bloc de 8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[2:16 – 5 min] Situation fréquente : Rider affiche des avertissements jaunes de nullabilité, on demande à l'IA de les corriger. Une réponse très courante : ajouter des ! partout. Les avertissements disparaissent, le code compile sans un mot… et plante à l'exécution sur un incident non assigné. L'IA a obéi à la lettre : on lui a demandé de faire disparaître les avertissements, pas de gérer le cas null. Lancer la branche demo/s03-ia-nullable et montrer le plantage. La bonne demande : « Gère les cas où ces valeurs sont null ; n'utilise pas l'opérateur ! ». Ajuster à la sortie réellement capturée en préparation.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 – 2 min] Récapituler avec les images de la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[2:23 – 6 min] Coller le lien Forms. Couleur rouge : sans IA. Le check-in de présence est dans le même formulaire.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[2:29] Fin. Exporter le QCM S2 (début de séance), le QCM S3 et le check-in.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173736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194560"/>
            <a:ext cx="10911535" cy="10972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Complément Application</a:t>
            </a:r>
            <a:endParaRPr lang="en-US" sz="5400" dirty="0"/>
          </a:p>
        </p:txBody>
      </p:sp>
      <p:sp>
        <p:nvSpPr>
          <p:cNvPr id="4" name="Text 2"/>
          <p:cNvSpPr txBox="1"/>
          <p:nvPr/>
        </p:nvSpPr>
        <p:spPr>
          <a:xfrm>
            <a:off x="640080" y="3291840"/>
            <a:ext cx="10911535" cy="640080"/>
          </a:xfrm>
          <a:prstGeom prst="rect">
            <a:avLst/>
          </a:prstGeom>
          <a:noFill/>
          <a:ln/>
        </p:spPr>
        <p:txBody>
          <a:bodyPr wrap="square" lIns="0" tIns="0" rIns="0" bIns="0" rtlCol="0" anchor="ctr"/>
          <a:lstStyle/>
          <a:p>
            <a:pPr indent="0" marL="0">
              <a:buNone/>
            </a:pPr>
            <a:r>
              <a:rPr lang="en-US" sz="2600" dirty="0">
                <a:solidFill>
                  <a:srgbClr val="C9CDD3"/>
                </a:solidFill>
                <a:latin typeface="Calibri" pitchFamily="34" charset="0"/>
                <a:ea typeface="Calibri" pitchFamily="34" charset="-122"/>
                <a:cs typeface="Calibri" pitchFamily="34" charset="-120"/>
              </a:rPr>
              <a:t>Séance 3 · Les fondamentaux de C#</a:t>
            </a:r>
            <a:endParaRPr lang="en-US" sz="2600" dirty="0"/>
          </a:p>
        </p:txBody>
      </p:sp>
      <p:sp>
        <p:nvSpPr>
          <p:cNvPr id="5" name="Text 3"/>
          <p:cNvSpPr txBox="1"/>
          <p:nvPr/>
        </p:nvSpPr>
        <p:spPr>
          <a:xfrm>
            <a:off x="640080" y="3931920"/>
            <a:ext cx="10911535" cy="548640"/>
          </a:xfrm>
          <a:prstGeom prst="rect">
            <a:avLst/>
          </a:prstGeom>
          <a:noFill/>
          <a:ln/>
        </p:spPr>
        <p:txBody>
          <a:bodyPr wrap="square" lIns="0" tIns="0" rIns="0" bIns="0" rtlCol="0" anchor="ctr"/>
          <a:lstStyle/>
          <a:p>
            <a:pPr indent="0" marL="0">
              <a:buNone/>
            </a:pPr>
            <a:r>
              <a:rPr lang="en-US" sz="1800" dirty="0">
                <a:solidFill>
                  <a:srgbClr val="9AA0A8"/>
                </a:solidFill>
                <a:latin typeface="Calibri" pitchFamily="34" charset="0"/>
                <a:ea typeface="Calibri" pitchFamily="34" charset="-122"/>
                <a:cs typeface="Calibri" pitchFamily="34" charset="-120"/>
              </a:rPr>
              <a:t>Types et limites · null · chaînes · static · virtual et override · [Flags]</a:t>
            </a:r>
            <a:endParaRPr lang="en-US" sz="1800" dirty="0"/>
          </a:p>
        </p:txBody>
      </p:sp>
      <p:sp>
        <p:nvSpPr>
          <p:cNvPr id="6" name="Text 4"/>
          <p:cNvSpPr txBox="1"/>
          <p:nvPr/>
        </p:nvSpPr>
        <p:spPr>
          <a:xfrm>
            <a:off x="640080" y="548640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Ludwig Lebrun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POUR COMMENCER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QCM de la séance 2 · 8 minutes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8" name="Text 5"/>
          <p:cNvSpPr txBox="1"/>
          <p:nvPr/>
        </p:nvSpPr>
        <p:spPr>
          <a:xfrm>
            <a:off x="640080" y="1920240"/>
            <a:ext cx="10911535" cy="731520"/>
          </a:xfrm>
          <a:prstGeom prst="rect">
            <a:avLst/>
          </a:prstGeom>
          <a:noFill/>
          <a:ln/>
        </p:spPr>
        <p:txBody>
          <a:bodyPr wrap="square" lIns="0" tIns="0" rIns="0" bIns="0" rtlCol="0" anchor="ctr"/>
          <a:lstStyle/>
          <a:p>
            <a:pPr indent="0" marL="0">
              <a:buNone/>
            </a:pPr>
            <a:r>
              <a:rPr lang="en-US" sz="3000" b="1" dirty="0">
                <a:solidFill>
                  <a:srgbClr val="E8590C"/>
                </a:solidFill>
                <a:latin typeface="Arial" pitchFamily="34" charset="0"/>
                <a:ea typeface="Arial" pitchFamily="34" charset="-122"/>
                <a:cs typeface="Arial" pitchFamily="34" charset="-120"/>
              </a:rPr>
              <a:t>Lien dans le chat.</a:t>
            </a:r>
            <a:endParaRPr lang="en-US" sz="3000" dirty="0"/>
          </a:p>
        </p:txBody>
      </p:sp>
      <p:sp>
        <p:nvSpPr>
          <p:cNvPr id="9" name="Text 6"/>
          <p:cNvSpPr txBox="1"/>
          <p:nvPr/>
        </p:nvSpPr>
        <p:spPr>
          <a:xfrm>
            <a:off x="640080" y="2926080"/>
            <a:ext cx="7772400" cy="2286000"/>
          </a:xfrm>
          <a:prstGeom prst="rect">
            <a:avLst/>
          </a:prstGeom>
          <a:noFill/>
          <a:ln/>
        </p:spPr>
        <p:txBody>
          <a:bodyPr wrap="square" lIns="0" tIns="0" rIns="0" bIns="0" rtlCol="0" anchor="t"/>
          <a:lstStyle/>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6 questions sur l'héritage, l'abstraction, les interfaces, le polymorphisme et la composition</a:t>
            </a:r>
            <a:endParaRPr lang="en-US" sz="2100" dirty="0"/>
          </a:p>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Il compte pour la note</a:t>
            </a:r>
            <a:endParaRPr lang="en-US" sz="2100" dirty="0"/>
          </a:p>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Couleur rouge : sans IA</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AUJOURD'HUI</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Les briques qu'on utilise depuis le début</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8" name="Shape 5"/>
          <p:cNvSpPr/>
          <p:nvPr/>
        </p:nvSpPr>
        <p:spPr>
          <a:xfrm>
            <a:off x="640080" y="1828800"/>
            <a:ext cx="2560320" cy="1783080"/>
          </a:xfrm>
          <a:prstGeom prst="roundRect">
            <a:avLst>
              <a:gd name="adj" fmla="val 4103"/>
            </a:avLst>
          </a:prstGeom>
          <a:solidFill>
            <a:srgbClr val="F2F3F5"/>
          </a:solidFill>
          <a:ln w="12700">
            <a:solidFill>
              <a:srgbClr val="F2F3F5"/>
            </a:solidFill>
            <a:prstDash val="solid"/>
          </a:ln>
        </p:spPr>
      </p:sp>
      <p:sp>
        <p:nvSpPr>
          <p:cNvPr id="9" name="Text 6"/>
          <p:cNvSpPr txBox="1"/>
          <p:nvPr/>
        </p:nvSpPr>
        <p:spPr>
          <a:xfrm>
            <a:off x="868680" y="196596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1</a:t>
            </a:r>
            <a:endParaRPr lang="en-US" sz="2600" dirty="0"/>
          </a:p>
        </p:txBody>
      </p:sp>
      <p:sp>
        <p:nvSpPr>
          <p:cNvPr id="10" name="Text 7"/>
          <p:cNvSpPr txBox="1"/>
          <p:nvPr/>
        </p:nvSpPr>
        <p:spPr>
          <a:xfrm>
            <a:off x="868680" y="251460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Valeur ou référence</a:t>
            </a:r>
            <a:endParaRPr lang="en-US" sz="1600" dirty="0"/>
          </a:p>
        </p:txBody>
      </p:sp>
      <p:sp>
        <p:nvSpPr>
          <p:cNvPr id="11" name="Text 8"/>
          <p:cNvSpPr txBox="1"/>
          <p:nvPr/>
        </p:nvSpPr>
        <p:spPr>
          <a:xfrm>
            <a:off x="868680" y="306324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la photocopie et l'adresse</a:t>
            </a:r>
            <a:endParaRPr lang="en-US" sz="1300" dirty="0"/>
          </a:p>
        </p:txBody>
      </p:sp>
      <p:sp>
        <p:nvSpPr>
          <p:cNvPr id="12" name="Shape 9"/>
          <p:cNvSpPr/>
          <p:nvPr/>
        </p:nvSpPr>
        <p:spPr>
          <a:xfrm>
            <a:off x="3383280" y="1828800"/>
            <a:ext cx="2560320" cy="1783080"/>
          </a:xfrm>
          <a:prstGeom prst="roundRect">
            <a:avLst>
              <a:gd name="adj" fmla="val 4103"/>
            </a:avLst>
          </a:prstGeom>
          <a:solidFill>
            <a:srgbClr val="16181D"/>
          </a:solidFill>
          <a:ln w="12700">
            <a:solidFill>
              <a:srgbClr val="16181D"/>
            </a:solidFill>
            <a:prstDash val="solid"/>
          </a:ln>
        </p:spPr>
      </p:sp>
      <p:sp>
        <p:nvSpPr>
          <p:cNvPr id="13" name="Text 10"/>
          <p:cNvSpPr txBox="1"/>
          <p:nvPr/>
        </p:nvSpPr>
        <p:spPr>
          <a:xfrm>
            <a:off x="3611880" y="196596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2</a:t>
            </a:r>
            <a:endParaRPr lang="en-US" sz="2600" dirty="0"/>
          </a:p>
        </p:txBody>
      </p:sp>
      <p:sp>
        <p:nvSpPr>
          <p:cNvPr id="14" name="Text 11"/>
          <p:cNvSpPr txBox="1"/>
          <p:nvPr/>
        </p:nvSpPr>
        <p:spPr>
          <a:xfrm>
            <a:off x="3611880" y="2514600"/>
            <a:ext cx="2194560" cy="54864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Les nombres et leurs limites</a:t>
            </a:r>
            <a:endParaRPr lang="en-US" sz="1600" dirty="0"/>
          </a:p>
        </p:txBody>
      </p:sp>
      <p:sp>
        <p:nvSpPr>
          <p:cNvPr id="15" name="Text 12"/>
          <p:cNvSpPr txBox="1"/>
          <p:nvPr/>
        </p:nvSpPr>
        <p:spPr>
          <a:xfrm>
            <a:off x="3611880" y="3063240"/>
            <a:ext cx="2194560" cy="457200"/>
          </a:xfrm>
          <a:prstGeom prst="rect">
            <a:avLst/>
          </a:prstGeom>
          <a:noFill/>
          <a:ln/>
        </p:spPr>
        <p:txBody>
          <a:bodyPr wrap="square" lIns="0" tIns="0" rIns="0" bIns="0" rtlCol="0" anchor="t"/>
          <a:lstStyle/>
          <a:p>
            <a:pPr indent="0" marL="0">
              <a:buNone/>
            </a:pPr>
            <a:r>
              <a:rPr lang="en-US" sz="1300" i="1" dirty="0">
                <a:solidFill>
                  <a:srgbClr val="C9CDD3"/>
                </a:solidFill>
                <a:latin typeface="Calibri" pitchFamily="34" charset="0"/>
                <a:ea typeface="Calibri" pitchFamily="34" charset="-122"/>
                <a:cs typeface="Calibri" pitchFamily="34" charset="-120"/>
              </a:rPr>
              <a:t>Ariane 5</a:t>
            </a:r>
            <a:endParaRPr lang="en-US" sz="1300" dirty="0"/>
          </a:p>
        </p:txBody>
      </p:sp>
      <p:sp>
        <p:nvSpPr>
          <p:cNvPr id="16" name="Shape 13"/>
          <p:cNvSpPr/>
          <p:nvPr/>
        </p:nvSpPr>
        <p:spPr>
          <a:xfrm>
            <a:off x="6126480" y="1828800"/>
            <a:ext cx="2560320" cy="1783080"/>
          </a:xfrm>
          <a:prstGeom prst="roundRect">
            <a:avLst>
              <a:gd name="adj" fmla="val 4103"/>
            </a:avLst>
          </a:prstGeom>
          <a:solidFill>
            <a:srgbClr val="F2F3F5"/>
          </a:solidFill>
          <a:ln w="12700">
            <a:solidFill>
              <a:srgbClr val="F2F3F5"/>
            </a:solidFill>
            <a:prstDash val="solid"/>
          </a:ln>
        </p:spPr>
      </p:sp>
      <p:sp>
        <p:nvSpPr>
          <p:cNvPr id="17" name="Text 14"/>
          <p:cNvSpPr txBox="1"/>
          <p:nvPr/>
        </p:nvSpPr>
        <p:spPr>
          <a:xfrm>
            <a:off x="6355080" y="196596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3</a:t>
            </a:r>
            <a:endParaRPr lang="en-US" sz="2600" dirty="0"/>
          </a:p>
        </p:txBody>
      </p:sp>
      <p:sp>
        <p:nvSpPr>
          <p:cNvPr id="18" name="Text 15"/>
          <p:cNvSpPr txBox="1"/>
          <p:nvPr/>
        </p:nvSpPr>
        <p:spPr>
          <a:xfrm>
            <a:off x="6355080" y="251460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null</a:t>
            </a:r>
            <a:endParaRPr lang="en-US" sz="1600" dirty="0"/>
          </a:p>
        </p:txBody>
      </p:sp>
      <p:sp>
        <p:nvSpPr>
          <p:cNvPr id="19" name="Text 16"/>
          <p:cNvSpPr txBox="1"/>
          <p:nvPr/>
        </p:nvSpPr>
        <p:spPr>
          <a:xfrm>
            <a:off x="6355080" y="306324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l'erreur à un milliard de dollars</a:t>
            </a:r>
            <a:endParaRPr lang="en-US" sz="1300" dirty="0"/>
          </a:p>
        </p:txBody>
      </p:sp>
      <p:sp>
        <p:nvSpPr>
          <p:cNvPr id="20" name="Shape 17"/>
          <p:cNvSpPr/>
          <p:nvPr/>
        </p:nvSpPr>
        <p:spPr>
          <a:xfrm>
            <a:off x="8869680" y="1828800"/>
            <a:ext cx="2560320" cy="1783080"/>
          </a:xfrm>
          <a:prstGeom prst="roundRect">
            <a:avLst>
              <a:gd name="adj" fmla="val 4103"/>
            </a:avLst>
          </a:prstGeom>
          <a:solidFill>
            <a:srgbClr val="F2F3F5"/>
          </a:solidFill>
          <a:ln w="12700">
            <a:solidFill>
              <a:srgbClr val="F2F3F5"/>
            </a:solidFill>
            <a:prstDash val="solid"/>
          </a:ln>
        </p:spPr>
      </p:sp>
      <p:sp>
        <p:nvSpPr>
          <p:cNvPr id="21" name="Text 18"/>
          <p:cNvSpPr txBox="1"/>
          <p:nvPr/>
        </p:nvSpPr>
        <p:spPr>
          <a:xfrm>
            <a:off x="9098280" y="196596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4</a:t>
            </a:r>
            <a:endParaRPr lang="en-US" sz="2600" dirty="0"/>
          </a:p>
        </p:txBody>
      </p:sp>
      <p:sp>
        <p:nvSpPr>
          <p:cNvPr id="22" name="Text 19"/>
          <p:cNvSpPr txBox="1"/>
          <p:nvPr/>
        </p:nvSpPr>
        <p:spPr>
          <a:xfrm>
            <a:off x="9098280" y="251460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Les chaînes</a:t>
            </a:r>
            <a:endParaRPr lang="en-US" sz="1600" dirty="0"/>
          </a:p>
        </p:txBody>
      </p:sp>
      <p:sp>
        <p:nvSpPr>
          <p:cNvPr id="23" name="Text 20"/>
          <p:cNvSpPr txBox="1"/>
          <p:nvPr/>
        </p:nvSpPr>
        <p:spPr>
          <a:xfrm>
            <a:off x="9098280" y="306324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interpolation, formats, culture</a:t>
            </a:r>
            <a:endParaRPr lang="en-US" sz="1300" dirty="0"/>
          </a:p>
        </p:txBody>
      </p:sp>
      <p:sp>
        <p:nvSpPr>
          <p:cNvPr id="24" name="Shape 21"/>
          <p:cNvSpPr/>
          <p:nvPr/>
        </p:nvSpPr>
        <p:spPr>
          <a:xfrm>
            <a:off x="640080" y="3794760"/>
            <a:ext cx="2560320" cy="1783080"/>
          </a:xfrm>
          <a:prstGeom prst="roundRect">
            <a:avLst>
              <a:gd name="adj" fmla="val 4103"/>
            </a:avLst>
          </a:prstGeom>
          <a:solidFill>
            <a:srgbClr val="F2F3F5"/>
          </a:solidFill>
          <a:ln w="12700">
            <a:solidFill>
              <a:srgbClr val="F2F3F5"/>
            </a:solidFill>
            <a:prstDash val="solid"/>
          </a:ln>
        </p:spPr>
      </p:sp>
      <p:sp>
        <p:nvSpPr>
          <p:cNvPr id="25" name="Text 22"/>
          <p:cNvSpPr txBox="1"/>
          <p:nvPr/>
        </p:nvSpPr>
        <p:spPr>
          <a:xfrm>
            <a:off x="868680" y="393192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5</a:t>
            </a:r>
            <a:endParaRPr lang="en-US" sz="2600" dirty="0"/>
          </a:p>
        </p:txBody>
      </p:sp>
      <p:sp>
        <p:nvSpPr>
          <p:cNvPr id="26" name="Text 23"/>
          <p:cNvSpPr txBox="1"/>
          <p:nvPr/>
        </p:nvSpPr>
        <p:spPr>
          <a:xfrm>
            <a:off x="868680" y="448056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static</a:t>
            </a:r>
            <a:endParaRPr lang="en-US" sz="1600" dirty="0"/>
          </a:p>
        </p:txBody>
      </p:sp>
      <p:sp>
        <p:nvSpPr>
          <p:cNvPr id="27" name="Text 24"/>
          <p:cNvSpPr txBox="1"/>
          <p:nvPr/>
        </p:nvSpPr>
        <p:spPr>
          <a:xfrm>
            <a:off x="868680" y="502920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ce qui appartient à la classe</a:t>
            </a:r>
            <a:endParaRPr lang="en-US" sz="1300" dirty="0"/>
          </a:p>
        </p:txBody>
      </p:sp>
      <p:sp>
        <p:nvSpPr>
          <p:cNvPr id="28" name="Shape 25"/>
          <p:cNvSpPr/>
          <p:nvPr/>
        </p:nvSpPr>
        <p:spPr>
          <a:xfrm>
            <a:off x="3383280" y="3794760"/>
            <a:ext cx="2560320" cy="1783080"/>
          </a:xfrm>
          <a:prstGeom prst="roundRect">
            <a:avLst>
              <a:gd name="adj" fmla="val 4103"/>
            </a:avLst>
          </a:prstGeom>
          <a:solidFill>
            <a:srgbClr val="F2F3F5"/>
          </a:solidFill>
          <a:ln w="12700">
            <a:solidFill>
              <a:srgbClr val="F2F3F5"/>
            </a:solidFill>
            <a:prstDash val="solid"/>
          </a:ln>
        </p:spPr>
      </p:sp>
      <p:sp>
        <p:nvSpPr>
          <p:cNvPr id="29" name="Text 26"/>
          <p:cNvSpPr txBox="1"/>
          <p:nvPr/>
        </p:nvSpPr>
        <p:spPr>
          <a:xfrm>
            <a:off x="3611880" y="393192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6</a:t>
            </a:r>
            <a:endParaRPr lang="en-US" sz="2600" dirty="0"/>
          </a:p>
        </p:txBody>
      </p:sp>
      <p:sp>
        <p:nvSpPr>
          <p:cNvPr id="30" name="Text 27"/>
          <p:cNvSpPr txBox="1"/>
          <p:nvPr/>
        </p:nvSpPr>
        <p:spPr>
          <a:xfrm>
            <a:off x="3611880" y="448056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virtual et override</a:t>
            </a:r>
            <a:endParaRPr lang="en-US" sz="1600" dirty="0"/>
          </a:p>
        </p:txBody>
      </p:sp>
      <p:sp>
        <p:nvSpPr>
          <p:cNvPr id="31" name="Text 28"/>
          <p:cNvSpPr txBox="1"/>
          <p:nvPr/>
        </p:nvSpPr>
        <p:spPr>
          <a:xfrm>
            <a:off x="3611880" y="502920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la recette de famille</a:t>
            </a:r>
            <a:endParaRPr lang="en-US" sz="1300" dirty="0"/>
          </a:p>
        </p:txBody>
      </p:sp>
      <p:sp>
        <p:nvSpPr>
          <p:cNvPr id="32" name="Shape 29"/>
          <p:cNvSpPr/>
          <p:nvPr/>
        </p:nvSpPr>
        <p:spPr>
          <a:xfrm>
            <a:off x="6126480" y="3794760"/>
            <a:ext cx="2560320" cy="1783080"/>
          </a:xfrm>
          <a:prstGeom prst="roundRect">
            <a:avLst>
              <a:gd name="adj" fmla="val 4103"/>
            </a:avLst>
          </a:prstGeom>
          <a:solidFill>
            <a:srgbClr val="F2F3F5"/>
          </a:solidFill>
          <a:ln w="12700">
            <a:solidFill>
              <a:srgbClr val="F2F3F5"/>
            </a:solidFill>
            <a:prstDash val="solid"/>
          </a:ln>
        </p:spPr>
      </p:sp>
      <p:sp>
        <p:nvSpPr>
          <p:cNvPr id="33" name="Text 30"/>
          <p:cNvSpPr txBox="1"/>
          <p:nvPr/>
        </p:nvSpPr>
        <p:spPr>
          <a:xfrm>
            <a:off x="6355080" y="3931920"/>
            <a:ext cx="548640" cy="548640"/>
          </a:xfrm>
          <a:prstGeom prst="rect">
            <a:avLst/>
          </a:prstGeom>
          <a:noFill/>
          <a:ln/>
        </p:spPr>
        <p:txBody>
          <a:bodyPr wrap="square" lIns="0" tIns="0" rIns="0" bIns="0" rtlCol="0" anchor="ctr"/>
          <a:lstStyle/>
          <a:p>
            <a:pPr indent="0" marL="0">
              <a:buNone/>
            </a:pPr>
            <a:r>
              <a:rPr lang="en-US" sz="2600" b="1" dirty="0">
                <a:solidFill>
                  <a:srgbClr val="E8590C"/>
                </a:solidFill>
                <a:latin typeface="Arial" pitchFamily="34" charset="0"/>
                <a:ea typeface="Arial" pitchFamily="34" charset="-122"/>
                <a:cs typeface="Arial" pitchFamily="34" charset="-120"/>
              </a:rPr>
              <a:t>7</a:t>
            </a:r>
            <a:endParaRPr lang="en-US" sz="2600" dirty="0"/>
          </a:p>
        </p:txBody>
      </p:sp>
      <p:sp>
        <p:nvSpPr>
          <p:cNvPr id="34" name="Text 31"/>
          <p:cNvSpPr txBox="1"/>
          <p:nvPr/>
        </p:nvSpPr>
        <p:spPr>
          <a:xfrm>
            <a:off x="6355080" y="4480560"/>
            <a:ext cx="2194560" cy="548640"/>
          </a:xfrm>
          <a:prstGeom prst="rect">
            <a:avLst/>
          </a:prstGeom>
          <a:noFill/>
          <a:ln/>
        </p:spPr>
        <p:txBody>
          <a:bodyPr wrap="square" lIns="0" tIns="0" rIns="0" bIns="0" rtlCol="0" anchor="t"/>
          <a:lstStyle/>
          <a:p>
            <a:pPr indent="0" marL="0">
              <a:buNone/>
            </a:pPr>
            <a:r>
              <a:rPr lang="en-US" sz="1600" b="1" dirty="0">
                <a:solidFill>
                  <a:srgbClr val="16181D"/>
                </a:solidFill>
                <a:latin typeface="Arial" pitchFamily="34" charset="0"/>
                <a:ea typeface="Arial" pitchFamily="34" charset="-122"/>
                <a:cs typeface="Arial" pitchFamily="34" charset="-120"/>
              </a:rPr>
              <a:t>Les enum [Flags]</a:t>
            </a:r>
            <a:endParaRPr lang="en-US" sz="1600" dirty="0"/>
          </a:p>
        </p:txBody>
      </p:sp>
      <p:sp>
        <p:nvSpPr>
          <p:cNvPr id="35" name="Text 32"/>
          <p:cNvSpPr txBox="1"/>
          <p:nvPr/>
        </p:nvSpPr>
        <p:spPr>
          <a:xfrm>
            <a:off x="6355080" y="5029200"/>
            <a:ext cx="2194560" cy="457200"/>
          </a:xfrm>
          <a:prstGeom prst="rect">
            <a:avLst/>
          </a:prstGeom>
          <a:noFill/>
          <a:ln/>
        </p:spPr>
        <p:txBody>
          <a:bodyPr wrap="square" lIns="0" tIns="0" rIns="0" bIns="0" rtlCol="0" anchor="t"/>
          <a:lstStyle/>
          <a:p>
            <a:pPr indent="0" marL="0">
              <a:buNone/>
            </a:pPr>
            <a:r>
              <a:rPr lang="en-US" sz="1300" i="1" dirty="0">
                <a:solidFill>
                  <a:srgbClr val="5F6670"/>
                </a:solidFill>
                <a:latin typeface="Calibri" pitchFamily="34" charset="0"/>
                <a:ea typeface="Calibri" pitchFamily="34" charset="-122"/>
                <a:cs typeface="Calibri" pitchFamily="34" charset="-120"/>
              </a:rPr>
              <a:t>les interrupteurs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01</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Valeur ou référence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La photocopie et l'adresse</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VALEUR OU RÉFÉRENCE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Une photocopie, ou l'adresse d'une maison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8" name="Shape 5"/>
          <p:cNvSpPr/>
          <p:nvPr/>
        </p:nvSpPr>
        <p:spPr>
          <a:xfrm>
            <a:off x="640080" y="1783080"/>
            <a:ext cx="5303520" cy="3566160"/>
          </a:xfrm>
          <a:prstGeom prst="roundRect">
            <a:avLst>
              <a:gd name="adj" fmla="val 2051"/>
            </a:avLst>
          </a:prstGeom>
          <a:solidFill>
            <a:srgbClr val="F2F3F5"/>
          </a:solidFill>
          <a:ln w="12700">
            <a:solidFill>
              <a:srgbClr val="F2F3F5"/>
            </a:solidFill>
            <a:prstDash val="solid"/>
          </a:ln>
        </p:spPr>
      </p:sp>
      <p:sp>
        <p:nvSpPr>
          <p:cNvPr id="9" name="Text 6"/>
          <p:cNvSpPr txBox="1"/>
          <p:nvPr/>
        </p:nvSpPr>
        <p:spPr>
          <a:xfrm>
            <a:off x="960120" y="1920240"/>
            <a:ext cx="4754880" cy="457200"/>
          </a:xfrm>
          <a:prstGeom prst="rect">
            <a:avLst/>
          </a:prstGeom>
          <a:noFill/>
          <a:ln/>
        </p:spPr>
        <p:txBody>
          <a:bodyPr wrap="square" lIns="0" tIns="0" rIns="0" bIns="0" rtlCol="0" anchor="ctr"/>
          <a:lstStyle/>
          <a:p>
            <a:pPr indent="0" marL="0">
              <a:buNone/>
            </a:pPr>
            <a:r>
              <a:rPr lang="en-US" sz="1900" b="1" dirty="0">
                <a:solidFill>
                  <a:srgbClr val="16181D"/>
                </a:solidFill>
                <a:latin typeface="Arial" pitchFamily="34" charset="0"/>
                <a:ea typeface="Arial" pitchFamily="34" charset="-122"/>
                <a:cs typeface="Arial" pitchFamily="34" charset="-120"/>
              </a:rPr>
              <a:t>Type valeur : la photocopie</a:t>
            </a:r>
            <a:endParaRPr lang="en-US" sz="1900" dirty="0"/>
          </a:p>
        </p:txBody>
      </p:sp>
      <p:sp>
        <p:nvSpPr>
          <p:cNvPr id="10" name="Shape 7"/>
          <p:cNvSpPr/>
          <p:nvPr/>
        </p:nvSpPr>
        <p:spPr>
          <a:xfrm>
            <a:off x="914400" y="2514600"/>
            <a:ext cx="4754880" cy="1737360"/>
          </a:xfrm>
          <a:prstGeom prst="roundRect">
            <a:avLst>
              <a:gd name="adj" fmla="val 4211"/>
            </a:avLst>
          </a:prstGeom>
          <a:solidFill>
            <a:srgbClr val="1E2127"/>
          </a:solidFill>
          <a:ln w="12700">
            <a:solidFill>
              <a:srgbClr val="1E2127"/>
            </a:solidFill>
            <a:prstDash val="solid"/>
          </a:ln>
        </p:spPr>
      </p:sp>
      <p:sp>
        <p:nvSpPr>
          <p:cNvPr id="11" name="Text 8"/>
          <p:cNvSpPr txBox="1"/>
          <p:nvPr/>
        </p:nvSpPr>
        <p:spPr>
          <a:xfrm>
            <a:off x="1188720" y="2743200"/>
            <a:ext cx="4206240" cy="128016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int a = 10;</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int b = a;      // photocopie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b = 99;</a:t>
            </a:r>
            <a:endParaRPr lang="en-US" sz="1500" dirty="0"/>
          </a:p>
          <a:p>
            <a:pPr indent="0" marL="0">
              <a:buNone/>
            </a:pPr>
            <a:r>
              <a:rPr lang="en-US" sz="1500" dirty="0">
                <a:solidFill>
                  <a:srgbClr val="8B929C"/>
                </a:solidFill>
                <a:latin typeface="Consolas" pitchFamily="34" charset="0"/>
                <a:ea typeface="Consolas" pitchFamily="34" charset="-122"/>
                <a:cs typeface="Consolas" pitchFamily="34" charset="-120"/>
              </a:rPr>
              <a:t>// a vaut toujours 10</a:t>
            </a:r>
            <a:endParaRPr lang="en-US" sz="1500" dirty="0"/>
          </a:p>
        </p:txBody>
      </p:sp>
      <p:sp>
        <p:nvSpPr>
          <p:cNvPr id="12" name="Text 9"/>
          <p:cNvSpPr txBox="1"/>
          <p:nvPr/>
        </p:nvSpPr>
        <p:spPr>
          <a:xfrm>
            <a:off x="960120" y="4434840"/>
            <a:ext cx="4754880" cy="731520"/>
          </a:xfrm>
          <a:prstGeom prst="rect">
            <a:avLst/>
          </a:prstGeom>
          <a:noFill/>
          <a:ln/>
        </p:spPr>
        <p:txBody>
          <a:bodyPr wrap="square" lIns="0" tIns="0" rIns="0" bIns="0" rtlCol="0" anchor="t"/>
          <a:lstStyle/>
          <a:p>
            <a:pPr indent="0" marL="0">
              <a:buNone/>
            </a:pPr>
            <a:r>
              <a:rPr lang="en-US" sz="1400" dirty="0">
                <a:solidFill>
                  <a:srgbClr val="5F6670"/>
                </a:solidFill>
                <a:latin typeface="Calibri" pitchFamily="34" charset="0"/>
                <a:ea typeface="Calibri" pitchFamily="34" charset="-122"/>
                <a:cs typeface="Calibri" pitchFamily="34" charset="-120"/>
              </a:rPr>
              <a:t>int, double, decimal, bool, DateTime, enum, struct</a:t>
            </a:r>
            <a:endParaRPr lang="en-US" sz="1400" dirty="0"/>
          </a:p>
        </p:txBody>
      </p:sp>
      <p:sp>
        <p:nvSpPr>
          <p:cNvPr id="13" name="Shape 10"/>
          <p:cNvSpPr/>
          <p:nvPr/>
        </p:nvSpPr>
        <p:spPr>
          <a:xfrm>
            <a:off x="6217920" y="1783080"/>
            <a:ext cx="5303520" cy="3566160"/>
          </a:xfrm>
          <a:prstGeom prst="roundRect">
            <a:avLst>
              <a:gd name="adj" fmla="val 2051"/>
            </a:avLst>
          </a:prstGeom>
          <a:solidFill>
            <a:srgbClr val="16181D"/>
          </a:solidFill>
          <a:ln w="12700">
            <a:solidFill>
              <a:srgbClr val="16181D"/>
            </a:solidFill>
            <a:prstDash val="solid"/>
          </a:ln>
        </p:spPr>
      </p:sp>
      <p:sp>
        <p:nvSpPr>
          <p:cNvPr id="14" name="Text 11"/>
          <p:cNvSpPr txBox="1"/>
          <p:nvPr/>
        </p:nvSpPr>
        <p:spPr>
          <a:xfrm>
            <a:off x="6537960" y="1920240"/>
            <a:ext cx="4754880" cy="457200"/>
          </a:xfrm>
          <a:prstGeom prst="rect">
            <a:avLst/>
          </a:prstGeom>
          <a:noFill/>
          <a:ln/>
        </p:spPr>
        <p:txBody>
          <a:bodyPr wrap="square" lIns="0" tIns="0" rIns="0" bIns="0" rtlCol="0" anchor="ctr"/>
          <a:lstStyle/>
          <a:p>
            <a:pPr indent="0" marL="0">
              <a:buNone/>
            </a:pPr>
            <a:r>
              <a:rPr lang="en-US" sz="1900" b="1" dirty="0">
                <a:solidFill>
                  <a:srgbClr val="E8590C"/>
                </a:solidFill>
                <a:latin typeface="Arial" pitchFamily="34" charset="0"/>
                <a:ea typeface="Arial" pitchFamily="34" charset="-122"/>
                <a:cs typeface="Arial" pitchFamily="34" charset="-120"/>
              </a:rPr>
              <a:t>Type référence : l'adresse</a:t>
            </a:r>
            <a:endParaRPr lang="en-US" sz="1900" dirty="0"/>
          </a:p>
        </p:txBody>
      </p:sp>
      <p:sp>
        <p:nvSpPr>
          <p:cNvPr id="15" name="Shape 12"/>
          <p:cNvSpPr/>
          <p:nvPr/>
        </p:nvSpPr>
        <p:spPr>
          <a:xfrm>
            <a:off x="6492240" y="2514600"/>
            <a:ext cx="4754880" cy="1737360"/>
          </a:xfrm>
          <a:prstGeom prst="roundRect">
            <a:avLst>
              <a:gd name="adj" fmla="val 4211"/>
            </a:avLst>
          </a:prstGeom>
          <a:solidFill>
            <a:srgbClr val="1E2127"/>
          </a:solidFill>
          <a:ln w="12700">
            <a:solidFill>
              <a:srgbClr val="1E2127"/>
            </a:solidFill>
            <a:prstDash val="solid"/>
          </a:ln>
        </p:spPr>
      </p:sp>
      <p:sp>
        <p:nvSpPr>
          <p:cNvPr id="16" name="Text 13"/>
          <p:cNvSpPr txBox="1"/>
          <p:nvPr/>
        </p:nvSpPr>
        <p:spPr>
          <a:xfrm>
            <a:off x="6766560" y="2743200"/>
            <a:ext cx="4206240" cy="128016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var i1 = new Incident(...);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var i2 = i1;    // même adresse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i2.AssignTo(karim);</a:t>
            </a:r>
            <a:endParaRPr lang="en-US" sz="1500" dirty="0"/>
          </a:p>
          <a:p>
            <a:pPr indent="0" marL="0">
              <a:buNone/>
            </a:pPr>
            <a:r>
              <a:rPr lang="en-US" sz="1500" dirty="0">
                <a:solidFill>
                  <a:srgbClr val="8B929C"/>
                </a:solidFill>
                <a:latin typeface="Consolas" pitchFamily="34" charset="0"/>
                <a:ea typeface="Consolas" pitchFamily="34" charset="-122"/>
                <a:cs typeface="Consolas" pitchFamily="34" charset="-120"/>
              </a:rPr>
              <a:t>// i1 aussi est assigné</a:t>
            </a:r>
            <a:endParaRPr lang="en-US" sz="1500" dirty="0"/>
          </a:p>
        </p:txBody>
      </p:sp>
      <p:sp>
        <p:nvSpPr>
          <p:cNvPr id="17" name="Text 14"/>
          <p:cNvSpPr txBox="1"/>
          <p:nvPr/>
        </p:nvSpPr>
        <p:spPr>
          <a:xfrm>
            <a:off x="6537960" y="4434840"/>
            <a:ext cx="4754880" cy="731520"/>
          </a:xfrm>
          <a:prstGeom prst="rect">
            <a:avLst/>
          </a:prstGeom>
          <a:noFill/>
          <a:ln/>
        </p:spPr>
        <p:txBody>
          <a:bodyPr wrap="square" lIns="0" tIns="0" rIns="0" bIns="0" rtlCol="0" anchor="t"/>
          <a:lstStyle/>
          <a:p>
            <a:pPr indent="0" marL="0">
              <a:buNone/>
            </a:pPr>
            <a:r>
              <a:rPr lang="en-US" sz="1400" dirty="0">
                <a:solidFill>
                  <a:srgbClr val="C9CDD3"/>
                </a:solidFill>
                <a:latin typeface="Calibri" pitchFamily="34" charset="0"/>
                <a:ea typeface="Calibri" pitchFamily="34" charset="-122"/>
                <a:cs typeface="Calibri" pitchFamily="34" charset="-120"/>
              </a:rPr>
              <a:t>class, string, tableaux, List, et tous nos objets</a:t>
            </a:r>
            <a:endParaRPr lang="en-US" sz="1400" dirty="0"/>
          </a:p>
        </p:txBody>
      </p:sp>
      <p:sp>
        <p:nvSpPr>
          <p:cNvPr id="18" name="Text 15"/>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Types valeur » et « Types référence » (référence du langage 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s03-etape1-valeur-reference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Valeur et référence,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Copier un int : deux valeurs indépendantes</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Copier une référence : deux variables, un seul objet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struct (valeur) et class (référence) côte à côte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02</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Les nombres et leurs limites</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Chaque type a une taille, et donc un maximum</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097280"/>
            <a:ext cx="10911535" cy="457200"/>
          </a:xfrm>
          <a:prstGeom prst="rect">
            <a:avLst/>
          </a:prstGeom>
          <a:noFill/>
          <a:ln/>
        </p:spPr>
        <p:txBody>
          <a:bodyPr wrap="square" lIns="0" tIns="0" rIns="0" bIns="0" rtlCol="0" anchor="ctr"/>
          <a:lstStyle/>
          <a:p>
            <a:pPr indent="0" marL="0">
              <a:buNone/>
            </a:pPr>
            <a:r>
              <a:rPr lang="en-US" sz="1800" b="1" spc="300" kern="0" dirty="0">
                <a:solidFill>
                  <a:srgbClr val="E8590C"/>
                </a:solidFill>
                <a:latin typeface="Calibri" pitchFamily="34" charset="0"/>
                <a:ea typeface="Calibri" pitchFamily="34" charset="-122"/>
                <a:cs typeface="Calibri" pitchFamily="34" charset="-120"/>
              </a:rPr>
              <a:t>4 juin 1996</a:t>
            </a:r>
            <a:endParaRPr lang="en-US" sz="1800" dirty="0"/>
          </a:p>
        </p:txBody>
      </p:sp>
      <p:sp>
        <p:nvSpPr>
          <p:cNvPr id="3" name="Text 1"/>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4" name="Text 2"/>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8</a:t>
            </a:r>
            <a:endParaRPr lang="en-US" sz="1000" dirty="0"/>
          </a:p>
        </p:txBody>
      </p:sp>
      <p:sp>
        <p:nvSpPr>
          <p:cNvPr id="6" name="Text 3"/>
          <p:cNvSpPr txBox="1"/>
          <p:nvPr/>
        </p:nvSpPr>
        <p:spPr>
          <a:xfrm>
            <a:off x="640080" y="1645920"/>
            <a:ext cx="10911535" cy="100584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Ariane 5 explose 37 secondes après son premier décollage.</a:t>
            </a:r>
            <a:endParaRPr lang="en-US" sz="3600" dirty="0"/>
          </a:p>
        </p:txBody>
      </p:sp>
      <p:sp>
        <p:nvSpPr>
          <p:cNvPr id="7" name="Shape 4"/>
          <p:cNvSpPr/>
          <p:nvPr/>
        </p:nvSpPr>
        <p:spPr>
          <a:xfrm>
            <a:off x="640080" y="2926080"/>
            <a:ext cx="3474720" cy="2377440"/>
          </a:xfrm>
          <a:prstGeom prst="roundRect">
            <a:avLst>
              <a:gd name="adj" fmla="val 3077"/>
            </a:avLst>
          </a:prstGeom>
          <a:solidFill>
            <a:srgbClr val="2A2D34"/>
          </a:solidFill>
          <a:ln w="12700">
            <a:solidFill>
              <a:srgbClr val="2A2D34"/>
            </a:solidFill>
            <a:prstDash val="solid"/>
          </a:ln>
        </p:spPr>
      </p:sp>
      <p:sp>
        <p:nvSpPr>
          <p:cNvPr id="8" name="Text 5"/>
          <p:cNvSpPr txBox="1"/>
          <p:nvPr/>
        </p:nvSpPr>
        <p:spPr>
          <a:xfrm>
            <a:off x="914400" y="3108960"/>
            <a:ext cx="2926080" cy="457200"/>
          </a:xfrm>
          <a:prstGeom prst="rect">
            <a:avLst/>
          </a:prstGeom>
          <a:noFill/>
          <a:ln/>
        </p:spPr>
        <p:txBody>
          <a:bodyPr wrap="square" lIns="0" tIns="0" rIns="0" bIns="0" rtlCol="0" anchor="ctr"/>
          <a:lstStyle/>
          <a:p>
            <a:pPr indent="0" marL="0">
              <a:buNone/>
            </a:pPr>
            <a:r>
              <a:rPr lang="en-US" sz="1900" b="1" dirty="0">
                <a:solidFill>
                  <a:srgbClr val="E8590C"/>
                </a:solidFill>
                <a:latin typeface="Arial" pitchFamily="34" charset="0"/>
                <a:ea typeface="Arial" pitchFamily="34" charset="-122"/>
                <a:cs typeface="Arial" pitchFamily="34" charset="-120"/>
              </a:rPr>
              <a:t>La cause</a:t>
            </a:r>
            <a:endParaRPr lang="en-US" sz="1900" dirty="0"/>
          </a:p>
        </p:txBody>
      </p:sp>
      <p:sp>
        <p:nvSpPr>
          <p:cNvPr id="9" name="Text 6"/>
          <p:cNvSpPr txBox="1"/>
          <p:nvPr/>
        </p:nvSpPr>
        <p:spPr>
          <a:xfrm>
            <a:off x="914400" y="3657600"/>
            <a:ext cx="2926080" cy="15544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Une valeur liée à la vitesse, sur 64 bits, convertie en entier sur 16 bits.</a:t>
            </a:r>
            <a:endParaRPr lang="en-US" sz="1600" dirty="0"/>
          </a:p>
        </p:txBody>
      </p:sp>
      <p:sp>
        <p:nvSpPr>
          <p:cNvPr id="10" name="Shape 7"/>
          <p:cNvSpPr/>
          <p:nvPr/>
        </p:nvSpPr>
        <p:spPr>
          <a:xfrm>
            <a:off x="4343400" y="2926080"/>
            <a:ext cx="3474720" cy="2377440"/>
          </a:xfrm>
          <a:prstGeom prst="roundRect">
            <a:avLst>
              <a:gd name="adj" fmla="val 3077"/>
            </a:avLst>
          </a:prstGeom>
          <a:solidFill>
            <a:srgbClr val="E8590C"/>
          </a:solidFill>
          <a:ln w="12700">
            <a:solidFill>
              <a:srgbClr val="E8590C"/>
            </a:solidFill>
            <a:prstDash val="solid"/>
          </a:ln>
        </p:spPr>
      </p:sp>
      <p:sp>
        <p:nvSpPr>
          <p:cNvPr id="11" name="Text 8"/>
          <p:cNvSpPr txBox="1"/>
          <p:nvPr/>
        </p:nvSpPr>
        <p:spPr>
          <a:xfrm>
            <a:off x="4617720" y="3108960"/>
            <a:ext cx="292608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La limite</a:t>
            </a:r>
            <a:endParaRPr lang="en-US" sz="1900" dirty="0"/>
          </a:p>
        </p:txBody>
      </p:sp>
      <p:sp>
        <p:nvSpPr>
          <p:cNvPr id="12" name="Text 9"/>
          <p:cNvSpPr txBox="1"/>
          <p:nvPr/>
        </p:nvSpPr>
        <p:spPr>
          <a:xfrm>
            <a:off x="4617720" y="3657600"/>
            <a:ext cx="2926080" cy="15544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Un entier signé sur 16 bits ne dépasse pas 32 767.</a:t>
            </a:r>
            <a:endParaRPr lang="en-US" sz="1600" dirty="0"/>
          </a:p>
        </p:txBody>
      </p:sp>
      <p:sp>
        <p:nvSpPr>
          <p:cNvPr id="13" name="Shape 10"/>
          <p:cNvSpPr/>
          <p:nvPr/>
        </p:nvSpPr>
        <p:spPr>
          <a:xfrm>
            <a:off x="8046720" y="2926080"/>
            <a:ext cx="3474720" cy="2377440"/>
          </a:xfrm>
          <a:prstGeom prst="roundRect">
            <a:avLst>
              <a:gd name="adj" fmla="val 3077"/>
            </a:avLst>
          </a:prstGeom>
          <a:solidFill>
            <a:srgbClr val="2A2D34"/>
          </a:solidFill>
          <a:ln w="12700">
            <a:solidFill>
              <a:srgbClr val="2A2D34"/>
            </a:solidFill>
            <a:prstDash val="solid"/>
          </a:ln>
        </p:spPr>
      </p:sp>
      <p:sp>
        <p:nvSpPr>
          <p:cNvPr id="14" name="Text 11"/>
          <p:cNvSpPr txBox="1"/>
          <p:nvPr/>
        </p:nvSpPr>
        <p:spPr>
          <a:xfrm>
            <a:off x="8321040" y="3108960"/>
            <a:ext cx="2926080" cy="457200"/>
          </a:xfrm>
          <a:prstGeom prst="rect">
            <a:avLst/>
          </a:prstGeom>
          <a:noFill/>
          <a:ln/>
        </p:spPr>
        <p:txBody>
          <a:bodyPr wrap="square" lIns="0" tIns="0" rIns="0" bIns="0" rtlCol="0" anchor="ctr"/>
          <a:lstStyle/>
          <a:p>
            <a:pPr indent="0" marL="0">
              <a:buNone/>
            </a:pPr>
            <a:r>
              <a:rPr lang="en-US" sz="1900" b="1" dirty="0">
                <a:solidFill>
                  <a:srgbClr val="E8590C"/>
                </a:solidFill>
                <a:latin typeface="Arial" pitchFamily="34" charset="0"/>
                <a:ea typeface="Arial" pitchFamily="34" charset="-122"/>
                <a:cs typeface="Arial" pitchFamily="34" charset="-120"/>
              </a:rPr>
              <a:t>Le piège</a:t>
            </a:r>
            <a:endParaRPr lang="en-US" sz="1900" dirty="0"/>
          </a:p>
        </p:txBody>
      </p:sp>
      <p:sp>
        <p:nvSpPr>
          <p:cNvPr id="15" name="Text 12"/>
          <p:cNvSpPr txBox="1"/>
          <p:nvPr/>
        </p:nvSpPr>
        <p:spPr>
          <a:xfrm>
            <a:off x="8321040" y="3657600"/>
            <a:ext cx="2926080" cy="1554480"/>
          </a:xfrm>
          <a:prstGeom prst="rect">
            <a:avLst/>
          </a:prstGeom>
          <a:noFill/>
          <a:ln/>
        </p:spPr>
        <p:txBody>
          <a:bodyPr wrap="square" lIns="0" tIns="0" rIns="0" bIns="0" rtlCol="0" anchor="t"/>
          <a:lstStyle/>
          <a:p>
            <a:pPr indent="0" marL="0">
              <a:buNone/>
            </a:pPr>
            <a:r>
              <a:rPr lang="en-US" sz="1600" dirty="0">
                <a:solidFill>
                  <a:srgbClr val="FFFFFF"/>
                </a:solidFill>
                <a:latin typeface="Calibri" pitchFamily="34" charset="0"/>
                <a:ea typeface="Calibri" pitchFamily="34" charset="-122"/>
                <a:cs typeface="Calibri" pitchFamily="34" charset="-120"/>
              </a:rPr>
              <a:t>Le code venait d'Ariane 4, plus lente : là-bas, la valeur tenait.</a:t>
            </a:r>
            <a:endParaRPr lang="en-US" sz="1600" dirty="0"/>
          </a:p>
        </p:txBody>
      </p:sp>
      <p:sp>
        <p:nvSpPr>
          <p:cNvPr id="16" name="Text 13"/>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9AA0A8"/>
                </a:solidFill>
                <a:latin typeface="Calibri" pitchFamily="34" charset="0"/>
                <a:ea typeface="Calibri" pitchFamily="34" charset="-122"/>
                <a:cs typeface="Calibri" pitchFamily="34" charset="-120"/>
              </a:rPr>
              <a:t>Source : J.-L. Lions et al., « Ariane 5 Flight 501 Failure », rapport de la commission d'enquête, ESA/CNES, juillet 1996.</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LES ENTIERS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Chaque type entier a une taille, et donc un maximum</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71600"/>
                <a:gridCol w="1463040"/>
                <a:gridCol w="2194560"/>
                <a:gridCol w="2194560"/>
                <a:gridCol w="3685032"/>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Taille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Minimum</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Exemple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byte</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1 octet</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un octet d'un fichier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short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2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−32 768</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32 767</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Ariane 5 : la limite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4E6"/>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ushort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2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65 535</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un numéro de port réseau</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int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4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−2,1 milliards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2,1 milliards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un compteur d'incidents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uint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4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4,3 milliards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une adresse IPv4</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long</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8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−9,2 × 10¹⁸</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9,2 × 10¹⁸</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des millisecondes depuis 1970</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7548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ulong</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8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 1,8 × 10¹⁹</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une taille de disque en octets</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40080" y="5715000"/>
            <a:ext cx="10911535" cy="365760"/>
          </a:xfrm>
          <a:prstGeom prst="rect">
            <a:avLst/>
          </a:prstGeom>
          <a:noFill/>
          <a:ln/>
        </p:spPr>
        <p:txBody>
          <a:bodyPr wrap="square" lIns="0" tIns="0" rIns="0" bIns="0" rtlCol="0" anchor="ctr"/>
          <a:lstStyle/>
          <a:p>
            <a:pPr indent="0" marL="0">
              <a:buNone/>
            </a:pPr>
            <a:r>
              <a:rPr lang="en-US" sz="1500" b="1" dirty="0">
                <a:solidFill>
                  <a:srgbClr val="16181D"/>
                </a:solidFill>
                <a:latin typeface="Calibri" pitchFamily="34" charset="0"/>
                <a:ea typeface="Calibri" pitchFamily="34" charset="-122"/>
                <a:cs typeface="Calibri" pitchFamily="34" charset="-120"/>
              </a:rPr>
              <a:t>u = unsigned (non signé) : jamais négatif, mais deux fois plus haut. En C#, int.MaxValue donne le maximum.</a:t>
            </a:r>
            <a:endParaRPr lang="en-US" sz="1500" dirty="0"/>
          </a:p>
        </p:txBody>
      </p:sp>
      <p:sp>
        <p:nvSpPr>
          <p:cNvPr id="10" name="Text 6"/>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Types numériques intégraux (référence C#)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DÉPASSEMENT</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Que se passe-t-il quand on dépasse le maximum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8" name="Shape 5"/>
          <p:cNvSpPr/>
          <p:nvPr/>
        </p:nvSpPr>
        <p:spPr>
          <a:xfrm>
            <a:off x="640080" y="1783080"/>
            <a:ext cx="6035040" cy="3383280"/>
          </a:xfrm>
          <a:prstGeom prst="roundRect">
            <a:avLst>
              <a:gd name="adj" fmla="val 2162"/>
            </a:avLst>
          </a:prstGeom>
          <a:solidFill>
            <a:srgbClr val="1E2127"/>
          </a:solidFill>
          <a:ln w="12700">
            <a:solidFill>
              <a:srgbClr val="1E2127"/>
            </a:solidFill>
            <a:prstDash val="solid"/>
          </a:ln>
        </p:spPr>
      </p:sp>
      <p:sp>
        <p:nvSpPr>
          <p:cNvPr id="9" name="Text 6"/>
          <p:cNvSpPr txBox="1"/>
          <p:nvPr/>
        </p:nvSpPr>
        <p:spPr>
          <a:xfrm>
            <a:off x="914400" y="2011680"/>
            <a:ext cx="5486400" cy="292608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int vues = int.MaxValue;   // 2 147 483 647</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vues = vues + 1;</a:t>
            </a:r>
            <a:endParaRPr lang="en-US" sz="1500" dirty="0"/>
          </a:p>
          <a:p>
            <a:pPr indent="0" marL="0">
              <a:buNone/>
            </a:pPr>
            <a:r>
              <a:rPr lang="en-US" sz="1500" b="1" dirty="0">
                <a:solidFill>
                  <a:srgbClr val="C92A2A"/>
                </a:solidFill>
                <a:latin typeface="Consolas" pitchFamily="34" charset="0"/>
                <a:ea typeface="Consolas" pitchFamily="34" charset="-122"/>
                <a:cs typeface="Consolas" pitchFamily="34" charset="-120"/>
              </a:rPr>
              <a:t>// vues vaut -2 147 483 648 : aucune erreur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checked</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vues = int.MaxValue + 1;  // OverflowException</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a:t>
            </a:r>
            <a:endParaRPr lang="en-US" sz="1500" dirty="0"/>
          </a:p>
        </p:txBody>
      </p:sp>
      <p:sp>
        <p:nvSpPr>
          <p:cNvPr id="10" name="Shape 7"/>
          <p:cNvSpPr/>
          <p:nvPr/>
        </p:nvSpPr>
        <p:spPr>
          <a:xfrm>
            <a:off x="6949440" y="1783080"/>
            <a:ext cx="4572000" cy="1051560"/>
          </a:xfrm>
          <a:prstGeom prst="roundRect">
            <a:avLst>
              <a:gd name="adj" fmla="val 6957"/>
            </a:avLst>
          </a:prstGeom>
          <a:solidFill>
            <a:srgbClr val="F2F3F5"/>
          </a:solidFill>
          <a:ln w="12700">
            <a:solidFill>
              <a:srgbClr val="F2F3F5"/>
            </a:solidFill>
            <a:prstDash val="solid"/>
          </a:ln>
        </p:spPr>
      </p:sp>
      <p:sp>
        <p:nvSpPr>
          <p:cNvPr id="11" name="Text 8"/>
          <p:cNvSpPr txBox="1"/>
          <p:nvPr/>
        </p:nvSpPr>
        <p:spPr>
          <a:xfrm>
            <a:off x="7132320" y="1874520"/>
            <a:ext cx="1371600" cy="868680"/>
          </a:xfrm>
          <a:prstGeom prst="rect">
            <a:avLst/>
          </a:prstGeom>
          <a:noFill/>
          <a:ln/>
        </p:spPr>
        <p:txBody>
          <a:bodyPr wrap="square" lIns="0" tIns="0" rIns="0" bIns="0" rtlCol="0" anchor="ctr"/>
          <a:lstStyle/>
          <a:p>
            <a:pPr indent="0" marL="0">
              <a:buNone/>
            </a:pPr>
            <a:r>
              <a:rPr lang="en-US" sz="1500" b="1" dirty="0">
                <a:solidFill>
                  <a:srgbClr val="E8590C"/>
                </a:solidFill>
                <a:latin typeface="Arial" pitchFamily="34" charset="0"/>
                <a:ea typeface="Arial" pitchFamily="34" charset="-122"/>
                <a:cs typeface="Arial" pitchFamily="34" charset="-120"/>
              </a:rPr>
              <a:t>Déc. 2014</a:t>
            </a:r>
            <a:endParaRPr lang="en-US" sz="1500" dirty="0"/>
          </a:p>
        </p:txBody>
      </p:sp>
      <p:sp>
        <p:nvSpPr>
          <p:cNvPr id="12" name="Text 9"/>
          <p:cNvSpPr txBox="1"/>
          <p:nvPr/>
        </p:nvSpPr>
        <p:spPr>
          <a:xfrm>
            <a:off x="8503920" y="1874520"/>
            <a:ext cx="2926080" cy="868680"/>
          </a:xfrm>
          <a:prstGeom prst="rect">
            <a:avLst/>
          </a:prstGeom>
          <a:noFill/>
          <a:ln/>
        </p:spPr>
        <p:txBody>
          <a:bodyPr wrap="square" lIns="0" tIns="0" rIns="0" bIns="0" rtlCol="0" anchor="ctr"/>
          <a:lstStyle/>
          <a:p>
            <a:pPr indent="0" marL="0">
              <a:buNone/>
            </a:pPr>
            <a:r>
              <a:rPr lang="en-US" sz="1350" dirty="0">
                <a:solidFill>
                  <a:srgbClr val="16181D"/>
                </a:solidFill>
                <a:latin typeface="Calibri" pitchFamily="34" charset="0"/>
                <a:ea typeface="Calibri" pitchFamily="34" charset="-122"/>
                <a:cs typeface="Calibri" pitchFamily="34" charset="-120"/>
              </a:rPr>
              <a:t>Gangnam Style dépasse 2 147 483 647 vues : YouTube passe son compteur en 64 bits.</a:t>
            </a:r>
            <a:endParaRPr lang="en-US" sz="1350" dirty="0"/>
          </a:p>
        </p:txBody>
      </p:sp>
      <p:sp>
        <p:nvSpPr>
          <p:cNvPr id="13" name="Shape 10"/>
          <p:cNvSpPr/>
          <p:nvPr/>
        </p:nvSpPr>
        <p:spPr>
          <a:xfrm>
            <a:off x="6949440" y="2953512"/>
            <a:ext cx="4572000" cy="1051560"/>
          </a:xfrm>
          <a:prstGeom prst="roundRect">
            <a:avLst>
              <a:gd name="adj" fmla="val 6957"/>
            </a:avLst>
          </a:prstGeom>
          <a:solidFill>
            <a:srgbClr val="F2F3F5"/>
          </a:solidFill>
          <a:ln w="12700">
            <a:solidFill>
              <a:srgbClr val="F2F3F5"/>
            </a:solidFill>
            <a:prstDash val="solid"/>
          </a:ln>
        </p:spPr>
      </p:sp>
      <p:sp>
        <p:nvSpPr>
          <p:cNvPr id="14" name="Text 11"/>
          <p:cNvSpPr txBox="1"/>
          <p:nvPr/>
        </p:nvSpPr>
        <p:spPr>
          <a:xfrm>
            <a:off x="7132320" y="3044952"/>
            <a:ext cx="1371600" cy="868680"/>
          </a:xfrm>
          <a:prstGeom prst="rect">
            <a:avLst/>
          </a:prstGeom>
          <a:noFill/>
          <a:ln/>
        </p:spPr>
        <p:txBody>
          <a:bodyPr wrap="square" lIns="0" tIns="0" rIns="0" bIns="0" rtlCol="0" anchor="ctr"/>
          <a:lstStyle/>
          <a:p>
            <a:pPr indent="0" marL="0">
              <a:buNone/>
            </a:pPr>
            <a:r>
              <a:rPr lang="en-US" sz="1500" b="1" dirty="0">
                <a:solidFill>
                  <a:srgbClr val="E8590C"/>
                </a:solidFill>
                <a:latin typeface="Arial" pitchFamily="34" charset="0"/>
                <a:ea typeface="Arial" pitchFamily="34" charset="-122"/>
                <a:cs typeface="Arial" pitchFamily="34" charset="-120"/>
              </a:rPr>
              <a:t>2015</a:t>
            </a:r>
            <a:endParaRPr lang="en-US" sz="1500" dirty="0"/>
          </a:p>
        </p:txBody>
      </p:sp>
      <p:sp>
        <p:nvSpPr>
          <p:cNvPr id="15" name="Text 12"/>
          <p:cNvSpPr txBox="1"/>
          <p:nvPr/>
        </p:nvSpPr>
        <p:spPr>
          <a:xfrm>
            <a:off x="8503920" y="3044952"/>
            <a:ext cx="2926080" cy="868680"/>
          </a:xfrm>
          <a:prstGeom prst="rect">
            <a:avLst/>
          </a:prstGeom>
          <a:noFill/>
          <a:ln/>
        </p:spPr>
        <p:txBody>
          <a:bodyPr wrap="square" lIns="0" tIns="0" rIns="0" bIns="0" rtlCol="0" anchor="ctr"/>
          <a:lstStyle/>
          <a:p>
            <a:pPr indent="0" marL="0">
              <a:buNone/>
            </a:pPr>
            <a:r>
              <a:rPr lang="en-US" sz="1350" dirty="0">
                <a:solidFill>
                  <a:srgbClr val="16181D"/>
                </a:solidFill>
                <a:latin typeface="Calibri" pitchFamily="34" charset="0"/>
                <a:ea typeface="Calibri" pitchFamily="34" charset="-122"/>
                <a:cs typeface="Calibri" pitchFamily="34" charset="-120"/>
              </a:rPr>
              <a:t>Boeing 787 : un compteur déborde après 248 jours. La FAA impose des redémarrages réguliers.</a:t>
            </a:r>
            <a:endParaRPr lang="en-US" sz="1350" dirty="0"/>
          </a:p>
        </p:txBody>
      </p:sp>
      <p:sp>
        <p:nvSpPr>
          <p:cNvPr id="16" name="Shape 13"/>
          <p:cNvSpPr/>
          <p:nvPr/>
        </p:nvSpPr>
        <p:spPr>
          <a:xfrm>
            <a:off x="6949440" y="4123944"/>
            <a:ext cx="4572000" cy="1051560"/>
          </a:xfrm>
          <a:prstGeom prst="roundRect">
            <a:avLst>
              <a:gd name="adj" fmla="val 6957"/>
            </a:avLst>
          </a:prstGeom>
          <a:solidFill>
            <a:srgbClr val="16181D"/>
          </a:solidFill>
          <a:ln w="12700">
            <a:solidFill>
              <a:srgbClr val="16181D"/>
            </a:solidFill>
            <a:prstDash val="solid"/>
          </a:ln>
        </p:spPr>
      </p:sp>
      <p:sp>
        <p:nvSpPr>
          <p:cNvPr id="17" name="Text 14"/>
          <p:cNvSpPr txBox="1"/>
          <p:nvPr/>
        </p:nvSpPr>
        <p:spPr>
          <a:xfrm>
            <a:off x="7132320" y="4215384"/>
            <a:ext cx="1371600" cy="868680"/>
          </a:xfrm>
          <a:prstGeom prst="rect">
            <a:avLst/>
          </a:prstGeom>
          <a:noFill/>
          <a:ln/>
        </p:spPr>
        <p:txBody>
          <a:bodyPr wrap="square" lIns="0" tIns="0" rIns="0" bIns="0" rtlCol="0" anchor="ctr"/>
          <a:lstStyle/>
          <a:p>
            <a:pPr indent="0" marL="0">
              <a:buNone/>
            </a:pPr>
            <a:r>
              <a:rPr lang="en-US" sz="1500" b="1" dirty="0">
                <a:solidFill>
                  <a:srgbClr val="E8590C"/>
                </a:solidFill>
                <a:latin typeface="Arial" pitchFamily="34" charset="0"/>
                <a:ea typeface="Arial" pitchFamily="34" charset="-122"/>
                <a:cs typeface="Arial" pitchFamily="34" charset="-120"/>
              </a:rPr>
              <a:t>CWE-190</a:t>
            </a:r>
            <a:endParaRPr lang="en-US" sz="1500" dirty="0"/>
          </a:p>
        </p:txBody>
      </p:sp>
      <p:sp>
        <p:nvSpPr>
          <p:cNvPr id="18" name="Text 15"/>
          <p:cNvSpPr txBox="1"/>
          <p:nvPr/>
        </p:nvSpPr>
        <p:spPr>
          <a:xfrm>
            <a:off x="8503920" y="4215384"/>
            <a:ext cx="2926080" cy="8686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Le dépassement d'entier est une faille référencée : on le reverra au Q2.</a:t>
            </a:r>
            <a:endParaRPr lang="en-US" sz="1350" dirty="0"/>
          </a:p>
        </p:txBody>
      </p:sp>
      <p:sp>
        <p:nvSpPr>
          <p:cNvPr id="19" name="Text 16"/>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BBC, 03/12/2014 ; FAA, consigne de navigabilité AD 2015-09-07 (Boeing 787) ; MITRE, CWE-190 « Integer Overflow or Wraparound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LES DÉCIMAUX</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0,1 + 0,2 n'est pas égal à 0,3</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11</a:t>
            </a:r>
            <a:endParaRPr lang="en-US" sz="1000" dirty="0"/>
          </a:p>
        </p:txBody>
      </p:sp>
      <p:sp>
        <p:nvSpPr>
          <p:cNvPr id="8" name="Shape 5"/>
          <p:cNvSpPr/>
          <p:nvPr/>
        </p:nvSpPr>
        <p:spPr>
          <a:xfrm>
            <a:off x="640080" y="1783080"/>
            <a:ext cx="6035040" cy="3200400"/>
          </a:xfrm>
          <a:prstGeom prst="roundRect">
            <a:avLst>
              <a:gd name="adj" fmla="val 2286"/>
            </a:avLst>
          </a:prstGeom>
          <a:solidFill>
            <a:srgbClr val="1E2127"/>
          </a:solidFill>
          <a:ln w="12700">
            <a:solidFill>
              <a:srgbClr val="1E2127"/>
            </a:solidFill>
            <a:prstDash val="solid"/>
          </a:ln>
        </p:spPr>
      </p:sp>
      <p:sp>
        <p:nvSpPr>
          <p:cNvPr id="9" name="Text 6"/>
          <p:cNvSpPr txBox="1"/>
          <p:nvPr/>
        </p:nvSpPr>
        <p:spPr>
          <a:xfrm>
            <a:off x="914400" y="2011680"/>
            <a:ext cx="5486400" cy="274320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double a = 0.1 + 0.2;</a:t>
            </a:r>
            <a:endParaRPr lang="en-US" sz="1500" dirty="0"/>
          </a:p>
          <a:p>
            <a:pPr indent="0" marL="0">
              <a:buNone/>
            </a:pPr>
            <a:r>
              <a:rPr lang="en-US" sz="1500" b="1" dirty="0">
                <a:solidFill>
                  <a:srgbClr val="C92A2A"/>
                </a:solidFill>
                <a:latin typeface="Consolas" pitchFamily="34" charset="0"/>
                <a:ea typeface="Consolas" pitchFamily="34" charset="-122"/>
                <a:cs typeface="Consolas" pitchFamily="34" charset="-120"/>
              </a:rPr>
              <a:t>Console.WriteLine(a == 0.3);   // False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decimal b = 0.1m + 0.2m;</a:t>
            </a:r>
            <a:endParaRPr lang="en-US" sz="1500" dirty="0"/>
          </a:p>
          <a:p>
            <a:pPr indent="0" marL="0">
              <a:buNone/>
            </a:pPr>
            <a:r>
              <a:rPr lang="en-US" sz="1500" b="1" dirty="0">
                <a:solidFill>
                  <a:srgbClr val="2F9E44"/>
                </a:solidFill>
                <a:latin typeface="Consolas" pitchFamily="34" charset="0"/>
                <a:ea typeface="Consolas" pitchFamily="34" charset="-122"/>
                <a:cs typeface="Consolas" pitchFamily="34" charset="-120"/>
              </a:rPr>
              <a:t>Console.WriteLine(b == 0.3m);  // True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decimal cout = 3.5m * 85m;     // heures × taux</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949440" y="1783080"/>
          <a:ext cx="4572000" cy="914400"/>
        </p:xfrm>
        <a:graphic>
          <a:graphicData uri="http://schemas.openxmlformats.org/drawingml/2006/table">
            <a:tbl>
              <a:tblPr/>
              <a:tblGrid>
                <a:gridCol w="1188720"/>
                <a:gridCol w="173736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Précision</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Pour</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02920">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float</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 7 chiffres</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graphisme, capteurs</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double</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 15-16 chiffres</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mesures, calculs</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02920">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decimal</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28-29 chiffres, exact</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400" dirty="0">
                          <a:solidFill>
                            <a:srgbClr val="16181D"/>
                          </a:solidFill>
                          <a:latin typeface="Calibri" pitchFamily="34" charset="0"/>
                          <a:ea typeface="Calibri" pitchFamily="34" charset="-122"/>
                          <a:cs typeface="Calibri" pitchFamily="34" charset="-120"/>
                        </a:rPr>
                        <a:t>l'argent, les taux</a:t>
                      </a:r>
                      <a:endParaRPr lang="en-US" sz="14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11" name="Shape 7"/>
          <p:cNvSpPr/>
          <p:nvPr/>
        </p:nvSpPr>
        <p:spPr>
          <a:xfrm>
            <a:off x="6949440" y="3977640"/>
            <a:ext cx="4572000" cy="1417320"/>
          </a:xfrm>
          <a:prstGeom prst="roundRect">
            <a:avLst>
              <a:gd name="adj" fmla="val 5161"/>
            </a:avLst>
          </a:prstGeom>
          <a:solidFill>
            <a:srgbClr val="16181D"/>
          </a:solidFill>
          <a:ln w="12700">
            <a:solidFill>
              <a:srgbClr val="16181D"/>
            </a:solidFill>
            <a:prstDash val="solid"/>
          </a:ln>
        </p:spPr>
      </p:sp>
      <p:sp>
        <p:nvSpPr>
          <p:cNvPr id="12" name="Text 8"/>
          <p:cNvSpPr txBox="1"/>
          <p:nvPr/>
        </p:nvSpPr>
        <p:spPr>
          <a:xfrm>
            <a:off x="7132320" y="4023360"/>
            <a:ext cx="4206240" cy="1325880"/>
          </a:xfrm>
          <a:prstGeom prst="rect">
            <a:avLst/>
          </a:prstGeom>
          <a:noFill/>
          <a:ln/>
        </p:spPr>
        <p:txBody>
          <a:bodyPr wrap="square" lIns="0" tIns="0" rIns="0" bIns="0" rtlCol="0" anchor="ctr"/>
          <a:lstStyle/>
          <a:p>
            <a:pPr indent="0" marL="0">
              <a:buNone/>
            </a:pPr>
            <a:r>
              <a:rPr lang="en-US" sz="1350" b="1" dirty="0">
                <a:solidFill>
                  <a:srgbClr val="E8590C"/>
                </a:solidFill>
                <a:latin typeface="Calibri" pitchFamily="34" charset="0"/>
                <a:ea typeface="Calibri" pitchFamily="34" charset="-122"/>
                <a:cs typeface="Calibri" pitchFamily="34" charset="-120"/>
              </a:rPr>
              <a:t>Dhahran, 1991  </a:t>
            </a:r>
            <a:pPr indent="0" marL="0">
              <a:buNone/>
            </a:pPr>
            <a:r>
              <a:rPr lang="en-US" sz="1350" dirty="0">
                <a:solidFill>
                  <a:srgbClr val="FFFFFF"/>
                </a:solidFill>
                <a:latin typeface="Calibri" pitchFamily="34" charset="0"/>
                <a:ea typeface="Calibri" pitchFamily="34" charset="-122"/>
                <a:cs typeface="Calibri" pitchFamily="34" charset="-120"/>
              </a:rPr>
              <a:t>Une erreur d'arrondi sur le temps, accumulée pendant 100 heures : un missile Patriot n'intercepte pas un Scud. 28 morts.</a:t>
            </a:r>
            <a:endParaRPr lang="en-US" sz="1350" dirty="0"/>
          </a:p>
        </p:txBody>
      </p:sp>
      <p:sp>
        <p:nvSpPr>
          <p:cNvPr id="13" name="Text 9"/>
          <p:cNvSpPr txBox="1"/>
          <p:nvPr/>
        </p:nvSpPr>
        <p:spPr>
          <a:xfrm>
            <a:off x="640080" y="5257800"/>
            <a:ext cx="6035040" cy="457200"/>
          </a:xfrm>
          <a:prstGeom prst="rect">
            <a:avLst/>
          </a:prstGeom>
          <a:noFill/>
          <a:ln/>
        </p:spPr>
        <p:txBody>
          <a:bodyPr wrap="square" lIns="0" tIns="0" rIns="0" bIns="0" rtlCol="0" anchor="ctr"/>
          <a:lstStyle/>
          <a:p>
            <a:pPr indent="0" marL="0">
              <a:buNone/>
            </a:pPr>
            <a:r>
              <a:rPr lang="en-US" sz="1700" b="1" dirty="0">
                <a:solidFill>
                  <a:srgbClr val="16181D"/>
                </a:solidFill>
                <a:latin typeface="Arial" pitchFamily="34" charset="0"/>
                <a:ea typeface="Arial" pitchFamily="34" charset="-122"/>
                <a:cs typeface="Arial" pitchFamily="34" charset="-120"/>
              </a:rPr>
              <a:t>De l'argent : toujours decimal (le suffixe m : 85m).</a:t>
            </a:r>
            <a:endParaRPr lang="en-US" sz="1700" dirty="0"/>
          </a:p>
        </p:txBody>
      </p:sp>
      <p:sp>
        <p:nvSpPr>
          <p:cNvPr id="14" name="Text 1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US GAO, « Patriot Missile Defense: Software Problem Led to System Failure at Dhahran, Saudi Arabia », GAO/IMTEC-92-26, 1992 ; Microsoft Learn, « Types numériques à virgule flottante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s03-etape2-nombres</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Les nombres,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Les MinValue et MaxValue de chaque type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int.MaxValue + 1 : le dépassement silencieux</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checked : l'erreur qui protège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0.1 + 0.2 en double et en decimal</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Le coût d'un incident en decimal</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03</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null</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 L'erreur à un milliard de dollars »</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097280"/>
            <a:ext cx="10911535" cy="457200"/>
          </a:xfrm>
          <a:prstGeom prst="rect">
            <a:avLst/>
          </a:prstGeom>
          <a:noFill/>
          <a:ln/>
        </p:spPr>
        <p:txBody>
          <a:bodyPr wrap="square" lIns="0" tIns="0" rIns="0" bIns="0" rtlCol="0" anchor="ctr"/>
          <a:lstStyle/>
          <a:p>
            <a:pPr indent="0" marL="0">
              <a:buNone/>
            </a:pPr>
            <a:r>
              <a:rPr lang="en-US" sz="1800" b="1" spc="300" kern="0" dirty="0">
                <a:solidFill>
                  <a:srgbClr val="E8590C"/>
                </a:solidFill>
                <a:latin typeface="Calibri" pitchFamily="34" charset="0"/>
                <a:ea typeface="Calibri" pitchFamily="34" charset="-122"/>
                <a:cs typeface="Calibri" pitchFamily="34" charset="-120"/>
              </a:rPr>
              <a:t>Londres, 2009</a:t>
            </a:r>
            <a:endParaRPr lang="en-US" sz="1800" dirty="0"/>
          </a:p>
        </p:txBody>
      </p:sp>
      <p:sp>
        <p:nvSpPr>
          <p:cNvPr id="3" name="Text 1"/>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4" name="Text 2"/>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14</a:t>
            </a:r>
            <a:endParaRPr lang="en-US" sz="1000" dirty="0"/>
          </a:p>
        </p:txBody>
      </p:sp>
      <p:sp>
        <p:nvSpPr>
          <p:cNvPr id="6" name="Text 3"/>
          <p:cNvSpPr txBox="1"/>
          <p:nvPr/>
        </p:nvSpPr>
        <p:spPr>
          <a:xfrm>
            <a:off x="640080" y="1737360"/>
            <a:ext cx="10911535" cy="100584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 Je l'appelle mon erreur à un milliard de dollars. »</a:t>
            </a:r>
            <a:endParaRPr lang="en-US" sz="3800" dirty="0"/>
          </a:p>
        </p:txBody>
      </p:sp>
      <p:sp>
        <p:nvSpPr>
          <p:cNvPr id="7" name="Text 4"/>
          <p:cNvSpPr txBox="1"/>
          <p:nvPr/>
        </p:nvSpPr>
        <p:spPr>
          <a:xfrm>
            <a:off x="640080" y="2834640"/>
            <a:ext cx="10911535" cy="457200"/>
          </a:xfrm>
          <a:prstGeom prst="rect">
            <a:avLst/>
          </a:prstGeom>
          <a:noFill/>
          <a:ln/>
        </p:spPr>
        <p:txBody>
          <a:bodyPr wrap="square" lIns="0" tIns="0" rIns="0" bIns="0" rtlCol="0" anchor="ctr"/>
          <a:lstStyle/>
          <a:p>
            <a:pPr indent="0" marL="0">
              <a:buNone/>
            </a:pPr>
            <a:r>
              <a:rPr lang="en-US" sz="1800" dirty="0">
                <a:solidFill>
                  <a:srgbClr val="C9CDD3"/>
                </a:solidFill>
                <a:latin typeface="Calibri" pitchFamily="34" charset="0"/>
                <a:ea typeface="Calibri" pitchFamily="34" charset="-122"/>
                <a:cs typeface="Calibri" pitchFamily="34" charset="-120"/>
              </a:rPr>
              <a:t>Tony Hoare, inventeur de la référence nulle (1965), conférence QCon, Londres, 2009</a:t>
            </a:r>
            <a:endParaRPr lang="en-US" sz="1800" dirty="0"/>
          </a:p>
        </p:txBody>
      </p:sp>
      <p:sp>
        <p:nvSpPr>
          <p:cNvPr id="8" name="Shape 5"/>
          <p:cNvSpPr/>
          <p:nvPr/>
        </p:nvSpPr>
        <p:spPr>
          <a:xfrm>
            <a:off x="640080" y="3749040"/>
            <a:ext cx="10911535" cy="1371600"/>
          </a:xfrm>
          <a:prstGeom prst="roundRect">
            <a:avLst>
              <a:gd name="adj" fmla="val 5333"/>
            </a:avLst>
          </a:prstGeom>
          <a:solidFill>
            <a:srgbClr val="2A2D34"/>
          </a:solidFill>
          <a:ln w="12700">
            <a:solidFill>
              <a:srgbClr val="2A2D34"/>
            </a:solidFill>
            <a:prstDash val="solid"/>
          </a:ln>
        </p:spPr>
      </p:sp>
      <p:sp>
        <p:nvSpPr>
          <p:cNvPr id="9" name="Text 6"/>
          <p:cNvSpPr txBox="1"/>
          <p:nvPr/>
        </p:nvSpPr>
        <p:spPr>
          <a:xfrm>
            <a:off x="914400" y="3749040"/>
            <a:ext cx="10362895" cy="1371600"/>
          </a:xfrm>
          <a:prstGeom prst="rect">
            <a:avLst/>
          </a:prstGeom>
          <a:noFill/>
          <a:ln/>
        </p:spPr>
        <p:txBody>
          <a:bodyPr wrap="square" lIns="0" tIns="0" rIns="0" bIns="0" rtlCol="0" anchor="ctr"/>
          <a:lstStyle/>
          <a:p>
            <a:pPr indent="0" marL="0">
              <a:buNone/>
            </a:pPr>
            <a:r>
              <a:rPr lang="en-US" sz="1800" b="1" dirty="0">
                <a:solidFill>
                  <a:srgbClr val="E8590C"/>
                </a:solidFill>
                <a:latin typeface="Calibri" pitchFamily="34" charset="0"/>
                <a:ea typeface="Calibri" pitchFamily="34" charset="-122"/>
                <a:cs typeface="Calibri" pitchFamily="34" charset="-120"/>
              </a:rPr>
              <a:t>null = « il n'y a rien ». </a:t>
            </a:r>
            <a:pPr indent="0" marL="0">
              <a:buNone/>
            </a:pPr>
            <a:r>
              <a:rPr lang="en-US" sz="1800" dirty="0">
                <a:solidFill>
                  <a:srgbClr val="FFFFFF"/>
                </a:solidFill>
                <a:latin typeface="Calibri" pitchFamily="34" charset="0"/>
                <a:ea typeface="Calibri" pitchFamily="34" charset="-122"/>
                <a:cs typeface="Calibri" pitchFamily="34" charset="-120"/>
              </a:rPr>
              <a:t>Utiliser une variable null comme si elle contenait un objet fait planter le programme : NullReferenceException, l'erreur la plus fréquente en C#.</a:t>
            </a:r>
            <a:endParaRPr lang="en-US" sz="1800" dirty="0"/>
          </a:p>
        </p:txBody>
      </p:sp>
      <p:sp>
        <p:nvSpPr>
          <p:cNvPr id="10"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9AA0A8"/>
                </a:solidFill>
                <a:latin typeface="Calibri" pitchFamily="34" charset="0"/>
                <a:ea typeface="Calibri" pitchFamily="34" charset="-122"/>
                <a:cs typeface="Calibri" pitchFamily="34" charset="-120"/>
              </a:rPr>
              <a:t>Source : C. A. R. Hoare, « Null References: The Billion Dollar Mistake », QCon London, 2009 ; MITRE, CWE-476 « NULL Pointer Dereference ».</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 POINT D'INTERROGATION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string ou string? : dire si « rien » est possible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15</a:t>
            </a:r>
            <a:endParaRPr lang="en-US" sz="1000" dirty="0"/>
          </a:p>
        </p:txBody>
      </p:sp>
      <p:sp>
        <p:nvSpPr>
          <p:cNvPr id="8" name="Shape 5"/>
          <p:cNvSpPr/>
          <p:nvPr/>
        </p:nvSpPr>
        <p:spPr>
          <a:xfrm>
            <a:off x="640080" y="1783080"/>
            <a:ext cx="6949440" cy="2560320"/>
          </a:xfrm>
          <a:prstGeom prst="roundRect">
            <a:avLst>
              <a:gd name="adj" fmla="val 2857"/>
            </a:avLst>
          </a:prstGeom>
          <a:solidFill>
            <a:srgbClr val="1E2127"/>
          </a:solidFill>
          <a:ln w="12700">
            <a:solidFill>
              <a:srgbClr val="1E2127"/>
            </a:solidFill>
            <a:prstDash val="solid"/>
          </a:ln>
        </p:spPr>
      </p:sp>
      <p:sp>
        <p:nvSpPr>
          <p:cNvPr id="9" name="Text 6"/>
          <p:cNvSpPr txBox="1"/>
          <p:nvPr/>
        </p:nvSpPr>
        <p:spPr>
          <a:xfrm>
            <a:off x="914400" y="2011680"/>
            <a:ext cx="6400800" cy="210312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public string Title { get; }          // jamais null</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public Analyst? AssignedTo { get; }   // peut être null</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 </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Console.WriteLine(incident.AssignedTo.Name);</a:t>
            </a:r>
            <a:endParaRPr lang="en-US" sz="1500" dirty="0"/>
          </a:p>
          <a:p>
            <a:pPr indent="0" marL="0">
              <a:buNone/>
            </a:pPr>
            <a:r>
              <a:rPr lang="en-US" sz="1500" b="1" dirty="0">
                <a:solidFill>
                  <a:srgbClr val="E67700"/>
                </a:solidFill>
                <a:latin typeface="Consolas" pitchFamily="34" charset="0"/>
                <a:ea typeface="Consolas" pitchFamily="34" charset="-122"/>
                <a:cs typeface="Consolas" pitchFamily="34" charset="-120"/>
              </a:rPr>
              <a:t>// avertissement : AssignedTo peut être null</a:t>
            </a:r>
            <a:endParaRPr lang="en-US" sz="1500" dirty="0"/>
          </a:p>
        </p:txBody>
      </p:sp>
      <p:sp>
        <p:nvSpPr>
          <p:cNvPr id="10" name="Shape 7"/>
          <p:cNvSpPr/>
          <p:nvPr/>
        </p:nvSpPr>
        <p:spPr>
          <a:xfrm>
            <a:off x="7863840" y="1783080"/>
            <a:ext cx="3657600" cy="2560320"/>
          </a:xfrm>
          <a:prstGeom prst="roundRect">
            <a:avLst>
              <a:gd name="adj" fmla="val 2857"/>
            </a:avLst>
          </a:prstGeom>
          <a:solidFill>
            <a:srgbClr val="16181D"/>
          </a:solidFill>
          <a:ln w="12700">
            <a:solidFill>
              <a:srgbClr val="16181D"/>
            </a:solidFill>
            <a:prstDash val="solid"/>
          </a:ln>
        </p:spPr>
      </p:sp>
      <p:sp>
        <p:nvSpPr>
          <p:cNvPr id="11" name="Text 8"/>
          <p:cNvSpPr txBox="1"/>
          <p:nvPr/>
        </p:nvSpPr>
        <p:spPr>
          <a:xfrm>
            <a:off x="8092440" y="1965960"/>
            <a:ext cx="3200400" cy="2194560"/>
          </a:xfrm>
          <a:prstGeom prst="rect">
            <a:avLst/>
          </a:prstGeom>
          <a:noFill/>
          <a:ln/>
        </p:spPr>
        <p:txBody>
          <a:bodyPr wrap="square" lIns="0" tIns="0" rIns="0" bIns="0" rtlCol="0" anchor="t"/>
          <a:lstStyle/>
          <a:p>
            <a:pPr indent="0" marL="0">
              <a:buNone/>
            </a:pPr>
            <a:r>
              <a:rPr lang="en-US" sz="1800" b="1" dirty="0">
                <a:solidFill>
                  <a:srgbClr val="E8590C"/>
                </a:solidFill>
                <a:latin typeface="Calibri" pitchFamily="34" charset="0"/>
                <a:ea typeface="Calibri" pitchFamily="34" charset="-122"/>
                <a:cs typeface="Calibri" pitchFamily="34" charset="-120"/>
              </a:rPr>
              <a:t>L'étiquette « fragile »</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Le ? ne casse rien : il prévient. Le compilateur vous signale chaque endroit où le vide n'est pas géré.</a:t>
            </a:r>
            <a:endParaRPr lang="en-US" sz="1800" dirty="0"/>
          </a:p>
        </p:txBody>
      </p:sp>
      <p:sp>
        <p:nvSpPr>
          <p:cNvPr id="12" name="Text 9"/>
          <p:cNvSpPr txBox="1"/>
          <p:nvPr/>
        </p:nvSpPr>
        <p:spPr>
          <a:xfrm>
            <a:off x="640080" y="4663440"/>
            <a:ext cx="10911535" cy="457200"/>
          </a:xfrm>
          <a:prstGeom prst="rect">
            <a:avLst/>
          </a:prstGeom>
          <a:noFill/>
          <a:ln/>
        </p:spPr>
        <p:txBody>
          <a:bodyPr wrap="square" lIns="0" tIns="0" rIns="0" bIns="0" rtlCol="0" anchor="ctr"/>
          <a:lstStyle/>
          <a:p>
            <a:pPr indent="0" marL="0">
              <a:buNone/>
            </a:pPr>
            <a:r>
              <a:rPr lang="en-US" sz="1500" dirty="0">
                <a:solidFill>
                  <a:srgbClr val="5F6670"/>
                </a:solidFill>
                <a:latin typeface="Calibri" pitchFamily="34" charset="0"/>
                <a:ea typeface="Calibri" pitchFamily="34" charset="-122"/>
                <a:cs typeface="Calibri" pitchFamily="34" charset="-120"/>
              </a:rPr>
              <a:t>Activé par &lt;Nullable&gt;enable&lt;/Nullable&gt; dans le .csproj (par défaut dans les nouveaux projets .NET).</a:t>
            </a:r>
            <a:endParaRPr lang="en-US" sz="1500" dirty="0"/>
          </a:p>
        </p:txBody>
      </p:sp>
      <p:sp>
        <p:nvSpPr>
          <p:cNvPr id="13" name="Text 10"/>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Types référence nullables (C#) ».</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LES OPÉRATEURS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Quatre opérateurs pour gérer le vide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71600"/>
                <a:gridCol w="3017520"/>
                <a:gridCol w="3566160"/>
                <a:gridCol w="2953512"/>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Opérateur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Se lit</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Exemple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Résultat si null</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6692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si ce n'est pas null, continue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onsolas" pitchFamily="34" charset="0"/>
                          <a:ea typeface="Consolas" pitchFamily="34" charset="-122"/>
                          <a:cs typeface="Consolas" pitchFamily="34" charset="-120"/>
                        </a:rPr>
                        <a:t>incident.AssignedTo?.Name</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null, sans planter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sinon, prends cette valeur</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onsolas" pitchFamily="34" charset="0"/>
                          <a:ea typeface="Consolas" pitchFamily="34" charset="-122"/>
                          <a:cs typeface="Consolas" pitchFamily="34" charset="-120"/>
                        </a:rPr>
                        <a:t>nom ?? "non assigné"</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"non assigné"</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si c'est null, remplis-le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onsolas" pitchFamily="34" charset="0"/>
                          <a:ea typeface="Consolas" pitchFamily="34" charset="-122"/>
                          <a:cs typeface="Consolas" pitchFamily="34" charset="-120"/>
                        </a:rPr>
                        <a:t>titre ??= "Sans titre"</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la variable est remplie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6181D"/>
                          </a:solidFill>
                          <a:latin typeface="Consolas" pitchFamily="34" charset="0"/>
                          <a:ea typeface="Consolas" pitchFamily="34" charset="-122"/>
                          <a:cs typeface="Consolas" pitchFamily="34" charset="-120"/>
                        </a:rPr>
                        <a:t>!</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DECEC"/>
                    </a:solidFill>
                  </a:tcPr>
                </a:tc>
                <a:tc>
                  <a:txBody>
                    <a:bodyPr/>
                    <a:lstStyle/>
                    <a:p>
                      <a:pPr indent="0" marL="0">
                        <a:buNone/>
                      </a:pPr>
                      <a:r>
                        <a:rPr lang="en-US" sz="1500" dirty="0">
                          <a:solidFill>
                            <a:srgbClr val="16181D"/>
                          </a:solidFill>
                          <a:latin typeface="Calibri" pitchFamily="34" charset="0"/>
                          <a:ea typeface="Calibri" pitchFamily="34" charset="-122"/>
                          <a:cs typeface="Calibri" pitchFamily="34" charset="-120"/>
                        </a:rPr>
                        <a:t>fais-moi confiance</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DECEC"/>
                    </a:solidFill>
                  </a:tcPr>
                </a:tc>
                <a:tc>
                  <a:txBody>
                    <a:bodyPr/>
                    <a:lstStyle/>
                    <a:p>
                      <a:pPr indent="0" marL="0">
                        <a:buNone/>
                      </a:pPr>
                      <a:r>
                        <a:rPr lang="en-US" sz="1500" dirty="0">
                          <a:solidFill>
                            <a:srgbClr val="16181D"/>
                          </a:solidFill>
                          <a:latin typeface="Consolas" pitchFamily="34" charset="0"/>
                          <a:ea typeface="Consolas" pitchFamily="34" charset="-122"/>
                          <a:cs typeface="Consolas" pitchFamily="34" charset="-120"/>
                        </a:rPr>
                        <a:t>incident.AssignedTo!.Name</a:t>
                      </a:r>
                      <a:endParaRPr lang="en-US" sz="15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DECEC"/>
                    </a:solidFill>
                  </a:tcPr>
                </a:tc>
                <a:tc>
                  <a:txBody>
                    <a:bodyPr/>
                    <a:lstStyle/>
                    <a:p>
                      <a:pPr indent="0" marL="0">
                        <a:buNone/>
                      </a:pPr>
                      <a:r>
                        <a:rPr lang="en-US" sz="1500" dirty="0">
                          <a:solidFill>
                            <a:srgbClr val="C92A2A"/>
                          </a:solidFill>
                          <a:latin typeface="Calibri" pitchFamily="34" charset="0"/>
                          <a:ea typeface="Calibri" pitchFamily="34" charset="-122"/>
                          <a:cs typeface="Calibri" pitchFamily="34" charset="-120"/>
                        </a:rPr>
                        <a:t>plantage (NullReferenceException)</a:t>
                      </a:r>
                      <a:endParaRPr lang="en-US" sz="15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DECEC"/>
                    </a:solidFill>
                  </a:tcPr>
                </a:tc>
              </a:tr>
            </a:tbl>
          </a:graphicData>
        </a:graphic>
      </p:graphicFrame>
      <p:sp>
        <p:nvSpPr>
          <p:cNvPr id="9" name="Shape 5"/>
          <p:cNvSpPr/>
          <p:nvPr/>
        </p:nvSpPr>
        <p:spPr>
          <a:xfrm>
            <a:off x="640080" y="4892040"/>
            <a:ext cx="10911535" cy="914400"/>
          </a:xfrm>
          <a:prstGeom prst="roundRect">
            <a:avLst>
              <a:gd name="adj" fmla="val 8000"/>
            </a:avLst>
          </a:prstGeom>
          <a:solidFill>
            <a:srgbClr val="16181D"/>
          </a:solidFill>
          <a:ln w="12700">
            <a:solidFill>
              <a:srgbClr val="16181D"/>
            </a:solidFill>
            <a:prstDash val="solid"/>
          </a:ln>
        </p:spPr>
      </p:sp>
      <p:sp>
        <p:nvSpPr>
          <p:cNvPr id="10" name="Text 6"/>
          <p:cNvSpPr txBox="1"/>
          <p:nvPr/>
        </p:nvSpPr>
        <p:spPr>
          <a:xfrm>
            <a:off x="914400" y="4892040"/>
            <a:ext cx="10362895" cy="9144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Le ! fait taire le compilateur. Il ne protège de rien : c'est arracher l'étiquette « fragile » du colis.</a:t>
            </a:r>
            <a:endParaRPr lang="en-US" sz="1700" dirty="0"/>
          </a:p>
        </p:txBody>
      </p:sp>
      <p:sp>
        <p:nvSpPr>
          <p:cNvPr id="11" name="Text 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opérateurs ?. ?? ??= et ! (null-forgiving).</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s03-etape3-null</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Gérer le vide,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Un incident sans analyste : AssignedTo vaut null</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 et ?? : afficher « non assigné » sans planter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Le ! : l'avertissement disparaît, le plantage reste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string.IsNullOrWhiteSpace : la vérification du titre</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04</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Les chaînes de caractères</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Interpolation, formats, culture</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CONSTRUIRE DU TEXTE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Trois façons d'assembler du texte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19</a:t>
            </a:r>
            <a:endParaRPr lang="en-US" sz="1000" dirty="0"/>
          </a:p>
        </p:txBody>
      </p:sp>
      <p:sp>
        <p:nvSpPr>
          <p:cNvPr id="8" name="Shape 5"/>
          <p:cNvSpPr/>
          <p:nvPr/>
        </p:nvSpPr>
        <p:spPr>
          <a:xfrm>
            <a:off x="640080" y="1783080"/>
            <a:ext cx="6766560" cy="4114800"/>
          </a:xfrm>
          <a:prstGeom prst="roundRect">
            <a:avLst>
              <a:gd name="adj" fmla="val 1778"/>
            </a:avLst>
          </a:prstGeom>
          <a:solidFill>
            <a:srgbClr val="1E2127"/>
          </a:solidFill>
          <a:ln w="12700">
            <a:solidFill>
              <a:srgbClr val="1E2127"/>
            </a:solidFill>
            <a:prstDash val="solid"/>
          </a:ln>
        </p:spPr>
      </p:sp>
      <p:sp>
        <p:nvSpPr>
          <p:cNvPr id="9" name="Text 6"/>
          <p:cNvSpPr txBox="1"/>
          <p:nvPr/>
        </p:nvSpPr>
        <p:spPr>
          <a:xfrm>
            <a:off x="914400" y="2011680"/>
            <a:ext cx="6217920" cy="3657600"/>
          </a:xfrm>
          <a:prstGeom prst="rect">
            <a:avLst/>
          </a:prstGeom>
          <a:noFill/>
          <a:ln/>
        </p:spPr>
        <p:txBody>
          <a:bodyPr wrap="square" lIns="0" tIns="0" rIns="0" bIns="0" rtlCol="0" anchor="t"/>
          <a:lstStyle/>
          <a:p>
            <a:pPr indent="0" marL="0">
              <a:buNone/>
            </a:pPr>
            <a:r>
              <a:rPr lang="en-US" sz="1400" dirty="0">
                <a:solidFill>
                  <a:srgbClr val="8B929C"/>
                </a:solidFill>
                <a:latin typeface="Consolas" pitchFamily="34" charset="0"/>
                <a:ea typeface="Consolas" pitchFamily="34" charset="-122"/>
                <a:cs typeface="Consolas" pitchFamily="34" charset="-120"/>
              </a:rPr>
              <a:t>// 1. concaténation</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"Incident " + numero + " : " + titre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8B929C"/>
                </a:solidFill>
                <a:latin typeface="Consolas" pitchFamily="34" charset="0"/>
                <a:ea typeface="Consolas" pitchFamily="34" charset="-122"/>
                <a:cs typeface="Consolas" pitchFamily="34" charset="-120"/>
              </a:rPr>
              <a:t>// 2. string.Format</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string.Format("Incident {0} : {1}", numero, titre)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8B929C"/>
                </a:solidFill>
                <a:latin typeface="Consolas" pitchFamily="34" charset="0"/>
                <a:ea typeface="Consolas" pitchFamily="34" charset="-122"/>
                <a:cs typeface="Consolas" pitchFamily="34" charset="-120"/>
              </a:rPr>
              <a:t>// 3. interpolation (recommandée)</a:t>
            </a:r>
            <a:endParaRPr lang="en-US" sz="1400" dirty="0"/>
          </a:p>
          <a:p>
            <a:pPr indent="0" marL="0">
              <a:buNone/>
            </a:pPr>
            <a:r>
              <a:rPr lang="en-US" sz="1400" b="1" dirty="0">
                <a:solidFill>
                  <a:srgbClr val="FFA94D"/>
                </a:solidFill>
                <a:latin typeface="Consolas" pitchFamily="34" charset="0"/>
                <a:ea typeface="Consolas" pitchFamily="34" charset="-122"/>
                <a:cs typeface="Consolas" pitchFamily="34" charset="-120"/>
              </a:rPr>
              <a:t>$"Incident {numero} : {titre}"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8B929C"/>
                </a:solidFill>
                <a:latin typeface="Consolas" pitchFamily="34" charset="0"/>
                <a:ea typeface="Consolas" pitchFamily="34" charset="-122"/>
                <a:cs typeface="Consolas" pitchFamily="34" charset="-120"/>
              </a:rPr>
              <a:t>// avec un format</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$"Coût : {cout:N2} € le {date:dd/MM/yyyy}"</a:t>
            </a:r>
            <a:endParaRPr lang="en-US" sz="1400" dirty="0"/>
          </a:p>
        </p:txBody>
      </p:sp>
      <p:sp>
        <p:nvSpPr>
          <p:cNvPr id="10" name="Shape 7"/>
          <p:cNvSpPr/>
          <p:nvPr/>
        </p:nvSpPr>
        <p:spPr>
          <a:xfrm>
            <a:off x="7680960" y="1783080"/>
            <a:ext cx="3840480" cy="2103120"/>
          </a:xfrm>
          <a:prstGeom prst="roundRect">
            <a:avLst>
              <a:gd name="adj" fmla="val 3478"/>
            </a:avLst>
          </a:prstGeom>
          <a:solidFill>
            <a:srgbClr val="F2F3F5"/>
          </a:solidFill>
          <a:ln w="12700">
            <a:solidFill>
              <a:srgbClr val="F2F3F5"/>
            </a:solidFill>
            <a:prstDash val="solid"/>
          </a:ln>
        </p:spPr>
      </p:sp>
      <p:sp>
        <p:nvSpPr>
          <p:cNvPr id="11" name="Text 8"/>
          <p:cNvSpPr txBox="1"/>
          <p:nvPr/>
        </p:nvSpPr>
        <p:spPr>
          <a:xfrm>
            <a:off x="7909560" y="1920240"/>
            <a:ext cx="3383280" cy="1828800"/>
          </a:xfrm>
          <a:prstGeom prst="rect">
            <a:avLst/>
          </a:prstGeom>
          <a:noFill/>
          <a:ln/>
        </p:spPr>
        <p:txBody>
          <a:bodyPr wrap="square" lIns="0" tIns="0" rIns="0" bIns="0" rtlCol="0" anchor="t"/>
          <a:lstStyle/>
          <a:p>
            <a:pPr indent="0" marL="0">
              <a:buNone/>
            </a:pPr>
            <a:r>
              <a:rPr lang="en-US" sz="1700" b="1" dirty="0">
                <a:solidFill>
                  <a:srgbClr val="16181D"/>
                </a:solidFill>
                <a:latin typeface="Calibri" pitchFamily="34" charset="0"/>
                <a:ea typeface="Calibri" pitchFamily="34" charset="-122"/>
                <a:cs typeface="Calibri" pitchFamily="34" charset="-120"/>
              </a:rPr>
              <a:t>Formats courants</a:t>
            </a:r>
            <a:endParaRPr lang="en-US" sz="1700" dirty="0"/>
          </a:p>
          <a:p>
            <a:pPr indent="0" marL="0">
              <a:buNone/>
            </a:pPr>
            <a:r>
              <a:rPr lang="en-US" sz="1500" dirty="0">
                <a:solidFill>
                  <a:srgbClr val="5F6670"/>
                </a:solidFill>
                <a:latin typeface="Consolas" pitchFamily="34" charset="0"/>
                <a:ea typeface="Consolas" pitchFamily="34" charset="-122"/>
                <a:cs typeface="Consolas" pitchFamily="34" charset="-120"/>
              </a:rPr>
              <a:t>N2 : 1 234,50</a:t>
            </a:r>
            <a:endParaRPr lang="en-US" sz="1700" dirty="0"/>
          </a:p>
          <a:p>
            <a:pPr indent="0" marL="0">
              <a:buNone/>
            </a:pPr>
            <a:r>
              <a:rPr lang="en-US" sz="1500" dirty="0">
                <a:solidFill>
                  <a:srgbClr val="5F6670"/>
                </a:solidFill>
                <a:latin typeface="Consolas" pitchFamily="34" charset="0"/>
                <a:ea typeface="Consolas" pitchFamily="34" charset="-122"/>
                <a:cs typeface="Consolas" pitchFamily="34" charset="-120"/>
              </a:rPr>
              <a:t>P0 : 25 %</a:t>
            </a:r>
            <a:endParaRPr lang="en-US" sz="1700" dirty="0"/>
          </a:p>
          <a:p>
            <a:pPr indent="0" marL="0">
              <a:buNone/>
            </a:pPr>
            <a:r>
              <a:rPr lang="en-US" sz="1500" dirty="0">
                <a:solidFill>
                  <a:srgbClr val="5F6670"/>
                </a:solidFill>
                <a:latin typeface="Consolas" pitchFamily="34" charset="0"/>
                <a:ea typeface="Consolas" pitchFamily="34" charset="-122"/>
                <a:cs typeface="Consolas" pitchFamily="34" charset="-120"/>
              </a:rPr>
              <a:t>dd/MM/yyyy : 14/10/2026</a:t>
            </a:r>
            <a:endParaRPr lang="en-US" sz="1700" dirty="0"/>
          </a:p>
          <a:p>
            <a:pPr indent="0" marL="0">
              <a:buNone/>
            </a:pPr>
            <a:r>
              <a:rPr lang="en-US" sz="1500" dirty="0">
                <a:solidFill>
                  <a:srgbClr val="5F6670"/>
                </a:solidFill>
                <a:latin typeface="Consolas" pitchFamily="34" charset="0"/>
                <a:ea typeface="Consolas" pitchFamily="34" charset="-122"/>
                <a:cs typeface="Consolas" pitchFamily="34" charset="-120"/>
              </a:rPr>
              <a:t>HH:mm : 08:12</a:t>
            </a:r>
            <a:endParaRPr lang="en-US" sz="1700" dirty="0"/>
          </a:p>
        </p:txBody>
      </p:sp>
      <p:sp>
        <p:nvSpPr>
          <p:cNvPr id="12" name="Shape 9"/>
          <p:cNvSpPr/>
          <p:nvPr/>
        </p:nvSpPr>
        <p:spPr>
          <a:xfrm>
            <a:off x="7680960" y="4069080"/>
            <a:ext cx="3840480" cy="1828800"/>
          </a:xfrm>
          <a:prstGeom prst="roundRect">
            <a:avLst>
              <a:gd name="adj" fmla="val 4000"/>
            </a:avLst>
          </a:prstGeom>
          <a:solidFill>
            <a:srgbClr val="C92A2A"/>
          </a:solidFill>
          <a:ln w="12700">
            <a:solidFill>
              <a:srgbClr val="C92A2A"/>
            </a:solidFill>
            <a:prstDash val="solid"/>
          </a:ln>
        </p:spPr>
      </p:sp>
      <p:sp>
        <p:nvSpPr>
          <p:cNvPr id="13" name="Text 10"/>
          <p:cNvSpPr txBox="1"/>
          <p:nvPr/>
        </p:nvSpPr>
        <p:spPr>
          <a:xfrm>
            <a:off x="7909560" y="4114800"/>
            <a:ext cx="3383280" cy="17373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Jamais d'interpolation pour construire une requête SQL : c'est une injection (Stanford, séance 1).</a:t>
            </a:r>
            <a:endParaRPr lang="en-US" sz="1500" dirty="0"/>
          </a:p>
        </p:txBody>
      </p:sp>
      <p:sp>
        <p:nvSpPr>
          <p:cNvPr id="14" name="Text 11"/>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Interpolation de chaîne » et « Mettre en forme des types dans .NET ».</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LA CULTURE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1 234,50 ou 1,234.50 ? Ça dépend du pays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914400"/>
        </p:xfrm>
        <a:graphic>
          <a:graphicData uri="http://schemas.openxmlformats.org/drawingml/2006/table">
            <a:tbl>
              <a:tblPr/>
              <a:tblGrid>
                <a:gridCol w="2926080"/>
                <a:gridCol w="2194560"/>
                <a:gridCol w="2194560"/>
              </a:tblGrid>
              <a:tr h="640080">
                <a:tc>
                  <a:txBody>
                    <a:bodyPr/>
                    <a:lstStyle/>
                    <a:p>
                      <a:pPr indent="0" marL="0">
                        <a:buNone/>
                      </a:pP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fr-BE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en-US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64008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1234.5 avec N2</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1 234,50</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1,234.50</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64008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Date du 14 octobre</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14/10/2026</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10/14/2026</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64008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double.Parse("3.5")</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erreur ou mauvais nombre</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onsolas" pitchFamily="34" charset="0"/>
                          <a:ea typeface="Consolas" pitchFamily="34" charset="-122"/>
                          <a:cs typeface="Consolas" pitchFamily="34" charset="-120"/>
                        </a:rPr>
                        <a:t>3,5</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9" name="Shape 5"/>
          <p:cNvSpPr/>
          <p:nvPr/>
        </p:nvSpPr>
        <p:spPr>
          <a:xfrm>
            <a:off x="8229600" y="1783080"/>
            <a:ext cx="3291840" cy="2560320"/>
          </a:xfrm>
          <a:prstGeom prst="roundRect">
            <a:avLst>
              <a:gd name="adj" fmla="val 2857"/>
            </a:avLst>
          </a:prstGeom>
          <a:solidFill>
            <a:srgbClr val="16181D"/>
          </a:solidFill>
          <a:ln w="12700">
            <a:solidFill>
              <a:srgbClr val="16181D"/>
            </a:solidFill>
            <a:prstDash val="solid"/>
          </a:ln>
        </p:spPr>
      </p:sp>
      <p:sp>
        <p:nvSpPr>
          <p:cNvPr id="10" name="Text 6"/>
          <p:cNvSpPr txBox="1"/>
          <p:nvPr/>
        </p:nvSpPr>
        <p:spPr>
          <a:xfrm>
            <a:off x="8458200" y="1965960"/>
            <a:ext cx="2834640" cy="2286000"/>
          </a:xfrm>
          <a:prstGeom prst="rect">
            <a:avLst/>
          </a:prstGeom>
          <a:noFill/>
          <a:ln/>
        </p:spPr>
        <p:txBody>
          <a:bodyPr wrap="square" lIns="0" tIns="0" rIns="0" bIns="0" rtlCol="0" anchor="t"/>
          <a:lstStyle/>
          <a:p>
            <a:pPr indent="0" marL="0">
              <a:buNone/>
            </a:pPr>
            <a:r>
              <a:rPr lang="en-US" sz="1800" b="1" dirty="0">
                <a:solidFill>
                  <a:srgbClr val="E8590C"/>
                </a:solidFill>
                <a:latin typeface="Calibri" pitchFamily="34" charset="0"/>
                <a:ea typeface="Calibri" pitchFamily="34" charset="-122"/>
                <a:cs typeface="Calibri" pitchFamily="34" charset="-120"/>
              </a:rPr>
              <a:t>La règle</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Affichage : la culture de l'utilisateur.</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Fichiers, échanges, API : la culture invariante.</a:t>
            </a:r>
            <a:endParaRPr lang="en-US" sz="1800" dirty="0"/>
          </a:p>
        </p:txBody>
      </p:sp>
      <p:sp>
        <p:nvSpPr>
          <p:cNvPr id="11" name="Shape 7"/>
          <p:cNvSpPr/>
          <p:nvPr/>
        </p:nvSpPr>
        <p:spPr>
          <a:xfrm>
            <a:off x="640080" y="4572000"/>
            <a:ext cx="7315200" cy="731520"/>
          </a:xfrm>
          <a:prstGeom prst="roundRect">
            <a:avLst>
              <a:gd name="adj" fmla="val 10000"/>
            </a:avLst>
          </a:prstGeom>
          <a:solidFill>
            <a:srgbClr val="1E2127"/>
          </a:solidFill>
          <a:ln w="12700">
            <a:solidFill>
              <a:srgbClr val="1E2127"/>
            </a:solidFill>
            <a:prstDash val="solid"/>
          </a:ln>
        </p:spPr>
      </p:sp>
      <p:sp>
        <p:nvSpPr>
          <p:cNvPr id="12" name="Text 8"/>
          <p:cNvSpPr txBox="1"/>
          <p:nvPr/>
        </p:nvSpPr>
        <p:spPr>
          <a:xfrm>
            <a:off x="914400" y="4800600"/>
            <a:ext cx="6766560" cy="27432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double.Parse("3.5", CultureInfo.InvariantCulture)</a:t>
            </a:r>
            <a:endParaRPr lang="en-US" sz="1500" dirty="0"/>
          </a:p>
        </p:txBody>
      </p:sp>
      <p:sp>
        <p:nvSpPr>
          <p:cNvPr id="13" name="Text 9"/>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CultureInfo » et « Bonnes pratiques pour l'utilisation des chaînes dans .NET ».</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LES MÉTHODES UTILES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La boîte à outils des chaînes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474720"/>
                <a:gridCol w="3931920"/>
                <a:gridCol w="3502152"/>
              </a:tblGrid>
              <a:tr h="45720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Méthode</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Ce qu'elle fait</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Avec "  Phishing DHL  "</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Trim()</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retire les espaces au début et à la fin</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"Phishing DHL"</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ToUpperInvariant()</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met en majuscules</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  PHISHING DHL  "</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Contains("DHL")</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contient-elle ce texte ?</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true</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StartsWith("Ph")</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commence-t-elle par… ?</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false (les espaces !)</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Replace("DHL", "colis")</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remplace un texte</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  Phishing colis  "</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Split(' ')</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découpe en morceaux</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 "", "Phishing", "DHL", …]</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457200">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string.IsNullOrWhiteSpace(t)</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alibri" pitchFamily="34" charset="0"/>
                          <a:ea typeface="Calibri" pitchFamily="34" charset="-122"/>
                          <a:cs typeface="Calibri" pitchFamily="34" charset="-120"/>
                        </a:rPr>
                        <a:t>vide ou seulement des espaces ?</a:t>
                      </a:r>
                      <a:endParaRPr lang="en-US" sz="1350" dirty="0">
                        <a:latin typeface="Calibri" charset="0"/>
                        <a:ea typeface="Calibri" charset="0"/>
                        <a:cs typeface="Calibri"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350" dirty="0">
                          <a:solidFill>
                            <a:srgbClr val="16181D"/>
                          </a:solidFill>
                          <a:latin typeface="Consolas" pitchFamily="34" charset="0"/>
                          <a:ea typeface="Consolas" pitchFamily="34" charset="-122"/>
                          <a:cs typeface="Consolas" pitchFamily="34" charset="-120"/>
                        </a:rPr>
                        <a:t>false</a:t>
                      </a:r>
                      <a:endParaRPr lang="en-US" sz="1350" dirty="0">
                        <a:latin typeface="Consolas" charset="0"/>
                        <a:ea typeface="Consolas" charset="0"/>
                        <a:cs typeface="Consolas" charset="0"/>
                      </a:endParaRPr>
                    </a:p>
                  </a:txBody>
                  <a:tcPr marL="91440" marR="91440"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40080" y="5577840"/>
            <a:ext cx="10911535" cy="4114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Une chaîne ne se modifie jamais : titre = titre.Trim(); · Pour un long texte : StringBuilder.</a:t>
            </a:r>
            <a:endParaRPr lang="en-US" sz="1600" dirty="0"/>
          </a:p>
        </p:txBody>
      </p:sp>
      <p:sp>
        <p:nvSpPr>
          <p:cNvPr id="10" name="Text 6"/>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classe System.String et StringBuilder.</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s03-etape4-chaines</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Les chaînes,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Interpolation, string.Format et formats N2, dd/MM/yyyy</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Le même nombre en fr-BE et en en-US</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Les méthodes utiles sur un titre d'incident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StringBuilder pour un rapport, @"…" et """…"""</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2194560"/>
            <a:ext cx="10911535" cy="1280160"/>
          </a:xfrm>
          <a:prstGeom prst="rect">
            <a:avLst/>
          </a:prstGeom>
          <a:noFill/>
          <a:ln/>
        </p:spPr>
        <p:txBody>
          <a:bodyPr wrap="square" lIns="0" tIns="0" rIns="0" bIns="0" rtlCol="0" anchor="ctr"/>
          <a:lstStyle/>
          <a:p>
            <a:pPr indent="0" marL="0">
              <a:buNone/>
            </a:pPr>
            <a:r>
              <a:rPr lang="en-US" sz="7200" b="1" dirty="0">
                <a:solidFill>
                  <a:srgbClr val="16181D"/>
                </a:solidFill>
                <a:latin typeface="Arial" pitchFamily="34" charset="0"/>
                <a:ea typeface="Arial" pitchFamily="34" charset="-122"/>
                <a:cs typeface="Arial" pitchFamily="34" charset="-120"/>
              </a:rPr>
              <a:t>Pause</a:t>
            </a:r>
            <a:endParaRPr lang="en-US" sz="7200" dirty="0"/>
          </a:p>
        </p:txBody>
      </p:sp>
      <p:sp>
        <p:nvSpPr>
          <p:cNvPr id="3" name="Text 1"/>
          <p:cNvSpPr txBox="1"/>
          <p:nvPr/>
        </p:nvSpPr>
        <p:spPr>
          <a:xfrm>
            <a:off x="640080" y="3566160"/>
            <a:ext cx="10911535" cy="548640"/>
          </a:xfrm>
          <a:prstGeom prst="rect">
            <a:avLst/>
          </a:prstGeom>
          <a:noFill/>
          <a:ln/>
        </p:spPr>
        <p:txBody>
          <a:bodyPr wrap="square" lIns="0" tIns="0" rIns="0" bIns="0" rtlCol="0" anchor="ctr"/>
          <a:lstStyle/>
          <a:p>
            <a:pPr indent="0" marL="0">
              <a:buNone/>
            </a:pPr>
            <a:r>
              <a:rPr lang="en-US" sz="2200" dirty="0">
                <a:solidFill>
                  <a:srgbClr val="5F6670"/>
                </a:solidFill>
                <a:latin typeface="Calibri" pitchFamily="34" charset="0"/>
                <a:ea typeface="Calibri" pitchFamily="34" charset="-122"/>
                <a:cs typeface="Calibri" pitchFamily="34" charset="-120"/>
              </a:rPr>
              <a:t>10 minutes. On reprend à l'heure affichée dans le chat.</a:t>
            </a:r>
            <a:endParaRPr lang="en-US" sz="2200" dirty="0"/>
          </a:p>
        </p:txBody>
      </p:sp>
      <p:sp>
        <p:nvSpPr>
          <p:cNvPr id="4" name="Text 2"/>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05</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static</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Ce qui appartient à la classe, pas à chaque objet</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STATIC</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Le compteur de la banque, pas celui du client</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25</a:t>
            </a:r>
            <a:endParaRPr lang="en-US" sz="1000" dirty="0"/>
          </a:p>
        </p:txBody>
      </p:sp>
      <p:sp>
        <p:nvSpPr>
          <p:cNvPr id="8" name="Shape 5"/>
          <p:cNvSpPr/>
          <p:nvPr/>
        </p:nvSpPr>
        <p:spPr>
          <a:xfrm>
            <a:off x="640080" y="1783080"/>
            <a:ext cx="5303520" cy="2651760"/>
          </a:xfrm>
          <a:prstGeom prst="roundRect">
            <a:avLst>
              <a:gd name="adj" fmla="val 2759"/>
            </a:avLst>
          </a:prstGeom>
          <a:solidFill>
            <a:srgbClr val="F2F3F5"/>
          </a:solidFill>
          <a:ln w="12700">
            <a:solidFill>
              <a:srgbClr val="F2F3F5"/>
            </a:solidFill>
            <a:prstDash val="solid"/>
          </a:ln>
        </p:spPr>
      </p:sp>
      <p:sp>
        <p:nvSpPr>
          <p:cNvPr id="9" name="Text 6"/>
          <p:cNvSpPr txBox="1"/>
          <p:nvPr/>
        </p:nvSpPr>
        <p:spPr>
          <a:xfrm>
            <a:off x="960120" y="1920240"/>
            <a:ext cx="4754880" cy="457200"/>
          </a:xfrm>
          <a:prstGeom prst="rect">
            <a:avLst/>
          </a:prstGeom>
          <a:noFill/>
          <a:ln/>
        </p:spPr>
        <p:txBody>
          <a:bodyPr wrap="square" lIns="0" tIns="0" rIns="0" bIns="0" rtlCol="0" anchor="ctr"/>
          <a:lstStyle/>
          <a:p>
            <a:pPr indent="0" marL="0">
              <a:buNone/>
            </a:pPr>
            <a:r>
              <a:rPr lang="en-US" sz="1800" b="1" dirty="0">
                <a:solidFill>
                  <a:srgbClr val="16181D"/>
                </a:solidFill>
                <a:latin typeface="Arial" pitchFamily="34" charset="0"/>
                <a:ea typeface="Arial" pitchFamily="34" charset="-122"/>
                <a:cs typeface="Arial" pitchFamily="34" charset="-120"/>
              </a:rPr>
              <a:t>Membre normal : à chaque objet</a:t>
            </a:r>
            <a:endParaRPr lang="en-US" sz="1800" dirty="0"/>
          </a:p>
        </p:txBody>
      </p:sp>
      <p:sp>
        <p:nvSpPr>
          <p:cNvPr id="10" name="Shape 7"/>
          <p:cNvSpPr/>
          <p:nvPr/>
        </p:nvSpPr>
        <p:spPr>
          <a:xfrm>
            <a:off x="914400" y="2514600"/>
            <a:ext cx="4754880" cy="1005840"/>
          </a:xfrm>
          <a:prstGeom prst="roundRect">
            <a:avLst>
              <a:gd name="adj" fmla="val 7273"/>
            </a:avLst>
          </a:prstGeom>
          <a:solidFill>
            <a:srgbClr val="1E2127"/>
          </a:solidFill>
          <a:ln w="12700">
            <a:solidFill>
              <a:srgbClr val="1E2127"/>
            </a:solidFill>
            <a:prstDash val="solid"/>
          </a:ln>
        </p:spPr>
      </p:sp>
      <p:sp>
        <p:nvSpPr>
          <p:cNvPr id="11" name="Text 8"/>
          <p:cNvSpPr txBox="1"/>
          <p:nvPr/>
        </p:nvSpPr>
        <p:spPr>
          <a:xfrm>
            <a:off x="1188720" y="2743200"/>
            <a:ext cx="4206240" cy="548640"/>
          </a:xfrm>
          <a:prstGeom prst="rect">
            <a:avLst/>
          </a:prstGeom>
          <a:noFill/>
          <a:ln/>
        </p:spPr>
        <p:txBody>
          <a:bodyPr wrap="square" lIns="0" tIns="0" rIns="0" bIns="0" rtlCol="0" anchor="t"/>
          <a:lstStyle/>
          <a:p>
            <a:pPr indent="0" marL="0">
              <a:buNone/>
            </a:pPr>
            <a:r>
              <a:rPr lang="en-US" sz="1500" dirty="0">
                <a:solidFill>
                  <a:srgbClr val="E6E6E6"/>
                </a:solidFill>
                <a:latin typeface="Consolas" pitchFamily="34" charset="0"/>
                <a:ea typeface="Consolas" pitchFamily="34" charset="-122"/>
                <a:cs typeface="Consolas" pitchFamily="34" charset="-120"/>
              </a:rPr>
              <a:t>incident.Close();</a:t>
            </a:r>
            <a:endParaRPr lang="en-US" sz="1500" dirty="0"/>
          </a:p>
          <a:p>
            <a:pPr indent="0" marL="0">
              <a:buNone/>
            </a:pPr>
            <a:r>
              <a:rPr lang="en-US" sz="1500" dirty="0">
                <a:solidFill>
                  <a:srgbClr val="E6E6E6"/>
                </a:solidFill>
                <a:latin typeface="Consolas" pitchFamily="34" charset="0"/>
                <a:ea typeface="Consolas" pitchFamily="34" charset="-122"/>
                <a:cs typeface="Consolas" pitchFamily="34" charset="-120"/>
              </a:rPr>
              <a:t>incident.Title</a:t>
            </a:r>
            <a:endParaRPr lang="en-US" sz="1500" dirty="0"/>
          </a:p>
        </p:txBody>
      </p:sp>
      <p:sp>
        <p:nvSpPr>
          <p:cNvPr id="12" name="Text 9"/>
          <p:cNvSpPr txBox="1"/>
          <p:nvPr/>
        </p:nvSpPr>
        <p:spPr>
          <a:xfrm>
            <a:off x="960120" y="3657600"/>
            <a:ext cx="4754880" cy="457200"/>
          </a:xfrm>
          <a:prstGeom prst="rect">
            <a:avLst/>
          </a:prstGeom>
          <a:noFill/>
          <a:ln/>
        </p:spPr>
        <p:txBody>
          <a:bodyPr wrap="square" lIns="0" tIns="0" rIns="0" bIns="0" rtlCol="0" anchor="ctr"/>
          <a:lstStyle/>
          <a:p>
            <a:pPr indent="0" marL="0">
              <a:buNone/>
            </a:pPr>
            <a:r>
              <a:rPr lang="en-US" sz="1500" i="1" dirty="0">
                <a:solidFill>
                  <a:srgbClr val="5F6670"/>
                </a:solidFill>
                <a:latin typeface="Calibri" pitchFamily="34" charset="0"/>
                <a:ea typeface="Calibri" pitchFamily="34" charset="-122"/>
                <a:cs typeface="Calibri" pitchFamily="34" charset="-120"/>
              </a:rPr>
              <a:t>Chaque client a son propre solde.</a:t>
            </a:r>
            <a:endParaRPr lang="en-US" sz="1500" dirty="0"/>
          </a:p>
        </p:txBody>
      </p:sp>
      <p:sp>
        <p:nvSpPr>
          <p:cNvPr id="13" name="Shape 10"/>
          <p:cNvSpPr/>
          <p:nvPr/>
        </p:nvSpPr>
        <p:spPr>
          <a:xfrm>
            <a:off x="6217920" y="1783080"/>
            <a:ext cx="5303520" cy="2651760"/>
          </a:xfrm>
          <a:prstGeom prst="roundRect">
            <a:avLst>
              <a:gd name="adj" fmla="val 2759"/>
            </a:avLst>
          </a:prstGeom>
          <a:solidFill>
            <a:srgbClr val="16181D"/>
          </a:solidFill>
          <a:ln w="12700">
            <a:solidFill>
              <a:srgbClr val="16181D"/>
            </a:solidFill>
            <a:prstDash val="solid"/>
          </a:ln>
        </p:spPr>
      </p:sp>
      <p:sp>
        <p:nvSpPr>
          <p:cNvPr id="14" name="Text 11"/>
          <p:cNvSpPr txBox="1"/>
          <p:nvPr/>
        </p:nvSpPr>
        <p:spPr>
          <a:xfrm>
            <a:off x="6537960" y="1920240"/>
            <a:ext cx="4754880" cy="457200"/>
          </a:xfrm>
          <a:prstGeom prst="rect">
            <a:avLst/>
          </a:prstGeom>
          <a:noFill/>
          <a:ln/>
        </p:spPr>
        <p:txBody>
          <a:bodyPr wrap="square" lIns="0" tIns="0" rIns="0" bIns="0" rtlCol="0" anchor="ctr"/>
          <a:lstStyle/>
          <a:p>
            <a:pPr indent="0" marL="0">
              <a:buNone/>
            </a:pPr>
            <a:r>
              <a:rPr lang="en-US" sz="1800" b="1" dirty="0">
                <a:solidFill>
                  <a:srgbClr val="E8590C"/>
                </a:solidFill>
                <a:latin typeface="Arial" pitchFamily="34" charset="0"/>
                <a:ea typeface="Arial" pitchFamily="34" charset="-122"/>
                <a:cs typeface="Arial" pitchFamily="34" charset="-120"/>
              </a:rPr>
              <a:t>Membre static : à la classe</a:t>
            </a:r>
            <a:endParaRPr lang="en-US" sz="1800" dirty="0"/>
          </a:p>
        </p:txBody>
      </p:sp>
      <p:sp>
        <p:nvSpPr>
          <p:cNvPr id="15" name="Shape 12"/>
          <p:cNvSpPr/>
          <p:nvPr/>
        </p:nvSpPr>
        <p:spPr>
          <a:xfrm>
            <a:off x="6492240" y="2514600"/>
            <a:ext cx="4754880" cy="1280160"/>
          </a:xfrm>
          <a:prstGeom prst="roundRect">
            <a:avLst>
              <a:gd name="adj" fmla="val 5714"/>
            </a:avLst>
          </a:prstGeom>
          <a:solidFill>
            <a:srgbClr val="1E2127"/>
          </a:solidFill>
          <a:ln w="12700">
            <a:solidFill>
              <a:srgbClr val="1E2127"/>
            </a:solidFill>
            <a:prstDash val="solid"/>
          </a:ln>
        </p:spPr>
      </p:sp>
      <p:sp>
        <p:nvSpPr>
          <p:cNvPr id="16" name="Text 13"/>
          <p:cNvSpPr txBox="1"/>
          <p:nvPr/>
        </p:nvSpPr>
        <p:spPr>
          <a:xfrm>
            <a:off x="6766560" y="2743200"/>
            <a:ext cx="4206240" cy="822960"/>
          </a:xfrm>
          <a:prstGeom prst="rect">
            <a:avLst/>
          </a:prstGeom>
          <a:noFill/>
          <a:ln/>
        </p:spPr>
        <p:txBody>
          <a:bodyPr wrap="square" lIns="0" tIns="0" rIns="0" bIns="0" rtlCol="0" anchor="t"/>
          <a:lstStyle/>
          <a:p>
            <a:pPr indent="0" marL="0">
              <a:buNone/>
            </a:pPr>
            <a:r>
              <a:rPr lang="en-US" sz="1400" dirty="0">
                <a:solidFill>
                  <a:srgbClr val="E6E6E6"/>
                </a:solidFill>
                <a:latin typeface="Consolas" pitchFamily="34" charset="0"/>
                <a:ea typeface="Consolas" pitchFamily="34" charset="-122"/>
                <a:cs typeface="Consolas" pitchFamily="34" charset="-120"/>
              </a:rPr>
              <a:t>Math.Max(a, b)</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DateTime.UtcNow</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IncidentNumbering.NextNumber()</a:t>
            </a:r>
            <a:endParaRPr lang="en-US" sz="1400" dirty="0"/>
          </a:p>
          <a:p>
            <a:pPr indent="0" marL="0">
              <a:buNone/>
            </a:pPr>
            <a:r>
              <a:rPr lang="en-US" sz="1400" dirty="0">
                <a:solidFill>
                  <a:srgbClr val="8B929C"/>
                </a:solidFill>
                <a:latin typeface="Consolas" pitchFamily="34" charset="0"/>
                <a:ea typeface="Consolas" pitchFamily="34" charset="-122"/>
                <a:cs typeface="Consolas" pitchFamily="34" charset="-120"/>
              </a:rPr>
              <a:t>// "INC-0003"</a:t>
            </a:r>
            <a:endParaRPr lang="en-US" sz="1400" dirty="0"/>
          </a:p>
        </p:txBody>
      </p:sp>
      <p:sp>
        <p:nvSpPr>
          <p:cNvPr id="17" name="Text 14"/>
          <p:cNvSpPr txBox="1"/>
          <p:nvPr/>
        </p:nvSpPr>
        <p:spPr>
          <a:xfrm>
            <a:off x="6537960" y="3840480"/>
            <a:ext cx="4754880" cy="457200"/>
          </a:xfrm>
          <a:prstGeom prst="rect">
            <a:avLst/>
          </a:prstGeom>
          <a:noFill/>
          <a:ln/>
        </p:spPr>
        <p:txBody>
          <a:bodyPr wrap="square" lIns="0" tIns="0" rIns="0" bIns="0" rtlCol="0" anchor="ctr"/>
          <a:lstStyle/>
          <a:p>
            <a:pPr indent="0" marL="0">
              <a:buNone/>
            </a:pPr>
            <a:r>
              <a:rPr lang="en-US" sz="1500" i="1" dirty="0">
                <a:solidFill>
                  <a:srgbClr val="C9CDD3"/>
                </a:solidFill>
                <a:latin typeface="Calibri" pitchFamily="34" charset="0"/>
                <a:ea typeface="Calibri" pitchFamily="34" charset="-122"/>
                <a:cs typeface="Calibri" pitchFamily="34" charset="-120"/>
              </a:rPr>
              <a:t>Le compteur de clients de la banque.</a:t>
            </a:r>
            <a:endParaRPr lang="en-US" sz="1500" dirty="0"/>
          </a:p>
        </p:txBody>
      </p:sp>
      <p:sp>
        <p:nvSpPr>
          <p:cNvPr id="18" name="Shape 15"/>
          <p:cNvSpPr/>
          <p:nvPr/>
        </p:nvSpPr>
        <p:spPr>
          <a:xfrm>
            <a:off x="640080" y="4663440"/>
            <a:ext cx="10911535" cy="1097280"/>
          </a:xfrm>
          <a:prstGeom prst="roundRect">
            <a:avLst>
              <a:gd name="adj" fmla="val 6667"/>
            </a:avLst>
          </a:prstGeom>
          <a:solidFill>
            <a:srgbClr val="F2F3F5"/>
          </a:solidFill>
          <a:ln w="12700">
            <a:solidFill>
              <a:srgbClr val="F2F3F5"/>
            </a:solidFill>
            <a:prstDash val="solid"/>
          </a:ln>
        </p:spPr>
      </p:sp>
      <p:sp>
        <p:nvSpPr>
          <p:cNvPr id="19" name="Text 16"/>
          <p:cNvSpPr txBox="1"/>
          <p:nvPr/>
        </p:nvSpPr>
        <p:spPr>
          <a:xfrm>
            <a:off x="914400" y="4663440"/>
            <a:ext cx="10362895" cy="1097280"/>
          </a:xfrm>
          <a:prstGeom prst="rect">
            <a:avLst/>
          </a:prstGeom>
          <a:noFill/>
          <a:ln/>
        </p:spPr>
        <p:txBody>
          <a:bodyPr wrap="square" lIns="0" tIns="0" rIns="0" bIns="0" rtlCol="0" anchor="ctr"/>
          <a:lstStyle/>
          <a:p>
            <a:pPr indent="0" marL="0">
              <a:buNone/>
            </a:pPr>
            <a:r>
              <a:rPr lang="en-US" sz="1600" b="1" dirty="0">
                <a:solidFill>
                  <a:srgbClr val="16181D"/>
                </a:solidFill>
                <a:latin typeface="Calibri" pitchFamily="34" charset="0"/>
                <a:ea typeface="Calibri" pitchFamily="34" charset="-122"/>
                <a:cs typeface="Calibri" pitchFamily="34" charset="-120"/>
              </a:rPr>
              <a:t>À retenir : </a:t>
            </a:r>
            <a:pPr indent="0" marL="0">
              <a:buNone/>
            </a:pPr>
            <a:r>
              <a:rPr lang="en-US" sz="1600" dirty="0">
                <a:solidFill>
                  <a:srgbClr val="16181D"/>
                </a:solidFill>
                <a:latin typeface="Calibri" pitchFamily="34" charset="0"/>
                <a:ea typeface="Calibri" pitchFamily="34" charset="-122"/>
                <a:cs typeface="Calibri" pitchFamily="34" charset="-120"/>
              </a:rPr>
              <a:t>on appelle un membre static par le nom de la classe, sans new. Une donnée static modifiable est partagée par tout le programme : à utiliser avec parcimonie.</a:t>
            </a:r>
            <a:endParaRPr lang="en-US" sz="1600" dirty="0"/>
          </a:p>
        </p:txBody>
      </p:sp>
      <p:sp>
        <p:nvSpPr>
          <p:cNvPr id="20" name="Text 17"/>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Classes statiques et membres de classe statique (C#) ».</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MÉTHODES D'EXTENSION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Ajouter une méthode à un type existant</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26</a:t>
            </a:r>
            <a:endParaRPr lang="en-US" sz="1000" dirty="0"/>
          </a:p>
        </p:txBody>
      </p:sp>
      <p:sp>
        <p:nvSpPr>
          <p:cNvPr id="8" name="Shape 5"/>
          <p:cNvSpPr/>
          <p:nvPr/>
        </p:nvSpPr>
        <p:spPr>
          <a:xfrm>
            <a:off x="640080" y="1783080"/>
            <a:ext cx="7315200" cy="4114800"/>
          </a:xfrm>
          <a:prstGeom prst="roundRect">
            <a:avLst>
              <a:gd name="adj" fmla="val 1778"/>
            </a:avLst>
          </a:prstGeom>
          <a:solidFill>
            <a:srgbClr val="1E2127"/>
          </a:solidFill>
          <a:ln w="12700">
            <a:solidFill>
              <a:srgbClr val="1E2127"/>
            </a:solidFill>
            <a:prstDash val="solid"/>
          </a:ln>
        </p:spPr>
      </p:sp>
      <p:sp>
        <p:nvSpPr>
          <p:cNvPr id="9" name="Text 6"/>
          <p:cNvSpPr txBox="1"/>
          <p:nvPr/>
        </p:nvSpPr>
        <p:spPr>
          <a:xfrm>
            <a:off x="914400" y="2011680"/>
            <a:ext cx="6766560" cy="3657600"/>
          </a:xfrm>
          <a:prstGeom prst="rect">
            <a:avLst/>
          </a:prstGeom>
          <a:noFill/>
          <a:ln/>
        </p:spPr>
        <p:txBody>
          <a:bodyPr wrap="square" lIns="0" tIns="0" rIns="0" bIns="0" rtlCol="0" anchor="t"/>
          <a:lstStyle/>
          <a:p>
            <a:pPr indent="0" marL="0">
              <a:buNone/>
            </a:pPr>
            <a:r>
              <a:rPr lang="en-US" sz="1400" dirty="0">
                <a:solidFill>
                  <a:srgbClr val="E6E6E6"/>
                </a:solidFill>
                <a:latin typeface="Consolas" pitchFamily="34" charset="0"/>
                <a:ea typeface="Consolas" pitchFamily="34" charset="-122"/>
                <a:cs typeface="Consolas" pitchFamily="34" charset="-120"/>
              </a:rPr>
              <a:t>public static class SeverityExtensions</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public static string ToLabel(this Severity severity) =&gt;</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severity switch</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Severity.Low =&gt; "Faible",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Severity.Critical =&gt; "Critique",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_ =&gt; severity.ToString()</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b="1" dirty="0">
                <a:solidFill>
                  <a:srgbClr val="FFA94D"/>
                </a:solidFill>
                <a:latin typeface="Consolas" pitchFamily="34" charset="0"/>
                <a:ea typeface="Consolas" pitchFamily="34" charset="-122"/>
                <a:cs typeface="Consolas" pitchFamily="34" charset="-120"/>
              </a:rPr>
              <a:t>Console.WriteLine(incident.Severity.ToLabel());  // Critique</a:t>
            </a:r>
            <a:endParaRPr lang="en-US" sz="1400" dirty="0"/>
          </a:p>
        </p:txBody>
      </p:sp>
      <p:sp>
        <p:nvSpPr>
          <p:cNvPr id="10" name="Shape 7"/>
          <p:cNvSpPr/>
          <p:nvPr/>
        </p:nvSpPr>
        <p:spPr>
          <a:xfrm>
            <a:off x="8229600" y="1783080"/>
            <a:ext cx="3291840" cy="4114800"/>
          </a:xfrm>
          <a:prstGeom prst="roundRect">
            <a:avLst>
              <a:gd name="adj" fmla="val 2222"/>
            </a:avLst>
          </a:prstGeom>
          <a:solidFill>
            <a:srgbClr val="16181D"/>
          </a:solidFill>
          <a:ln w="12700">
            <a:solidFill>
              <a:srgbClr val="16181D"/>
            </a:solidFill>
            <a:prstDash val="solid"/>
          </a:ln>
        </p:spPr>
      </p:sp>
      <p:sp>
        <p:nvSpPr>
          <p:cNvPr id="11" name="Text 8"/>
          <p:cNvSpPr txBox="1"/>
          <p:nvPr/>
        </p:nvSpPr>
        <p:spPr>
          <a:xfrm>
            <a:off x="8458200" y="1965960"/>
            <a:ext cx="2834640" cy="3749040"/>
          </a:xfrm>
          <a:prstGeom prst="rect">
            <a:avLst/>
          </a:prstGeom>
          <a:noFill/>
          <a:ln/>
        </p:spPr>
        <p:txBody>
          <a:bodyPr wrap="square" lIns="0" tIns="0" rIns="0" bIns="0" rtlCol="0" anchor="t"/>
          <a:lstStyle/>
          <a:p>
            <a:pPr indent="0" marL="0">
              <a:buNone/>
            </a:pPr>
            <a:r>
              <a:rPr lang="en-US" sz="1800" b="1" dirty="0">
                <a:solidFill>
                  <a:srgbClr val="E8590C"/>
                </a:solidFill>
                <a:latin typeface="Calibri" pitchFamily="34" charset="0"/>
                <a:ea typeface="Calibri" pitchFamily="34" charset="-122"/>
                <a:cs typeface="Calibri" pitchFamily="34" charset="-120"/>
              </a:rPr>
              <a:t>La recette</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Une classe static</a:t>
            </a: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Une méthode static</a:t>
            </a: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Un premier paramètre avec this</a:t>
            </a:r>
            <a:endParaRPr lang="en-US" sz="1800" dirty="0"/>
          </a:p>
          <a:p>
            <a:pPr indent="0" marL="0">
              <a:buNone/>
            </a:pPr>
            <a:endParaRPr lang="en-US" sz="1800" dirty="0"/>
          </a:p>
          <a:p>
            <a:pPr indent="0" marL="0">
              <a:buNone/>
            </a:pPr>
            <a:r>
              <a:rPr lang="en-US" sz="1500" dirty="0">
                <a:solidFill>
                  <a:srgbClr val="FFFFFF"/>
                </a:solidFill>
                <a:latin typeface="Calibri" pitchFamily="34" charset="0"/>
                <a:ea typeface="Calibri" pitchFamily="34" charset="-122"/>
                <a:cs typeface="Calibri" pitchFamily="34" charset="-120"/>
              </a:rPr>
              <a:t>C'est ce que fait LINQ : Where, Select…</a:t>
            </a:r>
            <a:endParaRPr lang="en-US" sz="1800" dirty="0"/>
          </a:p>
        </p:txBody>
      </p:sp>
      <p:sp>
        <p:nvSpPr>
          <p:cNvPr id="12" name="Text 9"/>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Méthodes d'extension (C#) ».</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s03-etape5-static</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static,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IncidentNumbering.NextNumber() : INC-0001, INC-0002…</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Severity.ToLabel() : une méthode d'extension</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Math.Max et DateTime.UtcNow : des membres static du framework</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06</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virtual et override</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Le mécanisme du polymorphisme</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LA RECETTE DE FAMILLE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abstract, virtual, override, sealed</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828800"/>
                <a:gridCol w="4206240"/>
                <a:gridCol w="4873752"/>
              </a:tblGrid>
              <a:tr h="59436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Mot-clé</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La recette de famille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Dans IncidentHub</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9436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abstract</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chacun doit écrire sa recette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RoleName() : chaque rôle donne son nom</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9436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virtual</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la recette de grand-mère, adaptable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Signature() : « — Karim Diallo » par défaut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9436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override</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voici ma version</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Manager : « — Sophie Leroy, responsable »</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94360">
                <a:tc>
                  <a:txBody>
                    <a:bodyPr/>
                    <a:lstStyle/>
                    <a:p>
                      <a:pPr indent="0" marL="0">
                        <a:buNone/>
                      </a:pPr>
                      <a:r>
                        <a:rPr lang="en-US" sz="1600" b="1" dirty="0">
                          <a:solidFill>
                            <a:srgbClr val="16181D"/>
                          </a:solidFill>
                          <a:latin typeface="Consolas" pitchFamily="34" charset="0"/>
                          <a:ea typeface="Consolas" pitchFamily="34" charset="-122"/>
                          <a:cs typeface="Consolas" pitchFamily="34" charset="-120"/>
                        </a:rPr>
                        <a:t>sealed</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on n'y touche plus</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Reporter : plus personne n'en hérite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
        <p:nvSpPr>
          <p:cNvPr id="9" name="Shape 5"/>
          <p:cNvSpPr/>
          <p:nvPr/>
        </p:nvSpPr>
        <p:spPr>
          <a:xfrm>
            <a:off x="640080" y="4892040"/>
            <a:ext cx="5303520" cy="1005840"/>
          </a:xfrm>
          <a:prstGeom prst="roundRect">
            <a:avLst>
              <a:gd name="adj" fmla="val 7273"/>
            </a:avLst>
          </a:prstGeom>
          <a:solidFill>
            <a:srgbClr val="16181D"/>
          </a:solidFill>
          <a:ln w="12700">
            <a:solidFill>
              <a:srgbClr val="16181D"/>
            </a:solidFill>
            <a:prstDash val="solid"/>
          </a:ln>
        </p:spPr>
      </p:sp>
      <p:sp>
        <p:nvSpPr>
          <p:cNvPr id="10" name="Text 6"/>
          <p:cNvSpPr txBox="1"/>
          <p:nvPr/>
        </p:nvSpPr>
        <p:spPr>
          <a:xfrm>
            <a:off x="914400" y="4892040"/>
            <a:ext cx="4754880" cy="10058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ToString() est virtual dans object : on peut la redéfinir dans toutes nos classes.</a:t>
            </a:r>
            <a:endParaRPr lang="en-US" sz="1500" dirty="0"/>
          </a:p>
        </p:txBody>
      </p:sp>
      <p:sp>
        <p:nvSpPr>
          <p:cNvPr id="11" name="Shape 7"/>
          <p:cNvSpPr/>
          <p:nvPr/>
        </p:nvSpPr>
        <p:spPr>
          <a:xfrm>
            <a:off x="6217920" y="4892040"/>
            <a:ext cx="5303520" cy="1005840"/>
          </a:xfrm>
          <a:prstGeom prst="roundRect">
            <a:avLst>
              <a:gd name="adj" fmla="val 7273"/>
            </a:avLst>
          </a:prstGeom>
          <a:solidFill>
            <a:srgbClr val="C92A2A"/>
          </a:solidFill>
          <a:ln w="12700">
            <a:solidFill>
              <a:srgbClr val="C92A2A"/>
            </a:solidFill>
            <a:prstDash val="solid"/>
          </a:ln>
        </p:spPr>
      </p:sp>
      <p:sp>
        <p:nvSpPr>
          <p:cNvPr id="12" name="Text 8"/>
          <p:cNvSpPr txBox="1"/>
          <p:nvPr/>
        </p:nvSpPr>
        <p:spPr>
          <a:xfrm>
            <a:off x="6492240" y="4892040"/>
            <a:ext cx="4754880" cy="10058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Piège : sans override (avec new), on masque la méthode. Le polymorphisme ne fonctionne plus.</a:t>
            </a:r>
            <a:endParaRPr lang="en-US" sz="1500" dirty="0"/>
          </a:p>
        </p:txBody>
      </p:sp>
      <p:sp>
        <p:nvSpPr>
          <p:cNvPr id="13" name="Text 9"/>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mots-clés virtual, override, sealed, abstract et new (C#).</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s03-etape6-virtual-override</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virtual et override,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User.Signature() est virtual : une version par défaut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Manager la redéfinit avec override</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Analyst redéfinit ToString(), qui vient de object</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Reporter est sealed : essayer d'en hériter ne compile pas</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07</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Les enum [Flags]</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Combiner plusieurs valeurs dans une seule</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[FLAGS]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Une rangée d'interrupteurs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32</a:t>
            </a:r>
            <a:endParaRPr lang="en-US" sz="1000" dirty="0"/>
          </a:p>
        </p:txBody>
      </p:sp>
      <p:sp>
        <p:nvSpPr>
          <p:cNvPr id="8" name="Shape 5"/>
          <p:cNvSpPr/>
          <p:nvPr/>
        </p:nvSpPr>
        <p:spPr>
          <a:xfrm>
            <a:off x="640080" y="1783080"/>
            <a:ext cx="6766560" cy="4206240"/>
          </a:xfrm>
          <a:prstGeom prst="roundRect">
            <a:avLst>
              <a:gd name="adj" fmla="val 1739"/>
            </a:avLst>
          </a:prstGeom>
          <a:solidFill>
            <a:srgbClr val="1E2127"/>
          </a:solidFill>
          <a:ln w="12700">
            <a:solidFill>
              <a:srgbClr val="1E2127"/>
            </a:solidFill>
            <a:prstDash val="solid"/>
          </a:ln>
        </p:spPr>
      </p:sp>
      <p:sp>
        <p:nvSpPr>
          <p:cNvPr id="9" name="Text 6"/>
          <p:cNvSpPr txBox="1"/>
          <p:nvPr/>
        </p:nvSpPr>
        <p:spPr>
          <a:xfrm>
            <a:off x="914400" y="2011680"/>
            <a:ext cx="6217920" cy="3749040"/>
          </a:xfrm>
          <a:prstGeom prst="rect">
            <a:avLst/>
          </a:prstGeom>
          <a:noFill/>
          <a:ln/>
        </p:spPr>
        <p:txBody>
          <a:bodyPr wrap="square" lIns="0" tIns="0" rIns="0" bIns="0" rtlCol="0" anchor="t"/>
          <a:lstStyle/>
          <a:p>
            <a:pPr indent="0" marL="0">
              <a:buNone/>
            </a:pPr>
            <a:r>
              <a:rPr lang="en-US" sz="1350" dirty="0">
                <a:solidFill>
                  <a:srgbClr val="E6E6E6"/>
                </a:solidFill>
                <a:latin typeface="Consolas" pitchFamily="34" charset="0"/>
                <a:ea typeface="Consolas" pitchFamily="34" charset="-122"/>
                <a:cs typeface="Consolas" pitchFamily="34" charset="-120"/>
              </a:rPr>
              <a:t>[Flags]</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public enum Permission</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None    = 0,</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Read    = 1,   // 0001</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Comment = 2,   // 0010</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Assign  = 4,   // 0100</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Close   = 8    // 1000</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 </a:t>
            </a:r>
            <a:endParaRPr lang="en-US" sz="1350" dirty="0"/>
          </a:p>
          <a:p>
            <a:pPr indent="0" marL="0">
              <a:buNone/>
            </a:pPr>
            <a:r>
              <a:rPr lang="en-US" sz="1350" b="1" dirty="0">
                <a:solidFill>
                  <a:srgbClr val="FFA94D"/>
                </a:solidFill>
                <a:latin typeface="Consolas" pitchFamily="34" charset="0"/>
                <a:ea typeface="Consolas" pitchFamily="34" charset="-122"/>
                <a:cs typeface="Consolas" pitchFamily="34" charset="-120"/>
              </a:rPr>
              <a:t>var analyste = Permission.Read</a:t>
            </a:r>
            <a:endParaRPr lang="en-US" sz="1350" dirty="0"/>
          </a:p>
          <a:p>
            <a:pPr indent="0" marL="0">
              <a:buNone/>
            </a:pPr>
            <a:r>
              <a:rPr lang="en-US" sz="1350" b="1" dirty="0">
                <a:solidFill>
                  <a:srgbClr val="FFA94D"/>
                </a:solidFill>
                <a:latin typeface="Consolas" pitchFamily="34" charset="0"/>
                <a:ea typeface="Consolas" pitchFamily="34" charset="-122"/>
                <a:cs typeface="Consolas" pitchFamily="34" charset="-120"/>
              </a:rPr>
              <a:t>            | Permission.Comment | Permission.Assign;</a:t>
            </a:r>
            <a:endParaRPr lang="en-US" sz="1350" dirty="0"/>
          </a:p>
          <a:p>
            <a:pPr indent="0" marL="0">
              <a:buNone/>
            </a:pPr>
            <a:r>
              <a:rPr lang="en-US" sz="1350" dirty="0">
                <a:solidFill>
                  <a:srgbClr val="E6E6E6"/>
                </a:solidFill>
                <a:latin typeface="Consolas" pitchFamily="34" charset="0"/>
                <a:ea typeface="Consolas" pitchFamily="34" charset="-122"/>
                <a:cs typeface="Consolas" pitchFamily="34" charset="-120"/>
              </a:rPr>
              <a:t>analyste.HasFlag(Permission.Close)   // false</a:t>
            </a:r>
            <a:endParaRPr lang="en-US" sz="1350" dirty="0"/>
          </a:p>
        </p:txBody>
      </p:sp>
      <p:sp>
        <p:nvSpPr>
          <p:cNvPr id="10" name="Shape 7"/>
          <p:cNvSpPr/>
          <p:nvPr/>
        </p:nvSpPr>
        <p:spPr>
          <a:xfrm>
            <a:off x="7680960" y="1783080"/>
            <a:ext cx="868680" cy="1737360"/>
          </a:xfrm>
          <a:prstGeom prst="roundRect">
            <a:avLst>
              <a:gd name="adj" fmla="val 8421"/>
            </a:avLst>
          </a:prstGeom>
          <a:solidFill>
            <a:srgbClr val="E8590C"/>
          </a:solidFill>
          <a:ln w="12700">
            <a:solidFill>
              <a:srgbClr val="E8590C"/>
            </a:solidFill>
            <a:prstDash val="solid"/>
          </a:ln>
        </p:spPr>
      </p:sp>
      <p:sp>
        <p:nvSpPr>
          <p:cNvPr id="11" name="Text 8"/>
          <p:cNvSpPr txBox="1"/>
          <p:nvPr/>
        </p:nvSpPr>
        <p:spPr>
          <a:xfrm>
            <a:off x="7680960" y="1920240"/>
            <a:ext cx="8686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ON</a:t>
            </a:r>
            <a:endParaRPr lang="en-US" sz="1300" dirty="0"/>
          </a:p>
        </p:txBody>
      </p:sp>
      <p:sp>
        <p:nvSpPr>
          <p:cNvPr id="12" name="Text 9"/>
          <p:cNvSpPr txBox="1"/>
          <p:nvPr/>
        </p:nvSpPr>
        <p:spPr>
          <a:xfrm>
            <a:off x="7635240" y="3611880"/>
            <a:ext cx="960120" cy="365760"/>
          </a:xfrm>
          <a:prstGeom prst="rect">
            <a:avLst/>
          </a:prstGeom>
          <a:noFill/>
          <a:ln/>
        </p:spPr>
        <p:txBody>
          <a:bodyPr wrap="square" lIns="0" tIns="0" rIns="0" bIns="0" rtlCol="0" anchor="ctr"/>
          <a:lstStyle/>
          <a:p>
            <a:pPr algn="ctr" indent="0" marL="0">
              <a:buNone/>
            </a:pPr>
            <a:r>
              <a:rPr lang="en-US" sz="1200" b="1" dirty="0">
                <a:solidFill>
                  <a:srgbClr val="16181D"/>
                </a:solidFill>
                <a:latin typeface="Calibri" pitchFamily="34" charset="0"/>
                <a:ea typeface="Calibri" pitchFamily="34" charset="-122"/>
                <a:cs typeface="Calibri" pitchFamily="34" charset="-120"/>
              </a:rPr>
              <a:t>Read</a:t>
            </a:r>
            <a:endParaRPr lang="en-US" sz="1200" dirty="0"/>
          </a:p>
        </p:txBody>
      </p:sp>
      <p:sp>
        <p:nvSpPr>
          <p:cNvPr id="13" name="Shape 10"/>
          <p:cNvSpPr/>
          <p:nvPr/>
        </p:nvSpPr>
        <p:spPr>
          <a:xfrm>
            <a:off x="8659368" y="1783080"/>
            <a:ext cx="868680" cy="1737360"/>
          </a:xfrm>
          <a:prstGeom prst="roundRect">
            <a:avLst>
              <a:gd name="adj" fmla="val 8421"/>
            </a:avLst>
          </a:prstGeom>
          <a:solidFill>
            <a:srgbClr val="E8590C"/>
          </a:solidFill>
          <a:ln w="12700">
            <a:solidFill>
              <a:srgbClr val="E8590C"/>
            </a:solidFill>
            <a:prstDash val="solid"/>
          </a:ln>
        </p:spPr>
      </p:sp>
      <p:sp>
        <p:nvSpPr>
          <p:cNvPr id="14" name="Text 11"/>
          <p:cNvSpPr txBox="1"/>
          <p:nvPr/>
        </p:nvSpPr>
        <p:spPr>
          <a:xfrm>
            <a:off x="8659368" y="1920240"/>
            <a:ext cx="8686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ON</a:t>
            </a:r>
            <a:endParaRPr lang="en-US" sz="1300" dirty="0"/>
          </a:p>
        </p:txBody>
      </p:sp>
      <p:sp>
        <p:nvSpPr>
          <p:cNvPr id="15" name="Text 12"/>
          <p:cNvSpPr txBox="1"/>
          <p:nvPr/>
        </p:nvSpPr>
        <p:spPr>
          <a:xfrm>
            <a:off x="8613648" y="3611880"/>
            <a:ext cx="960120" cy="365760"/>
          </a:xfrm>
          <a:prstGeom prst="rect">
            <a:avLst/>
          </a:prstGeom>
          <a:noFill/>
          <a:ln/>
        </p:spPr>
        <p:txBody>
          <a:bodyPr wrap="square" lIns="0" tIns="0" rIns="0" bIns="0" rtlCol="0" anchor="ctr"/>
          <a:lstStyle/>
          <a:p>
            <a:pPr algn="ctr" indent="0" marL="0">
              <a:buNone/>
            </a:pPr>
            <a:r>
              <a:rPr lang="en-US" sz="1200" b="1" dirty="0">
                <a:solidFill>
                  <a:srgbClr val="16181D"/>
                </a:solidFill>
                <a:latin typeface="Calibri" pitchFamily="34" charset="0"/>
                <a:ea typeface="Calibri" pitchFamily="34" charset="-122"/>
                <a:cs typeface="Calibri" pitchFamily="34" charset="-120"/>
              </a:rPr>
              <a:t>Comment</a:t>
            </a:r>
            <a:endParaRPr lang="en-US" sz="1200" dirty="0"/>
          </a:p>
        </p:txBody>
      </p:sp>
      <p:sp>
        <p:nvSpPr>
          <p:cNvPr id="16" name="Shape 13"/>
          <p:cNvSpPr/>
          <p:nvPr/>
        </p:nvSpPr>
        <p:spPr>
          <a:xfrm>
            <a:off x="9637776" y="1783080"/>
            <a:ext cx="868680" cy="1737360"/>
          </a:xfrm>
          <a:prstGeom prst="roundRect">
            <a:avLst>
              <a:gd name="adj" fmla="val 8421"/>
            </a:avLst>
          </a:prstGeom>
          <a:solidFill>
            <a:srgbClr val="E8590C"/>
          </a:solidFill>
          <a:ln w="12700">
            <a:solidFill>
              <a:srgbClr val="E8590C"/>
            </a:solidFill>
            <a:prstDash val="solid"/>
          </a:ln>
        </p:spPr>
      </p:sp>
      <p:sp>
        <p:nvSpPr>
          <p:cNvPr id="17" name="Text 14"/>
          <p:cNvSpPr txBox="1"/>
          <p:nvPr/>
        </p:nvSpPr>
        <p:spPr>
          <a:xfrm>
            <a:off x="9637776" y="1920240"/>
            <a:ext cx="8686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ON</a:t>
            </a:r>
            <a:endParaRPr lang="en-US" sz="1300" dirty="0"/>
          </a:p>
        </p:txBody>
      </p:sp>
      <p:sp>
        <p:nvSpPr>
          <p:cNvPr id="18" name="Text 15"/>
          <p:cNvSpPr txBox="1"/>
          <p:nvPr/>
        </p:nvSpPr>
        <p:spPr>
          <a:xfrm>
            <a:off x="9592056" y="3611880"/>
            <a:ext cx="960120" cy="365760"/>
          </a:xfrm>
          <a:prstGeom prst="rect">
            <a:avLst/>
          </a:prstGeom>
          <a:noFill/>
          <a:ln/>
        </p:spPr>
        <p:txBody>
          <a:bodyPr wrap="square" lIns="0" tIns="0" rIns="0" bIns="0" rtlCol="0" anchor="ctr"/>
          <a:lstStyle/>
          <a:p>
            <a:pPr algn="ctr" indent="0" marL="0">
              <a:buNone/>
            </a:pPr>
            <a:r>
              <a:rPr lang="en-US" sz="1200" b="1" dirty="0">
                <a:solidFill>
                  <a:srgbClr val="16181D"/>
                </a:solidFill>
                <a:latin typeface="Calibri" pitchFamily="34" charset="0"/>
                <a:ea typeface="Calibri" pitchFamily="34" charset="-122"/>
                <a:cs typeface="Calibri" pitchFamily="34" charset="-120"/>
              </a:rPr>
              <a:t>Assign</a:t>
            </a:r>
            <a:endParaRPr lang="en-US" sz="1200" dirty="0"/>
          </a:p>
        </p:txBody>
      </p:sp>
      <p:sp>
        <p:nvSpPr>
          <p:cNvPr id="19" name="Shape 16"/>
          <p:cNvSpPr/>
          <p:nvPr/>
        </p:nvSpPr>
        <p:spPr>
          <a:xfrm>
            <a:off x="10616184" y="1783080"/>
            <a:ext cx="868680" cy="1737360"/>
          </a:xfrm>
          <a:prstGeom prst="roundRect">
            <a:avLst>
              <a:gd name="adj" fmla="val 8421"/>
            </a:avLst>
          </a:prstGeom>
          <a:solidFill>
            <a:srgbClr val="D9DCE1"/>
          </a:solidFill>
          <a:ln w="12700">
            <a:solidFill>
              <a:srgbClr val="D9DCE1"/>
            </a:solidFill>
            <a:prstDash val="solid"/>
          </a:ln>
        </p:spPr>
      </p:sp>
      <p:sp>
        <p:nvSpPr>
          <p:cNvPr id="20" name="Text 17"/>
          <p:cNvSpPr txBox="1"/>
          <p:nvPr/>
        </p:nvSpPr>
        <p:spPr>
          <a:xfrm>
            <a:off x="10616184" y="1920240"/>
            <a:ext cx="868680" cy="457200"/>
          </a:xfrm>
          <a:prstGeom prst="rect">
            <a:avLst/>
          </a:prstGeom>
          <a:noFill/>
          <a:ln/>
        </p:spPr>
        <p:txBody>
          <a:bodyPr wrap="square" lIns="0" tIns="0" rIns="0" bIns="0" rtlCol="0" anchor="ctr"/>
          <a:lstStyle/>
          <a:p>
            <a:pPr algn="ctr" indent="0" marL="0">
              <a:buNone/>
            </a:pPr>
            <a:r>
              <a:rPr lang="en-US" sz="1300" b="1" dirty="0">
                <a:solidFill>
                  <a:srgbClr val="5F6670"/>
                </a:solidFill>
                <a:latin typeface="Arial" pitchFamily="34" charset="0"/>
                <a:ea typeface="Arial" pitchFamily="34" charset="-122"/>
                <a:cs typeface="Arial" pitchFamily="34" charset="-120"/>
              </a:rPr>
              <a:t>OFF</a:t>
            </a:r>
            <a:endParaRPr lang="en-US" sz="1300" dirty="0"/>
          </a:p>
        </p:txBody>
      </p:sp>
      <p:sp>
        <p:nvSpPr>
          <p:cNvPr id="21" name="Text 18"/>
          <p:cNvSpPr txBox="1"/>
          <p:nvPr/>
        </p:nvSpPr>
        <p:spPr>
          <a:xfrm>
            <a:off x="10570464" y="3611880"/>
            <a:ext cx="960120" cy="365760"/>
          </a:xfrm>
          <a:prstGeom prst="rect">
            <a:avLst/>
          </a:prstGeom>
          <a:noFill/>
          <a:ln/>
        </p:spPr>
        <p:txBody>
          <a:bodyPr wrap="square" lIns="0" tIns="0" rIns="0" bIns="0" rtlCol="0" anchor="ctr"/>
          <a:lstStyle/>
          <a:p>
            <a:pPr algn="ctr" indent="0" marL="0">
              <a:buNone/>
            </a:pPr>
            <a:r>
              <a:rPr lang="en-US" sz="1200" b="1" dirty="0">
                <a:solidFill>
                  <a:srgbClr val="16181D"/>
                </a:solidFill>
                <a:latin typeface="Calibri" pitchFamily="34" charset="0"/>
                <a:ea typeface="Calibri" pitchFamily="34" charset="-122"/>
                <a:cs typeface="Calibri" pitchFamily="34" charset="-120"/>
              </a:rPr>
              <a:t>Close</a:t>
            </a:r>
            <a:endParaRPr lang="en-US" sz="1200" dirty="0"/>
          </a:p>
        </p:txBody>
      </p:sp>
      <p:sp>
        <p:nvSpPr>
          <p:cNvPr id="22" name="Text 19"/>
          <p:cNvSpPr txBox="1"/>
          <p:nvPr/>
        </p:nvSpPr>
        <p:spPr>
          <a:xfrm>
            <a:off x="7680960" y="4069080"/>
            <a:ext cx="3840480" cy="411480"/>
          </a:xfrm>
          <a:prstGeom prst="rect">
            <a:avLst/>
          </a:prstGeom>
          <a:noFill/>
          <a:ln/>
        </p:spPr>
        <p:txBody>
          <a:bodyPr wrap="square" lIns="0" tIns="0" rIns="0" bIns="0" rtlCol="0" anchor="ctr"/>
          <a:lstStyle/>
          <a:p>
            <a:pPr indent="0" marL="0">
              <a:buNone/>
            </a:pPr>
            <a:r>
              <a:rPr lang="en-US" sz="1500" b="1" dirty="0">
                <a:solidFill>
                  <a:srgbClr val="16181D"/>
                </a:solidFill>
                <a:latin typeface="Consolas" pitchFamily="34" charset="0"/>
                <a:ea typeface="Consolas" pitchFamily="34" charset="-122"/>
                <a:cs typeface="Consolas" pitchFamily="34" charset="-120"/>
              </a:rPr>
              <a:t>Analyste : 1 + 2 + 4 = 7</a:t>
            </a:r>
            <a:endParaRPr lang="en-US" sz="1500" dirty="0"/>
          </a:p>
        </p:txBody>
      </p:sp>
      <p:sp>
        <p:nvSpPr>
          <p:cNvPr id="23" name="Shape 20"/>
          <p:cNvSpPr/>
          <p:nvPr/>
        </p:nvSpPr>
        <p:spPr>
          <a:xfrm>
            <a:off x="7680960" y="4617720"/>
            <a:ext cx="3840480" cy="1325880"/>
          </a:xfrm>
          <a:prstGeom prst="roundRect">
            <a:avLst>
              <a:gd name="adj" fmla="val 5517"/>
            </a:avLst>
          </a:prstGeom>
          <a:solidFill>
            <a:srgbClr val="16181D"/>
          </a:solidFill>
          <a:ln w="12700">
            <a:solidFill>
              <a:srgbClr val="16181D"/>
            </a:solidFill>
            <a:prstDash val="solid"/>
          </a:ln>
        </p:spPr>
      </p:sp>
      <p:sp>
        <p:nvSpPr>
          <p:cNvPr id="24" name="Text 21"/>
          <p:cNvSpPr txBox="1"/>
          <p:nvPr/>
        </p:nvSpPr>
        <p:spPr>
          <a:xfrm>
            <a:off x="7863840" y="4663440"/>
            <a:ext cx="3474720" cy="123444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Sous Linux, chmod 7 = 4 (lecture) + 2 (écriture) + 1 (exécution) : le même principe.</a:t>
            </a:r>
            <a:endParaRPr lang="en-US" sz="1450" dirty="0"/>
          </a:p>
        </p:txBody>
      </p:sp>
      <p:sp>
        <p:nvSpPr>
          <p:cNvPr id="25" name="Text 22"/>
          <p:cNvSpPr txBox="1"/>
          <p:nvPr/>
        </p:nvSpPr>
        <p:spPr>
          <a:xfrm>
            <a:off x="640080" y="5989320"/>
            <a:ext cx="10911535" cy="32004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Source : Microsoft Learn, « Types énumération : enum comme indicateurs binaires ([Flags]) ».</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F3F5"/>
        </a:solidFill>
      </p:bgPr>
    </p:bg>
    <p:spTree>
      <p:nvGrpSpPr>
        <p:cNvPr id="1" name=""/>
        <p:cNvGrpSpPr/>
        <p:nvPr/>
      </p:nvGrpSpPr>
      <p:grpSpPr>
        <a:xfrm>
          <a:off x="0" y="0"/>
          <a:ext cx="0" cy="0"/>
          <a:chOff x="0" y="0"/>
          <a:chExt cx="0" cy="0"/>
        </a:xfrm>
      </p:grpSpPr>
      <p:sp>
        <p:nvSpPr>
          <p:cNvPr id="2" name="Text 0"/>
          <p:cNvSpPr txBox="1"/>
          <p:nvPr/>
        </p:nvSpPr>
        <p:spPr>
          <a:xfrm>
            <a:off x="640080" y="1463040"/>
            <a:ext cx="3657600" cy="457200"/>
          </a:xfrm>
          <a:prstGeom prst="rect">
            <a:avLst/>
          </a:prstGeom>
          <a:noFill/>
          <a:ln/>
        </p:spPr>
        <p:txBody>
          <a:bodyPr wrap="square" lIns="0" tIns="0" rIns="0" bIns="0" rtlCol="0" anchor="ctr"/>
          <a:lstStyle/>
          <a:p>
            <a:pPr indent="0" marL="0">
              <a:buNone/>
            </a:pPr>
            <a:r>
              <a:rPr lang="en-US" sz="1600" b="1" spc="400" kern="0" dirty="0">
                <a:solidFill>
                  <a:srgbClr val="E8590C"/>
                </a:solidFill>
                <a:latin typeface="Calibri" pitchFamily="34" charset="0"/>
                <a:ea typeface="Calibri" pitchFamily="34" charset="-122"/>
                <a:cs typeface="Calibri" pitchFamily="34" charset="-120"/>
              </a:rPr>
              <a:t>RIDER</a:t>
            </a:r>
            <a:endParaRPr lang="en-US" sz="1600" dirty="0"/>
          </a:p>
        </p:txBody>
      </p:sp>
      <p:sp>
        <p:nvSpPr>
          <p:cNvPr id="3" name="Shape 1"/>
          <p:cNvSpPr/>
          <p:nvPr/>
        </p:nvSpPr>
        <p:spPr>
          <a:xfrm>
            <a:off x="640080" y="2011680"/>
            <a:ext cx="10911535" cy="1005840"/>
          </a:xfrm>
          <a:prstGeom prst="roundRect">
            <a:avLst>
              <a:gd name="adj" fmla="val 7273"/>
            </a:avLst>
          </a:prstGeom>
          <a:solidFill>
            <a:srgbClr val="1E2127"/>
          </a:solidFill>
          <a:ln w="12700">
            <a:solidFill>
              <a:srgbClr val="1E2127"/>
            </a:solidFill>
            <a:prstDash val="solid"/>
          </a:ln>
        </p:spPr>
      </p:sp>
      <p:sp>
        <p:nvSpPr>
          <p:cNvPr id="4" name="Text 2"/>
          <p:cNvSpPr txBox="1"/>
          <p:nvPr/>
        </p:nvSpPr>
        <p:spPr>
          <a:xfrm>
            <a:off x="1005840" y="2011680"/>
            <a:ext cx="10180015" cy="1005840"/>
          </a:xfrm>
          <a:prstGeom prst="rect">
            <a:avLst/>
          </a:prstGeom>
          <a:noFill/>
          <a:ln/>
        </p:spPr>
        <p:txBody>
          <a:bodyPr wrap="square" lIns="0" tIns="0" rIns="0" bIns="0" rtlCol="0" anchor="ctr"/>
          <a:lstStyle/>
          <a:p>
            <a:pPr indent="0" marL="0">
              <a:buNone/>
            </a:pPr>
            <a:r>
              <a:rPr lang="en-US" sz="2800" dirty="0">
                <a:solidFill>
                  <a:srgbClr val="E6E6E6"/>
                </a:solidFill>
                <a:latin typeface="Consolas" pitchFamily="34" charset="0"/>
                <a:ea typeface="Consolas" pitchFamily="34" charset="-122"/>
                <a:cs typeface="Consolas" pitchFamily="34" charset="-120"/>
              </a:rPr>
              <a:t>git checkout s03-etape7-flags</a:t>
            </a:r>
            <a:endParaRPr lang="en-US" sz="2800" dirty="0"/>
          </a:p>
        </p:txBody>
      </p:sp>
      <p:sp>
        <p:nvSpPr>
          <p:cNvPr id="5" name="Text 3"/>
          <p:cNvSpPr txBox="1"/>
          <p:nvPr/>
        </p:nvSpPr>
        <p:spPr>
          <a:xfrm>
            <a:off x="640080" y="3291840"/>
            <a:ext cx="10911535" cy="731520"/>
          </a:xfrm>
          <a:prstGeom prst="rect">
            <a:avLst/>
          </a:prstGeom>
          <a:noFill/>
          <a:ln/>
        </p:spPr>
        <p:txBody>
          <a:bodyPr wrap="square" lIns="0" tIns="0" rIns="0" bIns="0" rtlCol="0" anchor="t"/>
          <a:lstStyle/>
          <a:p>
            <a:pPr indent="0" marL="0">
              <a:buNone/>
            </a:pPr>
            <a:r>
              <a:rPr lang="en-US" sz="2400" b="1" dirty="0">
                <a:solidFill>
                  <a:srgbClr val="16181D"/>
                </a:solidFill>
                <a:latin typeface="Arial" pitchFamily="34" charset="0"/>
                <a:ea typeface="Arial" pitchFamily="34" charset="-122"/>
                <a:cs typeface="Arial" pitchFamily="34" charset="-120"/>
              </a:rPr>
              <a:t>[Flags], en vrai</a:t>
            </a:r>
            <a:endParaRPr lang="en-US" sz="2400" dirty="0"/>
          </a:p>
        </p:txBody>
      </p:sp>
      <p:sp>
        <p:nvSpPr>
          <p:cNvPr id="6" name="Text 4"/>
          <p:cNvSpPr txBox="1"/>
          <p:nvPr/>
        </p:nvSpPr>
        <p:spPr>
          <a:xfrm>
            <a:off x="640080" y="4114800"/>
            <a:ext cx="4572000" cy="365760"/>
          </a:xfrm>
          <a:prstGeom prst="rect">
            <a:avLst/>
          </a:prstGeom>
          <a:noFill/>
          <a:ln/>
        </p:spPr>
        <p:txBody>
          <a:bodyPr wrap="square" lIns="0" tIns="0" rIns="0" bIns="0" rtlCol="0" anchor="ctr"/>
          <a:lstStyle/>
          <a:p>
            <a:pPr indent="0" marL="0">
              <a:buNone/>
            </a:pPr>
            <a:r>
              <a:rPr lang="en-US" sz="1300" b="1" spc="200" kern="0" dirty="0">
                <a:solidFill>
                  <a:srgbClr val="5F6670"/>
                </a:solidFill>
                <a:latin typeface="Calibri" pitchFamily="34" charset="0"/>
                <a:ea typeface="Calibri" pitchFamily="34" charset="-122"/>
                <a:cs typeface="Calibri" pitchFamily="34" charset="-120"/>
              </a:rPr>
              <a:t>CE QU'ON REGARDE</a:t>
            </a:r>
            <a:endParaRPr lang="en-US" sz="1300" dirty="0"/>
          </a:p>
        </p:txBody>
      </p:sp>
      <p:sp>
        <p:nvSpPr>
          <p:cNvPr id="7" name="Text 5"/>
          <p:cNvSpPr txBox="1"/>
          <p:nvPr/>
        </p:nvSpPr>
        <p:spPr>
          <a:xfrm>
            <a:off x="640080" y="4526280"/>
            <a:ext cx="10911535" cy="16459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Chaque rôle reçoit ses permissions : Reporter, Analyst, Manager</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Combiner avec |, tester avec HasFlag et avec &amp;</a:t>
            </a:r>
            <a:endParaRPr lang="en-US" sz="1800" dirty="0"/>
          </a:p>
          <a:p>
            <a:pPr marL="228600" indent="-228600">
              <a:spcAft>
                <a:spcPts val="800"/>
              </a:spcAft>
              <a:buSzPct val="100000"/>
              <a:buChar char="•"/>
            </a:pPr>
            <a:r>
              <a:rPr lang="en-US" sz="1800" dirty="0">
                <a:solidFill>
                  <a:srgbClr val="16181D"/>
                </a:solidFill>
                <a:latin typeface="Calibri" pitchFamily="34" charset="0"/>
                <a:ea typeface="Calibri" pitchFamily="34" charset="-122"/>
                <a:cs typeface="Calibri" pitchFamily="34" charset="-120"/>
              </a:rPr>
              <a:t>La valeur numérique (7) et le texte (« Read, Comment, Assign »)</a:t>
            </a:r>
            <a:endParaRPr lang="en-US" sz="1800" dirty="0"/>
          </a:p>
        </p:txBody>
      </p:sp>
      <p:sp>
        <p:nvSpPr>
          <p:cNvPr id="8" name="Text 6"/>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EXERCICE · 15 MINUTES</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Prédisez ce qu'affiche chaque programme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34</a:t>
            </a:r>
            <a:endParaRPr lang="en-US" sz="1000" dirty="0"/>
          </a:p>
        </p:txBody>
      </p:sp>
      <p:sp>
        <p:nvSpPr>
          <p:cNvPr id="8" name="Shape 5"/>
          <p:cNvSpPr/>
          <p:nvPr/>
        </p:nvSpPr>
        <p:spPr>
          <a:xfrm>
            <a:off x="640080" y="1783080"/>
            <a:ext cx="3474720" cy="1828800"/>
          </a:xfrm>
          <a:prstGeom prst="roundRect">
            <a:avLst>
              <a:gd name="adj" fmla="val 4000"/>
            </a:avLst>
          </a:prstGeom>
          <a:solidFill>
            <a:srgbClr val="1E2127"/>
          </a:solidFill>
          <a:ln w="12700">
            <a:solidFill>
              <a:srgbClr val="1E2127"/>
            </a:solidFill>
            <a:prstDash val="solid"/>
          </a:ln>
        </p:spPr>
      </p:sp>
      <p:sp>
        <p:nvSpPr>
          <p:cNvPr id="9" name="Text 6"/>
          <p:cNvSpPr txBox="1"/>
          <p:nvPr/>
        </p:nvSpPr>
        <p:spPr>
          <a:xfrm>
            <a:off x="822960" y="189280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1</a:t>
            </a:r>
            <a:endParaRPr lang="en-US" sz="2000" dirty="0"/>
          </a:p>
        </p:txBody>
      </p:sp>
      <p:sp>
        <p:nvSpPr>
          <p:cNvPr id="10" name="Text 7"/>
          <p:cNvSpPr txBox="1"/>
          <p:nvPr/>
        </p:nvSpPr>
        <p:spPr>
          <a:xfrm>
            <a:off x="868680" y="228600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int a = 5;</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int b = a;</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b++;</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Console.WriteLine(a);</a:t>
            </a:r>
            <a:endParaRPr lang="en-US" sz="1250" dirty="0"/>
          </a:p>
        </p:txBody>
      </p:sp>
      <p:sp>
        <p:nvSpPr>
          <p:cNvPr id="11" name="Shape 8"/>
          <p:cNvSpPr/>
          <p:nvPr/>
        </p:nvSpPr>
        <p:spPr>
          <a:xfrm>
            <a:off x="4343400" y="1783080"/>
            <a:ext cx="3474720" cy="1828800"/>
          </a:xfrm>
          <a:prstGeom prst="roundRect">
            <a:avLst>
              <a:gd name="adj" fmla="val 4000"/>
            </a:avLst>
          </a:prstGeom>
          <a:solidFill>
            <a:srgbClr val="1E2127"/>
          </a:solidFill>
          <a:ln w="12700">
            <a:solidFill>
              <a:srgbClr val="1E2127"/>
            </a:solidFill>
            <a:prstDash val="solid"/>
          </a:ln>
        </p:spPr>
      </p:sp>
      <p:sp>
        <p:nvSpPr>
          <p:cNvPr id="12" name="Text 9"/>
          <p:cNvSpPr txBox="1"/>
          <p:nvPr/>
        </p:nvSpPr>
        <p:spPr>
          <a:xfrm>
            <a:off x="4526280" y="189280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2</a:t>
            </a:r>
            <a:endParaRPr lang="en-US" sz="2000" dirty="0"/>
          </a:p>
        </p:txBody>
      </p:sp>
      <p:sp>
        <p:nvSpPr>
          <p:cNvPr id="13" name="Text 10"/>
          <p:cNvSpPr txBox="1"/>
          <p:nvPr/>
        </p:nvSpPr>
        <p:spPr>
          <a:xfrm>
            <a:off x="4572000" y="228600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byte x = 255;</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x++;</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Console.WriteLine(x);</a:t>
            </a:r>
            <a:endParaRPr lang="en-US" sz="1250" dirty="0"/>
          </a:p>
        </p:txBody>
      </p:sp>
      <p:sp>
        <p:nvSpPr>
          <p:cNvPr id="14" name="Shape 11"/>
          <p:cNvSpPr/>
          <p:nvPr/>
        </p:nvSpPr>
        <p:spPr>
          <a:xfrm>
            <a:off x="8046720" y="1783080"/>
            <a:ext cx="3474720" cy="1828800"/>
          </a:xfrm>
          <a:prstGeom prst="roundRect">
            <a:avLst>
              <a:gd name="adj" fmla="val 4000"/>
            </a:avLst>
          </a:prstGeom>
          <a:solidFill>
            <a:srgbClr val="1E2127"/>
          </a:solidFill>
          <a:ln w="12700">
            <a:solidFill>
              <a:srgbClr val="1E2127"/>
            </a:solidFill>
            <a:prstDash val="solid"/>
          </a:ln>
        </p:spPr>
      </p:sp>
      <p:sp>
        <p:nvSpPr>
          <p:cNvPr id="15" name="Text 12"/>
          <p:cNvSpPr txBox="1"/>
          <p:nvPr/>
        </p:nvSpPr>
        <p:spPr>
          <a:xfrm>
            <a:off x="8229600" y="189280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3</a:t>
            </a:r>
            <a:endParaRPr lang="en-US" sz="2000" dirty="0"/>
          </a:p>
        </p:txBody>
      </p:sp>
      <p:sp>
        <p:nvSpPr>
          <p:cNvPr id="16" name="Text 13"/>
          <p:cNvSpPr txBox="1"/>
          <p:nvPr/>
        </p:nvSpPr>
        <p:spPr>
          <a:xfrm>
            <a:off x="8275320" y="228600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Console.WriteLine(</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0.1 + 0.2 == 0.3);</a:t>
            </a:r>
            <a:endParaRPr lang="en-US" sz="1250" dirty="0"/>
          </a:p>
        </p:txBody>
      </p:sp>
      <p:sp>
        <p:nvSpPr>
          <p:cNvPr id="17" name="Shape 14"/>
          <p:cNvSpPr/>
          <p:nvPr/>
        </p:nvSpPr>
        <p:spPr>
          <a:xfrm>
            <a:off x="640080" y="3794760"/>
            <a:ext cx="3474720" cy="1828800"/>
          </a:xfrm>
          <a:prstGeom prst="roundRect">
            <a:avLst>
              <a:gd name="adj" fmla="val 4000"/>
            </a:avLst>
          </a:prstGeom>
          <a:solidFill>
            <a:srgbClr val="1E2127"/>
          </a:solidFill>
          <a:ln w="12700">
            <a:solidFill>
              <a:srgbClr val="1E2127"/>
            </a:solidFill>
            <a:prstDash val="solid"/>
          </a:ln>
        </p:spPr>
      </p:sp>
      <p:sp>
        <p:nvSpPr>
          <p:cNvPr id="18" name="Text 15"/>
          <p:cNvSpPr txBox="1"/>
          <p:nvPr/>
        </p:nvSpPr>
        <p:spPr>
          <a:xfrm>
            <a:off x="822960" y="390448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4</a:t>
            </a:r>
            <a:endParaRPr lang="en-US" sz="2000" dirty="0"/>
          </a:p>
        </p:txBody>
      </p:sp>
      <p:sp>
        <p:nvSpPr>
          <p:cNvPr id="19" name="Text 16"/>
          <p:cNvSpPr txBox="1"/>
          <p:nvPr/>
        </p:nvSpPr>
        <p:spPr>
          <a:xfrm>
            <a:off x="868680" y="429768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string t = "  ok  ";</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t.Trim();</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Console.WriteLine($"[{t}]");</a:t>
            </a:r>
            <a:endParaRPr lang="en-US" sz="1250" dirty="0"/>
          </a:p>
        </p:txBody>
      </p:sp>
      <p:sp>
        <p:nvSpPr>
          <p:cNvPr id="20" name="Shape 17"/>
          <p:cNvSpPr/>
          <p:nvPr/>
        </p:nvSpPr>
        <p:spPr>
          <a:xfrm>
            <a:off x="4343400" y="3794760"/>
            <a:ext cx="3474720" cy="1828800"/>
          </a:xfrm>
          <a:prstGeom prst="roundRect">
            <a:avLst>
              <a:gd name="adj" fmla="val 4000"/>
            </a:avLst>
          </a:prstGeom>
          <a:solidFill>
            <a:srgbClr val="1E2127"/>
          </a:solidFill>
          <a:ln w="12700">
            <a:solidFill>
              <a:srgbClr val="1E2127"/>
            </a:solidFill>
            <a:prstDash val="solid"/>
          </a:ln>
        </p:spPr>
      </p:sp>
      <p:sp>
        <p:nvSpPr>
          <p:cNvPr id="21" name="Text 18"/>
          <p:cNvSpPr txBox="1"/>
          <p:nvPr/>
        </p:nvSpPr>
        <p:spPr>
          <a:xfrm>
            <a:off x="4526280" y="390448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5</a:t>
            </a:r>
            <a:endParaRPr lang="en-US" sz="2000" dirty="0"/>
          </a:p>
        </p:txBody>
      </p:sp>
      <p:sp>
        <p:nvSpPr>
          <p:cNvPr id="22" name="Text 19"/>
          <p:cNvSpPr txBox="1"/>
          <p:nvPr/>
        </p:nvSpPr>
        <p:spPr>
          <a:xfrm>
            <a:off x="4572000" y="429768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Analyst? a = null;</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Console.WriteLine(</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a?.Name ?? "personne");</a:t>
            </a:r>
            <a:endParaRPr lang="en-US" sz="1250" dirty="0"/>
          </a:p>
        </p:txBody>
      </p:sp>
      <p:sp>
        <p:nvSpPr>
          <p:cNvPr id="23" name="Shape 20"/>
          <p:cNvSpPr/>
          <p:nvPr/>
        </p:nvSpPr>
        <p:spPr>
          <a:xfrm>
            <a:off x="8046720" y="3794760"/>
            <a:ext cx="3474720" cy="1828800"/>
          </a:xfrm>
          <a:prstGeom prst="roundRect">
            <a:avLst>
              <a:gd name="adj" fmla="val 4000"/>
            </a:avLst>
          </a:prstGeom>
          <a:solidFill>
            <a:srgbClr val="1E2127"/>
          </a:solidFill>
          <a:ln w="12700">
            <a:solidFill>
              <a:srgbClr val="1E2127"/>
            </a:solidFill>
            <a:prstDash val="solid"/>
          </a:ln>
        </p:spPr>
      </p:sp>
      <p:sp>
        <p:nvSpPr>
          <p:cNvPr id="24" name="Text 21"/>
          <p:cNvSpPr txBox="1"/>
          <p:nvPr/>
        </p:nvSpPr>
        <p:spPr>
          <a:xfrm>
            <a:off x="8229600" y="3904488"/>
            <a:ext cx="457200" cy="411480"/>
          </a:xfrm>
          <a:prstGeom prst="rect">
            <a:avLst/>
          </a:prstGeom>
          <a:noFill/>
          <a:ln/>
        </p:spPr>
        <p:txBody>
          <a:bodyPr wrap="square" lIns="0" tIns="0" rIns="0" bIns="0" rtlCol="0" anchor="ctr"/>
          <a:lstStyle/>
          <a:p>
            <a:pPr indent="0" marL="0">
              <a:buNone/>
            </a:pPr>
            <a:r>
              <a:rPr lang="en-US" sz="2000" b="1" dirty="0">
                <a:solidFill>
                  <a:srgbClr val="E8590C"/>
                </a:solidFill>
                <a:latin typeface="Arial" pitchFamily="34" charset="0"/>
                <a:ea typeface="Arial" pitchFamily="34" charset="-122"/>
                <a:cs typeface="Arial" pitchFamily="34" charset="-120"/>
              </a:rPr>
              <a:t>6</a:t>
            </a:r>
            <a:endParaRPr lang="en-US" sz="2000" dirty="0"/>
          </a:p>
        </p:txBody>
      </p:sp>
      <p:sp>
        <p:nvSpPr>
          <p:cNvPr id="25" name="Text 22"/>
          <p:cNvSpPr txBox="1"/>
          <p:nvPr/>
        </p:nvSpPr>
        <p:spPr>
          <a:xfrm>
            <a:off x="8275320" y="4297680"/>
            <a:ext cx="3108960" cy="1234440"/>
          </a:xfrm>
          <a:prstGeom prst="rect">
            <a:avLst/>
          </a:prstGeom>
          <a:noFill/>
          <a:ln/>
        </p:spPr>
        <p:txBody>
          <a:bodyPr wrap="square" lIns="0" tIns="0" rIns="0" bIns="0" rtlCol="0" anchor="t"/>
          <a:lstStyle/>
          <a:p>
            <a:pPr indent="0" marL="0">
              <a:buNone/>
            </a:pPr>
            <a:r>
              <a:rPr lang="en-US" sz="1250" dirty="0">
                <a:solidFill>
                  <a:srgbClr val="E6E6E6"/>
                </a:solidFill>
                <a:latin typeface="Consolas" pitchFamily="34" charset="0"/>
                <a:ea typeface="Consolas" pitchFamily="34" charset="-122"/>
                <a:cs typeface="Consolas" pitchFamily="34" charset="-120"/>
              </a:rPr>
              <a:t>var p = Permission.Read</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      | Permission.Close;</a:t>
            </a:r>
            <a:endParaRPr lang="en-US" sz="1250" dirty="0"/>
          </a:p>
          <a:p>
            <a:pPr indent="0" marL="0">
              <a:buNone/>
            </a:pPr>
            <a:r>
              <a:rPr lang="en-US" sz="1250" dirty="0">
                <a:solidFill>
                  <a:srgbClr val="E6E6E6"/>
                </a:solidFill>
                <a:latin typeface="Consolas" pitchFamily="34" charset="0"/>
                <a:ea typeface="Consolas" pitchFamily="34" charset="-122"/>
                <a:cs typeface="Consolas" pitchFamily="34" charset="-120"/>
              </a:rPr>
              <a:t>Console.WriteLine((int)p);</a:t>
            </a:r>
            <a:endParaRPr lang="en-US" sz="1250" dirty="0"/>
          </a:p>
        </p:txBody>
      </p:sp>
      <p:sp>
        <p:nvSpPr>
          <p:cNvPr id="26" name="Text 23"/>
          <p:cNvSpPr txBox="1"/>
          <p:nvPr/>
        </p:nvSpPr>
        <p:spPr>
          <a:xfrm>
            <a:off x="640080" y="5852160"/>
            <a:ext cx="10911535" cy="365760"/>
          </a:xfrm>
          <a:prstGeom prst="rect">
            <a:avLst/>
          </a:prstGeom>
          <a:noFill/>
          <a:ln/>
        </p:spPr>
        <p:txBody>
          <a:bodyPr wrap="square" lIns="0" tIns="0" rIns="0" bIns="0" rtlCol="0" anchor="ctr"/>
          <a:lstStyle/>
          <a:p>
            <a:pPr indent="0" marL="0">
              <a:buNone/>
            </a:pPr>
            <a:r>
              <a:rPr lang="en-US" sz="1500" b="1" dirty="0">
                <a:solidFill>
                  <a:srgbClr val="16181D"/>
                </a:solidFill>
                <a:latin typeface="Calibri" pitchFamily="34" charset="0"/>
                <a:ea typeface="Calibri" pitchFamily="34" charset="-122"/>
                <a:cs typeface="Calibri" pitchFamily="34" charset="-120"/>
              </a:rPr>
              <a:t>Pour chaque programme : ce qui s'affiche, et pourquoi en une phrase. Sans IA, sans lancer le code.</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CORRECTION</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Ce qu'affichent les six programmes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640080"/>
                <a:gridCol w="1828800"/>
                <a:gridCol w="8439912"/>
              </a:tblGrid>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Affiche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Pourquoi</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16181D"/>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5</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int est un type valeur : b est une photocopie de a</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0</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un byte va de 0 à 255 : 255 + 1 repart à 0, sans erreur</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False</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double est approximatif : utiliser decimal pour l'exactitude</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  ok  ]</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une chaîne ne se modifie jamais : il fallait écrire t = t.Trim();</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personne</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 renvoie null sans planter, ?? prend la valeur par défaut</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FFFFF"/>
                    </a:solidFill>
                  </a:tcPr>
                </a:tc>
              </a:tr>
              <a:tr h="566928">
                <a:tc>
                  <a:txBody>
                    <a:bodyPr/>
                    <a:lstStyle/>
                    <a:p>
                      <a:pPr indent="0" marL="0">
                        <a:buNone/>
                      </a:pPr>
                      <a:r>
                        <a:rPr lang="en-US" sz="1600" b="1" dirty="0">
                          <a:solidFill>
                            <a:srgbClr val="16181D"/>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b="1" dirty="0">
                          <a:solidFill>
                            <a:srgbClr val="E8590C"/>
                          </a:solidFill>
                          <a:latin typeface="Consolas" pitchFamily="34" charset="0"/>
                          <a:ea typeface="Consolas" pitchFamily="34" charset="-122"/>
                          <a:cs typeface="Consolas" pitchFamily="34" charset="-120"/>
                        </a:rPr>
                        <a:t>9</a:t>
                      </a:r>
                      <a:endParaRPr lang="en-US" sz="1600" dirty="0">
                        <a:latin typeface="Consolas" charset="0"/>
                        <a:ea typeface="Consolas" charset="0"/>
                        <a:cs typeface="Consolas"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c>
                  <a:txBody>
                    <a:bodyPr/>
                    <a:lstStyle/>
                    <a:p>
                      <a:pPr indent="0" marL="0">
                        <a:buNone/>
                      </a:pPr>
                      <a:r>
                        <a:rPr lang="en-US" sz="1600" dirty="0">
                          <a:solidFill>
                            <a:srgbClr val="16181D"/>
                          </a:solidFill>
                          <a:latin typeface="Calibri" pitchFamily="34" charset="0"/>
                          <a:ea typeface="Calibri" pitchFamily="34" charset="-122"/>
                          <a:cs typeface="Calibri" pitchFamily="34" charset="-120"/>
                        </a:rPr>
                        <a:t>Read = 1 et Close = 8 : deux interrupteurs allumés, 1 + 8</a:t>
                      </a:r>
                      <a:endParaRPr lang="en-US" sz="1600" dirty="0">
                        <a:latin typeface="Calibri" charset="0"/>
                        <a:ea typeface="Calibri" charset="0"/>
                        <a:cs typeface="Calibri" charset="0"/>
                      </a:endParaRPr>
                    </a:p>
                  </a:txBody>
                  <a:tcPr marL="109728" marR="109728" marT="0" marB="0" anchor="ctr">
                    <a:lnL w="6350" cap="flat" cmpd="sng" algn="ctr">
                      <a:solidFill>
                        <a:srgbClr val="D9DCE1"/>
                      </a:solidFill>
                      <a:prstDash val="solid"/>
                      <a:round/>
                      <a:headEnd type="none" w="med" len="med"/>
                      <a:tailEnd type="none" w="med" len="med"/>
                    </a:lnL>
                    <a:lnR w="6350" cap="flat" cmpd="sng" algn="ctr">
                      <a:solidFill>
                        <a:srgbClr val="D9DCE1"/>
                      </a:solidFill>
                      <a:prstDash val="solid"/>
                      <a:round/>
                      <a:headEnd type="none" w="med" len="med"/>
                      <a:tailEnd type="none" w="med" len="med"/>
                    </a:lnR>
                    <a:lnT w="6350" cap="flat" cmpd="sng" algn="ctr">
                      <a:solidFill>
                        <a:srgbClr val="D9DCE1"/>
                      </a:solidFill>
                      <a:prstDash val="solid"/>
                      <a:round/>
                      <a:headEnd type="none" w="med" len="med"/>
                      <a:tailEnd type="none" w="med" len="med"/>
                    </a:lnT>
                    <a:lnB w="6350" cap="flat" cmpd="sng" algn="ctr">
                      <a:solidFill>
                        <a:srgbClr val="D9DCE1"/>
                      </a:solidFill>
                      <a:prstDash val="solid"/>
                      <a:round/>
                      <a:headEnd type="none" w="med" len="med"/>
                      <a:tailEnd type="none" w="med" len="med"/>
                    </a:lnB>
                    <a:solidFill>
                      <a:srgbClr val="F2F3F5"/>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81D"/>
        </a:solidFill>
      </p:bgPr>
    </p:bg>
    <p:spTree>
      <p:nvGrpSpPr>
        <p:cNvPr id="1" name=""/>
        <p:cNvGrpSpPr/>
        <p:nvPr/>
      </p:nvGrpSpPr>
      <p:grpSpPr>
        <a:xfrm>
          <a:off x="0" y="0"/>
          <a:ext cx="0" cy="0"/>
          <a:chOff x="0" y="0"/>
          <a:chExt cx="0" cy="0"/>
        </a:xfrm>
      </p:grpSpPr>
      <p:sp>
        <p:nvSpPr>
          <p:cNvPr id="2" name="Text 0"/>
          <p:cNvSpPr txBox="1"/>
          <p:nvPr/>
        </p:nvSpPr>
        <p:spPr>
          <a:xfrm>
            <a:off x="640080" y="1463040"/>
            <a:ext cx="2743200" cy="1280160"/>
          </a:xfrm>
          <a:prstGeom prst="rect">
            <a:avLst/>
          </a:prstGeom>
          <a:noFill/>
          <a:ln/>
        </p:spPr>
        <p:txBody>
          <a:bodyPr wrap="square" lIns="0" tIns="0" rIns="0" bIns="0" rtlCol="0" anchor="ctr"/>
          <a:lstStyle/>
          <a:p>
            <a:pPr indent="0" marL="0">
              <a:buNone/>
            </a:pPr>
            <a:r>
              <a:rPr lang="en-US" sz="9600" b="1" dirty="0">
                <a:solidFill>
                  <a:srgbClr val="E8590C"/>
                </a:solidFill>
                <a:latin typeface="Arial" pitchFamily="34" charset="0"/>
                <a:ea typeface="Arial" pitchFamily="34" charset="-122"/>
                <a:cs typeface="Arial" pitchFamily="34" charset="-120"/>
              </a:rPr>
              <a:t>08</a:t>
            </a:r>
            <a:endParaRPr lang="en-US" sz="9600" dirty="0"/>
          </a:p>
        </p:txBody>
      </p:sp>
      <p:sp>
        <p:nvSpPr>
          <p:cNvPr id="3" name="Text 1"/>
          <p:cNvSpPr txBox="1"/>
          <p:nvPr/>
        </p:nvSpPr>
        <p:spPr>
          <a:xfrm>
            <a:off x="640080" y="2834640"/>
            <a:ext cx="10911535" cy="100584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Et si l'IA corrige les avertissements ?</a:t>
            </a:r>
            <a:endParaRPr lang="en-US" sz="4400" dirty="0"/>
          </a:p>
        </p:txBody>
      </p:sp>
      <p:sp>
        <p:nvSpPr>
          <p:cNvPr id="4" name="Text 2"/>
          <p:cNvSpPr txBox="1"/>
          <p:nvPr/>
        </p:nvSpPr>
        <p:spPr>
          <a:xfrm>
            <a:off x="640080" y="3840480"/>
            <a:ext cx="10911535" cy="73152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Le ! partout</a:t>
            </a:r>
            <a:endParaRPr lang="en-US" sz="20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9AA0A8"/>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MOMENT IA</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 Corrige les avertissements de nullabilité »</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37</a:t>
            </a:r>
            <a:endParaRPr lang="en-US" sz="1000" dirty="0"/>
          </a:p>
        </p:txBody>
      </p:sp>
      <p:sp>
        <p:nvSpPr>
          <p:cNvPr id="8" name="Shape 5"/>
          <p:cNvSpPr/>
          <p:nvPr/>
        </p:nvSpPr>
        <p:spPr>
          <a:xfrm>
            <a:off x="640080" y="1783080"/>
            <a:ext cx="5486400" cy="1188720"/>
          </a:xfrm>
          <a:prstGeom prst="roundRect">
            <a:avLst>
              <a:gd name="adj" fmla="val 6154"/>
            </a:avLst>
          </a:prstGeom>
          <a:solidFill>
            <a:srgbClr val="16181D"/>
          </a:solidFill>
          <a:ln w="12700">
            <a:solidFill>
              <a:srgbClr val="16181D"/>
            </a:solidFill>
            <a:prstDash val="solid"/>
          </a:ln>
        </p:spPr>
      </p:sp>
      <p:sp>
        <p:nvSpPr>
          <p:cNvPr id="9" name="Text 6"/>
          <p:cNvSpPr txBox="1"/>
          <p:nvPr/>
        </p:nvSpPr>
        <p:spPr>
          <a:xfrm>
            <a:off x="960120" y="1783080"/>
            <a:ext cx="4937760" cy="1188720"/>
          </a:xfrm>
          <a:prstGeom prst="rect">
            <a:avLst/>
          </a:prstGeom>
          <a:noFill/>
          <a:ln/>
        </p:spPr>
        <p:txBody>
          <a:bodyPr wrap="square" lIns="0" tIns="0" rIns="0" bIns="0" rtlCol="0" anchor="ctr"/>
          <a:lstStyle/>
          <a:p>
            <a:pPr indent="0" marL="0">
              <a:buNone/>
            </a:pPr>
            <a:r>
              <a:rPr lang="en-US" sz="1600" dirty="0">
                <a:solidFill>
                  <a:srgbClr val="FFFFFF"/>
                </a:solidFill>
                <a:latin typeface="Consolas" pitchFamily="34" charset="0"/>
                <a:ea typeface="Consolas" pitchFamily="34" charset="-122"/>
                <a:cs typeface="Consolas" pitchFamily="34" charset="-120"/>
              </a:rPr>
              <a:t>Corrige les avertissements de nullabilité de ce fichier.</a:t>
            </a:r>
            <a:endParaRPr lang="en-US" sz="1600" dirty="0"/>
          </a:p>
        </p:txBody>
      </p:sp>
      <p:sp>
        <p:nvSpPr>
          <p:cNvPr id="10" name="Shape 7"/>
          <p:cNvSpPr/>
          <p:nvPr/>
        </p:nvSpPr>
        <p:spPr>
          <a:xfrm>
            <a:off x="640080" y="3154680"/>
            <a:ext cx="6766560" cy="2194560"/>
          </a:xfrm>
          <a:prstGeom prst="roundRect">
            <a:avLst>
              <a:gd name="adj" fmla="val 3333"/>
            </a:avLst>
          </a:prstGeom>
          <a:solidFill>
            <a:srgbClr val="1E2127"/>
          </a:solidFill>
          <a:ln w="12700">
            <a:solidFill>
              <a:srgbClr val="1E2127"/>
            </a:solidFill>
            <a:prstDash val="solid"/>
          </a:ln>
        </p:spPr>
      </p:sp>
      <p:sp>
        <p:nvSpPr>
          <p:cNvPr id="11" name="Text 8"/>
          <p:cNvSpPr txBox="1"/>
          <p:nvPr/>
        </p:nvSpPr>
        <p:spPr>
          <a:xfrm>
            <a:off x="914400" y="3383280"/>
            <a:ext cx="6217920" cy="1737360"/>
          </a:xfrm>
          <a:prstGeom prst="rect">
            <a:avLst/>
          </a:prstGeom>
          <a:noFill/>
          <a:ln/>
        </p:spPr>
        <p:txBody>
          <a:bodyPr wrap="square" lIns="0" tIns="0" rIns="0" bIns="0" rtlCol="0" anchor="t"/>
          <a:lstStyle/>
          <a:p>
            <a:pPr indent="0" marL="0">
              <a:buNone/>
            </a:pPr>
            <a:r>
              <a:rPr lang="en-US" sz="1400" dirty="0">
                <a:solidFill>
                  <a:srgbClr val="8B929C"/>
                </a:solidFill>
                <a:latin typeface="Consolas" pitchFamily="34" charset="0"/>
                <a:ea typeface="Consolas" pitchFamily="34" charset="-122"/>
                <a:cs typeface="Consolas" pitchFamily="34" charset="-120"/>
              </a:rPr>
              <a:t>// proposé par l'IA :</a:t>
            </a:r>
            <a:endParaRPr lang="en-US" sz="1400" dirty="0"/>
          </a:p>
          <a:p>
            <a:pPr indent="0" marL="0">
              <a:buNone/>
            </a:pPr>
            <a:r>
              <a:rPr lang="en-US" sz="1400" b="1" dirty="0">
                <a:solidFill>
                  <a:srgbClr val="C92A2A"/>
                </a:solidFill>
                <a:latin typeface="Consolas" pitchFamily="34" charset="0"/>
                <a:ea typeface="Consolas" pitchFamily="34" charset="-122"/>
                <a:cs typeface="Consolas" pitchFamily="34" charset="-120"/>
              </a:rPr>
              <a:t>var nom = incident.AssignedTo!.Name;</a:t>
            </a:r>
            <a:endParaRPr lang="en-US" sz="1400" dirty="0"/>
          </a:p>
          <a:p>
            <a:pPr indent="0" marL="0">
              <a:buNone/>
            </a:pPr>
            <a:r>
              <a:rPr lang="en-US" sz="1400" dirty="0">
                <a:solidFill>
                  <a:srgbClr val="E6E6E6"/>
                </a:solidFill>
                <a:latin typeface="Consolas" pitchFamily="34" charset="0"/>
                <a:ea typeface="Consolas" pitchFamily="34" charset="-122"/>
                <a:cs typeface="Consolas" pitchFamily="34" charset="-120"/>
              </a:rPr>
              <a:t> </a:t>
            </a:r>
            <a:endParaRPr lang="en-US" sz="1400" dirty="0"/>
          </a:p>
          <a:p>
            <a:pPr indent="0" marL="0">
              <a:buNone/>
            </a:pPr>
            <a:r>
              <a:rPr lang="en-US" sz="1400" dirty="0">
                <a:solidFill>
                  <a:srgbClr val="8B929C"/>
                </a:solidFill>
                <a:latin typeface="Consolas" pitchFamily="34" charset="0"/>
                <a:ea typeface="Consolas" pitchFamily="34" charset="-122"/>
                <a:cs typeface="Consolas" pitchFamily="34" charset="-120"/>
              </a:rPr>
              <a:t>// la bonne version :</a:t>
            </a:r>
            <a:endParaRPr lang="en-US" sz="1400" dirty="0"/>
          </a:p>
          <a:p>
            <a:pPr indent="0" marL="0">
              <a:buNone/>
            </a:pPr>
            <a:r>
              <a:rPr lang="en-US" sz="1400" b="1" dirty="0">
                <a:solidFill>
                  <a:srgbClr val="2F9E44"/>
                </a:solidFill>
                <a:latin typeface="Consolas" pitchFamily="34" charset="0"/>
                <a:ea typeface="Consolas" pitchFamily="34" charset="-122"/>
                <a:cs typeface="Consolas" pitchFamily="34" charset="-120"/>
              </a:rPr>
              <a:t>var nom = incident.AssignedTo?.Name ?? "non assigné";</a:t>
            </a:r>
            <a:endParaRPr lang="en-US" sz="1400" dirty="0"/>
          </a:p>
        </p:txBody>
      </p:sp>
      <p:sp>
        <p:nvSpPr>
          <p:cNvPr id="12" name="Shape 9"/>
          <p:cNvSpPr/>
          <p:nvPr/>
        </p:nvSpPr>
        <p:spPr>
          <a:xfrm>
            <a:off x="7680960" y="1783080"/>
            <a:ext cx="3840480" cy="3566160"/>
          </a:xfrm>
          <a:prstGeom prst="roundRect">
            <a:avLst>
              <a:gd name="adj" fmla="val 2051"/>
            </a:avLst>
          </a:prstGeom>
          <a:solidFill>
            <a:srgbClr val="F2F3F5"/>
          </a:solidFill>
          <a:ln w="12700">
            <a:solidFill>
              <a:srgbClr val="F2F3F5"/>
            </a:solidFill>
            <a:prstDash val="solid"/>
          </a:ln>
        </p:spPr>
      </p:sp>
      <p:sp>
        <p:nvSpPr>
          <p:cNvPr id="13" name="Text 10"/>
          <p:cNvSpPr txBox="1"/>
          <p:nvPr/>
        </p:nvSpPr>
        <p:spPr>
          <a:xfrm>
            <a:off x="7909560" y="1965960"/>
            <a:ext cx="3383280" cy="3200400"/>
          </a:xfrm>
          <a:prstGeom prst="rect">
            <a:avLst/>
          </a:prstGeom>
          <a:noFill/>
          <a:ln/>
        </p:spPr>
        <p:txBody>
          <a:bodyPr wrap="square" lIns="0" tIns="0" rIns="0" bIns="0" rtlCol="0" anchor="t"/>
          <a:lstStyle/>
          <a:p>
            <a:pPr indent="0" marL="0">
              <a:buNone/>
            </a:pPr>
            <a:r>
              <a:rPr lang="en-US" sz="1800" b="1" dirty="0">
                <a:solidFill>
                  <a:srgbClr val="16181D"/>
                </a:solidFill>
                <a:latin typeface="Calibri" pitchFamily="34" charset="0"/>
                <a:ea typeface="Calibri" pitchFamily="34" charset="-122"/>
                <a:cs typeface="Calibri" pitchFamily="34" charset="-120"/>
              </a:rPr>
              <a:t>Ce qui s'est passé</a:t>
            </a:r>
            <a:endParaRPr lang="en-US" sz="1800" dirty="0"/>
          </a:p>
          <a:p>
            <a:pPr indent="0" marL="0">
              <a:buNone/>
            </a:pPr>
            <a:endParaRPr lang="en-US" sz="1800" dirty="0"/>
          </a:p>
          <a:p>
            <a:pPr indent="0" marL="0">
              <a:buNone/>
            </a:pPr>
            <a:r>
              <a:rPr lang="en-US" sz="1500" dirty="0">
                <a:solidFill>
                  <a:srgbClr val="5F6670"/>
                </a:solidFill>
                <a:latin typeface="Calibri" pitchFamily="34" charset="0"/>
                <a:ea typeface="Calibri" pitchFamily="34" charset="-122"/>
                <a:cs typeface="Calibri" pitchFamily="34" charset="-120"/>
              </a:rPr>
              <a:t>L'IA a obéi à la lettre : faire disparaître les avertissements.</a:t>
            </a:r>
            <a:endParaRPr lang="en-US" sz="1800" dirty="0"/>
          </a:p>
          <a:p>
            <a:pPr indent="0" marL="0">
              <a:buNone/>
            </a:pPr>
            <a:endParaRPr lang="en-US" sz="1800" dirty="0"/>
          </a:p>
          <a:p>
            <a:pPr indent="0" marL="0">
              <a:buNone/>
            </a:pPr>
            <a:r>
              <a:rPr lang="en-US" sz="1500" dirty="0">
                <a:solidFill>
                  <a:srgbClr val="5F6670"/>
                </a:solidFill>
                <a:latin typeface="Calibri" pitchFamily="34" charset="0"/>
                <a:ea typeface="Calibri" pitchFamily="34" charset="-122"/>
                <a:cs typeface="Calibri" pitchFamily="34" charset="-120"/>
              </a:rPr>
              <a:t>Elle n'a pas géré le cas null : le programme plante.</a:t>
            </a:r>
            <a:endParaRPr lang="en-US" sz="1800" dirty="0"/>
          </a:p>
        </p:txBody>
      </p:sp>
      <p:sp>
        <p:nvSpPr>
          <p:cNvPr id="14" name="Text 11"/>
          <p:cNvSpPr txBox="1"/>
          <p:nvPr/>
        </p:nvSpPr>
        <p:spPr>
          <a:xfrm>
            <a:off x="640080" y="5532120"/>
            <a:ext cx="10911535" cy="411480"/>
          </a:xfrm>
          <a:prstGeom prst="rect">
            <a:avLst/>
          </a:prstGeom>
          <a:noFill/>
          <a:ln/>
        </p:spPr>
        <p:txBody>
          <a:bodyPr wrap="square" lIns="0" tIns="0" rIns="0" bIns="0" rtlCol="0" anchor="ctr"/>
          <a:lstStyle/>
          <a:p>
            <a:pPr indent="0" marL="0">
              <a:buNone/>
            </a:pPr>
            <a:r>
              <a:rPr lang="en-US" sz="1600" b="1" dirty="0">
                <a:solidFill>
                  <a:srgbClr val="E8590C"/>
                </a:solidFill>
                <a:latin typeface="Consolas" pitchFamily="34" charset="0"/>
                <a:ea typeface="Consolas" pitchFamily="34" charset="-122"/>
                <a:cs typeface="Consolas" pitchFamily="34" charset="-120"/>
              </a:rPr>
              <a:t>RIDER  ·  git checkout demo/s03-ia-nullable</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À RETENIR</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Huit réflexes sur les bases du langage</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38</a:t>
            </a:r>
            <a:endParaRPr lang="en-US" sz="1000" dirty="0"/>
          </a:p>
        </p:txBody>
      </p:sp>
      <p:sp>
        <p:nvSpPr>
          <p:cNvPr id="8" name="Shape 5"/>
          <p:cNvSpPr/>
          <p:nvPr/>
        </p:nvSpPr>
        <p:spPr>
          <a:xfrm>
            <a:off x="640080" y="1783080"/>
            <a:ext cx="2560320" cy="1783080"/>
          </a:xfrm>
          <a:prstGeom prst="roundRect">
            <a:avLst>
              <a:gd name="adj" fmla="val 4103"/>
            </a:avLst>
          </a:prstGeom>
          <a:solidFill>
            <a:srgbClr val="16181D"/>
          </a:solidFill>
          <a:ln w="12700">
            <a:solidFill>
              <a:srgbClr val="16181D"/>
            </a:solidFill>
            <a:prstDash val="solid"/>
          </a:ln>
        </p:spPr>
      </p:sp>
      <p:sp>
        <p:nvSpPr>
          <p:cNvPr id="9" name="Text 6"/>
          <p:cNvSpPr txBox="1"/>
          <p:nvPr/>
        </p:nvSpPr>
        <p:spPr>
          <a:xfrm>
            <a:off x="868680" y="196596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Valeur / référence</a:t>
            </a:r>
            <a:endParaRPr lang="en-US" sz="1700" dirty="0"/>
          </a:p>
        </p:txBody>
      </p:sp>
      <p:sp>
        <p:nvSpPr>
          <p:cNvPr id="10" name="Text 7"/>
          <p:cNvSpPr txBox="1"/>
          <p:nvPr/>
        </p:nvSpPr>
        <p:spPr>
          <a:xfrm>
            <a:off x="868680" y="251460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la photocopie et l'adresse</a:t>
            </a:r>
            <a:endParaRPr lang="en-US" sz="1450" dirty="0"/>
          </a:p>
        </p:txBody>
      </p:sp>
      <p:sp>
        <p:nvSpPr>
          <p:cNvPr id="11" name="Shape 8"/>
          <p:cNvSpPr/>
          <p:nvPr/>
        </p:nvSpPr>
        <p:spPr>
          <a:xfrm>
            <a:off x="3383280" y="1783080"/>
            <a:ext cx="2560320" cy="1783080"/>
          </a:xfrm>
          <a:prstGeom prst="roundRect">
            <a:avLst>
              <a:gd name="adj" fmla="val 4103"/>
            </a:avLst>
          </a:prstGeom>
          <a:solidFill>
            <a:srgbClr val="16181D"/>
          </a:solidFill>
          <a:ln w="12700">
            <a:solidFill>
              <a:srgbClr val="16181D"/>
            </a:solidFill>
            <a:prstDash val="solid"/>
          </a:ln>
        </p:spPr>
      </p:sp>
      <p:sp>
        <p:nvSpPr>
          <p:cNvPr id="12" name="Text 9"/>
          <p:cNvSpPr txBox="1"/>
          <p:nvPr/>
        </p:nvSpPr>
        <p:spPr>
          <a:xfrm>
            <a:off x="3611880" y="196596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Nombres</a:t>
            </a:r>
            <a:endParaRPr lang="en-US" sz="1700" dirty="0"/>
          </a:p>
        </p:txBody>
      </p:sp>
      <p:sp>
        <p:nvSpPr>
          <p:cNvPr id="13" name="Text 10"/>
          <p:cNvSpPr txBox="1"/>
          <p:nvPr/>
        </p:nvSpPr>
        <p:spPr>
          <a:xfrm>
            <a:off x="3611880" y="251460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chaque type a un maximum ; checked protège</a:t>
            </a:r>
            <a:endParaRPr lang="en-US" sz="1450" dirty="0"/>
          </a:p>
        </p:txBody>
      </p:sp>
      <p:sp>
        <p:nvSpPr>
          <p:cNvPr id="14" name="Shape 11"/>
          <p:cNvSpPr/>
          <p:nvPr/>
        </p:nvSpPr>
        <p:spPr>
          <a:xfrm>
            <a:off x="6126480" y="1783080"/>
            <a:ext cx="2560320" cy="1783080"/>
          </a:xfrm>
          <a:prstGeom prst="roundRect">
            <a:avLst>
              <a:gd name="adj" fmla="val 4103"/>
            </a:avLst>
          </a:prstGeom>
          <a:solidFill>
            <a:srgbClr val="16181D"/>
          </a:solidFill>
          <a:ln w="12700">
            <a:solidFill>
              <a:srgbClr val="16181D"/>
            </a:solidFill>
            <a:prstDash val="solid"/>
          </a:ln>
        </p:spPr>
      </p:sp>
      <p:sp>
        <p:nvSpPr>
          <p:cNvPr id="15" name="Text 12"/>
          <p:cNvSpPr txBox="1"/>
          <p:nvPr/>
        </p:nvSpPr>
        <p:spPr>
          <a:xfrm>
            <a:off x="6355080" y="196596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Argent</a:t>
            </a:r>
            <a:endParaRPr lang="en-US" sz="1700" dirty="0"/>
          </a:p>
        </p:txBody>
      </p:sp>
      <p:sp>
        <p:nvSpPr>
          <p:cNvPr id="16" name="Text 13"/>
          <p:cNvSpPr txBox="1"/>
          <p:nvPr/>
        </p:nvSpPr>
        <p:spPr>
          <a:xfrm>
            <a:off x="6355080" y="251460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toujours decimal</a:t>
            </a:r>
            <a:endParaRPr lang="en-US" sz="1450" dirty="0"/>
          </a:p>
        </p:txBody>
      </p:sp>
      <p:sp>
        <p:nvSpPr>
          <p:cNvPr id="17" name="Shape 14"/>
          <p:cNvSpPr/>
          <p:nvPr/>
        </p:nvSpPr>
        <p:spPr>
          <a:xfrm>
            <a:off x="8869680" y="1783080"/>
            <a:ext cx="2560320" cy="1783080"/>
          </a:xfrm>
          <a:prstGeom prst="roundRect">
            <a:avLst>
              <a:gd name="adj" fmla="val 4103"/>
            </a:avLst>
          </a:prstGeom>
          <a:solidFill>
            <a:srgbClr val="16181D"/>
          </a:solidFill>
          <a:ln w="12700">
            <a:solidFill>
              <a:srgbClr val="16181D"/>
            </a:solidFill>
            <a:prstDash val="solid"/>
          </a:ln>
        </p:spPr>
      </p:sp>
      <p:sp>
        <p:nvSpPr>
          <p:cNvPr id="18" name="Text 15"/>
          <p:cNvSpPr txBox="1"/>
          <p:nvPr/>
        </p:nvSpPr>
        <p:spPr>
          <a:xfrm>
            <a:off x="9098280" y="196596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null</a:t>
            </a:r>
            <a:endParaRPr lang="en-US" sz="1700" dirty="0"/>
          </a:p>
        </p:txBody>
      </p:sp>
      <p:sp>
        <p:nvSpPr>
          <p:cNvPr id="19" name="Text 16"/>
          <p:cNvSpPr txBox="1"/>
          <p:nvPr/>
        </p:nvSpPr>
        <p:spPr>
          <a:xfrm>
            <a:off x="9098280" y="251460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 prévient, ?. et ?? protègent, ! ment</a:t>
            </a:r>
            <a:endParaRPr lang="en-US" sz="1450" dirty="0"/>
          </a:p>
        </p:txBody>
      </p:sp>
      <p:sp>
        <p:nvSpPr>
          <p:cNvPr id="20" name="Shape 17"/>
          <p:cNvSpPr/>
          <p:nvPr/>
        </p:nvSpPr>
        <p:spPr>
          <a:xfrm>
            <a:off x="640080" y="3749040"/>
            <a:ext cx="2560320" cy="1783080"/>
          </a:xfrm>
          <a:prstGeom prst="roundRect">
            <a:avLst>
              <a:gd name="adj" fmla="val 4103"/>
            </a:avLst>
          </a:prstGeom>
          <a:solidFill>
            <a:srgbClr val="16181D"/>
          </a:solidFill>
          <a:ln w="12700">
            <a:solidFill>
              <a:srgbClr val="16181D"/>
            </a:solidFill>
            <a:prstDash val="solid"/>
          </a:ln>
        </p:spPr>
      </p:sp>
      <p:sp>
        <p:nvSpPr>
          <p:cNvPr id="21" name="Text 18"/>
          <p:cNvSpPr txBox="1"/>
          <p:nvPr/>
        </p:nvSpPr>
        <p:spPr>
          <a:xfrm>
            <a:off x="868680" y="393192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Chaînes</a:t>
            </a:r>
            <a:endParaRPr lang="en-US" sz="1700" dirty="0"/>
          </a:p>
        </p:txBody>
      </p:sp>
      <p:sp>
        <p:nvSpPr>
          <p:cNvPr id="22" name="Text 19"/>
          <p:cNvSpPr txBox="1"/>
          <p:nvPr/>
        </p:nvSpPr>
        <p:spPr>
          <a:xfrm>
            <a:off x="868680" y="448056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interpolation pour afficher, jamais pour du SQL</a:t>
            </a:r>
            <a:endParaRPr lang="en-US" sz="1450" dirty="0"/>
          </a:p>
        </p:txBody>
      </p:sp>
      <p:sp>
        <p:nvSpPr>
          <p:cNvPr id="23" name="Shape 20"/>
          <p:cNvSpPr/>
          <p:nvPr/>
        </p:nvSpPr>
        <p:spPr>
          <a:xfrm>
            <a:off x="3383280" y="3749040"/>
            <a:ext cx="2560320" cy="1783080"/>
          </a:xfrm>
          <a:prstGeom prst="roundRect">
            <a:avLst>
              <a:gd name="adj" fmla="val 4103"/>
            </a:avLst>
          </a:prstGeom>
          <a:solidFill>
            <a:srgbClr val="16181D"/>
          </a:solidFill>
          <a:ln w="12700">
            <a:solidFill>
              <a:srgbClr val="16181D"/>
            </a:solidFill>
            <a:prstDash val="solid"/>
          </a:ln>
        </p:spPr>
      </p:sp>
      <p:sp>
        <p:nvSpPr>
          <p:cNvPr id="24" name="Text 21"/>
          <p:cNvSpPr txBox="1"/>
          <p:nvPr/>
        </p:nvSpPr>
        <p:spPr>
          <a:xfrm>
            <a:off x="3611880" y="393192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static</a:t>
            </a:r>
            <a:endParaRPr lang="en-US" sz="1700" dirty="0"/>
          </a:p>
        </p:txBody>
      </p:sp>
      <p:sp>
        <p:nvSpPr>
          <p:cNvPr id="25" name="Text 22"/>
          <p:cNvSpPr txBox="1"/>
          <p:nvPr/>
        </p:nvSpPr>
        <p:spPr>
          <a:xfrm>
            <a:off x="3611880" y="448056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à la classe, pas à l'objet</a:t>
            </a:r>
            <a:endParaRPr lang="en-US" sz="1450" dirty="0"/>
          </a:p>
        </p:txBody>
      </p:sp>
      <p:sp>
        <p:nvSpPr>
          <p:cNvPr id="26" name="Shape 23"/>
          <p:cNvSpPr/>
          <p:nvPr/>
        </p:nvSpPr>
        <p:spPr>
          <a:xfrm>
            <a:off x="6126480" y="3749040"/>
            <a:ext cx="2560320" cy="1783080"/>
          </a:xfrm>
          <a:prstGeom prst="roundRect">
            <a:avLst>
              <a:gd name="adj" fmla="val 4103"/>
            </a:avLst>
          </a:prstGeom>
          <a:solidFill>
            <a:srgbClr val="16181D"/>
          </a:solidFill>
          <a:ln w="12700">
            <a:solidFill>
              <a:srgbClr val="16181D"/>
            </a:solidFill>
            <a:prstDash val="solid"/>
          </a:ln>
        </p:spPr>
      </p:sp>
      <p:sp>
        <p:nvSpPr>
          <p:cNvPr id="27" name="Text 24"/>
          <p:cNvSpPr txBox="1"/>
          <p:nvPr/>
        </p:nvSpPr>
        <p:spPr>
          <a:xfrm>
            <a:off x="6355080" y="393192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virtual / override</a:t>
            </a:r>
            <a:endParaRPr lang="en-US" sz="1700" dirty="0"/>
          </a:p>
        </p:txBody>
      </p:sp>
      <p:sp>
        <p:nvSpPr>
          <p:cNvPr id="28" name="Text 25"/>
          <p:cNvSpPr txBox="1"/>
          <p:nvPr/>
        </p:nvSpPr>
        <p:spPr>
          <a:xfrm>
            <a:off x="6355080" y="448056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la recette par défaut, et ma version</a:t>
            </a:r>
            <a:endParaRPr lang="en-US" sz="1450" dirty="0"/>
          </a:p>
        </p:txBody>
      </p:sp>
      <p:sp>
        <p:nvSpPr>
          <p:cNvPr id="29" name="Shape 26"/>
          <p:cNvSpPr/>
          <p:nvPr/>
        </p:nvSpPr>
        <p:spPr>
          <a:xfrm>
            <a:off x="8869680" y="3749040"/>
            <a:ext cx="2560320" cy="1783080"/>
          </a:xfrm>
          <a:prstGeom prst="roundRect">
            <a:avLst>
              <a:gd name="adj" fmla="val 4103"/>
            </a:avLst>
          </a:prstGeom>
          <a:solidFill>
            <a:srgbClr val="16181D"/>
          </a:solidFill>
          <a:ln w="12700">
            <a:solidFill>
              <a:srgbClr val="16181D"/>
            </a:solidFill>
            <a:prstDash val="solid"/>
          </a:ln>
        </p:spPr>
      </p:sp>
      <p:sp>
        <p:nvSpPr>
          <p:cNvPr id="30" name="Text 27"/>
          <p:cNvSpPr txBox="1"/>
          <p:nvPr/>
        </p:nvSpPr>
        <p:spPr>
          <a:xfrm>
            <a:off x="9098280" y="3931920"/>
            <a:ext cx="2148840" cy="457200"/>
          </a:xfrm>
          <a:prstGeom prst="rect">
            <a:avLst/>
          </a:prstGeom>
          <a:noFill/>
          <a:ln/>
        </p:spPr>
        <p:txBody>
          <a:bodyPr wrap="square" lIns="0" tIns="0" rIns="0" bIns="0" rtlCol="0" anchor="ctr"/>
          <a:lstStyle/>
          <a:p>
            <a:pPr indent="0" marL="0">
              <a:buNone/>
            </a:pPr>
            <a:r>
              <a:rPr lang="en-US" sz="1700" b="1" dirty="0">
                <a:solidFill>
                  <a:srgbClr val="E8590C"/>
                </a:solidFill>
                <a:latin typeface="Arial" pitchFamily="34" charset="0"/>
                <a:ea typeface="Arial" pitchFamily="34" charset="-122"/>
                <a:cs typeface="Arial" pitchFamily="34" charset="-120"/>
              </a:rPr>
              <a:t>[Flags]</a:t>
            </a:r>
            <a:endParaRPr lang="en-US" sz="1700" dirty="0"/>
          </a:p>
        </p:txBody>
      </p:sp>
      <p:sp>
        <p:nvSpPr>
          <p:cNvPr id="31" name="Text 28"/>
          <p:cNvSpPr txBox="1"/>
          <p:nvPr/>
        </p:nvSpPr>
        <p:spPr>
          <a:xfrm>
            <a:off x="9098280" y="4480560"/>
            <a:ext cx="2148840" cy="960120"/>
          </a:xfrm>
          <a:prstGeom prst="rect">
            <a:avLst/>
          </a:prstGeom>
          <a:noFill/>
          <a:ln/>
        </p:spPr>
        <p:txBody>
          <a:bodyPr wrap="square" lIns="0" tIns="0" rIns="0" bIns="0" rtlCol="0" anchor="t"/>
          <a:lstStyle/>
          <a:p>
            <a:pPr indent="0" marL="0">
              <a:buNone/>
            </a:pPr>
            <a:r>
              <a:rPr lang="en-US" sz="1450" dirty="0">
                <a:solidFill>
                  <a:srgbClr val="FFFFFF"/>
                </a:solidFill>
                <a:latin typeface="Calibri" pitchFamily="34" charset="0"/>
                <a:ea typeface="Calibri" pitchFamily="34" charset="-122"/>
                <a:cs typeface="Calibri" pitchFamily="34" charset="-120"/>
              </a:rPr>
              <a:t>des interrupteurs : 1, 2, 4, 8</a:t>
            </a:r>
            <a:endParaRPr lang="en-US" sz="14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46304" cy="146304"/>
          </a:xfrm>
          <a:prstGeom prst="rect">
            <a:avLst/>
          </a:prstGeom>
          <a:solidFill>
            <a:srgbClr val="E8590C"/>
          </a:solidFill>
          <a:ln w="12700">
            <a:solidFill>
              <a:srgbClr val="E8590C"/>
            </a:solidFill>
            <a:prstDash val="solid"/>
          </a:ln>
        </p:spPr>
      </p:sp>
      <p:sp>
        <p:nvSpPr>
          <p:cNvPr id="3" name="Text 1"/>
          <p:cNvSpPr txBox="1"/>
          <p:nvPr/>
        </p:nvSpPr>
        <p:spPr>
          <a:xfrm>
            <a:off x="896112" y="457200"/>
            <a:ext cx="8229600" cy="365760"/>
          </a:xfrm>
          <a:prstGeom prst="rect">
            <a:avLst/>
          </a:prstGeom>
          <a:noFill/>
          <a:ln/>
        </p:spPr>
        <p:txBody>
          <a:bodyPr wrap="square" lIns="0" tIns="0" rIns="0" bIns="0" rtlCol="0" anchor="ctr"/>
          <a:lstStyle/>
          <a:p>
            <a:pPr indent="0" marL="0">
              <a:buNone/>
            </a:pPr>
            <a:r>
              <a:rPr lang="en-US" sz="1200" b="1" spc="200" kern="0" dirty="0">
                <a:solidFill>
                  <a:srgbClr val="5F6670"/>
                </a:solidFill>
                <a:latin typeface="Calibri" pitchFamily="34" charset="0"/>
                <a:ea typeface="Calibri" pitchFamily="34" charset="-122"/>
                <a:cs typeface="Calibri" pitchFamily="34" charset="-120"/>
              </a:rPr>
              <a:t>CLÔTURE</a:t>
            </a:r>
            <a:endParaRPr lang="en-US" sz="1200" dirty="0"/>
          </a:p>
        </p:txBody>
      </p:sp>
      <p:sp>
        <p:nvSpPr>
          <p:cNvPr id="4" name="Text 2"/>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200" b="1" dirty="0">
                <a:solidFill>
                  <a:srgbClr val="16181D"/>
                </a:solidFill>
                <a:latin typeface="Arial" pitchFamily="34" charset="0"/>
                <a:ea typeface="Arial" pitchFamily="34" charset="-122"/>
                <a:cs typeface="Arial" pitchFamily="34" charset="-120"/>
              </a:rPr>
              <a:t>Check-in et QCM de la séance 3 · 5 minutes</a:t>
            </a:r>
            <a:endParaRPr lang="en-US" sz="3200" dirty="0"/>
          </a:p>
        </p:txBody>
      </p:sp>
      <p:sp>
        <p:nvSpPr>
          <p:cNvPr id="5" name="Text 3"/>
          <p:cNvSpPr txBox="1"/>
          <p:nvPr/>
        </p:nvSpPr>
        <p:spPr>
          <a:xfrm>
            <a:off x="640080" y="6400800"/>
            <a:ext cx="4572000" cy="274320"/>
          </a:xfrm>
          <a:prstGeom prst="rect">
            <a:avLst/>
          </a:prstGeom>
          <a:noFill/>
          <a:ln/>
        </p:spPr>
        <p:txBody>
          <a:bodyPr wrap="square" lIns="0" tIns="0" rIns="0" bIns="0" rtlCol="0" anchor="ctr"/>
          <a:lstStyle/>
          <a:p>
            <a:pPr indent="0" marL="0">
              <a:buNone/>
            </a:pPr>
            <a:r>
              <a:rPr lang="en-US" sz="1000" dirty="0">
                <a:solidFill>
                  <a:srgbClr val="5F6670"/>
                </a:solidFill>
                <a:latin typeface="Calibri" pitchFamily="34" charset="0"/>
                <a:ea typeface="Calibri" pitchFamily="34" charset="-122"/>
                <a:cs typeface="Calibri" pitchFamily="34" charset="-120"/>
              </a:rPr>
              <a:t>Complément Application · S3</a:t>
            </a:r>
            <a:endParaRPr lang="en-US" sz="10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39</a:t>
            </a:r>
            <a:endParaRPr lang="en-US" sz="1000" dirty="0"/>
          </a:p>
        </p:txBody>
      </p:sp>
      <p:sp>
        <p:nvSpPr>
          <p:cNvPr id="8" name="Text 5"/>
          <p:cNvSpPr txBox="1"/>
          <p:nvPr/>
        </p:nvSpPr>
        <p:spPr>
          <a:xfrm>
            <a:off x="640080" y="1920240"/>
            <a:ext cx="10911535" cy="731520"/>
          </a:xfrm>
          <a:prstGeom prst="rect">
            <a:avLst/>
          </a:prstGeom>
          <a:noFill/>
          <a:ln/>
        </p:spPr>
        <p:txBody>
          <a:bodyPr wrap="square" lIns="0" tIns="0" rIns="0" bIns="0" rtlCol="0" anchor="ctr"/>
          <a:lstStyle/>
          <a:p>
            <a:pPr indent="0" marL="0">
              <a:buNone/>
            </a:pPr>
            <a:r>
              <a:rPr lang="en-US" sz="3000" b="1" dirty="0">
                <a:solidFill>
                  <a:srgbClr val="E8590C"/>
                </a:solidFill>
                <a:latin typeface="Arial" pitchFamily="34" charset="0"/>
                <a:ea typeface="Arial" pitchFamily="34" charset="-122"/>
                <a:cs typeface="Arial" pitchFamily="34" charset="-120"/>
              </a:rPr>
              <a:t>Lien dans le chat.</a:t>
            </a:r>
            <a:endParaRPr lang="en-US" sz="3000" dirty="0"/>
          </a:p>
        </p:txBody>
      </p:sp>
      <p:sp>
        <p:nvSpPr>
          <p:cNvPr id="9" name="Text 6"/>
          <p:cNvSpPr txBox="1"/>
          <p:nvPr/>
        </p:nvSpPr>
        <p:spPr>
          <a:xfrm>
            <a:off x="640080" y="2926080"/>
            <a:ext cx="8229600" cy="2377440"/>
          </a:xfrm>
          <a:prstGeom prst="rect">
            <a:avLst/>
          </a:prstGeom>
          <a:noFill/>
          <a:ln/>
        </p:spPr>
        <p:txBody>
          <a:bodyPr wrap="square" lIns="0" tIns="0" rIns="0" bIns="0" rtlCol="0" anchor="t"/>
          <a:lstStyle/>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Votre présence du jour</a:t>
            </a:r>
            <a:endParaRPr lang="en-US" sz="2100" dirty="0"/>
          </a:p>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6 questions sur les types, null, les chaînes, static, virtual et [Flags]</a:t>
            </a:r>
            <a:endParaRPr lang="en-US" sz="2100" dirty="0"/>
          </a:p>
          <a:p>
            <a:pPr marL="228600" indent="-228600">
              <a:spcAft>
                <a:spcPts val="800"/>
              </a:spcAft>
              <a:buSzPct val="100000"/>
              <a:buChar char="•"/>
            </a:pPr>
            <a:r>
              <a:rPr lang="en-US" sz="2100" dirty="0">
                <a:solidFill>
                  <a:srgbClr val="16181D"/>
                </a:solidFill>
                <a:latin typeface="Calibri" pitchFamily="34" charset="0"/>
                <a:ea typeface="Calibri" pitchFamily="34" charset="-122"/>
                <a:cs typeface="Calibri" pitchFamily="34" charset="-120"/>
              </a:rPr>
              <a:t>Couleur rouge : sans IA</a:t>
            </a:r>
            <a:endParaRPr lang="en-US" sz="2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6181D"/>
        </a:solidFill>
      </p:bgPr>
    </p:bg>
    <p:spTree>
      <p:nvGrpSpPr>
        <p:cNvPr id="1" name=""/>
        <p:cNvGrpSpPr/>
        <p:nvPr/>
      </p:nvGrpSpPr>
      <p:grpSpPr>
        <a:xfrm>
          <a:off x="0" y="0"/>
          <a:ext cx="0" cy="0"/>
          <a:chOff x="0" y="0"/>
          <a:chExt cx="0" cy="0"/>
        </a:xfrm>
      </p:grpSpPr>
      <p:sp>
        <p:nvSpPr>
          <p:cNvPr id="2" name="Shape 0"/>
          <p:cNvSpPr/>
          <p:nvPr/>
        </p:nvSpPr>
        <p:spPr>
          <a:xfrm>
            <a:off x="640080" y="2286000"/>
            <a:ext cx="274320" cy="274320"/>
          </a:xfrm>
          <a:prstGeom prst="rect">
            <a:avLst/>
          </a:prstGeom>
          <a:solidFill>
            <a:srgbClr val="E8590C"/>
          </a:solidFill>
          <a:ln w="12700">
            <a:solidFill>
              <a:srgbClr val="E8590C"/>
            </a:solidFill>
            <a:prstDash val="solid"/>
          </a:ln>
        </p:spPr>
      </p:sp>
      <p:sp>
        <p:nvSpPr>
          <p:cNvPr id="3" name="Text 1"/>
          <p:cNvSpPr txBox="1"/>
          <p:nvPr/>
        </p:nvSpPr>
        <p:spPr>
          <a:xfrm>
            <a:off x="640080" y="2743200"/>
            <a:ext cx="10911535"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Merci. À mercredi prochain.</a:t>
            </a:r>
            <a:endParaRPr lang="en-US" sz="4400" dirty="0"/>
          </a:p>
        </p:txBody>
      </p:sp>
      <p:sp>
        <p:nvSpPr>
          <p:cNvPr id="4" name="Text 2"/>
          <p:cNvSpPr txBox="1"/>
          <p:nvPr/>
        </p:nvSpPr>
        <p:spPr>
          <a:xfrm>
            <a:off x="640080" y="3749040"/>
            <a:ext cx="10911535" cy="548640"/>
          </a:xfrm>
          <a:prstGeom prst="rect">
            <a:avLst/>
          </a:prstGeom>
          <a:noFill/>
          <a:ln/>
        </p:spPr>
        <p:txBody>
          <a:bodyPr wrap="square" lIns="0" tIns="0" rIns="0" bIns="0" rtlCol="0" anchor="ctr"/>
          <a:lstStyle/>
          <a:p>
            <a:pPr indent="0" marL="0">
              <a:buNone/>
            </a:pPr>
            <a:r>
              <a:rPr lang="en-US" sz="2000" dirty="0">
                <a:solidFill>
                  <a:srgbClr val="C9CDD3"/>
                </a:solidFill>
                <a:latin typeface="Calibri" pitchFamily="34" charset="0"/>
                <a:ea typeface="Calibri" pitchFamily="34" charset="-122"/>
                <a:cs typeface="Calibri" pitchFamily="34" charset="-120"/>
              </a:rPr>
              <a:t>Séance 4 · Travailler en équipe : Git, Conventional Commits, pull requests, Scrum, Livrable 1</a:t>
            </a:r>
            <a:endParaRPr lang="en-US" sz="2000" dirty="0"/>
          </a:p>
        </p:txBody>
      </p:sp>
      <p:sp>
        <p:nvSpPr>
          <p:cNvPr id="5" name="Text 3"/>
          <p:cNvSpPr txBox="1"/>
          <p:nvPr/>
        </p:nvSpPr>
        <p:spPr>
          <a:xfrm>
            <a:off x="640080" y="5303520"/>
            <a:ext cx="10911535" cy="365760"/>
          </a:xfrm>
          <a:prstGeom prst="rect">
            <a:avLst/>
          </a:prstGeom>
          <a:noFill/>
          <a:ln/>
        </p:spPr>
        <p:txBody>
          <a:bodyPr wrap="square" lIns="0" tIns="0" rIns="0" bIns="0" rtlCol="0" anchor="ctr"/>
          <a:lstStyle/>
          <a:p>
            <a:pPr indent="0" marL="0">
              <a:buNone/>
            </a:pPr>
            <a:r>
              <a:rPr lang="en-US" sz="1400" dirty="0">
                <a:solidFill>
                  <a:srgbClr val="9AA0A8"/>
                </a:solidFill>
                <a:latin typeface="Calibri" pitchFamily="34" charset="0"/>
                <a:ea typeface="Calibri" pitchFamily="34" charset="-122"/>
                <a:cs typeface="Calibri" pitchFamily="34" charset="-120"/>
              </a:rPr>
              <a:t>Pour la séance 4 : installer Git (git-scm.com). Les identifiants de la forge du cours arriveront par e-mail.</a:t>
            </a:r>
            <a:endParaRPr lang="en-US" sz="1400" dirty="0"/>
          </a:p>
        </p:txBody>
      </p:sp>
      <p:sp>
        <p:nvSpPr>
          <p:cNvPr id="6" name="Text 4"/>
          <p:cNvSpPr txBox="1"/>
          <p:nvPr/>
        </p:nvSpPr>
        <p:spPr>
          <a:xfrm>
            <a:off x="10637215" y="6400800"/>
            <a:ext cx="914400" cy="274320"/>
          </a:xfrm>
          <a:prstGeom prst="rect">
            <a:avLst/>
          </a:prstGeom>
          <a:noFill/>
          <a:ln/>
        </p:spPr>
        <p:txBody>
          <a:bodyPr wrap="square" lIns="0" tIns="0" rIns="0" bIns="0" rtlCol="0" anchor="ctr"/>
          <a:lstStyle/>
          <a:p>
            <a:pPr algn="r" indent="0" marL="0">
              <a:buNone/>
            </a:pPr>
            <a:r>
              <a:rPr lang="en-US" sz="1000" dirty="0">
                <a:solidFill>
                  <a:srgbClr val="9AA0A8"/>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Complément Application — Séance 3</dc:title>
  <dc:subject>PptxGenJS Presentation</dc:subject>
  <dc:creator>Ludwig Lebrun</dc:creator>
  <cp:lastModifiedBy>Ludwig Lebrun</cp:lastModifiedBy>
  <cp:revision>1</cp:revision>
  <dcterms:created xsi:type="dcterms:W3CDTF">2026-10-14T16:06:13Z</dcterms:created>
  <dcterms:modified xsi:type="dcterms:W3CDTF">2026-10-14T16:06:13Z</dcterms:modified>
</cp:coreProperties>
</file>