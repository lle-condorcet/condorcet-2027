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181D"/>
                </a:solidFill>
                <a:latin typeface="Arial"/>
              </a:defRPr>
            </a:pPr>
            <a:r>
              <a:rPr sz="1500" b="0" i="0" u="none" strike="noStrike">
                <a:solidFill>
                  <a:srgbClr val="16181D"/>
                </a:solidFill>
                <a:latin typeface="Arial"/>
              </a:rPr>
              <a:t>Années d'expérience dans l'IT</a:t>
            </a:r>
          </a:p>
        </c:rich>
      </c:tx>
      <c:layout/>
      <c:overlay val="0"/>
    </c:title>
    <c:autoTitleDeleted val="0"/>
    <c:plotArea>
      <c:layout/>
      <c:barChart>
        <c:barDir val="col"/>
        <c:grouping val="clustered"/>
        <c:varyColors val="0"/>
        <c:ser>
          <c:idx val="0"/>
          <c:order val="0"/>
          <c:tx>
            <c:strRef>
              <c:f>Sheet1!$B$1</c:f>
              <c:strCache>
                <c:ptCount val="1"/>
                <c:pt idx="0">
                  <c:v>Répondants</c:v>
                </c:pt>
              </c:strCache>
            </c:strRef>
          </c:tx>
          <c:spPr>
            <a:solidFill>
              <a:srgbClr val="16181D"/>
            </a:solidFill>
            <a:effectLst/>
          </c:spPr>
          <c:invertIfNegative val="0"/>
          <c:dLbls>
            <c:numFmt formatCode="#,##0"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cat>
            <c:multiLvlStrRef>
              <c:f>Sheet1!$A$2:$A$5</c:f>
              <c:multiLvlStrCache>
                <c:ptCount val="4"/>
                <c:lvl>
                  <c:pt idx="0">
                    <c:v>Moins de 2 ans</c:v>
                  </c:pt>
                  <c:pt idx="1">
                    <c:v>2 à 5 ans</c:v>
                  </c:pt>
                  <c:pt idx="2">
                    <c:v>5 à 10 ans</c:v>
                  </c:pt>
                  <c:pt idx="3">
                    <c:v>Plus de 10 ans</c:v>
                  </c:pt>
                </c:lvl>
              </c:multiLvlStrCache>
            </c:multiLvlStrRef>
          </c:cat>
          <c:val>
            <c:numRef>
              <c:f>Sheet1!$B$2:$B$5</c:f>
              <c:numCache>
                <c:formatCode>General</c:formatCode>
                <c:ptCount val="4"/>
                <c:pt idx="0">
                  <c:v>16</c:v>
                </c:pt>
                <c:pt idx="1">
                  <c:v>21</c:v>
                </c:pt>
                <c:pt idx="2">
                  <c:v>9</c:v>
                </c:pt>
                <c:pt idx="3">
                  <c:v>9</c:v>
                </c:pt>
              </c:numCache>
            </c:numRef>
          </c:val>
        </c:ser>
        <c:dLbls>
          <c:numFmt formatCode="#,##0"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6181D"/>
                </a:solidFill>
                <a:latin typeface="Arial"/>
              </a:defRPr>
            </a:pPr>
            <a:endParaRPr lang="en-US"/>
          </a:p>
        </c:txPr>
        <c:crossAx val="2094734552"/>
        <c:crosses val="autoZero"/>
        <c:auto val="1"/>
        <c:lblAlgn val="ctr"/>
        <c:noMultiLvlLbl val="1"/>
      </c:catAx>
      <c:valAx>
        <c:axId val="2094734552"/>
        <c:scaling>
          <c:orientation val="minMax"/>
          <c:max val="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181D"/>
                </a:solidFill>
                <a:latin typeface="Arial"/>
              </a:defRPr>
            </a:pPr>
            <a:r>
              <a:rPr sz="1500" b="0" i="0" u="none" strike="noStrike">
                <a:solidFill>
                  <a:srgbClr val="16181D"/>
                </a:solidFill>
                <a:latin typeface="Arial"/>
              </a:rPr>
              <a:t>Langages déjà utilisés (nombre de personnes)</a:t>
            </a:r>
          </a:p>
        </c:rich>
      </c:tx>
      <c:layout/>
      <c:overlay val="0"/>
    </c:title>
    <c:autoTitleDeleted val="0"/>
    <c:plotArea>
      <c:layout/>
      <c:barChart>
        <c:barDir val="bar"/>
        <c:grouping val="clustered"/>
        <c:varyColors val="0"/>
        <c:ser>
          <c:idx val="0"/>
          <c:order val="0"/>
          <c:tx>
            <c:strRef>
              <c:f>Sheet1!$B$1</c:f>
              <c:strCache>
                <c:ptCount val="1"/>
                <c:pt idx="0">
                  <c:v>Répondants</c:v>
                </c:pt>
              </c:strCache>
            </c:strRef>
          </c:tx>
          <c:spPr>
            <a:solidFill>
              <a:srgbClr val="16181D"/>
            </a:solidFill>
            <a:effectLst/>
          </c:spPr>
          <c:invertIfNegative val="0"/>
          <c:dLbls>
            <c:numFmt formatCode="#,##0"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cat>
            <c:multiLvlStrRef>
              <c:f>Sheet1!$A$2:$A$8</c:f>
              <c:multiLvlStrCache>
                <c:ptCount val="7"/>
                <c:lvl>
                  <c:pt idx="0">
                    <c:v>Python</c:v>
                  </c:pt>
                  <c:pt idx="1">
                    <c:v>SQL</c:v>
                  </c:pt>
                  <c:pt idx="2">
                    <c:v>PowerShell / Bash</c:v>
                  </c:pt>
                  <c:pt idx="3">
                    <c:v>Java</c:v>
                  </c:pt>
                  <c:pt idx="4">
                    <c:v>C#</c:v>
                  </c:pt>
                  <c:pt idx="5">
                    <c:v>JavaScript / TypeScript</c:v>
                  </c:pt>
                  <c:pt idx="6">
                    <c:v>PHP</c:v>
                  </c:pt>
                </c:lvl>
              </c:multiLvlStrCache>
            </c:multiLvlStrRef>
          </c:cat>
          <c:val>
            <c:numRef>
              <c:f>Sheet1!$B$2:$B$8</c:f>
              <c:numCache>
                <c:formatCode>General</c:formatCode>
                <c:ptCount val="7"/>
                <c:pt idx="0">
                  <c:v>42</c:v>
                </c:pt>
                <c:pt idx="1">
                  <c:v>39</c:v>
                </c:pt>
                <c:pt idx="2">
                  <c:v>35</c:v>
                </c:pt>
                <c:pt idx="3">
                  <c:v>29</c:v>
                </c:pt>
                <c:pt idx="4">
                  <c:v>22</c:v>
                </c:pt>
                <c:pt idx="5">
                  <c:v>22</c:v>
                </c:pt>
                <c:pt idx="6">
                  <c:v>18</c:v>
                </c:pt>
              </c:numCache>
            </c:numRef>
          </c:val>
        </c:ser>
        <c:dLbls>
          <c:numFmt formatCode="#,##0"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181D"/>
                </a:solidFill>
                <a:latin typeface="Arial"/>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181D"/>
                </a:solidFill>
                <a:latin typeface="Arial"/>
              </a:defRPr>
            </a:pPr>
            <a:r>
              <a:rPr sz="1500" b="0" i="0" u="none" strike="noStrike">
                <a:solidFill>
                  <a:srgbClr val="16181D"/>
                </a:solidFill>
                <a:latin typeface="Arial"/>
              </a:rPr>
              <a:t>Part des personnes qui se notent 1 ou 2 sur 5</a:t>
            </a:r>
          </a:p>
        </c:rich>
      </c:tx>
      <c:layout/>
      <c:overlay val="0"/>
    </c:title>
    <c:autoTitleDeleted val="0"/>
    <c:plotArea>
      <c:layout/>
      <c:barChart>
        <c:barDir val="bar"/>
        <c:grouping val="clustered"/>
        <c:varyColors val="0"/>
        <c:ser>
          <c:idx val="0"/>
          <c:order val="0"/>
          <c:tx>
            <c:strRef>
              <c:f>Sheet1!$B$1</c:f>
              <c:strCache>
                <c:ptCount val="1"/>
                <c:pt idx="0">
                  <c:v>Part</c:v>
                </c:pt>
              </c:strCache>
            </c:strRef>
          </c:tx>
          <c:spPr>
            <a:solidFill>
              <a:srgbClr val="E8590C"/>
            </a:solidFill>
            <a:effectLst/>
          </c:spPr>
          <c:invertIfNegative val="0"/>
          <c:dLbls>
            <c:numFmt formatCode="0&quot;%&quot;"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cat>
            <c:multiLvlStrRef>
              <c:f>Sheet1!$A$2:$A$7</c:f>
              <c:multiLvlStrCache>
                <c:ptCount val="6"/>
                <c:lvl>
                  <c:pt idx="0">
                    <c:v>Tests automatisés</c:v>
                  </c:pt>
                  <c:pt idx="1">
                    <c:v>Lecture d'UML</c:v>
                  </c:pt>
                  <c:pt idx="2">
                    <c:v>Langage orienté objet</c:v>
                  </c:pt>
                  <c:pt idx="3">
                    <c:v>SQL</c:v>
                  </c:pt>
                  <c:pt idx="4">
                    <c:v>Git</c:v>
                  </c:pt>
                  <c:pt idx="5">
                    <c:v>Développement web</c:v>
                  </c:pt>
                </c:lvl>
              </c:multiLvlStrCache>
            </c:multiLvlStrRef>
          </c:cat>
          <c:val>
            <c:numRef>
              <c:f>Sheet1!$B$2:$B$7</c:f>
              <c:numCache>
                <c:formatCode>General</c:formatCode>
                <c:ptCount val="6"/>
                <c:pt idx="0">
                  <c:v>73</c:v>
                </c:pt>
                <c:pt idx="1">
                  <c:v>60</c:v>
                </c:pt>
                <c:pt idx="2">
                  <c:v>55</c:v>
                </c:pt>
                <c:pt idx="3">
                  <c:v>55</c:v>
                </c:pt>
                <c:pt idx="4">
                  <c:v>55</c:v>
                </c:pt>
                <c:pt idx="5">
                  <c:v>53</c:v>
                </c:pt>
              </c:numCache>
            </c:numRef>
          </c:val>
        </c:ser>
        <c:dLbls>
          <c:numFmt formatCode="0&quot;%&quot;" sourceLinked="0"/>
          <c:txPr>
            <a:bodyPr/>
            <a:lstStyle/>
            <a:p>
              <a:pPr>
                <a:defRPr b="0" i="0" strike="noStrike" sz="130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181D"/>
                </a:solidFill>
                <a:latin typeface="Arial"/>
              </a:defRPr>
            </a:pPr>
            <a:endParaRPr lang="en-US"/>
          </a:p>
        </c:txPr>
        <c:crossAx val="2094734552"/>
        <c:crosses val="autoZero"/>
        <c:auto val="1"/>
        <c:lblAlgn val="ctr"/>
        <c:noMultiLvlLbl val="1"/>
      </c:catAx>
      <c:valAx>
        <c:axId val="2094734552"/>
        <c:scaling>
          <c:orientation val="minMax"/>
          <c:max val="9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81D"/>
                </a:solidFill>
                <a:latin typeface="Arial"/>
              </a:defRPr>
            </a:pPr>
            <a:r>
              <a:rPr sz="1300" b="0" i="0" u="none" strike="noStrike">
                <a:solidFill>
                  <a:srgbClr val="16181D"/>
                </a:solidFill>
                <a:latin typeface="Arial"/>
              </a:rPr>
              <a:t>Outils utilisés</a:t>
            </a:r>
          </a:p>
        </c:rich>
      </c:tx>
      <c:layout/>
      <c:overlay val="0"/>
    </c:title>
    <c:autoTitleDeleted val="0"/>
    <c:plotArea>
      <c:layout/>
      <c:barChart>
        <c:barDir val="bar"/>
        <c:grouping val="clustered"/>
        <c:varyColors val="0"/>
        <c:ser>
          <c:idx val="0"/>
          <c:order val="0"/>
          <c:tx>
            <c:strRef>
              <c:f>Sheet1!$B$1</c:f>
              <c:strCache>
                <c:ptCount val="1"/>
                <c:pt idx="0">
                  <c:v>Répondants</c:v>
                </c:pt>
              </c:strCache>
            </c:strRef>
          </c:tx>
          <c:spPr>
            <a:solidFill>
              <a:srgbClr val="16181D"/>
            </a:solidFill>
            <a:effectLst/>
          </c:spPr>
          <c:invertIfNegative val="0"/>
          <c:dLbls>
            <c:numFmt formatCode="#,##0" sourceLinked="0"/>
            <c:txPr>
              <a:bodyPr/>
              <a:lstStyle/>
              <a:p>
                <a:pPr>
                  <a:defRPr b="0" i="0" strike="noStrike" sz="1100" u="none">
                    <a:solidFill>
                      <a:srgbClr val="16181D"/>
                    </a:solidFill>
                    <a:latin typeface="Arial"/>
                  </a:defRPr>
                </a:pPr>
              </a:p>
            </c:txPr>
            <c:showLegendKey val="0"/>
            <c:showVal val="1"/>
            <c:showCatName val="0"/>
            <c:showSerName val="0"/>
            <c:showPercent val="0"/>
            <c:showBubbleSize val="0"/>
            <c:showLeaderLines val="0"/>
          </c:dLbls>
          <c:cat>
            <c:multiLvlStrRef>
              <c:f>Sheet1!$A$2:$A$6</c:f>
              <c:multiLvlStrCache>
                <c:ptCount val="5"/>
                <c:lvl>
                  <c:pt idx="0">
                    <c:v>ChatGPT</c:v>
                  </c:pt>
                  <c:pt idx="1">
                    <c:v>Claude</c:v>
                  </c:pt>
                  <c:pt idx="2">
                    <c:v>Gemini</c:v>
                  </c:pt>
                  <c:pt idx="3">
                    <c:v>Microsoft Copilot</c:v>
                  </c:pt>
                  <c:pt idx="4">
                    <c:v>GitHub Copilot</c:v>
                  </c:pt>
                </c:lvl>
              </c:multiLvlStrCache>
            </c:multiLvlStrRef>
          </c:cat>
          <c:val>
            <c:numRef>
              <c:f>Sheet1!$B$2:$B$6</c:f>
              <c:numCache>
                <c:formatCode>General</c:formatCode>
                <c:ptCount val="5"/>
                <c:pt idx="0">
                  <c:v>34</c:v>
                </c:pt>
                <c:pt idx="1">
                  <c:v>32</c:v>
                </c:pt>
                <c:pt idx="2">
                  <c:v>20</c:v>
                </c:pt>
                <c:pt idx="3">
                  <c:v>18</c:v>
                </c:pt>
                <c:pt idx="4">
                  <c:v>7</c:v>
                </c:pt>
              </c:numCache>
            </c:numRef>
          </c:val>
        </c:ser>
        <c:dLbls>
          <c:numFmt formatCode="#,##0" sourceLinked="0"/>
          <c:txPr>
            <a:bodyPr/>
            <a:lstStyle/>
            <a:p>
              <a:pPr>
                <a:defRPr b="0" i="0" strike="noStrike" sz="110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81D"/>
                </a:solidFill>
                <a:latin typeface="Arial"/>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Remercier : 55 réponses, c'est presque tout le monde. Annoncer : 5 minutes pour vous montrer qui vous êtes, et ce que j'ai changé dans le cours grâce à vos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1 min] Lire le graphique rapidement. Souligner la diversité des métiers : sécurité (SOC, pentest, GRC, CISO), administration systèmes et réseaux, support, développement, management IT, et plusieurs personnes en reconversion ou en recherche d'emploi. Un groupe où l'on peut apprendre les uns des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1 min] 23 personnes sur 55 n'ont pas écrit de code depuis plus d'un an, ou jamais vraiment. C'est pour ça qu'on a d'abord lu du code avant d'en écrire. Bonne nouvelle : Python et SQL sont connus de la majorité ; je ferai des parallèles Python / C# quand ce sera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1 min] Part des personnes qui se donnent 1 ou 2 sur 5. Message : personne n'est en retard. Les tests automatisés (73 %), l'UML (60 %) et Git (55 %) seront repris depuis le début. Pour Git, 18 personnes ne l'ont jamais utilisé : la séance 3 commencera par les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1 min] 42 personnes sur 55 utilisent une IA au moins chaque semaine, dont 27 tous les jours. ChatGPT et Claude en tête. Mais 41 personnes n'ont pas de règle claire au travail : pas de politique, une politique floue, ou elles ne savent pas. Lien avec l'AI Act vu la semaine dernière : vos employeurs vont devoir s'en occuper. La charte du cours est un bon point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1 min] La majorité veut être guidée : c'est prévu (template, étapes, exercices corrigés). 5 personnes hésitent encore : vous pouvez choisir jusqu'à la séance 3. Et 28 personnes sont d'accord ou peut-être d'accord pour aider les autres : merci. Je vous contacterai pour organiser le canal Entraide.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 1 min] Lire deux ou trois extraits. Le point commun : savoir lire et comprendre du code, avec la sécurité en tête. C'est exactement l'objectif du cours. Puis les ajustements concrets.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173736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194560"/>
            <a:ext cx="10911535" cy="1097280"/>
          </a:xfrm>
          <a:prstGeom prst="rect">
            <a:avLst/>
          </a:prstGeom>
          <a:noFill/>
          <a:ln/>
        </p:spPr>
        <p:txBody>
          <a:bodyPr wrap="square" lIns="0" tIns="0" rIns="0" bIns="0" rtlCol="0" anchor="ctr"/>
          <a:lstStyle/>
          <a:p>
            <a:pPr indent="0" marL="0">
              <a:buNone/>
            </a:pPr>
            <a:r>
              <a:rPr lang="en-US" sz="5000" b="1" dirty="0">
                <a:solidFill>
                  <a:srgbClr val="FFFFFF"/>
                </a:solidFill>
                <a:latin typeface="Arial" pitchFamily="34" charset="0"/>
                <a:ea typeface="Arial" pitchFamily="34" charset="-122"/>
                <a:cs typeface="Arial" pitchFamily="34" charset="-120"/>
              </a:rPr>
              <a:t>Ce que vous m'avez dit</a:t>
            </a:r>
            <a:endParaRPr lang="en-US" sz="5000" dirty="0"/>
          </a:p>
        </p:txBody>
      </p:sp>
      <p:sp>
        <p:nvSpPr>
          <p:cNvPr id="4" name="Text 2"/>
          <p:cNvSpPr txBox="1"/>
          <p:nvPr/>
        </p:nvSpPr>
        <p:spPr>
          <a:xfrm>
            <a:off x="640080" y="3291840"/>
            <a:ext cx="10911535" cy="640080"/>
          </a:xfrm>
          <a:prstGeom prst="rect">
            <a:avLst/>
          </a:prstGeom>
          <a:noFill/>
          <a:ln/>
        </p:spPr>
        <p:txBody>
          <a:bodyPr wrap="square" lIns="0" tIns="0" rIns="0" bIns="0" rtlCol="0" anchor="ctr"/>
          <a:lstStyle/>
          <a:p>
            <a:pPr indent="0" marL="0">
              <a:buNone/>
            </a:pPr>
            <a:r>
              <a:rPr lang="en-US" sz="2400" dirty="0">
                <a:solidFill>
                  <a:srgbClr val="C9CDD3"/>
                </a:solidFill>
                <a:latin typeface="Calibri" pitchFamily="34" charset="0"/>
                <a:ea typeface="Calibri" pitchFamily="34" charset="-122"/>
                <a:cs typeface="Calibri" pitchFamily="34" charset="-120"/>
              </a:rPr>
              <a:t>Retour sur le questionnaire d'entrée · 55 réponses</a:t>
            </a:r>
            <a:endParaRPr lang="en-US" sz="2400" dirty="0"/>
          </a:p>
        </p:txBody>
      </p:sp>
      <p:sp>
        <p:nvSpPr>
          <p:cNvPr id="5" name="Text 3"/>
          <p:cNvSpPr txBox="1"/>
          <p:nvPr/>
        </p:nvSpPr>
        <p:spPr>
          <a:xfrm>
            <a:off x="640080" y="539496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Chiffres agrégés, aucune réponse individuelle affichée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QUI VOUS ÊTES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groupe très varié, et c'est une force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graphicFrame>
        <p:nvGraphicFramePr>
          <p:cNvPr id="8" name="Chart 0" descr=""/>
          <p:cNvGraphicFramePr/>
          <p:nvPr/>
        </p:nvGraphicFramePr>
        <p:xfrm>
          <a:off x="640080" y="173736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040880" y="1783080"/>
            <a:ext cx="4480560" cy="3931920"/>
          </a:xfrm>
          <a:prstGeom prst="roundRect">
            <a:avLst>
              <a:gd name="adj" fmla="val 1860"/>
            </a:avLst>
          </a:prstGeom>
          <a:solidFill>
            <a:srgbClr val="F2F3F5"/>
          </a:solidFill>
          <a:ln w="12700">
            <a:solidFill>
              <a:srgbClr val="F2F3F5"/>
            </a:solidFill>
            <a:prstDash val="solid"/>
          </a:ln>
        </p:spPr>
      </p:sp>
      <p:sp>
        <p:nvSpPr>
          <p:cNvPr id="10" name="Text 6"/>
          <p:cNvSpPr txBox="1"/>
          <p:nvPr/>
        </p:nvSpPr>
        <p:spPr>
          <a:xfrm>
            <a:off x="7269480" y="1965960"/>
            <a:ext cx="4023360" cy="356616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Vos métiers</a:t>
            </a:r>
            <a:endParaRPr lang="en-US" sz="1800" dirty="0"/>
          </a:p>
          <a:p>
            <a:pPr indent="0" marL="0">
              <a:buNone/>
            </a:pP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Sécurité : SOC, pentest, GRC, CISO</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Administration systèmes et réseaux</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Support et helpdesk</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Développement</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Management IT</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Reconversion, recherche d'emploi</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VOUS ET LE CODE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Beaucoup n'ont pas codé depuis longtemps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640080" y="1783080"/>
            <a:ext cx="3840480" cy="3931920"/>
          </a:xfrm>
          <a:prstGeom prst="roundRect">
            <a:avLst>
              <a:gd name="adj" fmla="val 1905"/>
            </a:avLst>
          </a:prstGeom>
          <a:solidFill>
            <a:srgbClr val="16181D"/>
          </a:solidFill>
          <a:ln w="12700">
            <a:solidFill>
              <a:srgbClr val="16181D"/>
            </a:solidFill>
            <a:prstDash val="solid"/>
          </a:ln>
        </p:spPr>
      </p:sp>
      <p:sp>
        <p:nvSpPr>
          <p:cNvPr id="9" name="Text 6"/>
          <p:cNvSpPr txBox="1"/>
          <p:nvPr/>
        </p:nvSpPr>
        <p:spPr>
          <a:xfrm>
            <a:off x="960120" y="2011680"/>
            <a:ext cx="3291840" cy="3474720"/>
          </a:xfrm>
          <a:prstGeom prst="rect">
            <a:avLst/>
          </a:prstGeom>
          <a:noFill/>
          <a:ln/>
        </p:spPr>
        <p:txBody>
          <a:bodyPr wrap="square" lIns="0" tIns="0" rIns="0" bIns="0" rtlCol="0" anchor="t"/>
          <a:lstStyle/>
          <a:p>
            <a:pPr indent="0" marL="0">
              <a:buNone/>
            </a:pPr>
            <a:r>
              <a:rPr lang="en-US" sz="6000" b="1" dirty="0">
                <a:solidFill>
                  <a:srgbClr val="E8590C"/>
                </a:solidFill>
                <a:latin typeface="Arial" pitchFamily="34" charset="0"/>
                <a:ea typeface="Arial" pitchFamily="34" charset="-122"/>
                <a:cs typeface="Arial" pitchFamily="34" charset="-120"/>
              </a:rPr>
              <a:t>23 / 55</a:t>
            </a:r>
            <a:endParaRPr lang="en-US" sz="6000" dirty="0"/>
          </a:p>
          <a:p>
            <a:pPr indent="0" marL="0">
              <a:buNone/>
            </a:pPr>
            <a:r>
              <a:rPr lang="en-US" sz="1800" dirty="0">
                <a:solidFill>
                  <a:srgbClr val="FFFFFF"/>
                </a:solidFill>
                <a:latin typeface="Arial" pitchFamily="34" charset="0"/>
                <a:ea typeface="Arial" pitchFamily="34" charset="-122"/>
                <a:cs typeface="Arial" pitchFamily="34" charset="-120"/>
              </a:rPr>
              <a:t>n'ont pas codé depuis plus d'un an, ou jamais vraiment</a:t>
            </a:r>
            <a:endParaRPr lang="en-US" sz="6000" dirty="0"/>
          </a:p>
        </p:txBody>
      </p:sp>
      <p:graphicFrame>
        <p:nvGraphicFramePr>
          <p:cNvPr id="10" name="Chart 0" descr=""/>
          <p:cNvGraphicFramePr/>
          <p:nvPr/>
        </p:nvGraphicFramePr>
        <p:xfrm>
          <a:off x="4754880" y="1737360"/>
          <a:ext cx="6766560" cy="4023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VOTRE AUTO-ÉVALUATION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Git, les tests et l'UML : on part de zéro</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graphicFrame>
        <p:nvGraphicFramePr>
          <p:cNvPr id="8" name="Chart 0" descr=""/>
          <p:cNvGraphicFramePr/>
          <p:nvPr/>
        </p:nvGraphicFramePr>
        <p:xfrm>
          <a:off x="640080" y="1737360"/>
          <a:ext cx="7498080" cy="40233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503920" y="1828800"/>
            <a:ext cx="3017520" cy="3840480"/>
          </a:xfrm>
          <a:prstGeom prst="roundRect">
            <a:avLst>
              <a:gd name="adj" fmla="val 2424"/>
            </a:avLst>
          </a:prstGeom>
          <a:solidFill>
            <a:srgbClr val="F2F3F5"/>
          </a:solidFill>
          <a:ln w="12700">
            <a:solidFill>
              <a:srgbClr val="F2F3F5"/>
            </a:solidFill>
            <a:prstDash val="solid"/>
          </a:ln>
        </p:spPr>
      </p:sp>
      <p:sp>
        <p:nvSpPr>
          <p:cNvPr id="10" name="Text 6"/>
          <p:cNvSpPr txBox="1"/>
          <p:nvPr/>
        </p:nvSpPr>
        <p:spPr>
          <a:xfrm>
            <a:off x="8732520" y="2011680"/>
            <a:ext cx="2606040" cy="347472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Ce que ça change</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Git repris depuis les bases en séance 3.</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Les tests expliqués pas à pas en séance 8.</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L'UML reprise en détail aujourd'hui.</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VOUS ET L'IA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Vous l'utilisez beaucoup, souvent sans règle claire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783080"/>
            <a:ext cx="3611880" cy="2651760"/>
          </a:xfrm>
          <a:prstGeom prst="roundRect">
            <a:avLst>
              <a:gd name="adj" fmla="val 2759"/>
            </a:avLst>
          </a:prstGeom>
          <a:solidFill>
            <a:srgbClr val="F2F3F5"/>
          </a:solidFill>
          <a:ln w="12700">
            <a:solidFill>
              <a:srgbClr val="F2F3F5"/>
            </a:solidFill>
            <a:prstDash val="solid"/>
          </a:ln>
        </p:spPr>
      </p:sp>
      <p:sp>
        <p:nvSpPr>
          <p:cNvPr id="9" name="Text 6"/>
          <p:cNvSpPr txBox="1"/>
          <p:nvPr/>
        </p:nvSpPr>
        <p:spPr>
          <a:xfrm>
            <a:off x="914400" y="1920240"/>
            <a:ext cx="3108960" cy="1097280"/>
          </a:xfrm>
          <a:prstGeom prst="rect">
            <a:avLst/>
          </a:prstGeom>
          <a:noFill/>
          <a:ln/>
        </p:spPr>
        <p:txBody>
          <a:bodyPr wrap="square" lIns="0" tIns="0" rIns="0" bIns="0" rtlCol="0" anchor="ctr"/>
          <a:lstStyle/>
          <a:p>
            <a:pPr indent="0" marL="0">
              <a:buNone/>
            </a:pPr>
            <a:r>
              <a:rPr lang="en-US" sz="5400" b="1" dirty="0">
                <a:solidFill>
                  <a:srgbClr val="16181D"/>
                </a:solidFill>
                <a:latin typeface="Arial" pitchFamily="34" charset="0"/>
                <a:ea typeface="Arial" pitchFamily="34" charset="-122"/>
                <a:cs typeface="Arial" pitchFamily="34" charset="-120"/>
              </a:rPr>
              <a:t>42 / 55</a:t>
            </a:r>
            <a:endParaRPr lang="en-US" sz="5400" dirty="0"/>
          </a:p>
        </p:txBody>
      </p:sp>
      <p:sp>
        <p:nvSpPr>
          <p:cNvPr id="10" name="Text 7"/>
          <p:cNvSpPr txBox="1"/>
          <p:nvPr/>
        </p:nvSpPr>
        <p:spPr>
          <a:xfrm>
            <a:off x="914400" y="3063240"/>
            <a:ext cx="3108960" cy="1188720"/>
          </a:xfrm>
          <a:prstGeom prst="rect">
            <a:avLst/>
          </a:prstGeom>
          <a:noFill/>
          <a:ln/>
        </p:spPr>
        <p:txBody>
          <a:bodyPr wrap="square" lIns="0" tIns="0" rIns="0" bIns="0" rtlCol="0" anchor="t"/>
          <a:lstStyle/>
          <a:p>
            <a:pPr indent="0" marL="0">
              <a:buNone/>
            </a:pPr>
            <a:r>
              <a:rPr lang="en-US" sz="1600" dirty="0">
                <a:solidFill>
                  <a:srgbClr val="16181D"/>
                </a:solidFill>
                <a:latin typeface="Calibri" pitchFamily="34" charset="0"/>
                <a:ea typeface="Calibri" pitchFamily="34" charset="-122"/>
                <a:cs typeface="Calibri" pitchFamily="34" charset="-120"/>
              </a:rPr>
              <a:t>utilisent une IA au moins chaque semaine (27 tous les jours)</a:t>
            </a:r>
            <a:endParaRPr lang="en-US" sz="1600" dirty="0"/>
          </a:p>
        </p:txBody>
      </p:sp>
      <p:sp>
        <p:nvSpPr>
          <p:cNvPr id="11" name="Shape 8"/>
          <p:cNvSpPr/>
          <p:nvPr/>
        </p:nvSpPr>
        <p:spPr>
          <a:xfrm>
            <a:off x="4480560" y="1783080"/>
            <a:ext cx="3611880" cy="2651760"/>
          </a:xfrm>
          <a:prstGeom prst="roundRect">
            <a:avLst>
              <a:gd name="adj" fmla="val 2759"/>
            </a:avLst>
          </a:prstGeom>
          <a:solidFill>
            <a:srgbClr val="16181D"/>
          </a:solidFill>
          <a:ln w="12700">
            <a:solidFill>
              <a:srgbClr val="16181D"/>
            </a:solidFill>
            <a:prstDash val="solid"/>
          </a:ln>
        </p:spPr>
      </p:sp>
      <p:sp>
        <p:nvSpPr>
          <p:cNvPr id="12" name="Text 9"/>
          <p:cNvSpPr txBox="1"/>
          <p:nvPr/>
        </p:nvSpPr>
        <p:spPr>
          <a:xfrm>
            <a:off x="4754880" y="1920240"/>
            <a:ext cx="3108960" cy="1097280"/>
          </a:xfrm>
          <a:prstGeom prst="rect">
            <a:avLst/>
          </a:prstGeom>
          <a:noFill/>
          <a:ln/>
        </p:spPr>
        <p:txBody>
          <a:bodyPr wrap="square" lIns="0" tIns="0" rIns="0" bIns="0" rtlCol="0" anchor="ctr"/>
          <a:lstStyle/>
          <a:p>
            <a:pPr indent="0" marL="0">
              <a:buNone/>
            </a:pPr>
            <a:r>
              <a:rPr lang="en-US" sz="5400" b="1" dirty="0">
                <a:solidFill>
                  <a:srgbClr val="E8590C"/>
                </a:solidFill>
                <a:latin typeface="Arial" pitchFamily="34" charset="0"/>
                <a:ea typeface="Arial" pitchFamily="34" charset="-122"/>
                <a:cs typeface="Arial" pitchFamily="34" charset="-120"/>
              </a:rPr>
              <a:t>41 / 55</a:t>
            </a:r>
            <a:endParaRPr lang="en-US" sz="5400" dirty="0"/>
          </a:p>
        </p:txBody>
      </p:sp>
      <p:sp>
        <p:nvSpPr>
          <p:cNvPr id="13" name="Text 10"/>
          <p:cNvSpPr txBox="1"/>
          <p:nvPr/>
        </p:nvSpPr>
        <p:spPr>
          <a:xfrm>
            <a:off x="4754880" y="3063240"/>
            <a:ext cx="3108960" cy="11887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n'ont pas de règle claire au travail sur l'usage de l'IA</a:t>
            </a:r>
            <a:endParaRPr lang="en-US" sz="1600" dirty="0"/>
          </a:p>
        </p:txBody>
      </p:sp>
      <p:graphicFrame>
        <p:nvGraphicFramePr>
          <p:cNvPr id="14" name="Chart 0" descr=""/>
          <p:cNvGraphicFramePr/>
          <p:nvPr/>
        </p:nvGraphicFramePr>
        <p:xfrm>
          <a:off x="8412480" y="1691640"/>
          <a:ext cx="3200400" cy="28346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640080" y="4709160"/>
            <a:ext cx="10911535" cy="4114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Règle au travail : 14 politique claire · 8 floue · 14 aucune · 19 ne savent pas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VOS PARCOURS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39 Apprendre, 11 Approfondir, et 28 tuteurs possibles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640080" y="1783080"/>
            <a:ext cx="2560320" cy="2743200"/>
          </a:xfrm>
          <a:prstGeom prst="roundRect">
            <a:avLst>
              <a:gd name="adj" fmla="val 2857"/>
            </a:avLst>
          </a:prstGeom>
          <a:solidFill>
            <a:srgbClr val="F2F3F5"/>
          </a:solidFill>
          <a:ln w="12700">
            <a:solidFill>
              <a:srgbClr val="F2F3F5"/>
            </a:solidFill>
            <a:prstDash val="solid"/>
          </a:ln>
        </p:spPr>
      </p:sp>
      <p:sp>
        <p:nvSpPr>
          <p:cNvPr id="9" name="Shape 6"/>
          <p:cNvSpPr/>
          <p:nvPr/>
        </p:nvSpPr>
        <p:spPr>
          <a:xfrm>
            <a:off x="914400" y="2011680"/>
            <a:ext cx="320040" cy="320040"/>
          </a:xfrm>
          <a:prstGeom prst="ellipse">
            <a:avLst/>
          </a:prstGeom>
          <a:solidFill>
            <a:srgbClr val="2F9E44"/>
          </a:solidFill>
          <a:ln w="12700">
            <a:solidFill>
              <a:srgbClr val="2F9E44"/>
            </a:solidFill>
            <a:prstDash val="solid"/>
          </a:ln>
        </p:spPr>
      </p:sp>
      <p:sp>
        <p:nvSpPr>
          <p:cNvPr id="10" name="Text 7"/>
          <p:cNvSpPr txBox="1"/>
          <p:nvPr/>
        </p:nvSpPr>
        <p:spPr>
          <a:xfrm>
            <a:off x="914400" y="2423160"/>
            <a:ext cx="2103120" cy="914400"/>
          </a:xfrm>
          <a:prstGeom prst="rect">
            <a:avLst/>
          </a:prstGeom>
          <a:noFill/>
          <a:ln/>
        </p:spPr>
        <p:txBody>
          <a:bodyPr wrap="square" lIns="0" tIns="0" rIns="0" bIns="0" rtlCol="0" anchor="ctr"/>
          <a:lstStyle/>
          <a:p>
            <a:pPr indent="0" marL="0">
              <a:buNone/>
            </a:pPr>
            <a:r>
              <a:rPr lang="en-US" sz="5000" b="1" dirty="0">
                <a:solidFill>
                  <a:srgbClr val="16181D"/>
                </a:solidFill>
                <a:latin typeface="Arial" pitchFamily="34" charset="0"/>
                <a:ea typeface="Arial" pitchFamily="34" charset="-122"/>
                <a:cs typeface="Arial" pitchFamily="34" charset="-120"/>
              </a:rPr>
              <a:t>39</a:t>
            </a:r>
            <a:endParaRPr lang="en-US" sz="5000" dirty="0"/>
          </a:p>
        </p:txBody>
      </p:sp>
      <p:sp>
        <p:nvSpPr>
          <p:cNvPr id="11" name="Text 8"/>
          <p:cNvSpPr txBox="1"/>
          <p:nvPr/>
        </p:nvSpPr>
        <p:spPr>
          <a:xfrm>
            <a:off x="914400" y="3337560"/>
            <a:ext cx="2194560" cy="41148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Apprendre</a:t>
            </a:r>
            <a:endParaRPr lang="en-US" sz="1700" dirty="0"/>
          </a:p>
        </p:txBody>
      </p:sp>
      <p:sp>
        <p:nvSpPr>
          <p:cNvPr id="12" name="Text 9"/>
          <p:cNvSpPr txBox="1"/>
          <p:nvPr/>
        </p:nvSpPr>
        <p:spPr>
          <a:xfrm>
            <a:off x="914400" y="3749040"/>
            <a:ext cx="2194560" cy="6400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guidé pas à pas</a:t>
            </a:r>
            <a:endParaRPr lang="en-US" sz="1400" dirty="0"/>
          </a:p>
        </p:txBody>
      </p:sp>
      <p:sp>
        <p:nvSpPr>
          <p:cNvPr id="13" name="Shape 10"/>
          <p:cNvSpPr/>
          <p:nvPr/>
        </p:nvSpPr>
        <p:spPr>
          <a:xfrm>
            <a:off x="3383280" y="1783080"/>
            <a:ext cx="2560320" cy="2743200"/>
          </a:xfrm>
          <a:prstGeom prst="roundRect">
            <a:avLst>
              <a:gd name="adj" fmla="val 2857"/>
            </a:avLst>
          </a:prstGeom>
          <a:solidFill>
            <a:srgbClr val="F2F3F5"/>
          </a:solidFill>
          <a:ln w="12700">
            <a:solidFill>
              <a:srgbClr val="F2F3F5"/>
            </a:solidFill>
            <a:prstDash val="solid"/>
          </a:ln>
        </p:spPr>
      </p:sp>
      <p:sp>
        <p:nvSpPr>
          <p:cNvPr id="14" name="Shape 11"/>
          <p:cNvSpPr/>
          <p:nvPr/>
        </p:nvSpPr>
        <p:spPr>
          <a:xfrm>
            <a:off x="3657600" y="2011680"/>
            <a:ext cx="320040" cy="320040"/>
          </a:xfrm>
          <a:prstGeom prst="ellipse">
            <a:avLst/>
          </a:prstGeom>
          <a:solidFill>
            <a:srgbClr val="1C63B7"/>
          </a:solidFill>
          <a:ln w="12700">
            <a:solidFill>
              <a:srgbClr val="1C63B7"/>
            </a:solidFill>
            <a:prstDash val="solid"/>
          </a:ln>
        </p:spPr>
      </p:sp>
      <p:sp>
        <p:nvSpPr>
          <p:cNvPr id="15" name="Text 12"/>
          <p:cNvSpPr txBox="1"/>
          <p:nvPr/>
        </p:nvSpPr>
        <p:spPr>
          <a:xfrm>
            <a:off x="3657600" y="2423160"/>
            <a:ext cx="2103120" cy="914400"/>
          </a:xfrm>
          <a:prstGeom prst="rect">
            <a:avLst/>
          </a:prstGeom>
          <a:noFill/>
          <a:ln/>
        </p:spPr>
        <p:txBody>
          <a:bodyPr wrap="square" lIns="0" tIns="0" rIns="0" bIns="0" rtlCol="0" anchor="ctr"/>
          <a:lstStyle/>
          <a:p>
            <a:pPr indent="0" marL="0">
              <a:buNone/>
            </a:pPr>
            <a:r>
              <a:rPr lang="en-US" sz="5000" b="1" dirty="0">
                <a:solidFill>
                  <a:srgbClr val="16181D"/>
                </a:solidFill>
                <a:latin typeface="Arial" pitchFamily="34" charset="0"/>
                <a:ea typeface="Arial" pitchFamily="34" charset="-122"/>
                <a:cs typeface="Arial" pitchFamily="34" charset="-120"/>
              </a:rPr>
              <a:t>11</a:t>
            </a:r>
            <a:endParaRPr lang="en-US" sz="5000" dirty="0"/>
          </a:p>
        </p:txBody>
      </p:sp>
      <p:sp>
        <p:nvSpPr>
          <p:cNvPr id="16" name="Text 13"/>
          <p:cNvSpPr txBox="1"/>
          <p:nvPr/>
        </p:nvSpPr>
        <p:spPr>
          <a:xfrm>
            <a:off x="3657600" y="3337560"/>
            <a:ext cx="2194560" cy="41148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Approfondir</a:t>
            </a:r>
            <a:endParaRPr lang="en-US" sz="1700" dirty="0"/>
          </a:p>
        </p:txBody>
      </p:sp>
      <p:sp>
        <p:nvSpPr>
          <p:cNvPr id="17" name="Text 14"/>
          <p:cNvSpPr txBox="1"/>
          <p:nvPr/>
        </p:nvSpPr>
        <p:spPr>
          <a:xfrm>
            <a:off x="3657600" y="3749040"/>
            <a:ext cx="2194560" cy="6400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sans template, avec une extension</a:t>
            </a:r>
            <a:endParaRPr lang="en-US" sz="1400" dirty="0"/>
          </a:p>
        </p:txBody>
      </p:sp>
      <p:sp>
        <p:nvSpPr>
          <p:cNvPr id="18" name="Shape 15"/>
          <p:cNvSpPr/>
          <p:nvPr/>
        </p:nvSpPr>
        <p:spPr>
          <a:xfrm>
            <a:off x="6126480" y="1783080"/>
            <a:ext cx="2560320" cy="2743200"/>
          </a:xfrm>
          <a:prstGeom prst="roundRect">
            <a:avLst>
              <a:gd name="adj" fmla="val 2857"/>
            </a:avLst>
          </a:prstGeom>
          <a:solidFill>
            <a:srgbClr val="F2F3F5"/>
          </a:solidFill>
          <a:ln w="12700">
            <a:solidFill>
              <a:srgbClr val="F2F3F5"/>
            </a:solidFill>
            <a:prstDash val="solid"/>
          </a:ln>
        </p:spPr>
      </p:sp>
      <p:sp>
        <p:nvSpPr>
          <p:cNvPr id="19" name="Shape 16"/>
          <p:cNvSpPr/>
          <p:nvPr/>
        </p:nvSpPr>
        <p:spPr>
          <a:xfrm>
            <a:off x="6400800" y="2011680"/>
            <a:ext cx="320040" cy="320040"/>
          </a:xfrm>
          <a:prstGeom prst="ellipse">
            <a:avLst/>
          </a:prstGeom>
          <a:solidFill>
            <a:srgbClr val="5F6670"/>
          </a:solidFill>
          <a:ln w="12700">
            <a:solidFill>
              <a:srgbClr val="5F6670"/>
            </a:solidFill>
            <a:prstDash val="solid"/>
          </a:ln>
        </p:spPr>
      </p:sp>
      <p:sp>
        <p:nvSpPr>
          <p:cNvPr id="20" name="Text 17"/>
          <p:cNvSpPr txBox="1"/>
          <p:nvPr/>
        </p:nvSpPr>
        <p:spPr>
          <a:xfrm>
            <a:off x="6400800" y="2423160"/>
            <a:ext cx="2103120" cy="914400"/>
          </a:xfrm>
          <a:prstGeom prst="rect">
            <a:avLst/>
          </a:prstGeom>
          <a:noFill/>
          <a:ln/>
        </p:spPr>
        <p:txBody>
          <a:bodyPr wrap="square" lIns="0" tIns="0" rIns="0" bIns="0" rtlCol="0" anchor="ctr"/>
          <a:lstStyle/>
          <a:p>
            <a:pPr indent="0" marL="0">
              <a:buNone/>
            </a:pPr>
            <a:r>
              <a:rPr lang="en-US" sz="5000" b="1" dirty="0">
                <a:solidFill>
                  <a:srgbClr val="16181D"/>
                </a:solidFill>
                <a:latin typeface="Arial" pitchFamily="34" charset="0"/>
                <a:ea typeface="Arial" pitchFamily="34" charset="-122"/>
                <a:cs typeface="Arial" pitchFamily="34" charset="-120"/>
              </a:rPr>
              <a:t>5</a:t>
            </a:r>
            <a:endParaRPr lang="en-US" sz="5000" dirty="0"/>
          </a:p>
        </p:txBody>
      </p:sp>
      <p:sp>
        <p:nvSpPr>
          <p:cNvPr id="21" name="Text 18"/>
          <p:cNvSpPr txBox="1"/>
          <p:nvPr/>
        </p:nvSpPr>
        <p:spPr>
          <a:xfrm>
            <a:off x="6400800" y="3337560"/>
            <a:ext cx="2194560" cy="41148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Pas encore décidé</a:t>
            </a:r>
            <a:endParaRPr lang="en-US" sz="1700" dirty="0"/>
          </a:p>
        </p:txBody>
      </p:sp>
      <p:sp>
        <p:nvSpPr>
          <p:cNvPr id="22" name="Text 19"/>
          <p:cNvSpPr txBox="1"/>
          <p:nvPr/>
        </p:nvSpPr>
        <p:spPr>
          <a:xfrm>
            <a:off x="6400800" y="3749040"/>
            <a:ext cx="2194560" cy="6400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choix possible jusqu'à la séance 3</a:t>
            </a:r>
            <a:endParaRPr lang="en-US" sz="1400" dirty="0"/>
          </a:p>
        </p:txBody>
      </p:sp>
      <p:sp>
        <p:nvSpPr>
          <p:cNvPr id="23" name="Shape 20"/>
          <p:cNvSpPr/>
          <p:nvPr/>
        </p:nvSpPr>
        <p:spPr>
          <a:xfrm>
            <a:off x="8869680" y="1783080"/>
            <a:ext cx="2651760" cy="2743200"/>
          </a:xfrm>
          <a:prstGeom prst="roundRect">
            <a:avLst>
              <a:gd name="adj" fmla="val 2759"/>
            </a:avLst>
          </a:prstGeom>
          <a:solidFill>
            <a:srgbClr val="16181D"/>
          </a:solidFill>
          <a:ln w="12700">
            <a:solidFill>
              <a:srgbClr val="16181D"/>
            </a:solidFill>
            <a:prstDash val="solid"/>
          </a:ln>
        </p:spPr>
      </p:sp>
      <p:sp>
        <p:nvSpPr>
          <p:cNvPr id="24" name="Text 21"/>
          <p:cNvSpPr txBox="1"/>
          <p:nvPr/>
        </p:nvSpPr>
        <p:spPr>
          <a:xfrm>
            <a:off x="9098280" y="1965960"/>
            <a:ext cx="2286000" cy="2468880"/>
          </a:xfrm>
          <a:prstGeom prst="rect">
            <a:avLst/>
          </a:prstGeom>
          <a:noFill/>
          <a:ln/>
        </p:spPr>
        <p:txBody>
          <a:bodyPr wrap="square" lIns="0" tIns="0" rIns="0" bIns="0" rtlCol="0" anchor="t"/>
          <a:lstStyle/>
          <a:p>
            <a:pPr indent="0" marL="0">
              <a:buNone/>
            </a:pPr>
            <a:r>
              <a:rPr lang="en-US" sz="5000" b="1" dirty="0">
                <a:solidFill>
                  <a:srgbClr val="E8590C"/>
                </a:solidFill>
                <a:latin typeface="Arial" pitchFamily="34" charset="0"/>
                <a:ea typeface="Arial" pitchFamily="34" charset="-122"/>
                <a:cs typeface="Arial" pitchFamily="34" charset="-120"/>
              </a:rPr>
              <a:t>28</a:t>
            </a:r>
            <a:endParaRPr lang="en-US" sz="5000" dirty="0"/>
          </a:p>
          <a:p>
            <a:pPr indent="0" marL="0">
              <a:buNone/>
            </a:pPr>
            <a:r>
              <a:rPr lang="en-US" sz="1500" dirty="0">
                <a:solidFill>
                  <a:srgbClr val="FFFFFF"/>
                </a:solidFill>
                <a:latin typeface="Arial" pitchFamily="34" charset="0"/>
                <a:ea typeface="Arial" pitchFamily="34" charset="-122"/>
                <a:cs typeface="Arial" pitchFamily="34" charset="-120"/>
              </a:rPr>
              <a:t>tuteurs possibles</a:t>
            </a:r>
            <a:endParaRPr lang="en-US" sz="5000" dirty="0"/>
          </a:p>
          <a:p>
            <a:pPr indent="0" marL="0">
              <a:buNone/>
            </a:pPr>
            <a:r>
              <a:rPr lang="en-US" sz="1500" dirty="0">
                <a:solidFill>
                  <a:srgbClr val="FFFFFF"/>
                </a:solidFill>
                <a:latin typeface="Arial" pitchFamily="34" charset="0"/>
                <a:ea typeface="Arial" pitchFamily="34" charset="-122"/>
                <a:cs typeface="Arial" pitchFamily="34" charset="-120"/>
              </a:rPr>
              <a:t>(14 oui, 14 peut-être)</a:t>
            </a:r>
            <a:endParaRPr lang="en-US" sz="5000" dirty="0"/>
          </a:p>
          <a:p>
            <a:pPr indent="0" marL="0">
              <a:buNone/>
            </a:pPr>
            <a:endParaRPr lang="en-US" sz="5000" dirty="0"/>
          </a:p>
          <a:p>
            <a:pPr indent="0" marL="0">
              <a:buNone/>
            </a:pPr>
            <a:r>
              <a:rPr lang="en-US" sz="1500" dirty="0">
                <a:solidFill>
                  <a:srgbClr val="FFFFFF"/>
                </a:solidFill>
                <a:latin typeface="Arial" pitchFamily="34" charset="0"/>
                <a:ea typeface="Arial" pitchFamily="34" charset="-122"/>
                <a:cs typeface="Arial" pitchFamily="34" charset="-120"/>
              </a:rPr>
              <a:t>Merci !</a:t>
            </a:r>
            <a:endParaRPr lang="en-US" sz="5000" dirty="0"/>
          </a:p>
        </p:txBody>
      </p:sp>
      <p:sp>
        <p:nvSpPr>
          <p:cNvPr id="25" name="Text 22"/>
          <p:cNvSpPr txBox="1"/>
          <p:nvPr/>
        </p:nvSpPr>
        <p:spPr>
          <a:xfrm>
            <a:off x="640080" y="4892040"/>
            <a:ext cx="10911535" cy="457200"/>
          </a:xfrm>
          <a:prstGeom prst="rect">
            <a:avLst/>
          </a:prstGeom>
          <a:noFill/>
          <a:ln/>
        </p:spPr>
        <p:txBody>
          <a:bodyPr wrap="square" lIns="0" tIns="0" rIns="0" bIns="0" rtlCol="0" anchor="ctr"/>
          <a:lstStyle/>
          <a:p>
            <a:pPr indent="0" marL="0">
              <a:buNone/>
            </a:pPr>
            <a:r>
              <a:rPr lang="en-US" sz="1700" dirty="0">
                <a:solidFill>
                  <a:srgbClr val="16181D"/>
                </a:solidFill>
                <a:latin typeface="Calibri" pitchFamily="34" charset="0"/>
                <a:ea typeface="Calibri" pitchFamily="34" charset="-122"/>
                <a:cs typeface="Calibri" pitchFamily="34" charset="-120"/>
              </a:rPr>
              <a:t>Le canal Entraide est ouvert : posez-y vos questions, les tuteurs et moi y répondons.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VOS ATTENTES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que vous attendez, et ce que j'en fais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Retour questionnaire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640080" y="1783080"/>
            <a:ext cx="5852160" cy="822960"/>
          </a:xfrm>
          <a:prstGeom prst="roundRect">
            <a:avLst>
              <a:gd name="adj" fmla="val 8889"/>
            </a:avLst>
          </a:prstGeom>
          <a:solidFill>
            <a:srgbClr val="F2F3F5"/>
          </a:solidFill>
          <a:ln w="12700">
            <a:solidFill>
              <a:srgbClr val="F2F3F5"/>
            </a:solidFill>
            <a:prstDash val="solid"/>
          </a:ln>
        </p:spPr>
      </p:sp>
      <p:sp>
        <p:nvSpPr>
          <p:cNvPr id="9" name="Text 6"/>
          <p:cNvSpPr txBox="1"/>
          <p:nvPr/>
        </p:nvSpPr>
        <p:spPr>
          <a:xfrm>
            <a:off x="914400" y="1783080"/>
            <a:ext cx="5394960" cy="8229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 Savoir lire, écrire et corriger du code, et être à l'aise avec cela. »</a:t>
            </a:r>
            <a:endParaRPr lang="en-US" sz="1500" dirty="0"/>
          </a:p>
        </p:txBody>
      </p:sp>
      <p:sp>
        <p:nvSpPr>
          <p:cNvPr id="10" name="Shape 7"/>
          <p:cNvSpPr/>
          <p:nvPr/>
        </p:nvSpPr>
        <p:spPr>
          <a:xfrm>
            <a:off x="640080" y="2743200"/>
            <a:ext cx="5852160" cy="822960"/>
          </a:xfrm>
          <a:prstGeom prst="roundRect">
            <a:avLst>
              <a:gd name="adj" fmla="val 8889"/>
            </a:avLst>
          </a:prstGeom>
          <a:solidFill>
            <a:srgbClr val="F2F3F5"/>
          </a:solidFill>
          <a:ln w="12700">
            <a:solidFill>
              <a:srgbClr val="F2F3F5"/>
            </a:solidFill>
            <a:prstDash val="solid"/>
          </a:ln>
        </p:spPr>
      </p:sp>
      <p:sp>
        <p:nvSpPr>
          <p:cNvPr id="11" name="Text 8"/>
          <p:cNvSpPr txBox="1"/>
          <p:nvPr/>
        </p:nvSpPr>
        <p:spPr>
          <a:xfrm>
            <a:off x="914400" y="2743200"/>
            <a:ext cx="5394960" cy="8229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 Apprendre à comprendre un code que je dois relire. »</a:t>
            </a:r>
            <a:endParaRPr lang="en-US" sz="1500" dirty="0"/>
          </a:p>
        </p:txBody>
      </p:sp>
      <p:sp>
        <p:nvSpPr>
          <p:cNvPr id="12" name="Shape 9"/>
          <p:cNvSpPr/>
          <p:nvPr/>
        </p:nvSpPr>
        <p:spPr>
          <a:xfrm>
            <a:off x="640080" y="3703320"/>
            <a:ext cx="5852160" cy="822960"/>
          </a:xfrm>
          <a:prstGeom prst="roundRect">
            <a:avLst>
              <a:gd name="adj" fmla="val 8889"/>
            </a:avLst>
          </a:prstGeom>
          <a:solidFill>
            <a:srgbClr val="F2F3F5"/>
          </a:solidFill>
          <a:ln w="12700">
            <a:solidFill>
              <a:srgbClr val="F2F3F5"/>
            </a:solidFill>
            <a:prstDash val="solid"/>
          </a:ln>
        </p:spPr>
      </p:sp>
      <p:sp>
        <p:nvSpPr>
          <p:cNvPr id="13" name="Text 10"/>
          <p:cNvSpPr txBox="1"/>
          <p:nvPr/>
        </p:nvSpPr>
        <p:spPr>
          <a:xfrm>
            <a:off x="914400" y="3703320"/>
            <a:ext cx="5394960" cy="8229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 Comprendre comment un dev applicatif aborde son code. »</a:t>
            </a:r>
            <a:endParaRPr lang="en-US" sz="1500" dirty="0"/>
          </a:p>
        </p:txBody>
      </p:sp>
      <p:sp>
        <p:nvSpPr>
          <p:cNvPr id="14" name="Shape 11"/>
          <p:cNvSpPr/>
          <p:nvPr/>
        </p:nvSpPr>
        <p:spPr>
          <a:xfrm>
            <a:off x="640080" y="4663440"/>
            <a:ext cx="5852160" cy="822960"/>
          </a:xfrm>
          <a:prstGeom prst="roundRect">
            <a:avLst>
              <a:gd name="adj" fmla="val 8889"/>
            </a:avLst>
          </a:prstGeom>
          <a:solidFill>
            <a:srgbClr val="F2F3F5"/>
          </a:solidFill>
          <a:ln w="12700">
            <a:solidFill>
              <a:srgbClr val="F2F3F5"/>
            </a:solidFill>
            <a:prstDash val="solid"/>
          </a:ln>
        </p:spPr>
      </p:sp>
      <p:sp>
        <p:nvSpPr>
          <p:cNvPr id="15" name="Text 12"/>
          <p:cNvSpPr txBox="1"/>
          <p:nvPr/>
        </p:nvSpPr>
        <p:spPr>
          <a:xfrm>
            <a:off x="914400" y="4663440"/>
            <a:ext cx="5394960" cy="8229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 Apprendre à coder en appliquant la sécurité, et à utiliser l'IA en toute sécurité. »</a:t>
            </a:r>
            <a:endParaRPr lang="en-US" sz="1500" dirty="0"/>
          </a:p>
        </p:txBody>
      </p:sp>
      <p:sp>
        <p:nvSpPr>
          <p:cNvPr id="16" name="Shape 13"/>
          <p:cNvSpPr/>
          <p:nvPr/>
        </p:nvSpPr>
        <p:spPr>
          <a:xfrm>
            <a:off x="6766560" y="1783080"/>
            <a:ext cx="4754880" cy="3703320"/>
          </a:xfrm>
          <a:prstGeom prst="roundRect">
            <a:avLst>
              <a:gd name="adj" fmla="val 1975"/>
            </a:avLst>
          </a:prstGeom>
          <a:solidFill>
            <a:srgbClr val="16181D"/>
          </a:solidFill>
          <a:ln w="12700">
            <a:solidFill>
              <a:srgbClr val="16181D"/>
            </a:solidFill>
            <a:prstDash val="solid"/>
          </a:ln>
        </p:spPr>
      </p:sp>
      <p:sp>
        <p:nvSpPr>
          <p:cNvPr id="17" name="Text 14"/>
          <p:cNvSpPr txBox="1"/>
          <p:nvPr/>
        </p:nvSpPr>
        <p:spPr>
          <a:xfrm>
            <a:off x="7040880" y="1965960"/>
            <a:ext cx="4206240" cy="338328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Ce que je change</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Plus de lecture de code, avec un œil sécurité.</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Git et les tests repris depuis les bases.</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Des parallèles Python / C# quand c'est utile.</a:t>
            </a:r>
            <a:endParaRPr lang="en-US" sz="1800" dirty="0"/>
          </a:p>
          <a:p>
            <a:pPr indent="0" marL="0">
              <a:buNone/>
            </a:pPr>
            <a:endParaRPr lang="en-US" sz="1800" dirty="0"/>
          </a:p>
          <a:p>
            <a:pPr indent="0" marL="0">
              <a:buNone/>
            </a:pPr>
            <a:r>
              <a:rPr lang="en-US" sz="1500" dirty="0">
                <a:solidFill>
                  <a:srgbClr val="FFFFFF"/>
                </a:solidFill>
                <a:latin typeface="Calibri" pitchFamily="34" charset="0"/>
                <a:ea typeface="Calibri" pitchFamily="34" charset="-122"/>
                <a:cs typeface="Calibri" pitchFamily="34" charset="-120"/>
              </a:rPr>
              <a:t>Des guides pour Linux et Mac (14 d'entre vous).</a:t>
            </a:r>
            <a:endParaRPr lang="en-US" sz="1800" dirty="0"/>
          </a:p>
        </p:txBody>
      </p:sp>
      <p:sp>
        <p:nvSpPr>
          <p:cNvPr id="18" name="Text 15"/>
          <p:cNvSpPr txBox="1"/>
          <p:nvPr/>
        </p:nvSpPr>
        <p:spPr>
          <a:xfrm>
            <a:off x="640080" y="5669280"/>
            <a:ext cx="10911535" cy="320040"/>
          </a:xfrm>
          <a:prstGeom prst="rect">
            <a:avLst/>
          </a:prstGeom>
          <a:noFill/>
          <a:ln/>
        </p:spPr>
        <p:txBody>
          <a:bodyPr wrap="square" lIns="0" tIns="0" rIns="0" bIns="0" rtlCol="0" anchor="ctr"/>
          <a:lstStyle/>
          <a:p>
            <a:pPr indent="0" marL="0">
              <a:buNone/>
            </a:pPr>
            <a:r>
              <a:rPr lang="en-US" sz="1200" i="1" dirty="0">
                <a:solidFill>
                  <a:srgbClr val="5F6670"/>
                </a:solidFill>
                <a:latin typeface="Calibri" pitchFamily="34" charset="0"/>
                <a:ea typeface="Calibri" pitchFamily="34" charset="-122"/>
                <a:cs typeface="Calibri" pitchFamily="34" charset="-120"/>
              </a:rPr>
              <a:t>Extraits anonymisés, légèrement raccourcis.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Retour sur le questionnaire d'entrée</dc:title>
  <dc:subject>PptxGenJS Presentation</dc:subject>
  <dc:creator>Ludwig Lebrun</dc:creator>
  <cp:lastModifiedBy>Ludwig Lebrun</cp:lastModifiedBy>
  <cp:revision>1</cp:revision>
  <dcterms:created xsi:type="dcterms:W3CDTF">2026-09-30T13:15:43Z</dcterms:created>
  <dcterms:modified xsi:type="dcterms:W3CDTF">2026-09-30T13:15:43Z</dcterms:modified>
</cp:coreProperties>
</file>