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1 min] Ce deck démarre après le retour sur le questionnaire et la fin de la séance 1. Les heures des notes supposent un début de ce deck à 1:00 : ajuster mentalement.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 – 2 min] Rappel rapide : on sait lire une classe, on sait pourquoi on protège ses données (le guichet) et pourquoi l'objet fait respecter ses règles. Aujourd'hui, on passe d'une classe à un ensemble de classes qui travaillent ensemble. À la fin de la séance, on aura le modèle complet d'IncidentHub.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 – 4 min] Reprendre lentement, c'est la notion la plus importante du cours. Une phrase à retenir : l'objet protège ses données, et c'est lui qui décide de ce qu'on a le droit d'en faire. À gauche, sans encapsulation : n'importe quelle ligne du programme peut écrire Status = Closed, même sur un incident jamais traité ; la règle métier n'existe nulle part. À droite, avec encapsulation : le statut ne se modifie que depuis la classe (private set), et la seule porte d'entrée est Close(), qui vérifie la règle avant de changer quoi que ce soit. Résultat : la règle est écrite à un seul endroit, et personne ne peut la contourner, ni un collègue, ni une IA, ni vous dans six mois. Rappeler l'image du guichet : on ne passe pas derrière le comptoir.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[1:07 – 3 min] Reprendre calmement, c'était la partie la moins claire de la S1. Une propriété, c'est une case du formulaire, avec deux portes : get, la porte pour lire la valeur ; set, la porte pour l'écrire. On choisit qui a le droit de passer par chaque porte. Reprendre l'image du guichet : vous pouvez consulter votre solde (get public), mais seule la banque peut le modifier (set privé). Lire le tableau ligne par ligne, avec un exemple d'IncidentHub pour chacune.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 3 min] Montrer le contrat de la classe à gauche, puis chaque ligne à droite. Lire le statut : autorisé (get public). Écrire directement le statut : refusé par le compilateur, avec l'erreur CS0272 (« l'accesseur set est inaccessible »). Passer par la méthode Close() : autorisé, et c'est Close() qui vérifie la règle métier. Modifier l'Id : refusé, erreur CS0200 (« la propriété est en lecture seule »). Message : le compilateur fait respecter l'encapsulation à votre place, avant même d'exécuter le programme.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 – 2 min] 42 d'entre vous connaissent Python et 29 Java (questionnaire). Même idée partout : on cache la donnée, on contrôle l'accès. En Java, on écrit à la main un champ privé et des méthodes getX() et setX() : c'est d'ailleurs de là que viennent les mots « getter » et « setter ». En Python, on utilise un décorateur @property. C# a simplement rendu ça plus court. Si vous lisez « getter » ou « setter » dans une documentation, c'est exactement 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Bloc de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3 min] Partir du problème. Nos trois rôles (déclarant, analyste, responsable) ont tous un nom et un e-mail. Si on écrit trois classes séparées, on copie trois fois les mêmes lignes. Le jour où on ajoute un numéro de téléphone, il faut penser à le faire trois fois, et on en oublie une. En développement, le copier-coller est un signal d'alarme (on parle de « code smell », une odeur de code). Question au chat : que feriez-vous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[1:18 – 3 min] L'héritage, c'est dire : « un analyste est un utilisateur, avec quelque chose en plus ». Ce qui est commun (nom, e-mail) est écrit une seule fois dans la classe parente User ; chaque classe enfant ne contient que ce qui lui est propre. Image : la classification du vivant. Un chien est un mammifère : il a tout ce qu'ont les mammifères, plus ce qui fait un chien. En UML : une flèche avec un triangle vide, qui pointe vers le parent. Le test à se poser toujours : « X est-il vraiment un Y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 – 4 min] Ouvrir User.cs, puis Analyst.cs. Montrer que Analyst ne réécrit ni Name ni Email. Montrer base(...). Puis Incident.AssignTo : le type Analyst empêche d'assigner un déclarant, c'est le compilateur qui vérifie la règle. Lancer Program.cs.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 3 min] On complète les symboles de visibilité vus la semaine dernière. private (-) : le coffre, seule la classe y touche. public (+) : le guichet, tout le monde. protected (#) : la clé de la maison familiale ; les enfants l'ont, pas les voisins ; la classe et ses héritières y ont accès. internal (~ en UML) : le même projet. Et deux notations UML de plus : souligné pour static (appartient à la classe, pas à chaque objet), italique pour abstrait (on y vient).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[1:28 – 2 min] Le piège classique : hériter pour récupérer du code, alors que la relation « est un » est fausse. Exemple : faire hériter Comment d'Incident parce qu'ils ont tous les deux un texte et une date. Un commentaire n'est pas un incident. Dès 1994, le livre « Design Patterns » (le Gang of Four) donnait ce conseil, toujours valable : préférer la composition à l'héritage. On verra la composition dans quelques minutes. Et on verra dans le moment IA que les IA font souvent cette erreur.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Bloc de 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 3 min] Dans IncidentHub, personne n'est juste « un utilisateur » : on est déclarant, analyste ou responsable. La classe User sert de modèle commun, mais on ne doit pas pouvoir créer un User tout seul. On la déclare abstract. Image : le permis de conduire. On ne conduit jamais « un véhicule » en général : on conduit une voiture, une moto, un camion. « Véhicule » est une idée commune, abstraite. Une classe abstraite peut aussi imposer à ses héritières d'écrire une méthode : ici RoleName(). En UML : le nom en italique.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 – 3 min] Montrer l'erreur de compilation sur new User(...) (commentée dans Program.cs). Montrer que chaque classe fille doit implémenter RoleName(), sinon le compilateur refuse. Describe() est écrite une seule fois et marche pour tous.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[1:36] Bloc de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[1:36 – 2 min] Nouveau besoin métier : quand un incident change d'état, on veut prévenir quelqu'un. Par e-mail aujourd'hui, par Teams demain, peut-être par SMS pour les incidents critiques. Si Incident connaît directement l'e-mail, Teams et les SMS, il faudra le modifier à chaque nouveau canal. On veut au contraire qu'Incident dise juste : « prévenez », sans savoir comment.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 – 3 min] Image : la prise électrique. Elle définit une norme (la forme, la tension). N'importe quel appareil qui respecte la norme peut s'y brancher : une lampe, un chargeur, un grille-pain. La prise ne sait pas ce qu'on y branche, et elle n'a pas besoin de le savoir. Une interface, c'est pareil : un contrat qui dit « je sais notifier ». EmailNotifier et TeamsNotifier signent ce contrat. En C#, les interfaces commencent par I par convention. En UML : le stéréotype «interface» et une flèche pointillée à triangle vide (la réalisation).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 – 2 min] La question revient toujours. Classe abstraite : une famille (« est un »), avec du code commun déjà écrit, un seul parent possible en C#. Interface : une capacité (« sait faire »), un contrat sans code (ou presque), et une classe peut en signer plusieurs. Un Analyst est un User (classe abstraite) ; un EmailNotifier sait notifier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 – 4 min] Montrer INotifier.cs (trois lignes), puis les deux implémentations. Dans Program.cs, montrer la liste de INotifier : on peut ajouter un SmsNotifier demain sans toucher à Incident. C'est l'idée qu'on retrouvera avec l'injection de dépendances en S6.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[1:47] Bloc de 14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[1:47 – 3 min] Le mot vient du grec : « plusieurs formes ». Image : le bouton Imprimer. Vous cliquez sur le même bouton ; selon ce qui est choisi, ça part sur une imprimante, en PDF ou par e-mail. Vous n'avez pas à savoir comment. En code : on parcourt une liste de User et on appelle Describe() ; chaque objet répond à sa façon selon ce qu'il est vraiment. Pareil pour la liste de INotifier. C'est ce qui rend le code extensible : ajouter un rôle ou un canal ne demande pas de modifier la boucle.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 – 3 min] Deux façons de dire qu'un objet en contient d'autres. Une seule question à se poser : si je supprime l'un, l'autre disparaît-il ? Composition (losange plein) : on supprime l'incident, ses commentaires sont supprimés aussi. Comme une maison et ses pièces. Agrégation (losange vide) : on supprime l'équipe, les analystes restent. Comme une équipe et ses joueurs.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 – 5 min] Lancer Program.cs et lire la sortie. Montrer la liste privée de commentaires et son exposition en lecture seule : c'est l'encapsulation appliquée à une collection (le guichet, encore). AddComment refuse un texte 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[1:58] Bloc de 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[1:58 – 3 min] Maintenant qu'on a vu les concepts, on peut lire toutes les relations. Association : a un lien avec. Composition (losange plein) : supprimé avec. Agrégation (losange vide) : existe sans. Héritage (triangle vide, trait plein) : est un. Réalisation (triangle vide, pointillé) : implémente. Dépendance (flèche pointillée) : utilise ponctuellement.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 – 3 min] Lire le modèle à voix haute avec tout ce qu'on a vu : User abstraite et ses trois rôles, l'incident déclaré par un User et assigné à au plus un Analyst, les commentaires en composition, l'interface INotifier. La note porte une règle en OCL : pour démarrer le travail, il faut un analyste assigné (une précondition, « pre »). C'est ce modèle qu'on retrouvera dans le Livrable 1, présenté à la séance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 – 2 min] Le diagramme de cas d'utilisation, déjà aperçu : les acteurs sont des rôles (pas des personnes), les ovales des services rendus. «include» : toujours inclus (signaler suppose de s'authentifier). «extend» : possible en plus (joindre une preuve). C'est souvent le premier dessin qu'on fait avec un client, avant même le diagramme de classes : il fixe le périmètre.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[2:06 – 3 min] Le diagramme d'activités, c'est l'organigramme de l'UML : il décrit un déroulement, étape par étape, avec les décisions et les couloirs de responsabilité. On reprend exactement le processus vu en BPMN la semaine dernière, pour comparer. Nouveauté : la barre épaisse, qui veut dire « en parallèle ». Si l'incident est significatif au sens de NIS2, on alerte le CCB pendant qu'on traite l'incident, sans attendre ; la seconde barre attend que les deux soient finis. Activités ou BPMN ? Même idée. Le diagramme d'activités parle à l'équipe de développement et s'intègre au reste du modèle UML ; BPMN parle au métier et peut être exécuté par un moteur de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[2:09] Bloc de 12 minutes. Prompt et sortie de référence : prompts.md et branche demo/s02-ia-diagramme.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[2:09 – 2 min] Lancer le prompt en direct. Si la sortie diffère de la référence, le dire et basculer sur la branche demo/s02-ia-diagramme (fichier docs/modele-genere-par-ia.md, rendu directement par la forge ou par l'aperçu Markdown de Rider).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 – 3 min] Réactions : 👍 = 1 ou 2, ❤️ = 3 ou 4, 😮 = 5 et plus. Puis 3-4 réponses dans le chat. Ils ont maintenant tous les outils de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 – 3 min] Les IA abusent très souvent de l'héritage : c'est la solution la plus « visible » pour relier des classes. Chaque défaut renvoie à un point de la séance. Ajuster ce tableau à la sortie réellement capturée (prompts.md).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[2:17 – 4 min] Question ouverte, surtout pour le parcours Approfondir, sans forcément trancher. Avec l'héritage, un objet ne change pas de classe : Sophie créée comme Reporter ne peut pas devenir Analyst, il faudrait recréer l'objet. Alternative : un seul User avec un rôle (enum Role, ou une liste de rôles). C'est d'ailleurs ce que font Keycloak et la plupart des systèmes réels (rôles et permissions), qu'on verra au Q2. Il n'y a pas de modèle parfait : il y a des compromis. Dans notre modèle, on garde l'héritage, qui est l'objet de la séance.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[2:21 – 2 min] Récapituler les quatre piliers avec leurs images. Ce sont ces images qu'il faut retenir, et ce seront les questions du QCM, en début de séance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 – 3 min] Le QCM de cette séance aura lieu en début de séance 3 : relire les slides d'aujourd'hui. La séance 3, on code les fondamentaux de C# : Rider et .NET 10 doivent fonctionner. Git servira en séance 4. Le check-in de présence du jour reste à faire maintenant.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[2:26] Fin. Exporter le check-in de présence. Le QCM S2 passe en début de séance 3, le Livrable 1 en séance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81D"/>
        </a:solidFill>
      </p:bgPr>
    </p:bg>
    <p:spTree>
      <p:nvGrpSpPr>
        <p:cNvPr id="1" name=""/>
        <p:cNvGrpSpPr/>
        <p:nvPr/>
      </p:nvGrpSpPr>
      <p:grpSpPr>
        <a:xfrm>
          <a:off x="0" y="0"/>
          <a:ext cx="0" cy="0"/>
          <a:chOff x="0" y="0"/>
          <a:chExt cx="0" cy="0"/>
        </a:xfrm>
      </p:grpSpPr>
      <p:sp>
        <p:nvSpPr>
          <p:cNvPr id="2" name="Shape 0"/>
          <p:cNvSpPr/>
          <p:nvPr/>
        </p:nvSpPr>
        <p:spPr>
          <a:xfrm>
            <a:off x="640080" y="1737360"/>
            <a:ext cx="274320" cy="274320"/>
          </a:xfrm>
          <a:prstGeom prst="rect">
            <a:avLst/>
          </a:prstGeom>
          <a:solidFill>
            <a:srgbClr val="E8590C"/>
          </a:solidFill>
          <a:ln w="12700">
            <a:solidFill>
              <a:srgbClr val="E8590C"/>
            </a:solidFill>
            <a:prstDash val="solid"/>
          </a:ln>
        </p:spPr>
      </p:sp>
      <p:sp>
        <p:nvSpPr>
          <p:cNvPr id="3" name="Text 1"/>
          <p:cNvSpPr txBox="1"/>
          <p:nvPr/>
        </p:nvSpPr>
        <p:spPr>
          <a:xfrm>
            <a:off x="640080" y="2194560"/>
            <a:ext cx="10911535"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Complément Application</a:t>
            </a:r>
            <a:endParaRPr lang="en-US" sz="5400" dirty="0"/>
          </a:p>
        </p:txBody>
      </p:sp>
      <p:sp>
        <p:nvSpPr>
          <p:cNvPr id="4" name="Text 2"/>
          <p:cNvSpPr txBox="1"/>
          <p:nvPr/>
        </p:nvSpPr>
        <p:spPr>
          <a:xfrm>
            <a:off x="640080" y="3291840"/>
            <a:ext cx="10911535" cy="640080"/>
          </a:xfrm>
          <a:prstGeom prst="rect">
            <a:avLst/>
          </a:prstGeom>
          <a:noFill/>
          <a:ln/>
        </p:spPr>
        <p:txBody>
          <a:bodyPr wrap="square" lIns="0" tIns="0" rIns="0" bIns="0" rtlCol="0" anchor="ctr"/>
          <a:lstStyle/>
          <a:p>
            <a:pPr indent="0" marL="0">
              <a:buNone/>
            </a:pPr>
            <a:r>
              <a:rPr lang="en-US" sz="2600" dirty="0">
                <a:solidFill>
                  <a:srgbClr val="C9CDD3"/>
                </a:solidFill>
                <a:latin typeface="Calibri" pitchFamily="34" charset="0"/>
                <a:ea typeface="Calibri" pitchFamily="34" charset="-122"/>
                <a:cs typeface="Calibri" pitchFamily="34" charset="-120"/>
              </a:rPr>
              <a:t>Séance 2 · POO avancée</a:t>
            </a:r>
            <a:endParaRPr lang="en-US" sz="2600" dirty="0"/>
          </a:p>
        </p:txBody>
      </p:sp>
      <p:sp>
        <p:nvSpPr>
          <p:cNvPr id="5" name="Text 3"/>
          <p:cNvSpPr txBox="1"/>
          <p:nvPr/>
        </p:nvSpPr>
        <p:spPr>
          <a:xfrm>
            <a:off x="640080" y="3931920"/>
            <a:ext cx="10911535" cy="548640"/>
          </a:xfrm>
          <a:prstGeom prst="rect">
            <a:avLst/>
          </a:prstGeom>
          <a:noFill/>
          <a:ln/>
        </p:spPr>
        <p:txBody>
          <a:bodyPr wrap="square" lIns="0" tIns="0" rIns="0" bIns="0" rtlCol="0" anchor="ctr"/>
          <a:lstStyle/>
          <a:p>
            <a:pPr indent="0" marL="0">
              <a:buNone/>
            </a:pPr>
            <a:r>
              <a:rPr lang="en-US" sz="1800" dirty="0">
                <a:solidFill>
                  <a:srgbClr val="9AA0A8"/>
                </a:solidFill>
                <a:latin typeface="Calibri" pitchFamily="34" charset="0"/>
                <a:ea typeface="Calibri" pitchFamily="34" charset="-122"/>
                <a:cs typeface="Calibri" pitchFamily="34" charset="-120"/>
              </a:rPr>
              <a:t>Héritage · abstraction · interfaces · polymorphisme · composition</a:t>
            </a:r>
            <a:endParaRPr lang="en-US" sz="1800" dirty="0"/>
          </a:p>
        </p:txBody>
      </p:sp>
      <p:sp>
        <p:nvSpPr>
          <p:cNvPr id="6" name="Text 4"/>
          <p:cNvSpPr txBox="1"/>
          <p:nvPr/>
        </p:nvSpPr>
        <p:spPr>
          <a:xfrm>
            <a:off x="640080" y="5486400"/>
            <a:ext cx="10911535" cy="365760"/>
          </a:xfrm>
          <a:prstGeom prst="rect">
            <a:avLst/>
          </a:prstGeom>
          <a:noFill/>
          <a:ln/>
        </p:spPr>
        <p:txBody>
          <a:bodyPr wrap="square" lIns="0" tIns="0" rIns="0" bIns="0" rtlCol="0" anchor="ctr"/>
          <a:lstStyle/>
          <a:p>
            <a:pPr indent="0" marL="0">
              <a:buNone/>
            </a:pPr>
            <a:r>
              <a:rPr lang="en-US" sz="1400" dirty="0">
                <a:solidFill>
                  <a:srgbClr val="9AA0A8"/>
                </a:solidFill>
                <a:latin typeface="Calibri" pitchFamily="34" charset="0"/>
                <a:ea typeface="Calibri" pitchFamily="34" charset="-122"/>
                <a:cs typeface="Calibri" pitchFamily="34" charset="-120"/>
              </a:rPr>
              <a:t>Ludwig Lebrun · 30 septembre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OÙ ON EN EST</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La semaine dernière, et aujourd'hui</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a:t>
            </a:r>
            <a:endParaRPr lang="en-US" sz="1000" dirty="0"/>
          </a:p>
        </p:txBody>
      </p:sp>
      <p:sp>
        <p:nvSpPr>
          <p:cNvPr id="8" name="Shape 5"/>
          <p:cNvSpPr/>
          <p:nvPr/>
        </p:nvSpPr>
        <p:spPr>
          <a:xfrm>
            <a:off x="640080" y="1783080"/>
            <a:ext cx="5303520" cy="3840480"/>
          </a:xfrm>
          <a:prstGeom prst="roundRect">
            <a:avLst>
              <a:gd name="adj" fmla="val 1905"/>
            </a:avLst>
          </a:prstGeom>
          <a:solidFill>
            <a:srgbClr val="F2F3F5"/>
          </a:solidFill>
          <a:ln w="12700">
            <a:solidFill>
              <a:srgbClr val="F2F3F5"/>
            </a:solidFill>
            <a:prstDash val="solid"/>
          </a:ln>
        </p:spPr>
      </p:sp>
      <p:sp>
        <p:nvSpPr>
          <p:cNvPr id="9" name="Text 6"/>
          <p:cNvSpPr txBox="1"/>
          <p:nvPr/>
        </p:nvSpPr>
        <p:spPr>
          <a:xfrm>
            <a:off x="960120" y="1965960"/>
            <a:ext cx="4572000" cy="457200"/>
          </a:xfrm>
          <a:prstGeom prst="rect">
            <a:avLst/>
          </a:prstGeom>
          <a:noFill/>
          <a:ln/>
        </p:spPr>
        <p:txBody>
          <a:bodyPr wrap="square" lIns="0" tIns="0" rIns="0" bIns="0" rtlCol="0" anchor="ctr"/>
          <a:lstStyle/>
          <a:p>
            <a:pPr indent="0" marL="0">
              <a:buNone/>
            </a:pPr>
            <a:r>
              <a:rPr lang="en-US" sz="2200" b="1" dirty="0">
                <a:solidFill>
                  <a:srgbClr val="16181D"/>
                </a:solidFill>
                <a:latin typeface="Arial" pitchFamily="34" charset="0"/>
                <a:ea typeface="Arial" pitchFamily="34" charset="-122"/>
                <a:cs typeface="Arial" pitchFamily="34" charset="-120"/>
              </a:rPr>
              <a:t>Déjà vu</a:t>
            </a:r>
            <a:endParaRPr lang="en-US" sz="2200" dirty="0"/>
          </a:p>
        </p:txBody>
      </p:sp>
      <p:sp>
        <p:nvSpPr>
          <p:cNvPr id="10" name="Text 7"/>
          <p:cNvSpPr txBox="1"/>
          <p:nvPr/>
        </p:nvSpPr>
        <p:spPr>
          <a:xfrm>
            <a:off x="960120" y="2560320"/>
            <a:ext cx="4754880" cy="292608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rgbClr val="16181D"/>
                </a:solidFill>
                <a:latin typeface="Calibri" pitchFamily="34" charset="0"/>
                <a:ea typeface="Calibri" pitchFamily="34" charset="-122"/>
                <a:cs typeface="Calibri" pitchFamily="34" charset="-120"/>
              </a:rPr>
              <a:t>Classe et objet : le formulaire vierge et le formulaire rempli</a:t>
            </a:r>
            <a:endParaRPr lang="en-US" sz="1700" dirty="0"/>
          </a:p>
          <a:p>
            <a:pPr marL="228600" indent="-228600">
              <a:spcAft>
                <a:spcPts val="800"/>
              </a:spcAft>
              <a:buSzPct val="100000"/>
              <a:buChar char="•"/>
            </a:pPr>
            <a:r>
              <a:rPr lang="en-US" sz="1700" dirty="0">
                <a:solidFill>
                  <a:srgbClr val="16181D"/>
                </a:solidFill>
                <a:latin typeface="Calibri" pitchFamily="34" charset="0"/>
                <a:ea typeface="Calibri" pitchFamily="34" charset="-122"/>
                <a:cs typeface="Calibri" pitchFamily="34" charset="-120"/>
              </a:rPr>
              <a:t>Encapsulation : le guichet (+ public, - private)</a:t>
            </a:r>
            <a:endParaRPr lang="en-US" sz="1700" dirty="0"/>
          </a:p>
          <a:p>
            <a:pPr marL="228600" indent="-228600">
              <a:spcAft>
                <a:spcPts val="800"/>
              </a:spcAft>
              <a:buSzPct val="100000"/>
              <a:buChar char="•"/>
            </a:pPr>
            <a:r>
              <a:rPr lang="en-US" sz="1700" dirty="0">
                <a:solidFill>
                  <a:srgbClr val="16181D"/>
                </a:solidFill>
                <a:latin typeface="Calibri" pitchFamily="34" charset="0"/>
                <a:ea typeface="Calibri" pitchFamily="34" charset="-122"/>
                <a:cs typeface="Calibri" pitchFamily="34" charset="-120"/>
              </a:rPr>
              <a:t>Enum : des choix fermés</a:t>
            </a:r>
            <a:endParaRPr lang="en-US" sz="1700" dirty="0"/>
          </a:p>
          <a:p>
            <a:pPr marL="228600" indent="-228600">
              <a:spcAft>
                <a:spcPts val="800"/>
              </a:spcAft>
              <a:buSzPct val="100000"/>
              <a:buChar char="•"/>
            </a:pPr>
            <a:r>
              <a:rPr lang="en-US" sz="1700" dirty="0">
                <a:solidFill>
                  <a:srgbClr val="16181D"/>
                </a:solidFill>
                <a:latin typeface="Calibri" pitchFamily="34" charset="0"/>
                <a:ea typeface="Calibri" pitchFamily="34" charset="-122"/>
                <a:cs typeface="Calibri" pitchFamily="34" charset="-120"/>
              </a:rPr>
              <a:t>Règles métier dans l'objet</a:t>
            </a:r>
            <a:endParaRPr lang="en-US" sz="1700" dirty="0"/>
          </a:p>
          <a:p>
            <a:pPr marL="228600" indent="-228600">
              <a:spcAft>
                <a:spcPts val="800"/>
              </a:spcAft>
              <a:buSzPct val="100000"/>
              <a:buChar char="•"/>
            </a:pPr>
            <a:r>
              <a:rPr lang="en-US" sz="1700" dirty="0">
                <a:solidFill>
                  <a:srgbClr val="16181D"/>
                </a:solidFill>
                <a:latin typeface="Calibri" pitchFamily="34" charset="0"/>
                <a:ea typeface="Calibri" pitchFamily="34" charset="-122"/>
                <a:cs typeface="Calibri" pitchFamily="34" charset="-120"/>
              </a:rPr>
              <a:t>Lire un diagramme de classes simple</a:t>
            </a:r>
            <a:endParaRPr lang="en-US" sz="1700" dirty="0"/>
          </a:p>
        </p:txBody>
      </p:sp>
      <p:sp>
        <p:nvSpPr>
          <p:cNvPr id="11" name="Shape 8"/>
          <p:cNvSpPr/>
          <p:nvPr/>
        </p:nvSpPr>
        <p:spPr>
          <a:xfrm>
            <a:off x="6217920" y="1783080"/>
            <a:ext cx="5303520" cy="3840480"/>
          </a:xfrm>
          <a:prstGeom prst="roundRect">
            <a:avLst>
              <a:gd name="adj" fmla="val 1905"/>
            </a:avLst>
          </a:prstGeom>
          <a:solidFill>
            <a:srgbClr val="16181D"/>
          </a:solidFill>
          <a:ln w="12700">
            <a:solidFill>
              <a:srgbClr val="16181D"/>
            </a:solidFill>
            <a:prstDash val="solid"/>
          </a:ln>
        </p:spPr>
      </p:sp>
      <p:sp>
        <p:nvSpPr>
          <p:cNvPr id="12" name="Text 9"/>
          <p:cNvSpPr txBox="1"/>
          <p:nvPr/>
        </p:nvSpPr>
        <p:spPr>
          <a:xfrm>
            <a:off x="6537960" y="1965960"/>
            <a:ext cx="4572000" cy="457200"/>
          </a:xfrm>
          <a:prstGeom prst="rect">
            <a:avLst/>
          </a:prstGeom>
          <a:noFill/>
          <a:ln/>
        </p:spPr>
        <p:txBody>
          <a:bodyPr wrap="square" lIns="0" tIns="0" rIns="0" bIns="0" rtlCol="0" anchor="ctr"/>
          <a:lstStyle/>
          <a:p>
            <a:pPr indent="0" marL="0">
              <a:buNone/>
            </a:pPr>
            <a:r>
              <a:rPr lang="en-US" sz="2200" b="1" dirty="0">
                <a:solidFill>
                  <a:srgbClr val="E8590C"/>
                </a:solidFill>
                <a:latin typeface="Arial" pitchFamily="34" charset="0"/>
                <a:ea typeface="Arial" pitchFamily="34" charset="-122"/>
                <a:cs typeface="Arial" pitchFamily="34" charset="-120"/>
              </a:rPr>
              <a:t>Aujourd'hui</a:t>
            </a:r>
            <a:endParaRPr lang="en-US" sz="2200" dirty="0"/>
          </a:p>
        </p:txBody>
      </p:sp>
      <p:sp>
        <p:nvSpPr>
          <p:cNvPr id="13" name="Text 10"/>
          <p:cNvSpPr txBox="1"/>
          <p:nvPr/>
        </p:nvSpPr>
        <p:spPr>
          <a:xfrm>
            <a:off x="6537960" y="2560320"/>
            <a:ext cx="4754880" cy="292608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rgbClr val="FFFFFF"/>
                </a:solidFill>
                <a:latin typeface="Calibri" pitchFamily="34" charset="0"/>
                <a:ea typeface="Calibri" pitchFamily="34" charset="-122"/>
                <a:cs typeface="Calibri" pitchFamily="34" charset="-120"/>
              </a:rPr>
              <a:t>Héritage : « est un »</a:t>
            </a:r>
            <a:endParaRPr lang="en-US" sz="1700" dirty="0"/>
          </a:p>
          <a:p>
            <a:pPr marL="228600" indent="-228600">
              <a:spcAft>
                <a:spcPts val="800"/>
              </a:spcAft>
              <a:buSzPct val="100000"/>
              <a:buChar char="•"/>
            </a:pPr>
            <a:r>
              <a:rPr lang="en-US" sz="1700" dirty="0">
                <a:solidFill>
                  <a:srgbClr val="FFFFFF"/>
                </a:solidFill>
                <a:latin typeface="Calibri" pitchFamily="34" charset="0"/>
                <a:ea typeface="Calibri" pitchFamily="34" charset="-122"/>
                <a:cs typeface="Calibri" pitchFamily="34" charset="-120"/>
              </a:rPr>
              <a:t>Abstraction : ce qui n'existe pas tout seul</a:t>
            </a:r>
            <a:endParaRPr lang="en-US" sz="1700" dirty="0"/>
          </a:p>
          <a:p>
            <a:pPr marL="228600" indent="-228600">
              <a:spcAft>
                <a:spcPts val="800"/>
              </a:spcAft>
              <a:buSzPct val="100000"/>
              <a:buChar char="•"/>
            </a:pPr>
            <a:r>
              <a:rPr lang="en-US" sz="1700" dirty="0">
                <a:solidFill>
                  <a:srgbClr val="FFFFFF"/>
                </a:solidFill>
                <a:latin typeface="Calibri" pitchFamily="34" charset="0"/>
                <a:ea typeface="Calibri" pitchFamily="34" charset="-122"/>
                <a:cs typeface="Calibri" pitchFamily="34" charset="-120"/>
              </a:rPr>
              <a:t>Interfaces : un contrat</a:t>
            </a:r>
            <a:endParaRPr lang="en-US" sz="1700" dirty="0"/>
          </a:p>
          <a:p>
            <a:pPr marL="228600" indent="-228600">
              <a:spcAft>
                <a:spcPts val="800"/>
              </a:spcAft>
              <a:buSzPct val="100000"/>
              <a:buChar char="•"/>
            </a:pPr>
            <a:r>
              <a:rPr lang="en-US" sz="1700" dirty="0">
                <a:solidFill>
                  <a:srgbClr val="FFFFFF"/>
                </a:solidFill>
                <a:latin typeface="Calibri" pitchFamily="34" charset="0"/>
                <a:ea typeface="Calibri" pitchFamily="34" charset="-122"/>
                <a:cs typeface="Calibri" pitchFamily="34" charset="-120"/>
              </a:rPr>
              <a:t>Polymorphisme : un appel, plusieurs comportements</a:t>
            </a:r>
            <a:endParaRPr lang="en-US" sz="1700" dirty="0"/>
          </a:p>
          <a:p>
            <a:pPr marL="228600" indent="-228600">
              <a:spcAft>
                <a:spcPts val="800"/>
              </a:spcAft>
              <a:buSzPct val="100000"/>
              <a:buChar char="•"/>
            </a:pPr>
            <a:r>
              <a:rPr lang="en-US" sz="1700" dirty="0">
                <a:solidFill>
                  <a:srgbClr val="FFFFFF"/>
                </a:solidFill>
                <a:latin typeface="Calibri" pitchFamily="34" charset="0"/>
                <a:ea typeface="Calibri" pitchFamily="34" charset="-122"/>
                <a:cs typeface="Calibri" pitchFamily="34" charset="-120"/>
              </a:rPr>
              <a:t>Composition et agrégation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RETOUR SUR LA SÉANCE 1</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L'encapsulation, en une phrase</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a:t>
            </a:r>
            <a:endParaRPr lang="en-US" sz="1000" dirty="0"/>
          </a:p>
        </p:txBody>
      </p:sp>
      <p:sp>
        <p:nvSpPr>
          <p:cNvPr id="8" name="Text 5"/>
          <p:cNvSpPr txBox="1"/>
          <p:nvPr/>
        </p:nvSpPr>
        <p:spPr>
          <a:xfrm>
            <a:off x="640080" y="1691640"/>
            <a:ext cx="10911535" cy="502920"/>
          </a:xfrm>
          <a:prstGeom prst="rect">
            <a:avLst/>
          </a:prstGeom>
          <a:noFill/>
          <a:ln/>
        </p:spPr>
        <p:txBody>
          <a:bodyPr wrap="square" lIns="0" tIns="0" rIns="0" bIns="0" rtlCol="0" anchor="ctr"/>
          <a:lstStyle/>
          <a:p>
            <a:pPr indent="0" marL="0">
              <a:buNone/>
            </a:pPr>
            <a:r>
              <a:rPr lang="en-US" sz="1900" b="1" dirty="0">
                <a:solidFill>
                  <a:srgbClr val="E8590C"/>
                </a:solidFill>
                <a:latin typeface="Calibri" pitchFamily="34" charset="0"/>
                <a:ea typeface="Calibri" pitchFamily="34" charset="-122"/>
                <a:cs typeface="Calibri" pitchFamily="34" charset="-120"/>
              </a:rPr>
              <a:t>L'objet protège ses données, et c'est lui qui décide de ce qu'on a le droit d'en faire.</a:t>
            </a:r>
            <a:endParaRPr lang="en-US" sz="1900" dirty="0"/>
          </a:p>
        </p:txBody>
      </p:sp>
      <p:sp>
        <p:nvSpPr>
          <p:cNvPr id="9" name="Text 6"/>
          <p:cNvSpPr txBox="1"/>
          <p:nvPr/>
        </p:nvSpPr>
        <p:spPr>
          <a:xfrm>
            <a:off x="640080" y="2331720"/>
            <a:ext cx="5303520" cy="365760"/>
          </a:xfrm>
          <a:prstGeom prst="rect">
            <a:avLst/>
          </a:prstGeom>
          <a:noFill/>
          <a:ln/>
        </p:spPr>
        <p:txBody>
          <a:bodyPr wrap="square" lIns="0" tIns="0" rIns="0" bIns="0" rtlCol="0" anchor="ctr"/>
          <a:lstStyle/>
          <a:p>
            <a:pPr indent="0" marL="0">
              <a:buNone/>
            </a:pPr>
            <a:r>
              <a:rPr lang="en-US" sz="1600" b="1" dirty="0">
                <a:solidFill>
                  <a:srgbClr val="C92A2A"/>
                </a:solidFill>
                <a:latin typeface="Arial" pitchFamily="34" charset="0"/>
                <a:ea typeface="Arial" pitchFamily="34" charset="-122"/>
                <a:cs typeface="Arial" pitchFamily="34" charset="-120"/>
              </a:rPr>
              <a:t>Sans encapsulation</a:t>
            </a:r>
            <a:endParaRPr lang="en-US" sz="1600" dirty="0"/>
          </a:p>
        </p:txBody>
      </p:sp>
      <p:sp>
        <p:nvSpPr>
          <p:cNvPr id="10" name="Shape 7"/>
          <p:cNvSpPr/>
          <p:nvPr/>
        </p:nvSpPr>
        <p:spPr>
          <a:xfrm>
            <a:off x="640080" y="2743200"/>
            <a:ext cx="5303520" cy="2240280"/>
          </a:xfrm>
          <a:prstGeom prst="roundRect">
            <a:avLst>
              <a:gd name="adj" fmla="val 3265"/>
            </a:avLst>
          </a:prstGeom>
          <a:solidFill>
            <a:srgbClr val="1E2127"/>
          </a:solidFill>
          <a:ln w="12700">
            <a:solidFill>
              <a:srgbClr val="1E2127"/>
            </a:solidFill>
            <a:prstDash val="solid"/>
          </a:ln>
        </p:spPr>
      </p:sp>
      <p:sp>
        <p:nvSpPr>
          <p:cNvPr id="11" name="Text 8"/>
          <p:cNvSpPr txBox="1"/>
          <p:nvPr/>
        </p:nvSpPr>
        <p:spPr>
          <a:xfrm>
            <a:off x="914400" y="2971800"/>
            <a:ext cx="4754880" cy="1783080"/>
          </a:xfrm>
          <a:prstGeom prst="rect">
            <a:avLst/>
          </a:prstGeom>
          <a:noFill/>
          <a:ln/>
        </p:spPr>
        <p:txBody>
          <a:bodyPr wrap="square" lIns="0" tIns="0" rIns="0" bIns="0" rtlCol="0" anchor="t"/>
          <a:lstStyle/>
          <a:p>
            <a:pPr indent="0" marL="0">
              <a:buNone/>
            </a:pPr>
            <a:r>
              <a:rPr lang="en-US" sz="1300" dirty="0">
                <a:solidFill>
                  <a:srgbClr val="E6E6E6"/>
                </a:solidFill>
                <a:latin typeface="Consolas" pitchFamily="34" charset="0"/>
                <a:ea typeface="Consolas" pitchFamily="34" charset="-122"/>
                <a:cs typeface="Consolas" pitchFamily="34" charset="-120"/>
              </a:rPr>
              <a:t>public IncidentStatus Status { get; set; }</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a:t>
            </a:r>
            <a:endParaRPr lang="en-US" sz="1300" dirty="0"/>
          </a:p>
          <a:p>
            <a:pPr indent="0" marL="0">
              <a:buNone/>
            </a:pPr>
            <a:r>
              <a:rPr lang="en-US" sz="1300" dirty="0">
                <a:solidFill>
                  <a:srgbClr val="8B929C"/>
                </a:solidFill>
                <a:latin typeface="Consolas" pitchFamily="34" charset="0"/>
                <a:ea typeface="Consolas" pitchFamily="34" charset="-122"/>
                <a:cs typeface="Consolas" pitchFamily="34" charset="-120"/>
              </a:rPr>
              <a:t>// n'importe où dans le programme :</a:t>
            </a:r>
            <a:endParaRPr lang="en-US" sz="1300" dirty="0"/>
          </a:p>
          <a:p>
            <a:pPr indent="0" marL="0">
              <a:buNone/>
            </a:pPr>
            <a:r>
              <a:rPr lang="en-US" sz="1300" b="1" dirty="0">
                <a:solidFill>
                  <a:srgbClr val="C92A2A"/>
                </a:solidFill>
                <a:latin typeface="Consolas" pitchFamily="34" charset="0"/>
                <a:ea typeface="Consolas" pitchFamily="34" charset="-122"/>
                <a:cs typeface="Consolas" pitchFamily="34" charset="-120"/>
              </a:rPr>
              <a:t>incident.Status = IncidentStatus.Closed;</a:t>
            </a:r>
            <a:endParaRPr lang="en-US" sz="1300" dirty="0"/>
          </a:p>
          <a:p>
            <a:pPr indent="0" marL="0">
              <a:buNone/>
            </a:pPr>
            <a:r>
              <a:rPr lang="en-US" sz="1300" dirty="0">
                <a:solidFill>
                  <a:srgbClr val="8B929C"/>
                </a:solidFill>
                <a:latin typeface="Consolas" pitchFamily="34" charset="0"/>
                <a:ea typeface="Consolas" pitchFamily="34" charset="-122"/>
                <a:cs typeface="Consolas" pitchFamily="34" charset="-120"/>
              </a:rPr>
              <a:t>// clôturé sans avoir été traité</a:t>
            </a:r>
            <a:endParaRPr lang="en-US" sz="1300" dirty="0"/>
          </a:p>
        </p:txBody>
      </p:sp>
      <p:sp>
        <p:nvSpPr>
          <p:cNvPr id="12" name="Text 9"/>
          <p:cNvSpPr txBox="1"/>
          <p:nvPr/>
        </p:nvSpPr>
        <p:spPr>
          <a:xfrm>
            <a:off x="6217920" y="2331720"/>
            <a:ext cx="5303520" cy="365760"/>
          </a:xfrm>
          <a:prstGeom prst="rect">
            <a:avLst/>
          </a:prstGeom>
          <a:noFill/>
          <a:ln/>
        </p:spPr>
        <p:txBody>
          <a:bodyPr wrap="square" lIns="0" tIns="0" rIns="0" bIns="0" rtlCol="0" anchor="ctr"/>
          <a:lstStyle/>
          <a:p>
            <a:pPr indent="0" marL="0">
              <a:buNone/>
            </a:pPr>
            <a:r>
              <a:rPr lang="en-US" sz="1600" b="1" dirty="0">
                <a:solidFill>
                  <a:srgbClr val="2F9E44"/>
                </a:solidFill>
                <a:latin typeface="Arial" pitchFamily="34" charset="0"/>
                <a:ea typeface="Arial" pitchFamily="34" charset="-122"/>
                <a:cs typeface="Arial" pitchFamily="34" charset="-120"/>
              </a:rPr>
              <a:t>Avec encapsulation</a:t>
            </a:r>
            <a:endParaRPr lang="en-US" sz="1600" dirty="0"/>
          </a:p>
        </p:txBody>
      </p:sp>
      <p:sp>
        <p:nvSpPr>
          <p:cNvPr id="13" name="Shape 10"/>
          <p:cNvSpPr/>
          <p:nvPr/>
        </p:nvSpPr>
        <p:spPr>
          <a:xfrm>
            <a:off x="6217920" y="2743200"/>
            <a:ext cx="5303520" cy="2240280"/>
          </a:xfrm>
          <a:prstGeom prst="roundRect">
            <a:avLst>
              <a:gd name="adj" fmla="val 3265"/>
            </a:avLst>
          </a:prstGeom>
          <a:solidFill>
            <a:srgbClr val="1E2127"/>
          </a:solidFill>
          <a:ln w="12700">
            <a:solidFill>
              <a:srgbClr val="1E2127"/>
            </a:solidFill>
            <a:prstDash val="solid"/>
          </a:ln>
        </p:spPr>
      </p:sp>
      <p:sp>
        <p:nvSpPr>
          <p:cNvPr id="14" name="Text 11"/>
          <p:cNvSpPr txBox="1"/>
          <p:nvPr/>
        </p:nvSpPr>
        <p:spPr>
          <a:xfrm>
            <a:off x="6492240" y="2971800"/>
            <a:ext cx="4754880" cy="1783080"/>
          </a:xfrm>
          <a:prstGeom prst="rect">
            <a:avLst/>
          </a:prstGeom>
          <a:noFill/>
          <a:ln/>
        </p:spPr>
        <p:txBody>
          <a:bodyPr wrap="square" lIns="0" tIns="0" rIns="0" bIns="0" rtlCol="0" anchor="t"/>
          <a:lstStyle/>
          <a:p>
            <a:pPr indent="0" marL="0">
              <a:buNone/>
            </a:pPr>
            <a:r>
              <a:rPr lang="en-US" sz="1250" dirty="0">
                <a:solidFill>
                  <a:srgbClr val="E6E6E6"/>
                </a:solidFill>
                <a:latin typeface="Consolas" pitchFamily="34" charset="0"/>
                <a:ea typeface="Consolas" pitchFamily="34" charset="-122"/>
                <a:cs typeface="Consolas" pitchFamily="34" charset="-120"/>
              </a:rPr>
              <a:t>public IncidentStatus Status</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    { get; private set; }</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 </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public void Close()</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a:t>
            </a:r>
            <a:endParaRPr lang="en-US" sz="1250" dirty="0"/>
          </a:p>
          <a:p>
            <a:pPr indent="0" marL="0">
              <a:buNone/>
            </a:pPr>
            <a:r>
              <a:rPr lang="en-US" sz="1250" b="1" dirty="0">
                <a:solidFill>
                  <a:srgbClr val="FFA94D"/>
                </a:solidFill>
                <a:latin typeface="Consolas" pitchFamily="34" charset="0"/>
                <a:ea typeface="Consolas" pitchFamily="34" charset="-122"/>
                <a:cs typeface="Consolas" pitchFamily="34" charset="-120"/>
              </a:rPr>
              <a:t>  if (Status != IncidentStatus.Resolved)</a:t>
            </a:r>
            <a:endParaRPr lang="en-US" sz="1250" dirty="0"/>
          </a:p>
          <a:p>
            <a:pPr indent="0" marL="0">
              <a:buNone/>
            </a:pPr>
            <a:r>
              <a:rPr lang="en-US" sz="1250" b="1" dirty="0">
                <a:solidFill>
                  <a:srgbClr val="FFA94D"/>
                </a:solidFill>
                <a:latin typeface="Consolas" pitchFamily="34" charset="0"/>
                <a:ea typeface="Consolas" pitchFamily="34" charset="-122"/>
                <a:cs typeface="Consolas" pitchFamily="34" charset="-120"/>
              </a:rPr>
              <a:t>      throw new InvalidOperationException();</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  Status = IncidentStatus.Closed;</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a:t>
            </a:r>
            <a:endParaRPr lang="en-US" sz="1250" dirty="0"/>
          </a:p>
        </p:txBody>
      </p:sp>
      <p:sp>
        <p:nvSpPr>
          <p:cNvPr id="15" name="Shape 12"/>
          <p:cNvSpPr/>
          <p:nvPr/>
        </p:nvSpPr>
        <p:spPr>
          <a:xfrm>
            <a:off x="640080" y="5166360"/>
            <a:ext cx="10911535" cy="777240"/>
          </a:xfrm>
          <a:prstGeom prst="roundRect">
            <a:avLst>
              <a:gd name="adj" fmla="val 9412"/>
            </a:avLst>
          </a:prstGeom>
          <a:solidFill>
            <a:srgbClr val="16181D"/>
          </a:solidFill>
          <a:ln w="12700">
            <a:solidFill>
              <a:srgbClr val="16181D"/>
            </a:solidFill>
            <a:prstDash val="solid"/>
          </a:ln>
        </p:spPr>
      </p:sp>
      <p:sp>
        <p:nvSpPr>
          <p:cNvPr id="16" name="Text 13"/>
          <p:cNvSpPr txBox="1"/>
          <p:nvPr/>
        </p:nvSpPr>
        <p:spPr>
          <a:xfrm>
            <a:off x="914400" y="5166360"/>
            <a:ext cx="10362895" cy="7772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La règle est écrite à un seul endroit, et personne ne peut la contourner : ni un collègue, ni une IA, ni vous dans six mois.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RETOUR SUR LA SÉANCE 1</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Les accesseurs : get pour lire, set pour écrire</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4</a:t>
            </a:r>
            <a:endParaRPr lang="en-US" sz="1000" dirty="0"/>
          </a:p>
        </p:txBody>
      </p:sp>
      <p:sp>
        <p:nvSpPr>
          <p:cNvPr id="8" name="Text 5"/>
          <p:cNvSpPr txBox="1"/>
          <p:nvPr/>
        </p:nvSpPr>
        <p:spPr>
          <a:xfrm>
            <a:off x="640080" y="1645920"/>
            <a:ext cx="10911535" cy="548640"/>
          </a:xfrm>
          <a:prstGeom prst="rect">
            <a:avLst/>
          </a:prstGeom>
          <a:noFill/>
          <a:ln/>
        </p:spPr>
        <p:txBody>
          <a:bodyPr wrap="square" lIns="0" tIns="0" rIns="0" bIns="0" rtlCol="0" anchor="ctr"/>
          <a:lstStyle/>
          <a:p>
            <a:pPr indent="0" marL="0">
              <a:buNone/>
            </a:pPr>
            <a:r>
              <a:rPr lang="en-US" sz="1550" dirty="0">
                <a:solidFill>
                  <a:srgbClr val="5F6670"/>
                </a:solidFill>
                <a:latin typeface="Calibri" pitchFamily="34" charset="0"/>
                <a:ea typeface="Calibri" pitchFamily="34" charset="-122"/>
                <a:cs typeface="Calibri" pitchFamily="34" charset="-120"/>
              </a:rPr>
              <a:t>Une propriété fonctionne comme une case de formulaire qui aurait deux portes : get permet de lire la valeur, set permet de l'écrire.</a:t>
            </a:r>
            <a:endParaRPr lang="en-US" sz="15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2286000"/>
          <a:ext cx="10911535" cy="914400"/>
        </p:xfrm>
        <a:graphic>
          <a:graphicData uri="http://schemas.openxmlformats.org/drawingml/2006/table">
            <a:tbl>
              <a:tblPr/>
              <a:tblGrid>
                <a:gridCol w="2788920"/>
                <a:gridCol w="1554480"/>
                <a:gridCol w="2103120"/>
                <a:gridCol w="2514600"/>
                <a:gridCol w="1947672"/>
              </a:tblGrid>
              <a:tr h="7315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On écrit</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Qui peut lire ?</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Qui peut écrire ?</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Exemple IncidentHub</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L'image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r>
              <a:tr h="731520">
                <a:tc>
                  <a:txBody>
                    <a:bodyPr/>
                    <a:lstStyle/>
                    <a:p>
                      <a:pPr indent="0" marL="0">
                        <a:buNone/>
                      </a:pPr>
                      <a:r>
                        <a:rPr lang="en-US" sz="1500" b="1" dirty="0">
                          <a:solidFill>
                            <a:srgbClr val="16181D"/>
                          </a:solidFill>
                          <a:latin typeface="Consolas" pitchFamily="34" charset="0"/>
                          <a:ea typeface="Consolas" pitchFamily="34" charset="-122"/>
                          <a:cs typeface="Consolas" pitchFamily="34" charset="-120"/>
                        </a:rPr>
                        <a:t>{ get; set; }</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tout le monde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tout le monde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à éviter pour nos données</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la porte grande ouverte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731520">
                <a:tc>
                  <a:txBody>
                    <a:bodyPr/>
                    <a:lstStyle/>
                    <a:p>
                      <a:pPr indent="0" marL="0">
                        <a:buNone/>
                      </a:pPr>
                      <a:r>
                        <a:rPr lang="en-US" sz="1500" b="1" dirty="0">
                          <a:solidFill>
                            <a:srgbClr val="16181D"/>
                          </a:solidFill>
                          <a:latin typeface="Consolas" pitchFamily="34" charset="0"/>
                          <a:ea typeface="Consolas" pitchFamily="34" charset="-122"/>
                          <a:cs typeface="Consolas" pitchFamily="34" charset="-120"/>
                        </a:rPr>
                        <a:t>{ get; private set; }</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4E6"/>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tout le monde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4E6"/>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la classe seule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4E6"/>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Status : lu partout, changé par Close()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4E6"/>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consulter son solde, seule la banque le modifie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4E6"/>
                    </a:solidFill>
                  </a:tcPr>
                </a:tc>
              </a:tr>
              <a:tr h="731520">
                <a:tc>
                  <a:txBody>
                    <a:bodyPr/>
                    <a:lstStyle/>
                    <a:p>
                      <a:pPr indent="0" marL="0">
                        <a:buNone/>
                      </a:pPr>
                      <a:r>
                        <a:rPr lang="en-US" sz="1500" b="1" dirty="0">
                          <a:solidFill>
                            <a:srgbClr val="16181D"/>
                          </a:solidFill>
                          <a:latin typeface="Consolas" pitchFamily="34" charset="0"/>
                          <a:ea typeface="Consolas" pitchFamily="34" charset="-122"/>
                          <a:cs typeface="Consolas" pitchFamily="34" charset="-120"/>
                        </a:rPr>
                        <a:t>{ get; }</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tout le monde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personne, sauf le constructeur</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Id, CreatedAt : fixés à la création</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le numéro gravé sur la carte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640080" y="5394960"/>
            <a:ext cx="10911535" cy="411480"/>
          </a:xfrm>
          <a:prstGeom prst="rect">
            <a:avLst/>
          </a:prstGeom>
          <a:noFill/>
          <a:ln/>
        </p:spPr>
        <p:txBody>
          <a:bodyPr wrap="square" lIns="0" tIns="0" rIns="0" bIns="0" rtlCol="0" anchor="ctr"/>
          <a:lstStyle/>
          <a:p>
            <a:pPr indent="0" marL="0">
              <a:buNone/>
            </a:pPr>
            <a:r>
              <a:rPr lang="en-US" sz="1600" b="1" dirty="0">
                <a:solidFill>
                  <a:srgbClr val="16181D"/>
                </a:solidFill>
                <a:latin typeface="Calibri" pitchFamily="34" charset="0"/>
                <a:ea typeface="Calibri" pitchFamily="34" charset="-122"/>
                <a:cs typeface="Calibri" pitchFamily="34" charset="-120"/>
              </a:rPr>
              <a:t>La ligne surlignée est celle qu'on utilise le plus pour protéger un objet.</a:t>
            </a:r>
            <a:endParaRPr lang="en-US" sz="1600" dirty="0"/>
          </a:p>
        </p:txBody>
      </p:sp>
      <p:sp>
        <p:nvSpPr>
          <p:cNvPr id="11" name="Text 7"/>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Microsoft Learn, « Propriétés (Guide de programmation C#)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RETOUR SUR LA SÉANCE 1</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Ce qui compile, et ce qui ne compile pas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5</a:t>
            </a:r>
            <a:endParaRPr lang="en-US" sz="1000" dirty="0"/>
          </a:p>
        </p:txBody>
      </p:sp>
      <p:sp>
        <p:nvSpPr>
          <p:cNvPr id="8" name="Shape 5"/>
          <p:cNvSpPr/>
          <p:nvPr/>
        </p:nvSpPr>
        <p:spPr>
          <a:xfrm>
            <a:off x="640080" y="1783080"/>
            <a:ext cx="4846320" cy="4114800"/>
          </a:xfrm>
          <a:prstGeom prst="roundRect">
            <a:avLst>
              <a:gd name="adj" fmla="val 1778"/>
            </a:avLst>
          </a:prstGeom>
          <a:solidFill>
            <a:srgbClr val="1E2127"/>
          </a:solidFill>
          <a:ln w="12700">
            <a:solidFill>
              <a:srgbClr val="1E2127"/>
            </a:solidFill>
            <a:prstDash val="solid"/>
          </a:ln>
        </p:spPr>
      </p:sp>
      <p:sp>
        <p:nvSpPr>
          <p:cNvPr id="9" name="Text 6"/>
          <p:cNvSpPr txBox="1"/>
          <p:nvPr/>
        </p:nvSpPr>
        <p:spPr>
          <a:xfrm>
            <a:off x="914400" y="2011680"/>
            <a:ext cx="4297680" cy="3657600"/>
          </a:xfrm>
          <a:prstGeom prst="rect">
            <a:avLst/>
          </a:prstGeom>
          <a:noFill/>
          <a:ln/>
        </p:spPr>
        <p:txBody>
          <a:bodyPr wrap="square" lIns="0" tIns="0" rIns="0" bIns="0" rtlCol="0" anchor="t"/>
          <a:lstStyle/>
          <a:p>
            <a:pPr indent="0" marL="0">
              <a:buNone/>
            </a:pPr>
            <a:r>
              <a:rPr lang="en-US" sz="1500" dirty="0">
                <a:solidFill>
                  <a:srgbClr val="E6E6E6"/>
                </a:solidFill>
                <a:latin typeface="Consolas" pitchFamily="34" charset="0"/>
                <a:ea typeface="Consolas" pitchFamily="34" charset="-122"/>
                <a:cs typeface="Consolas" pitchFamily="34" charset="-120"/>
              </a:rPr>
              <a:t>public class Incident</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public Guid Id { get;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public IncidentStatus Status</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 get; private set;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public void Close()</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a:t>
            </a:r>
            <a:endParaRPr lang="en-US" sz="1500" dirty="0"/>
          </a:p>
          <a:p>
            <a:pPr indent="0" marL="0">
              <a:buNone/>
            </a:pPr>
            <a:r>
              <a:rPr lang="en-US" sz="1500" dirty="0">
                <a:solidFill>
                  <a:srgbClr val="8B929C"/>
                </a:solidFill>
                <a:latin typeface="Consolas" pitchFamily="34" charset="0"/>
                <a:ea typeface="Consolas" pitchFamily="34" charset="-122"/>
                <a:cs typeface="Consolas" pitchFamily="34" charset="-120"/>
              </a:rPr>
              <a:t>        // vérifie la règle, puis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Status = IncidentStatus.Closed;</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a:t>
            </a:r>
            <a:endParaRPr lang="en-US" sz="1500" dirty="0"/>
          </a:p>
        </p:txBody>
      </p:sp>
      <p:sp>
        <p:nvSpPr>
          <p:cNvPr id="10" name="Shape 7"/>
          <p:cNvSpPr/>
          <p:nvPr/>
        </p:nvSpPr>
        <p:spPr>
          <a:xfrm>
            <a:off x="5760720" y="1783080"/>
            <a:ext cx="5760720" cy="896112"/>
          </a:xfrm>
          <a:prstGeom prst="roundRect">
            <a:avLst>
              <a:gd name="adj" fmla="val 8163"/>
            </a:avLst>
          </a:prstGeom>
          <a:solidFill>
            <a:srgbClr val="F2F3F5"/>
          </a:solidFill>
          <a:ln w="12700">
            <a:solidFill>
              <a:srgbClr val="F2F3F5"/>
            </a:solidFill>
            <a:prstDash val="solid"/>
          </a:ln>
        </p:spPr>
      </p:sp>
      <p:sp>
        <p:nvSpPr>
          <p:cNvPr id="11" name="Shape 8"/>
          <p:cNvSpPr/>
          <p:nvPr/>
        </p:nvSpPr>
        <p:spPr>
          <a:xfrm>
            <a:off x="5897880" y="2002536"/>
            <a:ext cx="457200" cy="457200"/>
          </a:xfrm>
          <a:prstGeom prst="ellipse">
            <a:avLst/>
          </a:prstGeom>
          <a:solidFill>
            <a:srgbClr val="2F9E44"/>
          </a:solidFill>
          <a:ln w="12700">
            <a:solidFill>
              <a:srgbClr val="2F9E44"/>
            </a:solidFill>
            <a:prstDash val="solid"/>
          </a:ln>
        </p:spPr>
      </p:sp>
      <p:sp>
        <p:nvSpPr>
          <p:cNvPr id="12" name="Text 9"/>
          <p:cNvSpPr txBox="1"/>
          <p:nvPr/>
        </p:nvSpPr>
        <p:spPr>
          <a:xfrm>
            <a:off x="5897880" y="200253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3" name="Text 10"/>
          <p:cNvSpPr txBox="1"/>
          <p:nvPr/>
        </p:nvSpPr>
        <p:spPr>
          <a:xfrm>
            <a:off x="6492240" y="1874520"/>
            <a:ext cx="4937760" cy="365760"/>
          </a:xfrm>
          <a:prstGeom prst="rect">
            <a:avLst/>
          </a:prstGeom>
          <a:noFill/>
          <a:ln/>
        </p:spPr>
        <p:txBody>
          <a:bodyPr wrap="square" lIns="0" tIns="0" rIns="0" bIns="0" rtlCol="0" anchor="ctr"/>
          <a:lstStyle/>
          <a:p>
            <a:pPr indent="0" marL="0">
              <a:buNone/>
            </a:pPr>
            <a:r>
              <a:rPr lang="en-US" sz="1300" dirty="0">
                <a:solidFill>
                  <a:srgbClr val="16181D"/>
                </a:solidFill>
                <a:latin typeface="Consolas" pitchFamily="34" charset="0"/>
                <a:ea typeface="Consolas" pitchFamily="34" charset="-122"/>
                <a:cs typeface="Consolas" pitchFamily="34" charset="-120"/>
              </a:rPr>
              <a:t>Console.WriteLine(incident.Status);</a:t>
            </a:r>
            <a:endParaRPr lang="en-US" sz="1300" dirty="0"/>
          </a:p>
        </p:txBody>
      </p:sp>
      <p:sp>
        <p:nvSpPr>
          <p:cNvPr id="14" name="Text 11"/>
          <p:cNvSpPr txBox="1"/>
          <p:nvPr/>
        </p:nvSpPr>
        <p:spPr>
          <a:xfrm>
            <a:off x="6492240" y="2240280"/>
            <a:ext cx="4937760" cy="365760"/>
          </a:xfrm>
          <a:prstGeom prst="rect">
            <a:avLst/>
          </a:prstGeom>
          <a:noFill/>
          <a:ln/>
        </p:spPr>
        <p:txBody>
          <a:bodyPr wrap="square" lIns="0" tIns="0" rIns="0" bIns="0" rtlCol="0" anchor="ctr"/>
          <a:lstStyle/>
          <a:p>
            <a:pPr indent="0" marL="0">
              <a:buNone/>
            </a:pPr>
            <a:r>
              <a:rPr lang="en-US" sz="1400" b="1" dirty="0">
                <a:solidFill>
                  <a:srgbClr val="2F9E44"/>
                </a:solidFill>
                <a:latin typeface="Calibri" pitchFamily="34" charset="0"/>
                <a:ea typeface="Calibri" pitchFamily="34" charset="-122"/>
                <a:cs typeface="Calibri" pitchFamily="34" charset="-120"/>
              </a:rPr>
              <a:t>lire : autorisé</a:t>
            </a:r>
            <a:endParaRPr lang="en-US" sz="1400" dirty="0"/>
          </a:p>
        </p:txBody>
      </p:sp>
      <p:sp>
        <p:nvSpPr>
          <p:cNvPr id="15" name="Shape 12"/>
          <p:cNvSpPr/>
          <p:nvPr/>
        </p:nvSpPr>
        <p:spPr>
          <a:xfrm>
            <a:off x="5760720" y="2807208"/>
            <a:ext cx="5760720" cy="896112"/>
          </a:xfrm>
          <a:prstGeom prst="roundRect">
            <a:avLst>
              <a:gd name="adj" fmla="val 8163"/>
            </a:avLst>
          </a:prstGeom>
          <a:solidFill>
            <a:srgbClr val="F2F3F5"/>
          </a:solidFill>
          <a:ln w="12700">
            <a:solidFill>
              <a:srgbClr val="F2F3F5"/>
            </a:solidFill>
            <a:prstDash val="solid"/>
          </a:ln>
        </p:spPr>
      </p:sp>
      <p:sp>
        <p:nvSpPr>
          <p:cNvPr id="16" name="Shape 13"/>
          <p:cNvSpPr/>
          <p:nvPr/>
        </p:nvSpPr>
        <p:spPr>
          <a:xfrm>
            <a:off x="5897880" y="3026664"/>
            <a:ext cx="457200" cy="457200"/>
          </a:xfrm>
          <a:prstGeom prst="ellipse">
            <a:avLst/>
          </a:prstGeom>
          <a:solidFill>
            <a:srgbClr val="C92A2A"/>
          </a:solidFill>
          <a:ln w="12700">
            <a:solidFill>
              <a:srgbClr val="C92A2A"/>
            </a:solidFill>
            <a:prstDash val="solid"/>
          </a:ln>
        </p:spPr>
      </p:sp>
      <p:sp>
        <p:nvSpPr>
          <p:cNvPr id="17" name="Text 14"/>
          <p:cNvSpPr txBox="1"/>
          <p:nvPr/>
        </p:nvSpPr>
        <p:spPr>
          <a:xfrm>
            <a:off x="5897880" y="302666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8" name="Text 15"/>
          <p:cNvSpPr txBox="1"/>
          <p:nvPr/>
        </p:nvSpPr>
        <p:spPr>
          <a:xfrm>
            <a:off x="6492240" y="2898648"/>
            <a:ext cx="4937760" cy="365760"/>
          </a:xfrm>
          <a:prstGeom prst="rect">
            <a:avLst/>
          </a:prstGeom>
          <a:noFill/>
          <a:ln/>
        </p:spPr>
        <p:txBody>
          <a:bodyPr wrap="square" lIns="0" tIns="0" rIns="0" bIns="0" rtlCol="0" anchor="ctr"/>
          <a:lstStyle/>
          <a:p>
            <a:pPr indent="0" marL="0">
              <a:buNone/>
            </a:pPr>
            <a:r>
              <a:rPr lang="en-US" sz="1300" dirty="0">
                <a:solidFill>
                  <a:srgbClr val="16181D"/>
                </a:solidFill>
                <a:latin typeface="Consolas" pitchFamily="34" charset="0"/>
                <a:ea typeface="Consolas" pitchFamily="34" charset="-122"/>
                <a:cs typeface="Consolas" pitchFamily="34" charset="-120"/>
              </a:rPr>
              <a:t>incident.Status = IncidentStatus.Closed;</a:t>
            </a:r>
            <a:endParaRPr lang="en-US" sz="1300" dirty="0"/>
          </a:p>
        </p:txBody>
      </p:sp>
      <p:sp>
        <p:nvSpPr>
          <p:cNvPr id="19" name="Text 16"/>
          <p:cNvSpPr txBox="1"/>
          <p:nvPr/>
        </p:nvSpPr>
        <p:spPr>
          <a:xfrm>
            <a:off x="6492240" y="3264408"/>
            <a:ext cx="4937760" cy="365760"/>
          </a:xfrm>
          <a:prstGeom prst="rect">
            <a:avLst/>
          </a:prstGeom>
          <a:noFill/>
          <a:ln/>
        </p:spPr>
        <p:txBody>
          <a:bodyPr wrap="square" lIns="0" tIns="0" rIns="0" bIns="0" rtlCol="0" anchor="ctr"/>
          <a:lstStyle/>
          <a:p>
            <a:pPr indent="0" marL="0">
              <a:buNone/>
            </a:pPr>
            <a:r>
              <a:rPr lang="en-US" sz="1400" b="1" dirty="0">
                <a:solidFill>
                  <a:srgbClr val="C92A2A"/>
                </a:solidFill>
                <a:latin typeface="Calibri" pitchFamily="34" charset="0"/>
                <a:ea typeface="Calibri" pitchFamily="34" charset="-122"/>
                <a:cs typeface="Calibri" pitchFamily="34" charset="-120"/>
              </a:rPr>
              <a:t>écrire de l'extérieur : erreur CS0272</a:t>
            </a:r>
            <a:endParaRPr lang="en-US" sz="1400" dirty="0"/>
          </a:p>
        </p:txBody>
      </p:sp>
      <p:sp>
        <p:nvSpPr>
          <p:cNvPr id="20" name="Shape 17"/>
          <p:cNvSpPr/>
          <p:nvPr/>
        </p:nvSpPr>
        <p:spPr>
          <a:xfrm>
            <a:off x="5760720" y="3831336"/>
            <a:ext cx="5760720" cy="896112"/>
          </a:xfrm>
          <a:prstGeom prst="roundRect">
            <a:avLst>
              <a:gd name="adj" fmla="val 8163"/>
            </a:avLst>
          </a:prstGeom>
          <a:solidFill>
            <a:srgbClr val="F2F3F5"/>
          </a:solidFill>
          <a:ln w="12700">
            <a:solidFill>
              <a:srgbClr val="F2F3F5"/>
            </a:solidFill>
            <a:prstDash val="solid"/>
          </a:ln>
        </p:spPr>
      </p:sp>
      <p:sp>
        <p:nvSpPr>
          <p:cNvPr id="21" name="Shape 18"/>
          <p:cNvSpPr/>
          <p:nvPr/>
        </p:nvSpPr>
        <p:spPr>
          <a:xfrm>
            <a:off x="5897880" y="4050792"/>
            <a:ext cx="457200" cy="457200"/>
          </a:xfrm>
          <a:prstGeom prst="ellipse">
            <a:avLst/>
          </a:prstGeom>
          <a:solidFill>
            <a:srgbClr val="2F9E44"/>
          </a:solidFill>
          <a:ln w="12700">
            <a:solidFill>
              <a:srgbClr val="2F9E44"/>
            </a:solidFill>
            <a:prstDash val="solid"/>
          </a:ln>
        </p:spPr>
      </p:sp>
      <p:sp>
        <p:nvSpPr>
          <p:cNvPr id="22" name="Text 19"/>
          <p:cNvSpPr txBox="1"/>
          <p:nvPr/>
        </p:nvSpPr>
        <p:spPr>
          <a:xfrm>
            <a:off x="5897880" y="405079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23" name="Text 20"/>
          <p:cNvSpPr txBox="1"/>
          <p:nvPr/>
        </p:nvSpPr>
        <p:spPr>
          <a:xfrm>
            <a:off x="6492240" y="3922776"/>
            <a:ext cx="4937760" cy="365760"/>
          </a:xfrm>
          <a:prstGeom prst="rect">
            <a:avLst/>
          </a:prstGeom>
          <a:noFill/>
          <a:ln/>
        </p:spPr>
        <p:txBody>
          <a:bodyPr wrap="square" lIns="0" tIns="0" rIns="0" bIns="0" rtlCol="0" anchor="ctr"/>
          <a:lstStyle/>
          <a:p>
            <a:pPr indent="0" marL="0">
              <a:buNone/>
            </a:pPr>
            <a:r>
              <a:rPr lang="en-US" sz="1300" dirty="0">
                <a:solidFill>
                  <a:srgbClr val="16181D"/>
                </a:solidFill>
                <a:latin typeface="Consolas" pitchFamily="34" charset="0"/>
                <a:ea typeface="Consolas" pitchFamily="34" charset="-122"/>
                <a:cs typeface="Consolas" pitchFamily="34" charset="-120"/>
              </a:rPr>
              <a:t>incident.Close();</a:t>
            </a:r>
            <a:endParaRPr lang="en-US" sz="1300" dirty="0"/>
          </a:p>
        </p:txBody>
      </p:sp>
      <p:sp>
        <p:nvSpPr>
          <p:cNvPr id="24" name="Text 21"/>
          <p:cNvSpPr txBox="1"/>
          <p:nvPr/>
        </p:nvSpPr>
        <p:spPr>
          <a:xfrm>
            <a:off x="6492240" y="4288536"/>
            <a:ext cx="4937760" cy="365760"/>
          </a:xfrm>
          <a:prstGeom prst="rect">
            <a:avLst/>
          </a:prstGeom>
          <a:noFill/>
          <a:ln/>
        </p:spPr>
        <p:txBody>
          <a:bodyPr wrap="square" lIns="0" tIns="0" rIns="0" bIns="0" rtlCol="0" anchor="ctr"/>
          <a:lstStyle/>
          <a:p>
            <a:pPr indent="0" marL="0">
              <a:buNone/>
            </a:pPr>
            <a:r>
              <a:rPr lang="en-US" sz="1400" b="1" dirty="0">
                <a:solidFill>
                  <a:srgbClr val="2F9E44"/>
                </a:solidFill>
                <a:latin typeface="Calibri" pitchFamily="34" charset="0"/>
                <a:ea typeface="Calibri" pitchFamily="34" charset="-122"/>
                <a:cs typeface="Calibri" pitchFamily="34" charset="-120"/>
              </a:rPr>
              <a:t>passer par le guichet : autorisé</a:t>
            </a:r>
            <a:endParaRPr lang="en-US" sz="1400" dirty="0"/>
          </a:p>
        </p:txBody>
      </p:sp>
      <p:sp>
        <p:nvSpPr>
          <p:cNvPr id="25" name="Shape 22"/>
          <p:cNvSpPr/>
          <p:nvPr/>
        </p:nvSpPr>
        <p:spPr>
          <a:xfrm>
            <a:off x="5760720" y="4855464"/>
            <a:ext cx="5760720" cy="896112"/>
          </a:xfrm>
          <a:prstGeom prst="roundRect">
            <a:avLst>
              <a:gd name="adj" fmla="val 8163"/>
            </a:avLst>
          </a:prstGeom>
          <a:solidFill>
            <a:srgbClr val="F2F3F5"/>
          </a:solidFill>
          <a:ln w="12700">
            <a:solidFill>
              <a:srgbClr val="F2F3F5"/>
            </a:solidFill>
            <a:prstDash val="solid"/>
          </a:ln>
        </p:spPr>
      </p:sp>
      <p:sp>
        <p:nvSpPr>
          <p:cNvPr id="26" name="Shape 23"/>
          <p:cNvSpPr/>
          <p:nvPr/>
        </p:nvSpPr>
        <p:spPr>
          <a:xfrm>
            <a:off x="5897880" y="5074920"/>
            <a:ext cx="457200" cy="457200"/>
          </a:xfrm>
          <a:prstGeom prst="ellipse">
            <a:avLst/>
          </a:prstGeom>
          <a:solidFill>
            <a:srgbClr val="C92A2A"/>
          </a:solidFill>
          <a:ln w="12700">
            <a:solidFill>
              <a:srgbClr val="C92A2A"/>
            </a:solidFill>
            <a:prstDash val="solid"/>
          </a:ln>
        </p:spPr>
      </p:sp>
      <p:sp>
        <p:nvSpPr>
          <p:cNvPr id="27" name="Text 24"/>
          <p:cNvSpPr txBox="1"/>
          <p:nvPr/>
        </p:nvSpPr>
        <p:spPr>
          <a:xfrm>
            <a:off x="5897880" y="5074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28" name="Text 25"/>
          <p:cNvSpPr txBox="1"/>
          <p:nvPr/>
        </p:nvSpPr>
        <p:spPr>
          <a:xfrm>
            <a:off x="6492240" y="4946904"/>
            <a:ext cx="4937760" cy="365760"/>
          </a:xfrm>
          <a:prstGeom prst="rect">
            <a:avLst/>
          </a:prstGeom>
          <a:noFill/>
          <a:ln/>
        </p:spPr>
        <p:txBody>
          <a:bodyPr wrap="square" lIns="0" tIns="0" rIns="0" bIns="0" rtlCol="0" anchor="ctr"/>
          <a:lstStyle/>
          <a:p>
            <a:pPr indent="0" marL="0">
              <a:buNone/>
            </a:pPr>
            <a:r>
              <a:rPr lang="en-US" sz="1300" dirty="0">
                <a:solidFill>
                  <a:srgbClr val="16181D"/>
                </a:solidFill>
                <a:latin typeface="Consolas" pitchFamily="34" charset="0"/>
                <a:ea typeface="Consolas" pitchFamily="34" charset="-122"/>
                <a:cs typeface="Consolas" pitchFamily="34" charset="-120"/>
              </a:rPr>
              <a:t>incident.Id = Guid.NewGuid();</a:t>
            </a:r>
            <a:endParaRPr lang="en-US" sz="1300" dirty="0"/>
          </a:p>
        </p:txBody>
      </p:sp>
      <p:sp>
        <p:nvSpPr>
          <p:cNvPr id="29" name="Text 26"/>
          <p:cNvSpPr txBox="1"/>
          <p:nvPr/>
        </p:nvSpPr>
        <p:spPr>
          <a:xfrm>
            <a:off x="6492240" y="5312664"/>
            <a:ext cx="4937760" cy="365760"/>
          </a:xfrm>
          <a:prstGeom prst="rect">
            <a:avLst/>
          </a:prstGeom>
          <a:noFill/>
          <a:ln/>
        </p:spPr>
        <p:txBody>
          <a:bodyPr wrap="square" lIns="0" tIns="0" rIns="0" bIns="0" rtlCol="0" anchor="ctr"/>
          <a:lstStyle/>
          <a:p>
            <a:pPr indent="0" marL="0">
              <a:buNone/>
            </a:pPr>
            <a:r>
              <a:rPr lang="en-US" sz="1400" b="1" dirty="0">
                <a:solidFill>
                  <a:srgbClr val="C92A2A"/>
                </a:solidFill>
                <a:latin typeface="Calibri" pitchFamily="34" charset="0"/>
                <a:ea typeface="Calibri" pitchFamily="34" charset="-122"/>
                <a:cs typeface="Calibri" pitchFamily="34" charset="-120"/>
              </a:rPr>
              <a:t>lecture seule : erreur CS0200</a:t>
            </a:r>
            <a:endParaRPr lang="en-US" sz="1400" dirty="0"/>
          </a:p>
        </p:txBody>
      </p:sp>
      <p:sp>
        <p:nvSpPr>
          <p:cNvPr id="30" name="Text 27"/>
          <p:cNvSpPr txBox="1"/>
          <p:nvPr/>
        </p:nvSpPr>
        <p:spPr>
          <a:xfrm>
            <a:off x="5760720" y="5897880"/>
            <a:ext cx="5760720" cy="365760"/>
          </a:xfrm>
          <a:prstGeom prst="rect">
            <a:avLst/>
          </a:prstGeom>
          <a:noFill/>
          <a:ln/>
        </p:spPr>
        <p:txBody>
          <a:bodyPr wrap="square" lIns="0" tIns="0" rIns="0" bIns="0" rtlCol="0" anchor="ctr"/>
          <a:lstStyle/>
          <a:p>
            <a:pPr indent="0" marL="0">
              <a:buNone/>
            </a:pPr>
            <a:r>
              <a:rPr lang="en-US" sz="1400" i="1" dirty="0">
                <a:solidFill>
                  <a:srgbClr val="5F6670"/>
                </a:solidFill>
                <a:latin typeface="Calibri" pitchFamily="34" charset="0"/>
                <a:ea typeface="Calibri" pitchFamily="34" charset="-122"/>
                <a:cs typeface="Calibri" pitchFamily="34" charset="-120"/>
              </a:rPr>
              <a:t>C'est le compilateur qui fait respecter l'encapsulation, avant même l'exécution.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RETOUR SUR LA SÉANCE 1</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La même idée en Java et en Python</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6</a:t>
            </a:r>
            <a:endParaRPr lang="en-US" sz="1000" dirty="0"/>
          </a:p>
        </p:txBody>
      </p:sp>
      <p:sp>
        <p:nvSpPr>
          <p:cNvPr id="8" name="Text 5"/>
          <p:cNvSpPr txBox="1"/>
          <p:nvPr/>
        </p:nvSpPr>
        <p:spPr>
          <a:xfrm>
            <a:off x="640080" y="1737360"/>
            <a:ext cx="3474720" cy="457200"/>
          </a:xfrm>
          <a:prstGeom prst="rect">
            <a:avLst/>
          </a:prstGeom>
          <a:noFill/>
          <a:ln/>
        </p:spPr>
        <p:txBody>
          <a:bodyPr wrap="square" lIns="0" tIns="0" rIns="0" bIns="0" rtlCol="0" anchor="ctr"/>
          <a:lstStyle/>
          <a:p>
            <a:pPr indent="0" marL="0">
              <a:buNone/>
            </a:pPr>
            <a:r>
              <a:rPr lang="en-US" sz="2000" b="1" dirty="0">
                <a:solidFill>
                  <a:srgbClr val="16181D"/>
                </a:solidFill>
                <a:latin typeface="Arial" pitchFamily="34" charset="0"/>
                <a:ea typeface="Arial" pitchFamily="34" charset="-122"/>
                <a:cs typeface="Arial" pitchFamily="34" charset="-120"/>
              </a:rPr>
              <a:t>Java</a:t>
            </a:r>
            <a:endParaRPr lang="en-US" sz="2000" dirty="0"/>
          </a:p>
        </p:txBody>
      </p:sp>
      <p:sp>
        <p:nvSpPr>
          <p:cNvPr id="9" name="Shape 6"/>
          <p:cNvSpPr/>
          <p:nvPr/>
        </p:nvSpPr>
        <p:spPr>
          <a:xfrm>
            <a:off x="640080" y="2240280"/>
            <a:ext cx="3474720" cy="2834640"/>
          </a:xfrm>
          <a:prstGeom prst="roundRect">
            <a:avLst>
              <a:gd name="adj" fmla="val 2581"/>
            </a:avLst>
          </a:prstGeom>
          <a:solidFill>
            <a:srgbClr val="1E2127"/>
          </a:solidFill>
          <a:ln w="12700">
            <a:solidFill>
              <a:srgbClr val="1E2127"/>
            </a:solidFill>
            <a:prstDash val="solid"/>
          </a:ln>
        </p:spPr>
      </p:sp>
      <p:sp>
        <p:nvSpPr>
          <p:cNvPr id="10" name="Text 7"/>
          <p:cNvSpPr txBox="1"/>
          <p:nvPr/>
        </p:nvSpPr>
        <p:spPr>
          <a:xfrm>
            <a:off x="914400" y="2468880"/>
            <a:ext cx="2926080" cy="2377440"/>
          </a:xfrm>
          <a:prstGeom prst="rect">
            <a:avLst/>
          </a:prstGeom>
          <a:noFill/>
          <a:ln/>
        </p:spPr>
        <p:txBody>
          <a:bodyPr wrap="square" lIns="0" tIns="0" rIns="0" bIns="0" rtlCol="0" anchor="t"/>
          <a:lstStyle/>
          <a:p>
            <a:pPr indent="0" marL="0">
              <a:buNone/>
            </a:pPr>
            <a:r>
              <a:rPr lang="en-US" sz="1300" dirty="0">
                <a:solidFill>
                  <a:srgbClr val="E6E6E6"/>
                </a:solidFill>
                <a:latin typeface="Consolas" pitchFamily="34" charset="0"/>
                <a:ea typeface="Consolas" pitchFamily="34" charset="-122"/>
                <a:cs typeface="Consolas" pitchFamily="34" charset="-120"/>
              </a:rPr>
              <a:t>private Status status;</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public Status getStatus() {</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return status;</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8B929C"/>
                </a:solidFill>
                <a:latin typeface="Consolas" pitchFamily="34" charset="0"/>
                <a:ea typeface="Consolas" pitchFamily="34" charset="-122"/>
                <a:cs typeface="Consolas" pitchFamily="34" charset="-120"/>
              </a:rPr>
              <a:t>// pas de setStatus() public</a:t>
            </a:r>
            <a:endParaRPr lang="en-US" sz="1300" dirty="0"/>
          </a:p>
        </p:txBody>
      </p:sp>
      <p:sp>
        <p:nvSpPr>
          <p:cNvPr id="11" name="Text 8"/>
          <p:cNvSpPr txBox="1"/>
          <p:nvPr/>
        </p:nvSpPr>
        <p:spPr>
          <a:xfrm>
            <a:off x="4343400" y="1737360"/>
            <a:ext cx="3474720" cy="457200"/>
          </a:xfrm>
          <a:prstGeom prst="rect">
            <a:avLst/>
          </a:prstGeom>
          <a:noFill/>
          <a:ln/>
        </p:spPr>
        <p:txBody>
          <a:bodyPr wrap="square" lIns="0" tIns="0" rIns="0" bIns="0" rtlCol="0" anchor="ctr"/>
          <a:lstStyle/>
          <a:p>
            <a:pPr indent="0" marL="0">
              <a:buNone/>
            </a:pPr>
            <a:r>
              <a:rPr lang="en-US" sz="2000" b="1" dirty="0">
                <a:solidFill>
                  <a:srgbClr val="16181D"/>
                </a:solidFill>
                <a:latin typeface="Arial" pitchFamily="34" charset="0"/>
                <a:ea typeface="Arial" pitchFamily="34" charset="-122"/>
                <a:cs typeface="Arial" pitchFamily="34" charset="-120"/>
              </a:rPr>
              <a:t>Python</a:t>
            </a:r>
            <a:endParaRPr lang="en-US" sz="2000" dirty="0"/>
          </a:p>
        </p:txBody>
      </p:sp>
      <p:sp>
        <p:nvSpPr>
          <p:cNvPr id="12" name="Shape 9"/>
          <p:cNvSpPr/>
          <p:nvPr/>
        </p:nvSpPr>
        <p:spPr>
          <a:xfrm>
            <a:off x="4343400" y="2240280"/>
            <a:ext cx="3474720" cy="2834640"/>
          </a:xfrm>
          <a:prstGeom prst="roundRect">
            <a:avLst>
              <a:gd name="adj" fmla="val 2581"/>
            </a:avLst>
          </a:prstGeom>
          <a:solidFill>
            <a:srgbClr val="1E2127"/>
          </a:solidFill>
          <a:ln w="12700">
            <a:solidFill>
              <a:srgbClr val="1E2127"/>
            </a:solidFill>
            <a:prstDash val="solid"/>
          </a:ln>
        </p:spPr>
      </p:sp>
      <p:sp>
        <p:nvSpPr>
          <p:cNvPr id="13" name="Text 10"/>
          <p:cNvSpPr txBox="1"/>
          <p:nvPr/>
        </p:nvSpPr>
        <p:spPr>
          <a:xfrm>
            <a:off x="4617720" y="2468880"/>
            <a:ext cx="2926080" cy="2377440"/>
          </a:xfrm>
          <a:prstGeom prst="rect">
            <a:avLst/>
          </a:prstGeom>
          <a:noFill/>
          <a:ln/>
        </p:spPr>
        <p:txBody>
          <a:bodyPr wrap="square" lIns="0" tIns="0" rIns="0" bIns="0" rtlCol="0" anchor="t"/>
          <a:lstStyle/>
          <a:p>
            <a:pPr indent="0" marL="0">
              <a:buNone/>
            </a:pPr>
            <a:r>
              <a:rPr lang="en-US" sz="1300" dirty="0">
                <a:solidFill>
                  <a:srgbClr val="E6E6E6"/>
                </a:solidFill>
                <a:latin typeface="Consolas" pitchFamily="34" charset="0"/>
                <a:ea typeface="Consolas" pitchFamily="34" charset="-122"/>
                <a:cs typeface="Consolas" pitchFamily="34" charset="-120"/>
              </a:rPr>
              <a:t>class Incident:</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@property</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def status(self):</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return self._status</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a:t>
            </a:r>
            <a:endParaRPr lang="en-US" sz="1300" dirty="0"/>
          </a:p>
          <a:p>
            <a:pPr indent="0" marL="0">
              <a:buNone/>
            </a:pPr>
            <a:r>
              <a:rPr lang="en-US" sz="1300" dirty="0">
                <a:solidFill>
                  <a:srgbClr val="8B929C"/>
                </a:solidFill>
                <a:latin typeface="Consolas" pitchFamily="34" charset="0"/>
                <a:ea typeface="Consolas" pitchFamily="34" charset="-122"/>
                <a:cs typeface="Consolas" pitchFamily="34" charset="-120"/>
              </a:rPr>
              <a:t># pas de setter : lecture seule</a:t>
            </a:r>
            <a:endParaRPr lang="en-US" sz="1300" dirty="0"/>
          </a:p>
        </p:txBody>
      </p:sp>
      <p:sp>
        <p:nvSpPr>
          <p:cNvPr id="14" name="Text 11"/>
          <p:cNvSpPr txBox="1"/>
          <p:nvPr/>
        </p:nvSpPr>
        <p:spPr>
          <a:xfrm>
            <a:off x="8046720" y="1737360"/>
            <a:ext cx="3474720" cy="457200"/>
          </a:xfrm>
          <a:prstGeom prst="rect">
            <a:avLst/>
          </a:prstGeom>
          <a:noFill/>
          <a:ln/>
        </p:spPr>
        <p:txBody>
          <a:bodyPr wrap="square" lIns="0" tIns="0" rIns="0" bIns="0" rtlCol="0" anchor="ctr"/>
          <a:lstStyle/>
          <a:p>
            <a:pPr indent="0" marL="0">
              <a:buNone/>
            </a:pPr>
            <a:r>
              <a:rPr lang="en-US" sz="2000" b="1" dirty="0">
                <a:solidFill>
                  <a:srgbClr val="E8590C"/>
                </a:solidFill>
                <a:latin typeface="Arial" pitchFamily="34" charset="0"/>
                <a:ea typeface="Arial" pitchFamily="34" charset="-122"/>
                <a:cs typeface="Arial" pitchFamily="34" charset="-120"/>
              </a:rPr>
              <a:t>C#</a:t>
            </a:r>
            <a:endParaRPr lang="en-US" sz="2000" dirty="0"/>
          </a:p>
        </p:txBody>
      </p:sp>
      <p:sp>
        <p:nvSpPr>
          <p:cNvPr id="15" name="Shape 12"/>
          <p:cNvSpPr/>
          <p:nvPr/>
        </p:nvSpPr>
        <p:spPr>
          <a:xfrm>
            <a:off x="8046720" y="2240280"/>
            <a:ext cx="3474720" cy="2834640"/>
          </a:xfrm>
          <a:prstGeom prst="roundRect">
            <a:avLst>
              <a:gd name="adj" fmla="val 2581"/>
            </a:avLst>
          </a:prstGeom>
          <a:solidFill>
            <a:srgbClr val="1E2127"/>
          </a:solidFill>
          <a:ln w="12700">
            <a:solidFill>
              <a:srgbClr val="1E2127"/>
            </a:solidFill>
            <a:prstDash val="solid"/>
          </a:ln>
        </p:spPr>
      </p:sp>
      <p:sp>
        <p:nvSpPr>
          <p:cNvPr id="16" name="Text 13"/>
          <p:cNvSpPr txBox="1"/>
          <p:nvPr/>
        </p:nvSpPr>
        <p:spPr>
          <a:xfrm>
            <a:off x="8321040" y="2468880"/>
            <a:ext cx="2926080" cy="2377440"/>
          </a:xfrm>
          <a:prstGeom prst="rect">
            <a:avLst/>
          </a:prstGeom>
          <a:noFill/>
          <a:ln/>
        </p:spPr>
        <p:txBody>
          <a:bodyPr wrap="square" lIns="0" tIns="0" rIns="0" bIns="0" rtlCol="0" anchor="t"/>
          <a:lstStyle/>
          <a:p>
            <a:pPr indent="0" marL="0">
              <a:buNone/>
            </a:pPr>
            <a:r>
              <a:rPr lang="en-US" sz="1300" dirty="0">
                <a:solidFill>
                  <a:srgbClr val="E6E6E6"/>
                </a:solidFill>
                <a:latin typeface="Consolas" pitchFamily="34" charset="0"/>
                <a:ea typeface="Consolas" pitchFamily="34" charset="-122"/>
                <a:cs typeface="Consolas" pitchFamily="34" charset="-120"/>
              </a:rPr>
              <a:t>public Status Status</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 get; private set; }</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a:t>
            </a:r>
            <a:endParaRPr lang="en-US" sz="1300" dirty="0"/>
          </a:p>
          <a:p>
            <a:pPr indent="0" marL="0">
              <a:buNone/>
            </a:pPr>
            <a:r>
              <a:rPr lang="en-US" sz="1300" dirty="0">
                <a:solidFill>
                  <a:srgbClr val="8B929C"/>
                </a:solidFill>
                <a:latin typeface="Consolas" pitchFamily="34" charset="0"/>
                <a:ea typeface="Consolas" pitchFamily="34" charset="-122"/>
                <a:cs typeface="Consolas" pitchFamily="34" charset="-120"/>
              </a:rPr>
              <a:t>// une ligne, même idée</a:t>
            </a:r>
            <a:endParaRPr lang="en-US" sz="1300" dirty="0"/>
          </a:p>
        </p:txBody>
      </p:sp>
      <p:sp>
        <p:nvSpPr>
          <p:cNvPr id="17" name="Text 14"/>
          <p:cNvSpPr txBox="1"/>
          <p:nvPr/>
        </p:nvSpPr>
        <p:spPr>
          <a:xfrm>
            <a:off x="640080" y="5349240"/>
            <a:ext cx="10911535" cy="457200"/>
          </a:xfrm>
          <a:prstGeom prst="rect">
            <a:avLst/>
          </a:prstGeom>
          <a:noFill/>
          <a:ln/>
        </p:spPr>
        <p:txBody>
          <a:bodyPr wrap="square" lIns="0" tIns="0" rIns="0" bIns="0"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Les mots « getter » et « setter » viennent de ces méthodes get et set de Java ; C# permet d'écrire la même chose en une seule ligne.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01</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L'héritage</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 Un analyste est un utilisateur »</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LE PROBLÈME</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Trois rôles, trois fois le même code</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8</a:t>
            </a:r>
            <a:endParaRPr lang="en-US" sz="1000" dirty="0"/>
          </a:p>
        </p:txBody>
      </p:sp>
      <p:sp>
        <p:nvSpPr>
          <p:cNvPr id="8" name="Shape 5"/>
          <p:cNvSpPr/>
          <p:nvPr/>
        </p:nvSpPr>
        <p:spPr>
          <a:xfrm>
            <a:off x="640080" y="1920240"/>
            <a:ext cx="2286000" cy="502920"/>
          </a:xfrm>
          <a:prstGeom prst="rect">
            <a:avLst/>
          </a:prstGeom>
          <a:solidFill>
            <a:srgbClr val="16181D"/>
          </a:solidFill>
          <a:ln w="12700">
            <a:solidFill>
              <a:srgbClr val="16181D"/>
            </a:solidFill>
            <a:prstDash val="solid"/>
          </a:ln>
        </p:spPr>
      </p:sp>
      <p:sp>
        <p:nvSpPr>
          <p:cNvPr id="9" name="Text 6"/>
          <p:cNvSpPr txBox="1"/>
          <p:nvPr/>
        </p:nvSpPr>
        <p:spPr>
          <a:xfrm>
            <a:off x="640080" y="1920240"/>
            <a:ext cx="228600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onsolas" pitchFamily="34" charset="0"/>
                <a:ea typeface="Consolas" pitchFamily="34" charset="-122"/>
                <a:cs typeface="Consolas" pitchFamily="34" charset="-120"/>
              </a:rPr>
              <a:t>Reporter</a:t>
            </a:r>
            <a:endParaRPr lang="en-US" sz="1500" dirty="0"/>
          </a:p>
        </p:txBody>
      </p:sp>
      <p:sp>
        <p:nvSpPr>
          <p:cNvPr id="10" name="Shape 7"/>
          <p:cNvSpPr/>
          <p:nvPr/>
        </p:nvSpPr>
        <p:spPr>
          <a:xfrm>
            <a:off x="640080" y="2423160"/>
            <a:ext cx="2286000" cy="1188720"/>
          </a:xfrm>
          <a:prstGeom prst="rect">
            <a:avLst/>
          </a:prstGeom>
          <a:solidFill>
            <a:srgbClr val="FFFFFF"/>
          </a:solidFill>
          <a:ln w="19050">
            <a:solidFill>
              <a:srgbClr val="16181D"/>
            </a:solidFill>
            <a:prstDash val="solid"/>
          </a:ln>
        </p:spPr>
      </p:sp>
      <p:sp>
        <p:nvSpPr>
          <p:cNvPr id="11" name="Text 8"/>
          <p:cNvSpPr txBox="1"/>
          <p:nvPr/>
        </p:nvSpPr>
        <p:spPr>
          <a:xfrm>
            <a:off x="777240" y="2514600"/>
            <a:ext cx="2103120" cy="1005840"/>
          </a:xfrm>
          <a:prstGeom prst="rect">
            <a:avLst/>
          </a:prstGeom>
          <a:noFill/>
          <a:ln/>
        </p:spPr>
        <p:txBody>
          <a:bodyPr wrap="square" lIns="0" tIns="0" rIns="0" bIns="0" rtlCol="0" anchor="t"/>
          <a:lstStyle/>
          <a:p>
            <a:pPr indent="0" marL="0">
              <a:buNone/>
            </a:pPr>
            <a:r>
              <a:rPr lang="en-US" sz="1400" b="1" dirty="0">
                <a:solidFill>
                  <a:srgbClr val="C92A2A"/>
                </a:solidFill>
                <a:latin typeface="Consolas" pitchFamily="34" charset="0"/>
                <a:ea typeface="Consolas" pitchFamily="34" charset="-122"/>
                <a:cs typeface="Consolas" pitchFamily="34" charset="-120"/>
              </a:rPr>
              <a:t>- name : String</a:t>
            </a:r>
            <a:endParaRPr lang="en-US" sz="1400" dirty="0"/>
          </a:p>
          <a:p>
            <a:pPr indent="0" marL="0">
              <a:buNone/>
            </a:pPr>
            <a:r>
              <a:rPr lang="en-US" sz="1400" b="1" dirty="0">
                <a:solidFill>
                  <a:srgbClr val="C92A2A"/>
                </a:solidFill>
                <a:latin typeface="Consolas" pitchFamily="34" charset="0"/>
                <a:ea typeface="Consolas" pitchFamily="34" charset="-122"/>
                <a:cs typeface="Consolas" pitchFamily="34" charset="-120"/>
              </a:rPr>
              <a:t>- email : String</a:t>
            </a:r>
            <a:endParaRPr lang="en-US" sz="1400" dirty="0"/>
          </a:p>
          <a:p>
            <a:pPr indent="0" marL="0">
              <a:buNone/>
            </a:pPr>
            <a:r>
              <a:rPr lang="en-US" sz="1400" dirty="0">
                <a:solidFill>
                  <a:srgbClr val="16181D"/>
                </a:solidFill>
                <a:latin typeface="Consolas" pitchFamily="34" charset="0"/>
                <a:ea typeface="Consolas" pitchFamily="34" charset="-122"/>
                <a:cs typeface="Consolas" pitchFamily="34" charset="-120"/>
              </a:rPr>
              <a:t> </a:t>
            </a:r>
            <a:endParaRPr lang="en-US" sz="1400" dirty="0"/>
          </a:p>
        </p:txBody>
      </p:sp>
      <p:sp>
        <p:nvSpPr>
          <p:cNvPr id="12" name="Shape 9"/>
          <p:cNvSpPr/>
          <p:nvPr/>
        </p:nvSpPr>
        <p:spPr>
          <a:xfrm>
            <a:off x="3154680" y="1920240"/>
            <a:ext cx="2286000" cy="502920"/>
          </a:xfrm>
          <a:prstGeom prst="rect">
            <a:avLst/>
          </a:prstGeom>
          <a:solidFill>
            <a:srgbClr val="16181D"/>
          </a:solidFill>
          <a:ln w="12700">
            <a:solidFill>
              <a:srgbClr val="16181D"/>
            </a:solidFill>
            <a:prstDash val="solid"/>
          </a:ln>
        </p:spPr>
      </p:sp>
      <p:sp>
        <p:nvSpPr>
          <p:cNvPr id="13" name="Text 10"/>
          <p:cNvSpPr txBox="1"/>
          <p:nvPr/>
        </p:nvSpPr>
        <p:spPr>
          <a:xfrm>
            <a:off x="3154680" y="1920240"/>
            <a:ext cx="228600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onsolas" pitchFamily="34" charset="0"/>
                <a:ea typeface="Consolas" pitchFamily="34" charset="-122"/>
                <a:cs typeface="Consolas" pitchFamily="34" charset="-120"/>
              </a:rPr>
              <a:t>Analyst</a:t>
            </a:r>
            <a:endParaRPr lang="en-US" sz="1500" dirty="0"/>
          </a:p>
        </p:txBody>
      </p:sp>
      <p:sp>
        <p:nvSpPr>
          <p:cNvPr id="14" name="Shape 11"/>
          <p:cNvSpPr/>
          <p:nvPr/>
        </p:nvSpPr>
        <p:spPr>
          <a:xfrm>
            <a:off x="3154680" y="2423160"/>
            <a:ext cx="2286000" cy="1188720"/>
          </a:xfrm>
          <a:prstGeom prst="rect">
            <a:avLst/>
          </a:prstGeom>
          <a:solidFill>
            <a:srgbClr val="FFFFFF"/>
          </a:solidFill>
          <a:ln w="19050">
            <a:solidFill>
              <a:srgbClr val="16181D"/>
            </a:solidFill>
            <a:prstDash val="solid"/>
          </a:ln>
        </p:spPr>
      </p:sp>
      <p:sp>
        <p:nvSpPr>
          <p:cNvPr id="15" name="Text 12"/>
          <p:cNvSpPr txBox="1"/>
          <p:nvPr/>
        </p:nvSpPr>
        <p:spPr>
          <a:xfrm>
            <a:off x="3291840" y="2514600"/>
            <a:ext cx="2103120" cy="1005840"/>
          </a:xfrm>
          <a:prstGeom prst="rect">
            <a:avLst/>
          </a:prstGeom>
          <a:noFill/>
          <a:ln/>
        </p:spPr>
        <p:txBody>
          <a:bodyPr wrap="square" lIns="0" tIns="0" rIns="0" bIns="0" rtlCol="0" anchor="t"/>
          <a:lstStyle/>
          <a:p>
            <a:pPr indent="0" marL="0">
              <a:buNone/>
            </a:pPr>
            <a:r>
              <a:rPr lang="en-US" sz="1400" b="1" dirty="0">
                <a:solidFill>
                  <a:srgbClr val="C92A2A"/>
                </a:solidFill>
                <a:latin typeface="Consolas" pitchFamily="34" charset="0"/>
                <a:ea typeface="Consolas" pitchFamily="34" charset="-122"/>
                <a:cs typeface="Consolas" pitchFamily="34" charset="-120"/>
              </a:rPr>
              <a:t>- name : String</a:t>
            </a:r>
            <a:endParaRPr lang="en-US" sz="1400" dirty="0"/>
          </a:p>
          <a:p>
            <a:pPr indent="0" marL="0">
              <a:buNone/>
            </a:pPr>
            <a:r>
              <a:rPr lang="en-US" sz="1400" b="1" dirty="0">
                <a:solidFill>
                  <a:srgbClr val="C92A2A"/>
                </a:solidFill>
                <a:latin typeface="Consolas" pitchFamily="34" charset="0"/>
                <a:ea typeface="Consolas" pitchFamily="34" charset="-122"/>
                <a:cs typeface="Consolas" pitchFamily="34" charset="-120"/>
              </a:rPr>
              <a:t>- email : String</a:t>
            </a:r>
            <a:endParaRPr lang="en-US" sz="1400" dirty="0"/>
          </a:p>
          <a:p>
            <a:pPr indent="0" marL="0">
              <a:buNone/>
            </a:pPr>
            <a:r>
              <a:rPr lang="en-US" sz="1400" dirty="0">
                <a:solidFill>
                  <a:srgbClr val="16181D"/>
                </a:solidFill>
                <a:latin typeface="Consolas" pitchFamily="34" charset="0"/>
                <a:ea typeface="Consolas" pitchFamily="34" charset="-122"/>
                <a:cs typeface="Consolas" pitchFamily="34" charset="-120"/>
              </a:rPr>
              <a:t>- team : String</a:t>
            </a:r>
            <a:endParaRPr lang="en-US" sz="1400" dirty="0"/>
          </a:p>
        </p:txBody>
      </p:sp>
      <p:sp>
        <p:nvSpPr>
          <p:cNvPr id="16" name="Shape 13"/>
          <p:cNvSpPr/>
          <p:nvPr/>
        </p:nvSpPr>
        <p:spPr>
          <a:xfrm>
            <a:off x="5669280" y="1920240"/>
            <a:ext cx="2286000" cy="502920"/>
          </a:xfrm>
          <a:prstGeom prst="rect">
            <a:avLst/>
          </a:prstGeom>
          <a:solidFill>
            <a:srgbClr val="16181D"/>
          </a:solidFill>
          <a:ln w="12700">
            <a:solidFill>
              <a:srgbClr val="16181D"/>
            </a:solidFill>
            <a:prstDash val="solid"/>
          </a:ln>
        </p:spPr>
      </p:sp>
      <p:sp>
        <p:nvSpPr>
          <p:cNvPr id="17" name="Text 14"/>
          <p:cNvSpPr txBox="1"/>
          <p:nvPr/>
        </p:nvSpPr>
        <p:spPr>
          <a:xfrm>
            <a:off x="5669280" y="1920240"/>
            <a:ext cx="228600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onsolas" pitchFamily="34" charset="0"/>
                <a:ea typeface="Consolas" pitchFamily="34" charset="-122"/>
                <a:cs typeface="Consolas" pitchFamily="34" charset="-120"/>
              </a:rPr>
              <a:t>Manager</a:t>
            </a:r>
            <a:endParaRPr lang="en-US" sz="1500" dirty="0"/>
          </a:p>
        </p:txBody>
      </p:sp>
      <p:sp>
        <p:nvSpPr>
          <p:cNvPr id="18" name="Shape 15"/>
          <p:cNvSpPr/>
          <p:nvPr/>
        </p:nvSpPr>
        <p:spPr>
          <a:xfrm>
            <a:off x="5669280" y="2423160"/>
            <a:ext cx="2286000" cy="1188720"/>
          </a:xfrm>
          <a:prstGeom prst="rect">
            <a:avLst/>
          </a:prstGeom>
          <a:solidFill>
            <a:srgbClr val="FFFFFF"/>
          </a:solidFill>
          <a:ln w="19050">
            <a:solidFill>
              <a:srgbClr val="16181D"/>
            </a:solidFill>
            <a:prstDash val="solid"/>
          </a:ln>
        </p:spPr>
      </p:sp>
      <p:sp>
        <p:nvSpPr>
          <p:cNvPr id="19" name="Text 16"/>
          <p:cNvSpPr txBox="1"/>
          <p:nvPr/>
        </p:nvSpPr>
        <p:spPr>
          <a:xfrm>
            <a:off x="5806440" y="2514600"/>
            <a:ext cx="2103120" cy="1005840"/>
          </a:xfrm>
          <a:prstGeom prst="rect">
            <a:avLst/>
          </a:prstGeom>
          <a:noFill/>
          <a:ln/>
        </p:spPr>
        <p:txBody>
          <a:bodyPr wrap="square" lIns="0" tIns="0" rIns="0" bIns="0" rtlCol="0" anchor="t"/>
          <a:lstStyle/>
          <a:p>
            <a:pPr indent="0" marL="0">
              <a:buNone/>
            </a:pPr>
            <a:r>
              <a:rPr lang="en-US" sz="1400" b="1" dirty="0">
                <a:solidFill>
                  <a:srgbClr val="C92A2A"/>
                </a:solidFill>
                <a:latin typeface="Consolas" pitchFamily="34" charset="0"/>
                <a:ea typeface="Consolas" pitchFamily="34" charset="-122"/>
                <a:cs typeface="Consolas" pitchFamily="34" charset="-120"/>
              </a:rPr>
              <a:t>- name : String</a:t>
            </a:r>
            <a:endParaRPr lang="en-US" sz="1400" dirty="0"/>
          </a:p>
          <a:p>
            <a:pPr indent="0" marL="0">
              <a:buNone/>
            </a:pPr>
            <a:r>
              <a:rPr lang="en-US" sz="1400" b="1" dirty="0">
                <a:solidFill>
                  <a:srgbClr val="C92A2A"/>
                </a:solidFill>
                <a:latin typeface="Consolas" pitchFamily="34" charset="0"/>
                <a:ea typeface="Consolas" pitchFamily="34" charset="-122"/>
                <a:cs typeface="Consolas" pitchFamily="34" charset="-120"/>
              </a:rPr>
              <a:t>- email : String</a:t>
            </a:r>
            <a:endParaRPr lang="en-US" sz="1400" dirty="0"/>
          </a:p>
          <a:p>
            <a:pPr indent="0" marL="0">
              <a:buNone/>
            </a:pPr>
            <a:r>
              <a:rPr lang="en-US" sz="1400" dirty="0">
                <a:solidFill>
                  <a:srgbClr val="16181D"/>
                </a:solidFill>
                <a:latin typeface="Consolas" pitchFamily="34" charset="0"/>
                <a:ea typeface="Consolas" pitchFamily="34" charset="-122"/>
                <a:cs typeface="Consolas" pitchFamily="34" charset="-120"/>
              </a:rPr>
              <a:t> </a:t>
            </a:r>
            <a:endParaRPr lang="en-US" sz="1400" dirty="0"/>
          </a:p>
        </p:txBody>
      </p:sp>
      <p:sp>
        <p:nvSpPr>
          <p:cNvPr id="20" name="Text 17"/>
          <p:cNvSpPr txBox="1"/>
          <p:nvPr/>
        </p:nvSpPr>
        <p:spPr>
          <a:xfrm>
            <a:off x="640080" y="3840480"/>
            <a:ext cx="7315200" cy="457200"/>
          </a:xfrm>
          <a:prstGeom prst="rect">
            <a:avLst/>
          </a:prstGeom>
          <a:noFill/>
          <a:ln/>
        </p:spPr>
        <p:txBody>
          <a:bodyPr wrap="square" lIns="0" tIns="0" rIns="0" bIns="0" rtlCol="0" anchor="ctr"/>
          <a:lstStyle/>
          <a:p>
            <a:pPr indent="0" marL="0">
              <a:buNone/>
            </a:pPr>
            <a:r>
              <a:rPr lang="en-US" sz="1800" b="1" dirty="0">
                <a:solidFill>
                  <a:srgbClr val="C92A2A"/>
                </a:solidFill>
                <a:latin typeface="Calibri" pitchFamily="34" charset="0"/>
                <a:ea typeface="Calibri" pitchFamily="34" charset="-122"/>
                <a:cs typeface="Calibri" pitchFamily="34" charset="-120"/>
              </a:rPr>
              <a:t>Le nom et l'e-mail sont recopiés dans chacune des trois classes.</a:t>
            </a:r>
            <a:endParaRPr lang="en-US" sz="1800" dirty="0"/>
          </a:p>
        </p:txBody>
      </p:sp>
      <p:sp>
        <p:nvSpPr>
          <p:cNvPr id="21" name="Shape 18"/>
          <p:cNvSpPr/>
          <p:nvPr/>
        </p:nvSpPr>
        <p:spPr>
          <a:xfrm>
            <a:off x="8412480" y="1920240"/>
            <a:ext cx="3108960" cy="3566160"/>
          </a:xfrm>
          <a:prstGeom prst="roundRect">
            <a:avLst>
              <a:gd name="adj" fmla="val 2353"/>
            </a:avLst>
          </a:prstGeom>
          <a:solidFill>
            <a:srgbClr val="16181D"/>
          </a:solidFill>
          <a:ln w="12700">
            <a:solidFill>
              <a:srgbClr val="16181D"/>
            </a:solidFill>
            <a:prstDash val="solid"/>
          </a:ln>
        </p:spPr>
      </p:sp>
      <p:sp>
        <p:nvSpPr>
          <p:cNvPr id="22" name="Text 19"/>
          <p:cNvSpPr txBox="1"/>
          <p:nvPr/>
        </p:nvSpPr>
        <p:spPr>
          <a:xfrm>
            <a:off x="8641080" y="2103120"/>
            <a:ext cx="2697480" cy="3200400"/>
          </a:xfrm>
          <a:prstGeom prst="rect">
            <a:avLst/>
          </a:prstGeom>
          <a:noFill/>
          <a:ln/>
        </p:spPr>
        <p:txBody>
          <a:bodyPr wrap="square" lIns="0" tIns="0" rIns="0" bIns="0" rtlCol="0" anchor="t"/>
          <a:lstStyle/>
          <a:p>
            <a:pPr indent="0" marL="0">
              <a:buNone/>
            </a:pPr>
            <a:r>
              <a:rPr lang="en-US" sz="1800" b="1" dirty="0">
                <a:solidFill>
                  <a:srgbClr val="E8590C"/>
                </a:solidFill>
                <a:latin typeface="Calibri" pitchFamily="34" charset="0"/>
                <a:ea typeface="Calibri" pitchFamily="34" charset="-122"/>
                <a:cs typeface="Calibri" pitchFamily="34" charset="-120"/>
              </a:rPr>
              <a:t>Le risque</a:t>
            </a:r>
            <a:endParaRPr lang="en-US" sz="1800" dirty="0"/>
          </a:p>
          <a:p>
            <a:pPr indent="0" marL="0">
              <a:buNone/>
            </a:pPr>
            <a:endParaRPr lang="en-US" sz="1800" dirty="0"/>
          </a:p>
          <a:p>
            <a:pPr indent="0" marL="0">
              <a:buNone/>
            </a:pPr>
            <a:r>
              <a:rPr lang="en-US" sz="1500" dirty="0">
                <a:solidFill>
                  <a:srgbClr val="FFFFFF"/>
                </a:solidFill>
                <a:latin typeface="Calibri" pitchFamily="34" charset="0"/>
                <a:ea typeface="Calibri" pitchFamily="34" charset="-122"/>
                <a:cs typeface="Calibri" pitchFamily="34" charset="-120"/>
              </a:rPr>
              <a:t>Le jour où l'on ajoute un numéro de téléphone, il faut le faire trois fois, et on risque d'en oublier une.</a:t>
            </a:r>
            <a:endParaRPr lang="en-US" sz="1800" dirty="0"/>
          </a:p>
          <a:p>
            <a:pPr indent="0" marL="0">
              <a:buNone/>
            </a:pPr>
            <a:endParaRPr lang="en-US" sz="1800" dirty="0"/>
          </a:p>
          <a:p>
            <a:pPr indent="0" marL="0">
              <a:buNone/>
            </a:pPr>
            <a:r>
              <a:rPr lang="en-US" sz="1500" dirty="0">
                <a:solidFill>
                  <a:srgbClr val="FFFFFF"/>
                </a:solidFill>
                <a:latin typeface="Calibri" pitchFamily="34" charset="0"/>
                <a:ea typeface="Calibri" pitchFamily="34" charset="-122"/>
                <a:cs typeface="Calibri" pitchFamily="34" charset="-120"/>
              </a:rPr>
              <a:t>Les développeurs appellent cela un « code smell » : une odeur de code, signe que la conception peut être améliorée.</a:t>
            </a:r>
            <a:endParaRPr lang="en-US" sz="1800" dirty="0"/>
          </a:p>
        </p:txBody>
      </p:sp>
      <p:sp>
        <p:nvSpPr>
          <p:cNvPr id="23" name="Text 20"/>
          <p:cNvSpPr txBox="1"/>
          <p:nvPr/>
        </p:nvSpPr>
        <p:spPr>
          <a:xfrm>
            <a:off x="640080" y="4572000"/>
            <a:ext cx="7315200" cy="457200"/>
          </a:xfrm>
          <a:prstGeom prst="rect">
            <a:avLst/>
          </a:prstGeom>
          <a:noFill/>
          <a:ln/>
        </p:spPr>
        <p:txBody>
          <a:bodyPr wrap="square" lIns="0" tIns="0" rIns="0" bIns="0" rtlCol="0" anchor="ctr"/>
          <a:lstStyle/>
          <a:p>
            <a:pPr indent="0" marL="0">
              <a:buNone/>
            </a:pPr>
            <a:r>
              <a:rPr lang="en-US" sz="1800" dirty="0">
                <a:solidFill>
                  <a:srgbClr val="16181D"/>
                </a:solidFill>
                <a:latin typeface="Calibri" pitchFamily="34" charset="0"/>
                <a:ea typeface="Calibri" pitchFamily="34" charset="-122"/>
                <a:cs typeface="Calibri" pitchFamily="34" charset="-120"/>
              </a:rPr>
              <a:t>Dans le chat : que feriez-vous ?</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HÉRITAGE</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Hériter : partir d'un modèle et le compléter</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9</a:t>
            </a:r>
            <a:endParaRPr lang="en-US" sz="1000" dirty="0"/>
          </a:p>
        </p:txBody>
      </p:sp>
      <p:pic>
        <p:nvPicPr>
          <p:cNvPr id="8" name="Image 0" descr="s2diag/heritage.png">    </p:cNvPr>
          <p:cNvPicPr>
            <a:picLocks noChangeAspect="1"/>
          </p:cNvPicPr>
          <p:nvPr/>
        </p:nvPicPr>
        <p:blipFill>
          <a:blip r:embed="rId1"/>
          <a:stretch>
            <a:fillRect/>
          </a:stretch>
        </p:blipFill>
        <p:spPr>
          <a:xfrm>
            <a:off x="640080" y="2084290"/>
            <a:ext cx="6217920" cy="3238059"/>
          </a:xfrm>
          <a:prstGeom prst="rect">
            <a:avLst/>
          </a:prstGeom>
        </p:spPr>
      </p:pic>
      <p:sp>
        <p:nvSpPr>
          <p:cNvPr id="9" name="Shape 5"/>
          <p:cNvSpPr/>
          <p:nvPr/>
        </p:nvSpPr>
        <p:spPr>
          <a:xfrm>
            <a:off x="7132320" y="1783080"/>
            <a:ext cx="4389120" cy="3931920"/>
          </a:xfrm>
          <a:prstGeom prst="roundRect">
            <a:avLst>
              <a:gd name="adj" fmla="val 1860"/>
            </a:avLst>
          </a:prstGeom>
          <a:solidFill>
            <a:srgbClr val="F2F3F5"/>
          </a:solidFill>
          <a:ln w="12700">
            <a:solidFill>
              <a:srgbClr val="F2F3F5"/>
            </a:solidFill>
            <a:prstDash val="solid"/>
          </a:ln>
        </p:spPr>
      </p:sp>
      <p:sp>
        <p:nvSpPr>
          <p:cNvPr id="10" name="Text 6"/>
          <p:cNvSpPr txBox="1"/>
          <p:nvPr/>
        </p:nvSpPr>
        <p:spPr>
          <a:xfrm>
            <a:off x="7360920" y="1965960"/>
            <a:ext cx="3931920" cy="3566160"/>
          </a:xfrm>
          <a:prstGeom prst="rect">
            <a:avLst/>
          </a:prstGeom>
          <a:noFill/>
          <a:ln/>
        </p:spPr>
        <p:txBody>
          <a:bodyPr wrap="square" lIns="0" tIns="0" rIns="0" bIns="0" rtlCol="0" anchor="t"/>
          <a:lstStyle/>
          <a:p>
            <a:pPr indent="0" marL="0">
              <a:buNone/>
            </a:pPr>
            <a:r>
              <a:rPr lang="en-US" sz="1800" b="1" dirty="0">
                <a:solidFill>
                  <a:srgbClr val="16181D"/>
                </a:solidFill>
                <a:latin typeface="Calibri" pitchFamily="34" charset="0"/>
                <a:ea typeface="Calibri" pitchFamily="34" charset="-122"/>
                <a:cs typeface="Calibri" pitchFamily="34" charset="-120"/>
              </a:rPr>
              <a:t>Le test du « est un »</a:t>
            </a:r>
            <a:endParaRPr lang="en-US" sz="1800" dirty="0"/>
          </a:p>
          <a:p>
            <a:pPr indent="0" marL="0">
              <a:buNone/>
            </a:pPr>
            <a:r>
              <a:rPr lang="en-US" sz="1600" dirty="0">
                <a:solidFill>
                  <a:srgbClr val="5F6670"/>
                </a:solidFill>
                <a:latin typeface="Calibri" pitchFamily="34" charset="0"/>
                <a:ea typeface="Calibri" pitchFamily="34" charset="-122"/>
                <a:cs typeface="Calibri" pitchFamily="34" charset="-120"/>
              </a:rPr>
              <a:t>
Un analyste est un utilisateur ? Oui.
Un responsable est un utilisateur ? Oui.
Un commentaire est un incident ? Non.
</a:t>
            </a:r>
            <a:endParaRPr lang="en-US" sz="1800" dirty="0"/>
          </a:p>
          <a:p>
            <a:pPr indent="0" marL="0">
              <a:buNone/>
            </a:pPr>
            <a:r>
              <a:rPr lang="en-US" sz="1800" b="1" dirty="0">
                <a:solidFill>
                  <a:srgbClr val="16181D"/>
                </a:solidFill>
                <a:latin typeface="Calibri" pitchFamily="34" charset="0"/>
                <a:ea typeface="Calibri" pitchFamily="34" charset="-122"/>
                <a:cs typeface="Calibri" pitchFamily="34" charset="-120"/>
              </a:rPr>
              <a:t>En UML</a:t>
            </a:r>
            <a:endParaRPr lang="en-US" sz="1800" dirty="0"/>
          </a:p>
          <a:p>
            <a:pPr indent="0" marL="0">
              <a:buNone/>
            </a:pPr>
            <a:r>
              <a:rPr lang="en-US" sz="1600" dirty="0">
                <a:solidFill>
                  <a:srgbClr val="5F6670"/>
                </a:solidFill>
                <a:latin typeface="Calibri" pitchFamily="34" charset="0"/>
                <a:ea typeface="Calibri" pitchFamily="34" charset="-122"/>
                <a:cs typeface="Calibri" pitchFamily="34" charset="-120"/>
              </a:rPr>
              <a:t>Un triangle vide qui pointe vers le parent.</a:t>
            </a:r>
            <a:endParaRPr lang="en-US" sz="1800" dirty="0"/>
          </a:p>
          <a:p>
            <a:pPr indent="0" marL="0">
              <a:buNone/>
            </a:pPr>
            <a:r>
              <a:rPr lang="en-US" sz="1600" dirty="0">
                <a:solidFill>
                  <a:srgbClr val="5F6670"/>
                </a:solidFill>
                <a:latin typeface="Calibri" pitchFamily="34" charset="0"/>
                <a:ea typeface="Calibri" pitchFamily="34" charset="-122"/>
                <a:cs typeface="Calibri" pitchFamily="34" charset="-120"/>
              </a:rPr>
              <a:t>En C# : class Analyst : User</a:t>
            </a:r>
            <a:endParaRPr lang="en-US" sz="1800" dirty="0"/>
          </a:p>
        </p:txBody>
      </p:sp>
      <p:sp>
        <p:nvSpPr>
          <p:cNvPr id="11" name="Text 7"/>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Diagramme généré avec PlantUML.</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3F5"/>
        </a:solidFill>
      </p:bgPr>
    </p:bg>
    <p:spTree>
      <p:nvGrpSpPr>
        <p:cNvPr id="1" name=""/>
        <p:cNvGrpSpPr/>
        <p:nvPr/>
      </p:nvGrpSpPr>
      <p:grpSpPr>
        <a:xfrm>
          <a:off x="0" y="0"/>
          <a:ext cx="0" cy="0"/>
          <a:chOff x="0" y="0"/>
          <a:chExt cx="0" cy="0"/>
        </a:xfrm>
      </p:grpSpPr>
      <p:sp>
        <p:nvSpPr>
          <p:cNvPr id="2" name="Text 0"/>
          <p:cNvSpPr txBox="1"/>
          <p:nvPr/>
        </p:nvSpPr>
        <p:spPr>
          <a:xfrm>
            <a:off x="640080" y="1463040"/>
            <a:ext cx="3657600" cy="457200"/>
          </a:xfrm>
          <a:prstGeom prst="rect">
            <a:avLst/>
          </a:prstGeom>
          <a:noFill/>
          <a:ln/>
        </p:spPr>
        <p:txBody>
          <a:bodyPr wrap="square" lIns="0" tIns="0" rIns="0" bIns="0" rtlCol="0" anchor="ctr"/>
          <a:lstStyle/>
          <a:p>
            <a:pPr indent="0" marL="0">
              <a:buNone/>
            </a:pPr>
            <a:r>
              <a:rPr lang="en-US" sz="1600" b="1" spc="400" kern="0" dirty="0">
                <a:solidFill>
                  <a:srgbClr val="E8590C"/>
                </a:solidFill>
                <a:latin typeface="Calibri" pitchFamily="34" charset="0"/>
                <a:ea typeface="Calibri" pitchFamily="34" charset="-122"/>
                <a:cs typeface="Calibri" pitchFamily="34" charset="-120"/>
              </a:rPr>
              <a:t>RIDER</a:t>
            </a:r>
            <a:endParaRPr lang="en-US" sz="1600" dirty="0"/>
          </a:p>
        </p:txBody>
      </p:sp>
      <p:sp>
        <p:nvSpPr>
          <p:cNvPr id="3" name="Shape 1"/>
          <p:cNvSpPr/>
          <p:nvPr/>
        </p:nvSpPr>
        <p:spPr>
          <a:xfrm>
            <a:off x="640080" y="2011680"/>
            <a:ext cx="10911535" cy="1005840"/>
          </a:xfrm>
          <a:prstGeom prst="roundRect">
            <a:avLst>
              <a:gd name="adj" fmla="val 7273"/>
            </a:avLst>
          </a:prstGeom>
          <a:solidFill>
            <a:srgbClr val="1E2127"/>
          </a:solidFill>
          <a:ln w="12700">
            <a:solidFill>
              <a:srgbClr val="1E2127"/>
            </a:solidFill>
            <a:prstDash val="solid"/>
          </a:ln>
        </p:spPr>
      </p:sp>
      <p:sp>
        <p:nvSpPr>
          <p:cNvPr id="4" name="Text 2"/>
          <p:cNvSpPr txBox="1"/>
          <p:nvPr/>
        </p:nvSpPr>
        <p:spPr>
          <a:xfrm>
            <a:off x="1005840" y="2011680"/>
            <a:ext cx="10180015" cy="1005840"/>
          </a:xfrm>
          <a:prstGeom prst="rect">
            <a:avLst/>
          </a:prstGeom>
          <a:noFill/>
          <a:ln/>
        </p:spPr>
        <p:txBody>
          <a:bodyPr wrap="square" lIns="0" tIns="0" rIns="0" bIns="0" rtlCol="0" anchor="ctr"/>
          <a:lstStyle/>
          <a:p>
            <a:pPr indent="0" marL="0">
              <a:buNone/>
            </a:pPr>
            <a:r>
              <a:rPr lang="en-US" sz="2800" dirty="0">
                <a:solidFill>
                  <a:srgbClr val="E6E6E6"/>
                </a:solidFill>
                <a:latin typeface="Consolas" pitchFamily="34" charset="0"/>
                <a:ea typeface="Consolas" pitchFamily="34" charset="-122"/>
                <a:cs typeface="Consolas" pitchFamily="34" charset="-120"/>
              </a:rPr>
              <a:t>git checkout s02-etape1-heritage</a:t>
            </a:r>
            <a:endParaRPr lang="en-US" sz="2800" dirty="0"/>
          </a:p>
        </p:txBody>
      </p:sp>
      <p:sp>
        <p:nvSpPr>
          <p:cNvPr id="5" name="Text 3"/>
          <p:cNvSpPr txBox="1"/>
          <p:nvPr/>
        </p:nvSpPr>
        <p:spPr>
          <a:xfrm>
            <a:off x="640080" y="3291840"/>
            <a:ext cx="10911535" cy="731520"/>
          </a:xfrm>
          <a:prstGeom prst="rect">
            <a:avLst/>
          </a:prstGeom>
          <a:noFill/>
          <a:ln/>
        </p:spPr>
        <p:txBody>
          <a:bodyPr wrap="square" lIns="0" tIns="0" rIns="0" bIns="0" rtlCol="0" anchor="t"/>
          <a:lstStyle/>
          <a:p>
            <a:pPr indent="0" marL="0">
              <a:buNone/>
            </a:pPr>
            <a:r>
              <a:rPr lang="en-US" sz="2400" b="1" dirty="0">
                <a:solidFill>
                  <a:srgbClr val="16181D"/>
                </a:solidFill>
                <a:latin typeface="Arial" pitchFamily="34" charset="0"/>
                <a:ea typeface="Arial" pitchFamily="34" charset="-122"/>
                <a:cs typeface="Arial" pitchFamily="34" charset="-120"/>
              </a:rPr>
              <a:t>User devient la classe parente</a:t>
            </a:r>
            <a:endParaRPr lang="en-US" sz="2400" dirty="0"/>
          </a:p>
        </p:txBody>
      </p:sp>
      <p:sp>
        <p:nvSpPr>
          <p:cNvPr id="6" name="Text 4"/>
          <p:cNvSpPr txBox="1"/>
          <p:nvPr/>
        </p:nvSpPr>
        <p:spPr>
          <a:xfrm>
            <a:off x="640080" y="4114800"/>
            <a:ext cx="4572000" cy="365760"/>
          </a:xfrm>
          <a:prstGeom prst="rect">
            <a:avLst/>
          </a:prstGeom>
          <a:noFill/>
          <a:ln/>
        </p:spPr>
        <p:txBody>
          <a:bodyPr wrap="square" lIns="0" tIns="0" rIns="0" bIns="0" rtlCol="0" anchor="ctr"/>
          <a:lstStyle/>
          <a:p>
            <a:pPr indent="0" marL="0">
              <a:buNone/>
            </a:pPr>
            <a:r>
              <a:rPr lang="en-US" sz="1300" b="1" spc="200" kern="0" dirty="0">
                <a:solidFill>
                  <a:srgbClr val="5F6670"/>
                </a:solidFill>
                <a:latin typeface="Calibri" pitchFamily="34" charset="0"/>
                <a:ea typeface="Calibri" pitchFamily="34" charset="-122"/>
                <a:cs typeface="Calibri" pitchFamily="34" charset="-120"/>
              </a:rPr>
              <a:t>CE QU'ON REGARDE</a:t>
            </a:r>
            <a:endParaRPr lang="en-US" sz="1300" dirty="0"/>
          </a:p>
        </p:txBody>
      </p:sp>
      <p:sp>
        <p:nvSpPr>
          <p:cNvPr id="7" name="Text 5"/>
          <p:cNvSpPr txBox="1"/>
          <p:nvPr/>
        </p:nvSpPr>
        <p:spPr>
          <a:xfrm>
            <a:off x="640080" y="4526280"/>
            <a:ext cx="10911535" cy="16459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class Analyst : User : Analyst hérite de tout ce qu'a User</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base(name, email) : on appelle le constructeur du parent</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Incident.AssignTo(analyst) : seul un Analyst peut être assigné</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StartWork() refuse un incident sans analyste</a:t>
            </a:r>
            <a:endParaRPr lang="en-US" sz="1800" dirty="0"/>
          </a:p>
        </p:txBody>
      </p:sp>
      <p:sp>
        <p:nvSpPr>
          <p:cNvPr id="8" name="Text 6"/>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LA FAMILLE</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protected : la clé de la maison familiale</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914400"/>
        </p:xfrm>
        <a:graphic>
          <a:graphicData uri="http://schemas.openxmlformats.org/drawingml/2006/table">
            <a:tbl>
              <a:tblPr/>
              <a:tblGrid>
                <a:gridCol w="1463040"/>
                <a:gridCol w="1737360"/>
                <a:gridCol w="3657600"/>
                <a:gridCol w="4050792"/>
              </a:tblGrid>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UML</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Qui y a accès ?</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L'image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r>
              <a:tr h="566928">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public</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tout le monde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le guichet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66928">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private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la classe seule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le coffre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566928">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protected</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la classe et ses héritières</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la clé de la maison familiale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66928">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internal</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le même projet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le badge de l'entreprise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566928">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souligné</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static</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la classe, pas chaque objet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le compteur de la banque, pas celui du client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66928">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italique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abstract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à compléter par les héritières</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on y vient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bl>
          </a:graphicData>
        </a:graphic>
      </p:graphicFrame>
      <p:sp>
        <p:nvSpPr>
          <p:cNvPr id="9" name="Text 5"/>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OMG, UML 2.5.1, chapitres 7 et 9 ; Microsoft Learn, « Modificateurs d'accès (C#)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ATTENTION</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L'héritage n'est pas un copier-coller amélioré</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12</a:t>
            </a:r>
            <a:endParaRPr lang="en-US" sz="1000" dirty="0"/>
          </a:p>
        </p:txBody>
      </p:sp>
      <p:sp>
        <p:nvSpPr>
          <p:cNvPr id="8" name="Shape 5"/>
          <p:cNvSpPr/>
          <p:nvPr/>
        </p:nvSpPr>
        <p:spPr>
          <a:xfrm>
            <a:off x="640080" y="1783080"/>
            <a:ext cx="5303520" cy="3291840"/>
          </a:xfrm>
          <a:prstGeom prst="roundRect">
            <a:avLst>
              <a:gd name="adj" fmla="val 2222"/>
            </a:avLst>
          </a:prstGeom>
          <a:solidFill>
            <a:srgbClr val="F2F3F5"/>
          </a:solidFill>
          <a:ln w="12700">
            <a:solidFill>
              <a:srgbClr val="F2F3F5"/>
            </a:solidFill>
            <a:prstDash val="solid"/>
          </a:ln>
        </p:spPr>
      </p:sp>
      <p:sp>
        <p:nvSpPr>
          <p:cNvPr id="9" name="Text 6"/>
          <p:cNvSpPr txBox="1"/>
          <p:nvPr/>
        </p:nvSpPr>
        <p:spPr>
          <a:xfrm>
            <a:off x="960120" y="1965960"/>
            <a:ext cx="4754880" cy="2926080"/>
          </a:xfrm>
          <a:prstGeom prst="rect">
            <a:avLst/>
          </a:prstGeom>
          <a:noFill/>
          <a:ln/>
        </p:spPr>
        <p:txBody>
          <a:bodyPr wrap="square" lIns="0" tIns="0" rIns="0" bIns="0" rtlCol="0" anchor="t"/>
          <a:lstStyle/>
          <a:p>
            <a:pPr indent="0" marL="0">
              <a:buNone/>
            </a:pPr>
            <a:r>
              <a:rPr lang="en-US" sz="1900" b="1" dirty="0">
                <a:solidFill>
                  <a:srgbClr val="C92A2A"/>
                </a:solidFill>
                <a:latin typeface="Calibri" pitchFamily="34" charset="0"/>
                <a:ea typeface="Calibri" pitchFamily="34" charset="-122"/>
                <a:cs typeface="Calibri" pitchFamily="34" charset="-120"/>
              </a:rPr>
              <a:t>Mauvaise raison d'hériter</a:t>
            </a:r>
            <a:endParaRPr lang="en-US" sz="1900" dirty="0"/>
          </a:p>
          <a:p>
            <a:pPr indent="0" marL="0">
              <a:buNone/>
            </a:pPr>
            <a:endParaRPr lang="en-US" sz="1900" dirty="0"/>
          </a:p>
          <a:p>
            <a:pPr indent="0" marL="0">
              <a:buNone/>
            </a:pPr>
            <a:r>
              <a:rPr lang="en-US" sz="1700" dirty="0">
                <a:solidFill>
                  <a:srgbClr val="16181D"/>
                </a:solidFill>
                <a:latin typeface="Calibri" pitchFamily="34" charset="0"/>
                <a:ea typeface="Calibri" pitchFamily="34" charset="-122"/>
                <a:cs typeface="Calibri" pitchFamily="34" charset="-120"/>
              </a:rPr>
              <a:t>« Comment et Incident ont tous deux un texte et une date, donc Comment hérite d'Incident. »</a:t>
            </a:r>
            <a:endParaRPr lang="en-US" sz="1900" dirty="0"/>
          </a:p>
          <a:p>
            <a:pPr indent="0" marL="0">
              <a:buNone/>
            </a:pPr>
            <a:endParaRPr lang="en-US" sz="1900" dirty="0"/>
          </a:p>
          <a:p>
            <a:pPr indent="0" marL="0">
              <a:buNone/>
            </a:pPr>
            <a:r>
              <a:rPr lang="en-US" sz="1700" dirty="0">
                <a:solidFill>
                  <a:srgbClr val="16181D"/>
                </a:solidFill>
                <a:latin typeface="Calibri" pitchFamily="34" charset="0"/>
                <a:ea typeface="Calibri" pitchFamily="34" charset="-122"/>
                <a:cs typeface="Calibri" pitchFamily="34" charset="-120"/>
              </a:rPr>
              <a:t>Un commentaire n'est pas un incident.</a:t>
            </a:r>
            <a:endParaRPr lang="en-US" sz="1900" dirty="0"/>
          </a:p>
        </p:txBody>
      </p:sp>
      <p:sp>
        <p:nvSpPr>
          <p:cNvPr id="10" name="Shape 7"/>
          <p:cNvSpPr/>
          <p:nvPr/>
        </p:nvSpPr>
        <p:spPr>
          <a:xfrm>
            <a:off x="6217920" y="1783080"/>
            <a:ext cx="5303520" cy="3291840"/>
          </a:xfrm>
          <a:prstGeom prst="roundRect">
            <a:avLst>
              <a:gd name="adj" fmla="val 2222"/>
            </a:avLst>
          </a:prstGeom>
          <a:solidFill>
            <a:srgbClr val="16181D"/>
          </a:solidFill>
          <a:ln w="12700">
            <a:solidFill>
              <a:srgbClr val="16181D"/>
            </a:solidFill>
            <a:prstDash val="solid"/>
          </a:ln>
        </p:spPr>
      </p:sp>
      <p:sp>
        <p:nvSpPr>
          <p:cNvPr id="11" name="Text 8"/>
          <p:cNvSpPr txBox="1"/>
          <p:nvPr/>
        </p:nvSpPr>
        <p:spPr>
          <a:xfrm>
            <a:off x="6537960" y="1965960"/>
            <a:ext cx="4754880" cy="2926080"/>
          </a:xfrm>
          <a:prstGeom prst="rect">
            <a:avLst/>
          </a:prstGeom>
          <a:noFill/>
          <a:ln/>
        </p:spPr>
        <p:txBody>
          <a:bodyPr wrap="square" lIns="0" tIns="0" rIns="0" bIns="0" rtlCol="0" anchor="t"/>
          <a:lstStyle/>
          <a:p>
            <a:pPr indent="0" marL="0">
              <a:buNone/>
            </a:pPr>
            <a:r>
              <a:rPr lang="en-US" sz="1900" b="1" dirty="0">
                <a:solidFill>
                  <a:srgbClr val="E8590C"/>
                </a:solidFill>
                <a:latin typeface="Calibri" pitchFamily="34" charset="0"/>
                <a:ea typeface="Calibri" pitchFamily="34" charset="-122"/>
                <a:cs typeface="Calibri" pitchFamily="34" charset="-120"/>
              </a:rPr>
              <a:t>Un conseil qui date de 1994</a:t>
            </a:r>
            <a:endParaRPr lang="en-US" sz="1900" dirty="0"/>
          </a:p>
          <a:p>
            <a:pPr indent="0" marL="0">
              <a:buNone/>
            </a:pPr>
            <a:endParaRPr lang="en-US" sz="1900" dirty="0"/>
          </a:p>
          <a:p>
            <a:pPr indent="0" marL="0">
              <a:buNone/>
            </a:pPr>
            <a:r>
              <a:rPr lang="en-US" sz="1700" dirty="0">
                <a:solidFill>
                  <a:srgbClr val="FFFFFF"/>
                </a:solidFill>
                <a:latin typeface="Calibri" pitchFamily="34" charset="0"/>
                <a:ea typeface="Calibri" pitchFamily="34" charset="-122"/>
                <a:cs typeface="Calibri" pitchFamily="34" charset="-120"/>
              </a:rPr>
              <a:t>« Préférez la composition d'objets à l'héritage de classes. »</a:t>
            </a:r>
            <a:endParaRPr lang="en-US" sz="1900" dirty="0"/>
          </a:p>
          <a:p>
            <a:pPr indent="0" marL="0">
              <a:buNone/>
            </a:pPr>
            <a:endParaRPr lang="en-US" sz="1900" dirty="0"/>
          </a:p>
          <a:p>
            <a:pPr indent="0" marL="0">
              <a:buNone/>
            </a:pPr>
            <a:r>
              <a:rPr lang="en-US" sz="1700" dirty="0">
                <a:solidFill>
                  <a:srgbClr val="FFFFFF"/>
                </a:solidFill>
                <a:latin typeface="Calibri" pitchFamily="34" charset="0"/>
                <a:ea typeface="Calibri" pitchFamily="34" charset="-122"/>
                <a:cs typeface="Calibri" pitchFamily="34" charset="-120"/>
              </a:rPr>
              <a:t>— Gamma, Helm, Johnson, Vlissides, Design Patterns</a:t>
            </a:r>
            <a:endParaRPr lang="en-US" sz="1900" dirty="0"/>
          </a:p>
        </p:txBody>
      </p:sp>
      <p:sp>
        <p:nvSpPr>
          <p:cNvPr id="12" name="Text 9"/>
          <p:cNvSpPr txBox="1"/>
          <p:nvPr/>
        </p:nvSpPr>
        <p:spPr>
          <a:xfrm>
            <a:off x="640080" y="5349240"/>
            <a:ext cx="10911535" cy="457200"/>
          </a:xfrm>
          <a:prstGeom prst="rect">
            <a:avLst/>
          </a:prstGeom>
          <a:noFill/>
          <a:ln/>
        </p:spPr>
        <p:txBody>
          <a:bodyPr wrap="square" lIns="0" tIns="0" rIns="0" bIns="0" rtlCol="0" anchor="ctr"/>
          <a:lstStyle/>
          <a:p>
            <a:pPr indent="0" marL="0">
              <a:buNone/>
            </a:pPr>
            <a:r>
              <a:rPr lang="en-US" sz="1900" b="1" dirty="0">
                <a:solidFill>
                  <a:srgbClr val="16181D"/>
                </a:solidFill>
                <a:latin typeface="Arial" pitchFamily="34" charset="0"/>
                <a:ea typeface="Arial" pitchFamily="34" charset="-122"/>
                <a:cs typeface="Arial" pitchFamily="34" charset="-120"/>
              </a:rPr>
              <a:t>Avant d'hériter, toujours se demander : « X est-il vraiment un Y ? »</a:t>
            </a:r>
            <a:endParaRPr lang="en-US" sz="1900" dirty="0"/>
          </a:p>
        </p:txBody>
      </p:sp>
      <p:sp>
        <p:nvSpPr>
          <p:cNvPr id="13" name="Text 10"/>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E. Gamma, R. Helm, R. Johnson, J. Vlissides, Design Patterns: Elements of Reusable Object-Oriented Software, Addison-Wesley, 1994.</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02</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L'abstraction</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Ce qui n'existe pas tout seul</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ABSTRACTION</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Un « utilisateur » tout court, ça n'existe pas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14</a:t>
            </a:r>
            <a:endParaRPr lang="en-US" sz="1000" dirty="0"/>
          </a:p>
        </p:txBody>
      </p:sp>
      <p:sp>
        <p:nvSpPr>
          <p:cNvPr id="8" name="Shape 5"/>
          <p:cNvSpPr/>
          <p:nvPr/>
        </p:nvSpPr>
        <p:spPr>
          <a:xfrm>
            <a:off x="640080" y="1783080"/>
            <a:ext cx="5303520" cy="3840480"/>
          </a:xfrm>
          <a:prstGeom prst="roundRect">
            <a:avLst>
              <a:gd name="adj" fmla="val 1905"/>
            </a:avLst>
          </a:prstGeom>
          <a:solidFill>
            <a:srgbClr val="F2F3F5"/>
          </a:solidFill>
          <a:ln w="12700">
            <a:solidFill>
              <a:srgbClr val="F2F3F5"/>
            </a:solidFill>
            <a:prstDash val="solid"/>
          </a:ln>
        </p:spPr>
      </p:sp>
      <p:sp>
        <p:nvSpPr>
          <p:cNvPr id="9" name="Text 6"/>
          <p:cNvSpPr txBox="1"/>
          <p:nvPr/>
        </p:nvSpPr>
        <p:spPr>
          <a:xfrm>
            <a:off x="960120" y="1965960"/>
            <a:ext cx="4754880" cy="457200"/>
          </a:xfrm>
          <a:prstGeom prst="rect">
            <a:avLst/>
          </a:prstGeom>
          <a:noFill/>
          <a:ln/>
        </p:spPr>
        <p:txBody>
          <a:bodyPr wrap="square" lIns="0" tIns="0" rIns="0" bIns="0" rtlCol="0" anchor="ctr"/>
          <a:lstStyle/>
          <a:p>
            <a:pPr indent="0" marL="0">
              <a:buNone/>
            </a:pPr>
            <a:r>
              <a:rPr lang="en-US" sz="1900" b="1" dirty="0">
                <a:solidFill>
                  <a:srgbClr val="16181D"/>
                </a:solidFill>
                <a:latin typeface="Arial" pitchFamily="34" charset="0"/>
                <a:ea typeface="Arial" pitchFamily="34" charset="-122"/>
                <a:cs typeface="Arial" pitchFamily="34" charset="-120"/>
              </a:rPr>
              <a:t>L'image : le permis de conduire</a:t>
            </a:r>
            <a:endParaRPr lang="en-US" sz="1900" dirty="0"/>
          </a:p>
        </p:txBody>
      </p:sp>
      <p:sp>
        <p:nvSpPr>
          <p:cNvPr id="10" name="Text 7"/>
          <p:cNvSpPr txBox="1"/>
          <p:nvPr/>
        </p:nvSpPr>
        <p:spPr>
          <a:xfrm>
            <a:off x="960120" y="2606040"/>
            <a:ext cx="4754880" cy="2834640"/>
          </a:xfrm>
          <a:prstGeom prst="rect">
            <a:avLst/>
          </a:prstGeom>
          <a:noFill/>
          <a:ln/>
        </p:spPr>
        <p:txBody>
          <a:bodyPr wrap="square" lIns="0" tIns="0" rIns="0" bIns="0" rtlCol="0" anchor="t"/>
          <a:lstStyle/>
          <a:p>
            <a:pPr indent="0" marL="0">
              <a:buNone/>
            </a:pPr>
            <a:r>
              <a:rPr lang="en-US" sz="1700" dirty="0">
                <a:solidFill>
                  <a:srgbClr val="5F6670"/>
                </a:solidFill>
                <a:latin typeface="Calibri" pitchFamily="34" charset="0"/>
                <a:ea typeface="Calibri" pitchFamily="34" charset="-122"/>
                <a:cs typeface="Calibri" pitchFamily="34" charset="-120"/>
              </a:rPr>
              <a:t>Personne ne conduit « un véhicule » en général : on conduit une voiture, une moto ou un camion.</a:t>
            </a:r>
            <a:endParaRPr lang="en-US" sz="1700" dirty="0"/>
          </a:p>
          <a:p>
            <a:pPr indent="0" marL="0">
              <a:buNone/>
            </a:pPr>
            <a:endParaRPr lang="en-US" sz="1700" dirty="0"/>
          </a:p>
          <a:p>
            <a:pPr indent="0" marL="0">
              <a:buNone/>
            </a:pPr>
            <a:r>
              <a:rPr lang="en-US" sz="1700" dirty="0">
                <a:solidFill>
                  <a:srgbClr val="5F6670"/>
                </a:solidFill>
                <a:latin typeface="Calibri" pitchFamily="34" charset="0"/>
                <a:ea typeface="Calibri" pitchFamily="34" charset="-122"/>
                <a:cs typeface="Calibri" pitchFamily="34" charset="-120"/>
              </a:rPr>
              <a:t>« Véhicule » est une idée commune à tous, c'est-à-dire une abstraction.</a:t>
            </a:r>
            <a:endParaRPr lang="en-US" sz="1700" dirty="0"/>
          </a:p>
        </p:txBody>
      </p:sp>
      <p:sp>
        <p:nvSpPr>
          <p:cNvPr id="11" name="Shape 8"/>
          <p:cNvSpPr/>
          <p:nvPr/>
        </p:nvSpPr>
        <p:spPr>
          <a:xfrm>
            <a:off x="6217920" y="1783080"/>
            <a:ext cx="5303520" cy="3840480"/>
          </a:xfrm>
          <a:prstGeom prst="roundRect">
            <a:avLst>
              <a:gd name="adj" fmla="val 1905"/>
            </a:avLst>
          </a:prstGeom>
          <a:solidFill>
            <a:srgbClr val="1E2127"/>
          </a:solidFill>
          <a:ln w="12700">
            <a:solidFill>
              <a:srgbClr val="1E2127"/>
            </a:solidFill>
            <a:prstDash val="solid"/>
          </a:ln>
        </p:spPr>
      </p:sp>
      <p:sp>
        <p:nvSpPr>
          <p:cNvPr id="12" name="Text 9"/>
          <p:cNvSpPr txBox="1"/>
          <p:nvPr/>
        </p:nvSpPr>
        <p:spPr>
          <a:xfrm>
            <a:off x="6492240" y="2011680"/>
            <a:ext cx="4754880" cy="3383280"/>
          </a:xfrm>
          <a:prstGeom prst="rect">
            <a:avLst/>
          </a:prstGeom>
          <a:noFill/>
          <a:ln/>
        </p:spPr>
        <p:txBody>
          <a:bodyPr wrap="square" lIns="0" tIns="0" rIns="0" bIns="0" rtlCol="0" anchor="t"/>
          <a:lstStyle/>
          <a:p>
            <a:pPr indent="0" marL="0">
              <a:buNone/>
            </a:pPr>
            <a:r>
              <a:rPr lang="en-US" sz="1500" dirty="0">
                <a:solidFill>
                  <a:srgbClr val="E6E6E6"/>
                </a:solidFill>
                <a:latin typeface="Consolas" pitchFamily="34" charset="0"/>
                <a:ea typeface="Consolas" pitchFamily="34" charset="-122"/>
                <a:cs typeface="Consolas" pitchFamily="34" charset="-120"/>
              </a:rPr>
              <a:t>public abstract class User</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public string Name { get;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public abstract string RoleName();</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var u = new User(...);</a:t>
            </a:r>
            <a:endParaRPr lang="en-US" sz="1500" dirty="0"/>
          </a:p>
          <a:p>
            <a:pPr indent="0" marL="0">
              <a:buNone/>
            </a:pPr>
            <a:r>
              <a:rPr lang="en-US" sz="1500" b="1" dirty="0">
                <a:solidFill>
                  <a:srgbClr val="C92A2A"/>
                </a:solidFill>
                <a:latin typeface="Consolas" pitchFamily="34" charset="0"/>
                <a:ea typeface="Consolas" pitchFamily="34" charset="-122"/>
                <a:cs typeface="Consolas" pitchFamily="34" charset="-120"/>
              </a:rPr>
              <a:t>// erreur : on ne crée pas un User tout seul</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F3F5"/>
        </a:solidFill>
      </p:bgPr>
    </p:bg>
    <p:spTree>
      <p:nvGrpSpPr>
        <p:cNvPr id="1" name=""/>
        <p:cNvGrpSpPr/>
        <p:nvPr/>
      </p:nvGrpSpPr>
      <p:grpSpPr>
        <a:xfrm>
          <a:off x="0" y="0"/>
          <a:ext cx="0" cy="0"/>
          <a:chOff x="0" y="0"/>
          <a:chExt cx="0" cy="0"/>
        </a:xfrm>
      </p:grpSpPr>
      <p:sp>
        <p:nvSpPr>
          <p:cNvPr id="2" name="Text 0"/>
          <p:cNvSpPr txBox="1"/>
          <p:nvPr/>
        </p:nvSpPr>
        <p:spPr>
          <a:xfrm>
            <a:off x="640080" y="1463040"/>
            <a:ext cx="3657600" cy="457200"/>
          </a:xfrm>
          <a:prstGeom prst="rect">
            <a:avLst/>
          </a:prstGeom>
          <a:noFill/>
          <a:ln/>
        </p:spPr>
        <p:txBody>
          <a:bodyPr wrap="square" lIns="0" tIns="0" rIns="0" bIns="0" rtlCol="0" anchor="ctr"/>
          <a:lstStyle/>
          <a:p>
            <a:pPr indent="0" marL="0">
              <a:buNone/>
            </a:pPr>
            <a:r>
              <a:rPr lang="en-US" sz="1600" b="1" spc="400" kern="0" dirty="0">
                <a:solidFill>
                  <a:srgbClr val="E8590C"/>
                </a:solidFill>
                <a:latin typeface="Calibri" pitchFamily="34" charset="0"/>
                <a:ea typeface="Calibri" pitchFamily="34" charset="-122"/>
                <a:cs typeface="Calibri" pitchFamily="34" charset="-120"/>
              </a:rPr>
              <a:t>RIDER</a:t>
            </a:r>
            <a:endParaRPr lang="en-US" sz="1600" dirty="0"/>
          </a:p>
        </p:txBody>
      </p:sp>
      <p:sp>
        <p:nvSpPr>
          <p:cNvPr id="3" name="Shape 1"/>
          <p:cNvSpPr/>
          <p:nvPr/>
        </p:nvSpPr>
        <p:spPr>
          <a:xfrm>
            <a:off x="640080" y="2011680"/>
            <a:ext cx="10911535" cy="1005840"/>
          </a:xfrm>
          <a:prstGeom prst="roundRect">
            <a:avLst>
              <a:gd name="adj" fmla="val 7273"/>
            </a:avLst>
          </a:prstGeom>
          <a:solidFill>
            <a:srgbClr val="1E2127"/>
          </a:solidFill>
          <a:ln w="12700">
            <a:solidFill>
              <a:srgbClr val="1E2127"/>
            </a:solidFill>
            <a:prstDash val="solid"/>
          </a:ln>
        </p:spPr>
      </p:sp>
      <p:sp>
        <p:nvSpPr>
          <p:cNvPr id="4" name="Text 2"/>
          <p:cNvSpPr txBox="1"/>
          <p:nvPr/>
        </p:nvSpPr>
        <p:spPr>
          <a:xfrm>
            <a:off x="1005840" y="2011680"/>
            <a:ext cx="10180015" cy="1005840"/>
          </a:xfrm>
          <a:prstGeom prst="rect">
            <a:avLst/>
          </a:prstGeom>
          <a:noFill/>
          <a:ln/>
        </p:spPr>
        <p:txBody>
          <a:bodyPr wrap="square" lIns="0" tIns="0" rIns="0" bIns="0" rtlCol="0" anchor="ctr"/>
          <a:lstStyle/>
          <a:p>
            <a:pPr indent="0" marL="0">
              <a:buNone/>
            </a:pPr>
            <a:r>
              <a:rPr lang="en-US" sz="2800" dirty="0">
                <a:solidFill>
                  <a:srgbClr val="E6E6E6"/>
                </a:solidFill>
                <a:latin typeface="Consolas" pitchFamily="34" charset="0"/>
                <a:ea typeface="Consolas" pitchFamily="34" charset="-122"/>
                <a:cs typeface="Consolas" pitchFamily="34" charset="-120"/>
              </a:rPr>
              <a:t>git checkout s02-etape2-abstraction</a:t>
            </a:r>
            <a:endParaRPr lang="en-US" sz="2800" dirty="0"/>
          </a:p>
        </p:txBody>
      </p:sp>
      <p:sp>
        <p:nvSpPr>
          <p:cNvPr id="5" name="Text 3"/>
          <p:cNvSpPr txBox="1"/>
          <p:nvPr/>
        </p:nvSpPr>
        <p:spPr>
          <a:xfrm>
            <a:off x="640080" y="3291840"/>
            <a:ext cx="10911535" cy="731520"/>
          </a:xfrm>
          <a:prstGeom prst="rect">
            <a:avLst/>
          </a:prstGeom>
          <a:noFill/>
          <a:ln/>
        </p:spPr>
        <p:txBody>
          <a:bodyPr wrap="square" lIns="0" tIns="0" rIns="0" bIns="0" rtlCol="0" anchor="t"/>
          <a:lstStyle/>
          <a:p>
            <a:pPr indent="0" marL="0">
              <a:buNone/>
            </a:pPr>
            <a:r>
              <a:rPr lang="en-US" sz="2400" b="1" dirty="0">
                <a:solidFill>
                  <a:srgbClr val="16181D"/>
                </a:solidFill>
                <a:latin typeface="Arial" pitchFamily="34" charset="0"/>
                <a:ea typeface="Arial" pitchFamily="34" charset="-122"/>
                <a:cs typeface="Arial" pitchFamily="34" charset="-120"/>
              </a:rPr>
              <a:t>User devient abstraite</a:t>
            </a:r>
            <a:endParaRPr lang="en-US" sz="2400" dirty="0"/>
          </a:p>
        </p:txBody>
      </p:sp>
      <p:sp>
        <p:nvSpPr>
          <p:cNvPr id="6" name="Text 4"/>
          <p:cNvSpPr txBox="1"/>
          <p:nvPr/>
        </p:nvSpPr>
        <p:spPr>
          <a:xfrm>
            <a:off x="640080" y="4114800"/>
            <a:ext cx="4572000" cy="365760"/>
          </a:xfrm>
          <a:prstGeom prst="rect">
            <a:avLst/>
          </a:prstGeom>
          <a:noFill/>
          <a:ln/>
        </p:spPr>
        <p:txBody>
          <a:bodyPr wrap="square" lIns="0" tIns="0" rIns="0" bIns="0" rtlCol="0" anchor="ctr"/>
          <a:lstStyle/>
          <a:p>
            <a:pPr indent="0" marL="0">
              <a:buNone/>
            </a:pPr>
            <a:r>
              <a:rPr lang="en-US" sz="1300" b="1" spc="200" kern="0" dirty="0">
                <a:solidFill>
                  <a:srgbClr val="5F6670"/>
                </a:solidFill>
                <a:latin typeface="Calibri" pitchFamily="34" charset="0"/>
                <a:ea typeface="Calibri" pitchFamily="34" charset="-122"/>
                <a:cs typeface="Calibri" pitchFamily="34" charset="-120"/>
              </a:rPr>
              <a:t>CE QU'ON REGARDE</a:t>
            </a:r>
            <a:endParaRPr lang="en-US" sz="1300" dirty="0"/>
          </a:p>
        </p:txBody>
      </p:sp>
      <p:sp>
        <p:nvSpPr>
          <p:cNvPr id="7" name="Text 5"/>
          <p:cNvSpPr txBox="1"/>
          <p:nvPr/>
        </p:nvSpPr>
        <p:spPr>
          <a:xfrm>
            <a:off x="640080" y="4526280"/>
            <a:ext cx="10911535" cy="16459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abstract class User : on ne peut plus écrire new User(...)</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RoleName() : chaque rôle doit donner son nom</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Describe() : écrite une fois dans User, utilise RoleName()</a:t>
            </a:r>
            <a:endParaRPr lang="en-US" sz="1800" dirty="0"/>
          </a:p>
        </p:txBody>
      </p:sp>
      <p:sp>
        <p:nvSpPr>
          <p:cNvPr id="8" name="Text 6"/>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03</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Les interfaces</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Un contrat : « je sais faire ça »</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LE BESOIN</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Prévenir quand un incident change d'état</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17</a:t>
            </a:r>
            <a:endParaRPr lang="en-US" sz="1000" dirty="0"/>
          </a:p>
        </p:txBody>
      </p:sp>
      <p:sp>
        <p:nvSpPr>
          <p:cNvPr id="8" name="Text 5"/>
          <p:cNvSpPr txBox="1"/>
          <p:nvPr/>
        </p:nvSpPr>
        <p:spPr>
          <a:xfrm>
            <a:off x="640080" y="1783080"/>
            <a:ext cx="10911535" cy="548640"/>
          </a:xfrm>
          <a:prstGeom prst="rect">
            <a:avLst/>
          </a:prstGeom>
          <a:noFill/>
          <a:ln/>
        </p:spPr>
        <p:txBody>
          <a:bodyPr wrap="square" lIns="0" tIns="0" rIns="0" bIns="0" rtlCol="0" anchor="ctr"/>
          <a:lstStyle/>
          <a:p>
            <a:pPr indent="0" marL="0">
              <a:buNone/>
            </a:pPr>
            <a:r>
              <a:rPr lang="en-US" sz="1900" dirty="0">
                <a:solidFill>
                  <a:srgbClr val="5F6670"/>
                </a:solidFill>
                <a:latin typeface="Calibri" pitchFamily="34" charset="0"/>
                <a:ea typeface="Calibri" pitchFamily="34" charset="-122"/>
                <a:cs typeface="Calibri" pitchFamily="34" charset="-120"/>
              </a:rPr>
              <a:t>Aujourd'hui, on prévient par e-mail ; demain, peut-être par Teams ; plus tard, par SMS pour les incidents critiques.</a:t>
            </a:r>
            <a:endParaRPr lang="en-US" sz="1900" dirty="0"/>
          </a:p>
        </p:txBody>
      </p:sp>
      <p:sp>
        <p:nvSpPr>
          <p:cNvPr id="9" name="Shape 6"/>
          <p:cNvSpPr/>
          <p:nvPr/>
        </p:nvSpPr>
        <p:spPr>
          <a:xfrm>
            <a:off x="640080" y="2651760"/>
            <a:ext cx="2560320" cy="1645920"/>
          </a:xfrm>
          <a:prstGeom prst="roundRect">
            <a:avLst>
              <a:gd name="adj" fmla="val 4444"/>
            </a:avLst>
          </a:prstGeom>
          <a:solidFill>
            <a:srgbClr val="F2F3F5"/>
          </a:solidFill>
          <a:ln w="12700">
            <a:solidFill>
              <a:srgbClr val="F2F3F5"/>
            </a:solidFill>
            <a:prstDash val="solid"/>
          </a:ln>
        </p:spPr>
      </p:sp>
      <p:sp>
        <p:nvSpPr>
          <p:cNvPr id="10" name="Text 7"/>
          <p:cNvSpPr txBox="1"/>
          <p:nvPr/>
        </p:nvSpPr>
        <p:spPr>
          <a:xfrm>
            <a:off x="640080" y="2834640"/>
            <a:ext cx="2560320" cy="731520"/>
          </a:xfrm>
          <a:prstGeom prst="rect">
            <a:avLst/>
          </a:prstGeom>
          <a:noFill/>
          <a:ln/>
        </p:spPr>
        <p:txBody>
          <a:bodyPr wrap="square" lIns="0" tIns="0" rIns="0" bIns="0" rtlCol="0" anchor="ctr"/>
          <a:lstStyle/>
          <a:p>
            <a:pPr algn="ctr" indent="0" marL="0">
              <a:buNone/>
            </a:pPr>
            <a:r>
              <a:rPr lang="en-US" sz="2600" b="1" dirty="0">
                <a:solidFill>
                  <a:srgbClr val="16181D"/>
                </a:solidFill>
                <a:latin typeface="Arial" pitchFamily="34" charset="0"/>
                <a:ea typeface="Arial" pitchFamily="34" charset="-122"/>
                <a:cs typeface="Arial" pitchFamily="34" charset="-120"/>
              </a:rPr>
              <a:t>E-mail</a:t>
            </a:r>
            <a:endParaRPr lang="en-US" sz="2600" dirty="0"/>
          </a:p>
        </p:txBody>
      </p:sp>
      <p:sp>
        <p:nvSpPr>
          <p:cNvPr id="11" name="Text 8"/>
          <p:cNvSpPr txBox="1"/>
          <p:nvPr/>
        </p:nvSpPr>
        <p:spPr>
          <a:xfrm>
            <a:off x="640080" y="3566160"/>
            <a:ext cx="2560320" cy="457200"/>
          </a:xfrm>
          <a:prstGeom prst="rect">
            <a:avLst/>
          </a:prstGeom>
          <a:noFill/>
          <a:ln/>
        </p:spPr>
        <p:txBody>
          <a:bodyPr wrap="square" lIns="0" tIns="0" rIns="0" bIns="0" rtlCol="0" anchor="ctr"/>
          <a:lstStyle/>
          <a:p>
            <a:pPr algn="ctr" indent="0" marL="0">
              <a:buNone/>
            </a:pPr>
            <a:r>
              <a:rPr lang="en-US" sz="1500" dirty="0">
                <a:solidFill>
                  <a:srgbClr val="5F6670"/>
                </a:solidFill>
                <a:latin typeface="Calibri" pitchFamily="34" charset="0"/>
                <a:ea typeface="Calibri" pitchFamily="34" charset="-122"/>
                <a:cs typeface="Calibri" pitchFamily="34" charset="-120"/>
              </a:rPr>
              <a:t>aujourd'hui</a:t>
            </a:r>
            <a:endParaRPr lang="en-US" sz="1500" dirty="0"/>
          </a:p>
        </p:txBody>
      </p:sp>
      <p:sp>
        <p:nvSpPr>
          <p:cNvPr id="12" name="Shape 9"/>
          <p:cNvSpPr/>
          <p:nvPr/>
        </p:nvSpPr>
        <p:spPr>
          <a:xfrm>
            <a:off x="3383280" y="2651760"/>
            <a:ext cx="2560320" cy="1645920"/>
          </a:xfrm>
          <a:prstGeom prst="roundRect">
            <a:avLst>
              <a:gd name="adj" fmla="val 4444"/>
            </a:avLst>
          </a:prstGeom>
          <a:solidFill>
            <a:srgbClr val="F2F3F5"/>
          </a:solidFill>
          <a:ln w="12700">
            <a:solidFill>
              <a:srgbClr val="F2F3F5"/>
            </a:solidFill>
            <a:prstDash val="solid"/>
          </a:ln>
        </p:spPr>
      </p:sp>
      <p:sp>
        <p:nvSpPr>
          <p:cNvPr id="13" name="Text 10"/>
          <p:cNvSpPr txBox="1"/>
          <p:nvPr/>
        </p:nvSpPr>
        <p:spPr>
          <a:xfrm>
            <a:off x="3383280" y="2834640"/>
            <a:ext cx="2560320" cy="731520"/>
          </a:xfrm>
          <a:prstGeom prst="rect">
            <a:avLst/>
          </a:prstGeom>
          <a:noFill/>
          <a:ln/>
        </p:spPr>
        <p:txBody>
          <a:bodyPr wrap="square" lIns="0" tIns="0" rIns="0" bIns="0" rtlCol="0" anchor="ctr"/>
          <a:lstStyle/>
          <a:p>
            <a:pPr algn="ctr" indent="0" marL="0">
              <a:buNone/>
            </a:pPr>
            <a:r>
              <a:rPr lang="en-US" sz="2600" b="1" dirty="0">
                <a:solidFill>
                  <a:srgbClr val="16181D"/>
                </a:solidFill>
                <a:latin typeface="Arial" pitchFamily="34" charset="0"/>
                <a:ea typeface="Arial" pitchFamily="34" charset="-122"/>
                <a:cs typeface="Arial" pitchFamily="34" charset="-120"/>
              </a:rPr>
              <a:t>Teams</a:t>
            </a:r>
            <a:endParaRPr lang="en-US" sz="2600" dirty="0"/>
          </a:p>
        </p:txBody>
      </p:sp>
      <p:sp>
        <p:nvSpPr>
          <p:cNvPr id="14" name="Text 11"/>
          <p:cNvSpPr txBox="1"/>
          <p:nvPr/>
        </p:nvSpPr>
        <p:spPr>
          <a:xfrm>
            <a:off x="3383280" y="3566160"/>
            <a:ext cx="2560320" cy="457200"/>
          </a:xfrm>
          <a:prstGeom prst="rect">
            <a:avLst/>
          </a:prstGeom>
          <a:noFill/>
          <a:ln/>
        </p:spPr>
        <p:txBody>
          <a:bodyPr wrap="square" lIns="0" tIns="0" rIns="0" bIns="0" rtlCol="0" anchor="ctr"/>
          <a:lstStyle/>
          <a:p>
            <a:pPr algn="ctr" indent="0" marL="0">
              <a:buNone/>
            </a:pPr>
            <a:r>
              <a:rPr lang="en-US" sz="1500" dirty="0">
                <a:solidFill>
                  <a:srgbClr val="5F6670"/>
                </a:solidFill>
                <a:latin typeface="Calibri" pitchFamily="34" charset="0"/>
                <a:ea typeface="Calibri" pitchFamily="34" charset="-122"/>
                <a:cs typeface="Calibri" pitchFamily="34" charset="-120"/>
              </a:rPr>
              <a:t>demain</a:t>
            </a:r>
            <a:endParaRPr lang="en-US" sz="1500" dirty="0"/>
          </a:p>
        </p:txBody>
      </p:sp>
      <p:sp>
        <p:nvSpPr>
          <p:cNvPr id="15" name="Shape 12"/>
          <p:cNvSpPr/>
          <p:nvPr/>
        </p:nvSpPr>
        <p:spPr>
          <a:xfrm>
            <a:off x="6126480" y="2651760"/>
            <a:ext cx="2560320" cy="1645920"/>
          </a:xfrm>
          <a:prstGeom prst="roundRect">
            <a:avLst>
              <a:gd name="adj" fmla="val 4444"/>
            </a:avLst>
          </a:prstGeom>
          <a:solidFill>
            <a:srgbClr val="F2F3F5"/>
          </a:solidFill>
          <a:ln w="12700">
            <a:solidFill>
              <a:srgbClr val="F2F3F5"/>
            </a:solidFill>
            <a:prstDash val="solid"/>
          </a:ln>
        </p:spPr>
      </p:sp>
      <p:sp>
        <p:nvSpPr>
          <p:cNvPr id="16" name="Text 13"/>
          <p:cNvSpPr txBox="1"/>
          <p:nvPr/>
        </p:nvSpPr>
        <p:spPr>
          <a:xfrm>
            <a:off x="6126480" y="2834640"/>
            <a:ext cx="2560320" cy="731520"/>
          </a:xfrm>
          <a:prstGeom prst="rect">
            <a:avLst/>
          </a:prstGeom>
          <a:noFill/>
          <a:ln/>
        </p:spPr>
        <p:txBody>
          <a:bodyPr wrap="square" lIns="0" tIns="0" rIns="0" bIns="0" rtlCol="0" anchor="ctr"/>
          <a:lstStyle/>
          <a:p>
            <a:pPr algn="ctr" indent="0" marL="0">
              <a:buNone/>
            </a:pPr>
            <a:r>
              <a:rPr lang="en-US" sz="2600" b="1" dirty="0">
                <a:solidFill>
                  <a:srgbClr val="16181D"/>
                </a:solidFill>
                <a:latin typeface="Arial" pitchFamily="34" charset="0"/>
                <a:ea typeface="Arial" pitchFamily="34" charset="-122"/>
                <a:cs typeface="Arial" pitchFamily="34" charset="-120"/>
              </a:rPr>
              <a:t>SMS</a:t>
            </a:r>
            <a:endParaRPr lang="en-US" sz="2600" dirty="0"/>
          </a:p>
        </p:txBody>
      </p:sp>
      <p:sp>
        <p:nvSpPr>
          <p:cNvPr id="17" name="Text 14"/>
          <p:cNvSpPr txBox="1"/>
          <p:nvPr/>
        </p:nvSpPr>
        <p:spPr>
          <a:xfrm>
            <a:off x="6126480" y="3566160"/>
            <a:ext cx="2560320" cy="457200"/>
          </a:xfrm>
          <a:prstGeom prst="rect">
            <a:avLst/>
          </a:prstGeom>
          <a:noFill/>
          <a:ln/>
        </p:spPr>
        <p:txBody>
          <a:bodyPr wrap="square" lIns="0" tIns="0" rIns="0" bIns="0" rtlCol="0" anchor="ctr"/>
          <a:lstStyle/>
          <a:p>
            <a:pPr algn="ctr" indent="0" marL="0">
              <a:buNone/>
            </a:pPr>
            <a:r>
              <a:rPr lang="en-US" sz="1500" dirty="0">
                <a:solidFill>
                  <a:srgbClr val="5F6670"/>
                </a:solidFill>
                <a:latin typeface="Calibri" pitchFamily="34" charset="0"/>
                <a:ea typeface="Calibri" pitchFamily="34" charset="-122"/>
                <a:cs typeface="Calibri" pitchFamily="34" charset="-120"/>
              </a:rPr>
              <a:t>pour les critiques</a:t>
            </a:r>
            <a:endParaRPr lang="en-US" sz="1500" dirty="0"/>
          </a:p>
        </p:txBody>
      </p:sp>
      <p:sp>
        <p:nvSpPr>
          <p:cNvPr id="18" name="Shape 15"/>
          <p:cNvSpPr/>
          <p:nvPr/>
        </p:nvSpPr>
        <p:spPr>
          <a:xfrm>
            <a:off x="8869680" y="2651760"/>
            <a:ext cx="2560320" cy="1645920"/>
          </a:xfrm>
          <a:prstGeom prst="roundRect">
            <a:avLst>
              <a:gd name="adj" fmla="val 4444"/>
            </a:avLst>
          </a:prstGeom>
          <a:solidFill>
            <a:srgbClr val="FFFFFF"/>
          </a:solidFill>
          <a:ln w="12700">
            <a:solidFill>
              <a:srgbClr val="FFFFFF"/>
            </a:solidFill>
            <a:prstDash val="solid"/>
          </a:ln>
        </p:spPr>
      </p:sp>
      <p:sp>
        <p:nvSpPr>
          <p:cNvPr id="19" name="Text 16"/>
          <p:cNvSpPr txBox="1"/>
          <p:nvPr/>
        </p:nvSpPr>
        <p:spPr>
          <a:xfrm>
            <a:off x="8869680" y="2834640"/>
            <a:ext cx="2560320" cy="731520"/>
          </a:xfrm>
          <a:prstGeom prst="rect">
            <a:avLst/>
          </a:prstGeom>
          <a:noFill/>
          <a:ln/>
        </p:spPr>
        <p:txBody>
          <a:bodyPr wrap="square" lIns="0" tIns="0" rIns="0" bIns="0" rtlCol="0" anchor="ctr"/>
          <a:lstStyle/>
          <a:p>
            <a:pPr algn="ctr" indent="0" marL="0">
              <a:buNone/>
            </a:pPr>
            <a:r>
              <a:rPr lang="en-US" sz="2600" b="1" dirty="0">
                <a:solidFill>
                  <a:srgbClr val="16181D"/>
                </a:solidFill>
                <a:latin typeface="Arial" pitchFamily="34" charset="0"/>
                <a:ea typeface="Arial" pitchFamily="34" charset="-122"/>
                <a:cs typeface="Arial" pitchFamily="34" charset="-120"/>
              </a:rPr>
              <a:t>…</a:t>
            </a:r>
            <a:endParaRPr lang="en-US" sz="2600" dirty="0"/>
          </a:p>
        </p:txBody>
      </p:sp>
      <p:sp>
        <p:nvSpPr>
          <p:cNvPr id="20" name="Text 17"/>
          <p:cNvSpPr txBox="1"/>
          <p:nvPr/>
        </p:nvSpPr>
        <p:spPr>
          <a:xfrm>
            <a:off x="8869680" y="3566160"/>
            <a:ext cx="2560320" cy="457200"/>
          </a:xfrm>
          <a:prstGeom prst="rect">
            <a:avLst/>
          </a:prstGeom>
          <a:noFill/>
          <a:ln/>
        </p:spPr>
        <p:txBody>
          <a:bodyPr wrap="square" lIns="0" tIns="0" rIns="0" bIns="0" rtlCol="0" anchor="ctr"/>
          <a:lstStyle/>
          <a:p>
            <a:pPr algn="ctr" indent="0" marL="0">
              <a:buNone/>
            </a:pPr>
            <a:r>
              <a:rPr lang="en-US" sz="1500" dirty="0">
                <a:solidFill>
                  <a:srgbClr val="5F6670"/>
                </a:solidFill>
                <a:latin typeface="Calibri" pitchFamily="34" charset="0"/>
                <a:ea typeface="Calibri" pitchFamily="34" charset="-122"/>
                <a:cs typeface="Calibri" pitchFamily="34" charset="-120"/>
              </a:rPr>
              <a:t>le prochain canal</a:t>
            </a:r>
            <a:endParaRPr lang="en-US" sz="1500" dirty="0"/>
          </a:p>
        </p:txBody>
      </p:sp>
      <p:sp>
        <p:nvSpPr>
          <p:cNvPr id="21" name="Shape 18"/>
          <p:cNvSpPr/>
          <p:nvPr/>
        </p:nvSpPr>
        <p:spPr>
          <a:xfrm>
            <a:off x="640080" y="4663440"/>
            <a:ext cx="10911535" cy="914400"/>
          </a:xfrm>
          <a:prstGeom prst="roundRect">
            <a:avLst>
              <a:gd name="adj" fmla="val 8000"/>
            </a:avLst>
          </a:prstGeom>
          <a:solidFill>
            <a:srgbClr val="16181D"/>
          </a:solidFill>
          <a:ln w="12700">
            <a:solidFill>
              <a:srgbClr val="16181D"/>
            </a:solidFill>
            <a:prstDash val="solid"/>
          </a:ln>
        </p:spPr>
      </p:sp>
      <p:sp>
        <p:nvSpPr>
          <p:cNvPr id="22" name="Text 19"/>
          <p:cNvSpPr txBox="1"/>
          <p:nvPr/>
        </p:nvSpPr>
        <p:spPr>
          <a:xfrm>
            <a:off x="960120" y="4663440"/>
            <a:ext cx="10271455" cy="91440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On veut qu'IncidentHub puisse simplement dire « prévenez », sans avoir à savoir par quel canal le message part.</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INTERFACE</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L'interface, c'est la prise électrique</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18</a:t>
            </a:r>
            <a:endParaRPr lang="en-US" sz="1000" dirty="0"/>
          </a:p>
        </p:txBody>
      </p:sp>
      <p:pic>
        <p:nvPicPr>
          <p:cNvPr id="8" name="Image 0" descr="s2diag/interface.png">    </p:cNvPr>
          <p:cNvPicPr>
            <a:picLocks noChangeAspect="1"/>
          </p:cNvPicPr>
          <p:nvPr/>
        </p:nvPicPr>
        <p:blipFill>
          <a:blip r:embed="rId1"/>
          <a:stretch>
            <a:fillRect/>
          </a:stretch>
        </p:blipFill>
        <p:spPr>
          <a:xfrm>
            <a:off x="640080" y="1883013"/>
            <a:ext cx="6766560" cy="2086133"/>
          </a:xfrm>
          <a:prstGeom prst="rect">
            <a:avLst/>
          </a:prstGeom>
        </p:spPr>
      </p:pic>
      <p:sp>
        <p:nvSpPr>
          <p:cNvPr id="9" name="Shape 5"/>
          <p:cNvSpPr/>
          <p:nvPr/>
        </p:nvSpPr>
        <p:spPr>
          <a:xfrm>
            <a:off x="640080" y="4343400"/>
            <a:ext cx="6766560" cy="1417320"/>
          </a:xfrm>
          <a:prstGeom prst="roundRect">
            <a:avLst>
              <a:gd name="adj" fmla="val 5161"/>
            </a:avLst>
          </a:prstGeom>
          <a:solidFill>
            <a:srgbClr val="F2F3F5"/>
          </a:solidFill>
          <a:ln w="12700">
            <a:solidFill>
              <a:srgbClr val="F2F3F5"/>
            </a:solidFill>
            <a:prstDash val="solid"/>
          </a:ln>
        </p:spPr>
      </p:sp>
      <p:sp>
        <p:nvSpPr>
          <p:cNvPr id="10" name="Text 6"/>
          <p:cNvSpPr txBox="1"/>
          <p:nvPr/>
        </p:nvSpPr>
        <p:spPr>
          <a:xfrm>
            <a:off x="914400" y="4389120"/>
            <a:ext cx="6217920" cy="1325880"/>
          </a:xfrm>
          <a:prstGeom prst="rect">
            <a:avLst/>
          </a:prstGeom>
          <a:noFill/>
          <a:ln/>
        </p:spPr>
        <p:txBody>
          <a:bodyPr wrap="square" lIns="0" tIns="0" rIns="0" bIns="0" rtlCol="0" anchor="ctr"/>
          <a:lstStyle/>
          <a:p>
            <a:pPr indent="0" marL="0">
              <a:buNone/>
            </a:pPr>
            <a:r>
              <a:rPr lang="en-US" sz="1600" b="1" dirty="0">
                <a:solidFill>
                  <a:srgbClr val="16181D"/>
                </a:solidFill>
                <a:latin typeface="Calibri" pitchFamily="34" charset="0"/>
                <a:ea typeface="Calibri" pitchFamily="34" charset="-122"/>
                <a:cs typeface="Calibri" pitchFamily="34" charset="-120"/>
              </a:rPr>
              <a:t>En UML : </a:t>
            </a:r>
            <a:pPr indent="0" marL="0">
              <a:buNone/>
            </a:pPr>
            <a:r>
              <a:rPr lang="en-US" sz="1600" dirty="0">
                <a:solidFill>
                  <a:srgbClr val="16181D"/>
                </a:solidFill>
                <a:latin typeface="Calibri" pitchFamily="34" charset="0"/>
                <a:ea typeface="Calibri" pitchFamily="34" charset="-122"/>
                <a:cs typeface="Calibri" pitchFamily="34" charset="-120"/>
              </a:rPr>
              <a:t>«interface», et une flèche pointillée à triangle vide (la réalisation). </a:t>
            </a:r>
            <a:pPr indent="0" marL="0">
              <a:buNone/>
            </a:pPr>
            <a:r>
              <a:rPr lang="en-US" sz="1600" b="1" dirty="0">
                <a:solidFill>
                  <a:srgbClr val="16181D"/>
                </a:solidFill>
                <a:latin typeface="Calibri" pitchFamily="34" charset="0"/>
                <a:ea typeface="Calibri" pitchFamily="34" charset="-122"/>
                <a:cs typeface="Calibri" pitchFamily="34" charset="-120"/>
              </a:rPr>
              <a:t>En C# : </a:t>
            </a:r>
            <a:pPr indent="0" marL="0">
              <a:buNone/>
            </a:pPr>
            <a:r>
              <a:rPr lang="en-US" sz="1600" dirty="0">
                <a:solidFill>
                  <a:srgbClr val="16181D"/>
                </a:solidFill>
                <a:latin typeface="Calibri" pitchFamily="34" charset="0"/>
                <a:ea typeface="Calibri" pitchFamily="34" charset="-122"/>
                <a:cs typeface="Calibri" pitchFamily="34" charset="-120"/>
              </a:rPr>
              <a:t>class EmailNotifier : INotifier</a:t>
            </a:r>
            <a:endParaRPr lang="en-US" sz="1600" dirty="0"/>
          </a:p>
        </p:txBody>
      </p:sp>
      <p:sp>
        <p:nvSpPr>
          <p:cNvPr id="11" name="Shape 7"/>
          <p:cNvSpPr/>
          <p:nvPr/>
        </p:nvSpPr>
        <p:spPr>
          <a:xfrm>
            <a:off x="7680960" y="1783080"/>
            <a:ext cx="3840480" cy="3977640"/>
          </a:xfrm>
          <a:prstGeom prst="roundRect">
            <a:avLst>
              <a:gd name="adj" fmla="val 1905"/>
            </a:avLst>
          </a:prstGeom>
          <a:solidFill>
            <a:srgbClr val="16181D"/>
          </a:solidFill>
          <a:ln w="12700">
            <a:solidFill>
              <a:srgbClr val="16181D"/>
            </a:solidFill>
            <a:prstDash val="solid"/>
          </a:ln>
        </p:spPr>
      </p:sp>
      <p:sp>
        <p:nvSpPr>
          <p:cNvPr id="12" name="Text 8"/>
          <p:cNvSpPr txBox="1"/>
          <p:nvPr/>
        </p:nvSpPr>
        <p:spPr>
          <a:xfrm>
            <a:off x="7909560" y="1965960"/>
            <a:ext cx="3383280" cy="3657600"/>
          </a:xfrm>
          <a:prstGeom prst="rect">
            <a:avLst/>
          </a:prstGeom>
          <a:noFill/>
          <a:ln/>
        </p:spPr>
        <p:txBody>
          <a:bodyPr wrap="square" lIns="0" tIns="0" rIns="0" bIns="0" rtlCol="0" anchor="t"/>
          <a:lstStyle/>
          <a:p>
            <a:pPr indent="0" marL="0">
              <a:buNone/>
            </a:pPr>
            <a:r>
              <a:rPr lang="en-US" sz="1900" b="1" dirty="0">
                <a:solidFill>
                  <a:srgbClr val="E8590C"/>
                </a:solidFill>
                <a:latin typeface="Calibri" pitchFamily="34" charset="0"/>
                <a:ea typeface="Calibri" pitchFamily="34" charset="-122"/>
                <a:cs typeface="Calibri" pitchFamily="34" charset="-120"/>
              </a:rPr>
              <a:t>La prise électrique</a:t>
            </a:r>
            <a:endParaRPr lang="en-US" sz="1900" dirty="0"/>
          </a:p>
          <a:p>
            <a:pPr indent="0" marL="0">
              <a:buNone/>
            </a:pPr>
            <a:endParaRPr lang="en-US" sz="1900" dirty="0"/>
          </a:p>
          <a:p>
            <a:pPr indent="0" marL="0">
              <a:buNone/>
            </a:pPr>
            <a:r>
              <a:rPr lang="en-US" sz="1600" dirty="0">
                <a:solidFill>
                  <a:srgbClr val="FFFFFF"/>
                </a:solidFill>
                <a:latin typeface="Calibri" pitchFamily="34" charset="0"/>
                <a:ea typeface="Calibri" pitchFamily="34" charset="-122"/>
                <a:cs typeface="Calibri" pitchFamily="34" charset="-120"/>
              </a:rPr>
              <a:t>Elle définit une norme : une lampe, un chargeur ou un grille-pain peuvent s'y brancher dès qu'ils la respectent.</a:t>
            </a:r>
            <a:endParaRPr lang="en-US" sz="1900" dirty="0"/>
          </a:p>
          <a:p>
            <a:pPr indent="0" marL="0">
              <a:buNone/>
            </a:pPr>
            <a:endParaRPr lang="en-US" sz="1900" dirty="0"/>
          </a:p>
          <a:p>
            <a:pPr indent="0" marL="0">
              <a:buNone/>
            </a:pPr>
            <a:r>
              <a:rPr lang="en-US" sz="1600" dirty="0">
                <a:solidFill>
                  <a:srgbClr val="FFFFFF"/>
                </a:solidFill>
                <a:latin typeface="Calibri" pitchFamily="34" charset="0"/>
                <a:ea typeface="Calibri" pitchFamily="34" charset="-122"/>
                <a:cs typeface="Calibri" pitchFamily="34" charset="-120"/>
              </a:rPr>
              <a:t>La prise ne sait pas ce qu'on y branche, et elle n'a pas besoin de le savoir.</a:t>
            </a:r>
            <a:endParaRPr lang="en-US" sz="1900" dirty="0"/>
          </a:p>
        </p:txBody>
      </p:sp>
      <p:sp>
        <p:nvSpPr>
          <p:cNvPr id="13" name="Text 9"/>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Microsoft Learn, « Interfaces (C#) ». Diagramme généré avec PlantUML.</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COMPARER</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Classe abstraite ou interface ?</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914400"/>
        </p:xfrm>
        <a:graphic>
          <a:graphicData uri="http://schemas.openxmlformats.org/drawingml/2006/table">
            <a:tbl>
              <a:tblPr/>
              <a:tblGrid>
                <a:gridCol w="2743200"/>
                <a:gridCol w="4078224"/>
                <a:gridCol w="4087368"/>
              </a:tblGrid>
              <a:tr h="640080">
                <a:tc>
                  <a:txBody>
                    <a:bodyPr/>
                    <a:lstStyle/>
                    <a:p>
                      <a:pPr indent="0" marL="0">
                        <a:buNone/>
                      </a:pP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Classe abstraite</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Interface</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r>
              <a:tr h="640080">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La question</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 est un »</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 sait faire »</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640080">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Exemple</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Analyst est un User</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EmailNotifier sait notifier</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640080">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Code commun</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oui, déjà écrit</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non, un contrat</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640080">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Combien par classe ?</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un seul parent</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plusieurs possibles</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640080">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En UML</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nom en italique, triangle plein trait</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«interface», triangle pointillé</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F3F5"/>
        </a:solidFill>
      </p:bgPr>
    </p:bg>
    <p:spTree>
      <p:nvGrpSpPr>
        <p:cNvPr id="1" name=""/>
        <p:cNvGrpSpPr/>
        <p:nvPr/>
      </p:nvGrpSpPr>
      <p:grpSpPr>
        <a:xfrm>
          <a:off x="0" y="0"/>
          <a:ext cx="0" cy="0"/>
          <a:chOff x="0" y="0"/>
          <a:chExt cx="0" cy="0"/>
        </a:xfrm>
      </p:grpSpPr>
      <p:sp>
        <p:nvSpPr>
          <p:cNvPr id="2" name="Text 0"/>
          <p:cNvSpPr txBox="1"/>
          <p:nvPr/>
        </p:nvSpPr>
        <p:spPr>
          <a:xfrm>
            <a:off x="640080" y="1463040"/>
            <a:ext cx="3657600" cy="457200"/>
          </a:xfrm>
          <a:prstGeom prst="rect">
            <a:avLst/>
          </a:prstGeom>
          <a:noFill/>
          <a:ln/>
        </p:spPr>
        <p:txBody>
          <a:bodyPr wrap="square" lIns="0" tIns="0" rIns="0" bIns="0" rtlCol="0" anchor="ctr"/>
          <a:lstStyle/>
          <a:p>
            <a:pPr indent="0" marL="0">
              <a:buNone/>
            </a:pPr>
            <a:r>
              <a:rPr lang="en-US" sz="1600" b="1" spc="400" kern="0" dirty="0">
                <a:solidFill>
                  <a:srgbClr val="E8590C"/>
                </a:solidFill>
                <a:latin typeface="Calibri" pitchFamily="34" charset="0"/>
                <a:ea typeface="Calibri" pitchFamily="34" charset="-122"/>
                <a:cs typeface="Calibri" pitchFamily="34" charset="-120"/>
              </a:rPr>
              <a:t>RIDER</a:t>
            </a:r>
            <a:endParaRPr lang="en-US" sz="1600" dirty="0"/>
          </a:p>
        </p:txBody>
      </p:sp>
      <p:sp>
        <p:nvSpPr>
          <p:cNvPr id="3" name="Shape 1"/>
          <p:cNvSpPr/>
          <p:nvPr/>
        </p:nvSpPr>
        <p:spPr>
          <a:xfrm>
            <a:off x="640080" y="2011680"/>
            <a:ext cx="10911535" cy="1005840"/>
          </a:xfrm>
          <a:prstGeom prst="roundRect">
            <a:avLst>
              <a:gd name="adj" fmla="val 7273"/>
            </a:avLst>
          </a:prstGeom>
          <a:solidFill>
            <a:srgbClr val="1E2127"/>
          </a:solidFill>
          <a:ln w="12700">
            <a:solidFill>
              <a:srgbClr val="1E2127"/>
            </a:solidFill>
            <a:prstDash val="solid"/>
          </a:ln>
        </p:spPr>
      </p:sp>
      <p:sp>
        <p:nvSpPr>
          <p:cNvPr id="4" name="Text 2"/>
          <p:cNvSpPr txBox="1"/>
          <p:nvPr/>
        </p:nvSpPr>
        <p:spPr>
          <a:xfrm>
            <a:off x="1005840" y="2011680"/>
            <a:ext cx="10180015" cy="1005840"/>
          </a:xfrm>
          <a:prstGeom prst="rect">
            <a:avLst/>
          </a:prstGeom>
          <a:noFill/>
          <a:ln/>
        </p:spPr>
        <p:txBody>
          <a:bodyPr wrap="square" lIns="0" tIns="0" rIns="0" bIns="0" rtlCol="0" anchor="ctr"/>
          <a:lstStyle/>
          <a:p>
            <a:pPr indent="0" marL="0">
              <a:buNone/>
            </a:pPr>
            <a:r>
              <a:rPr lang="en-US" sz="2800" dirty="0">
                <a:solidFill>
                  <a:srgbClr val="E6E6E6"/>
                </a:solidFill>
                <a:latin typeface="Consolas" pitchFamily="34" charset="0"/>
                <a:ea typeface="Consolas" pitchFamily="34" charset="-122"/>
                <a:cs typeface="Consolas" pitchFamily="34" charset="-120"/>
              </a:rPr>
              <a:t>git checkout s02-etape3-interface</a:t>
            </a:r>
            <a:endParaRPr lang="en-US" sz="2800" dirty="0"/>
          </a:p>
        </p:txBody>
      </p:sp>
      <p:sp>
        <p:nvSpPr>
          <p:cNvPr id="5" name="Text 3"/>
          <p:cNvSpPr txBox="1"/>
          <p:nvPr/>
        </p:nvSpPr>
        <p:spPr>
          <a:xfrm>
            <a:off x="640080" y="3291840"/>
            <a:ext cx="10911535" cy="731520"/>
          </a:xfrm>
          <a:prstGeom prst="rect">
            <a:avLst/>
          </a:prstGeom>
          <a:noFill/>
          <a:ln/>
        </p:spPr>
        <p:txBody>
          <a:bodyPr wrap="square" lIns="0" tIns="0" rIns="0" bIns="0" rtlCol="0" anchor="t"/>
          <a:lstStyle/>
          <a:p>
            <a:pPr indent="0" marL="0">
              <a:buNone/>
            </a:pPr>
            <a:r>
              <a:rPr lang="en-US" sz="2400" b="1" dirty="0">
                <a:solidFill>
                  <a:srgbClr val="16181D"/>
                </a:solidFill>
                <a:latin typeface="Arial" pitchFamily="34" charset="0"/>
                <a:ea typeface="Arial" pitchFamily="34" charset="-122"/>
                <a:cs typeface="Arial" pitchFamily="34" charset="-120"/>
              </a:rPr>
              <a:t>Un contrat, deux implémentations</a:t>
            </a:r>
            <a:endParaRPr lang="en-US" sz="2400" dirty="0"/>
          </a:p>
        </p:txBody>
      </p:sp>
      <p:sp>
        <p:nvSpPr>
          <p:cNvPr id="6" name="Text 4"/>
          <p:cNvSpPr txBox="1"/>
          <p:nvPr/>
        </p:nvSpPr>
        <p:spPr>
          <a:xfrm>
            <a:off x="640080" y="4114800"/>
            <a:ext cx="4572000" cy="365760"/>
          </a:xfrm>
          <a:prstGeom prst="rect">
            <a:avLst/>
          </a:prstGeom>
          <a:noFill/>
          <a:ln/>
        </p:spPr>
        <p:txBody>
          <a:bodyPr wrap="square" lIns="0" tIns="0" rIns="0" bIns="0" rtlCol="0" anchor="ctr"/>
          <a:lstStyle/>
          <a:p>
            <a:pPr indent="0" marL="0">
              <a:buNone/>
            </a:pPr>
            <a:r>
              <a:rPr lang="en-US" sz="1300" b="1" spc="200" kern="0" dirty="0">
                <a:solidFill>
                  <a:srgbClr val="5F6670"/>
                </a:solidFill>
                <a:latin typeface="Calibri" pitchFamily="34" charset="0"/>
                <a:ea typeface="Calibri" pitchFamily="34" charset="-122"/>
                <a:cs typeface="Calibri" pitchFamily="34" charset="-120"/>
              </a:rPr>
              <a:t>CE QU'ON REGARDE</a:t>
            </a:r>
            <a:endParaRPr lang="en-US" sz="1300" dirty="0"/>
          </a:p>
        </p:txBody>
      </p:sp>
      <p:sp>
        <p:nvSpPr>
          <p:cNvPr id="7" name="Text 5"/>
          <p:cNvSpPr txBox="1"/>
          <p:nvPr/>
        </p:nvSpPr>
        <p:spPr>
          <a:xfrm>
            <a:off x="640080" y="4526280"/>
            <a:ext cx="10911535" cy="16459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interface INotifier : une seule méthode, Notify(...)</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EmailNotifier et TeamsNotifier signent le contrat</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Program.cs parle à des INotifier, sans savoir lesquels</a:t>
            </a:r>
            <a:endParaRPr lang="en-US" sz="1800" dirty="0"/>
          </a:p>
        </p:txBody>
      </p:sp>
      <p:sp>
        <p:nvSpPr>
          <p:cNvPr id="8" name="Text 6"/>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04</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Polymorphisme et composition</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Un appel, plusieurs comportements</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POLYMORPHISME</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Même bouton, comportements différents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22</a:t>
            </a:r>
            <a:endParaRPr lang="en-US" sz="1000" dirty="0"/>
          </a:p>
        </p:txBody>
      </p:sp>
      <p:sp>
        <p:nvSpPr>
          <p:cNvPr id="8" name="Shape 5"/>
          <p:cNvSpPr/>
          <p:nvPr/>
        </p:nvSpPr>
        <p:spPr>
          <a:xfrm>
            <a:off x="640080" y="1783080"/>
            <a:ext cx="6035040" cy="3840480"/>
          </a:xfrm>
          <a:prstGeom prst="roundRect">
            <a:avLst>
              <a:gd name="adj" fmla="val 1905"/>
            </a:avLst>
          </a:prstGeom>
          <a:solidFill>
            <a:srgbClr val="1E2127"/>
          </a:solidFill>
          <a:ln w="12700">
            <a:solidFill>
              <a:srgbClr val="1E2127"/>
            </a:solidFill>
            <a:prstDash val="solid"/>
          </a:ln>
        </p:spPr>
      </p:sp>
      <p:sp>
        <p:nvSpPr>
          <p:cNvPr id="9" name="Text 6"/>
          <p:cNvSpPr txBox="1"/>
          <p:nvPr/>
        </p:nvSpPr>
        <p:spPr>
          <a:xfrm>
            <a:off x="914400" y="2011680"/>
            <a:ext cx="5486400" cy="3383280"/>
          </a:xfrm>
          <a:prstGeom prst="rect">
            <a:avLst/>
          </a:prstGeom>
          <a:noFill/>
          <a:ln/>
        </p:spPr>
        <p:txBody>
          <a:bodyPr wrap="square" lIns="0" tIns="0" rIns="0" bIns="0" rtlCol="0" anchor="t"/>
          <a:lstStyle/>
          <a:p>
            <a:pPr indent="0" marL="0">
              <a:buNone/>
            </a:pPr>
            <a:r>
              <a:rPr lang="en-US" sz="1600" dirty="0">
                <a:solidFill>
                  <a:srgbClr val="E6E6E6"/>
                </a:solidFill>
                <a:latin typeface="Consolas" pitchFamily="34" charset="0"/>
                <a:ea typeface="Consolas" pitchFamily="34" charset="-122"/>
                <a:cs typeface="Consolas" pitchFamily="34" charset="-120"/>
              </a:rPr>
              <a:t>foreach (User user in users)</a:t>
            </a:r>
            <a:endParaRPr lang="en-US" sz="1600" dirty="0"/>
          </a:p>
          <a:p>
            <a:pPr indent="0" marL="0">
              <a:buNone/>
            </a:pPr>
            <a:r>
              <a:rPr lang="en-US" sz="1600" dirty="0">
                <a:solidFill>
                  <a:srgbClr val="E6E6E6"/>
                </a:solidFill>
                <a:latin typeface="Consolas" pitchFamily="34" charset="0"/>
                <a:ea typeface="Consolas" pitchFamily="34" charset="-122"/>
                <a:cs typeface="Consolas" pitchFamily="34" charset="-120"/>
              </a:rPr>
              <a:t>{</a:t>
            </a:r>
            <a:endParaRPr lang="en-US" sz="1600" dirty="0"/>
          </a:p>
          <a:p>
            <a:pPr indent="0" marL="0">
              <a:buNone/>
            </a:pPr>
            <a:r>
              <a:rPr lang="en-US" sz="1600" dirty="0">
                <a:solidFill>
                  <a:srgbClr val="E6E6E6"/>
                </a:solidFill>
                <a:latin typeface="Consolas" pitchFamily="34" charset="0"/>
                <a:ea typeface="Consolas" pitchFamily="34" charset="-122"/>
                <a:cs typeface="Consolas" pitchFamily="34" charset="-120"/>
              </a:rPr>
              <a:t>    Console.WriteLine(user.Describe());</a:t>
            </a:r>
            <a:endParaRPr lang="en-US" sz="1600" dirty="0"/>
          </a:p>
          <a:p>
            <a:pPr indent="0" marL="0">
              <a:buNone/>
            </a:pPr>
            <a:r>
              <a:rPr lang="en-US" sz="1600" dirty="0">
                <a:solidFill>
                  <a:srgbClr val="E6E6E6"/>
                </a:solidFill>
                <a:latin typeface="Consolas" pitchFamily="34" charset="0"/>
                <a:ea typeface="Consolas" pitchFamily="34" charset="-122"/>
                <a:cs typeface="Consolas" pitchFamily="34" charset="-120"/>
              </a:rPr>
              <a:t>}</a:t>
            </a:r>
            <a:endParaRPr lang="en-US" sz="1600" dirty="0"/>
          </a:p>
          <a:p>
            <a:pPr indent="0" marL="0">
              <a:buNone/>
            </a:pPr>
            <a:r>
              <a:rPr lang="en-US" sz="1600" dirty="0">
                <a:solidFill>
                  <a:srgbClr val="E6E6E6"/>
                </a:solidFill>
                <a:latin typeface="Consolas" pitchFamily="34" charset="0"/>
                <a:ea typeface="Consolas" pitchFamily="34" charset="-122"/>
                <a:cs typeface="Consolas" pitchFamily="34" charset="-120"/>
              </a:rPr>
              <a:t> </a:t>
            </a:r>
            <a:endParaRPr lang="en-US" sz="1600" dirty="0"/>
          </a:p>
          <a:p>
            <a:pPr indent="0" marL="0">
              <a:buNone/>
            </a:pPr>
            <a:r>
              <a:rPr lang="en-US" sz="1600" dirty="0">
                <a:solidFill>
                  <a:srgbClr val="8B929C"/>
                </a:solidFill>
                <a:latin typeface="Consolas" pitchFamily="34" charset="0"/>
                <a:ea typeface="Consolas" pitchFamily="34" charset="-122"/>
                <a:cs typeface="Consolas" pitchFamily="34" charset="-120"/>
              </a:rPr>
              <a:t>// Sophie (déclarante)</a:t>
            </a:r>
            <a:endParaRPr lang="en-US" sz="1600" dirty="0"/>
          </a:p>
          <a:p>
            <a:pPr indent="0" marL="0">
              <a:buNone/>
            </a:pPr>
            <a:r>
              <a:rPr lang="en-US" sz="1600" dirty="0">
                <a:solidFill>
                  <a:srgbClr val="8B929C"/>
                </a:solidFill>
                <a:latin typeface="Consolas" pitchFamily="34" charset="0"/>
                <a:ea typeface="Consolas" pitchFamily="34" charset="-122"/>
                <a:cs typeface="Consolas" pitchFamily="34" charset="-120"/>
              </a:rPr>
              <a:t>// Karim (analyste, équipe SOC)</a:t>
            </a:r>
            <a:endParaRPr lang="en-US" sz="1600" dirty="0"/>
          </a:p>
          <a:p>
            <a:pPr indent="0" marL="0">
              <a:buNone/>
            </a:pPr>
            <a:r>
              <a:rPr lang="en-US" sz="1600" dirty="0">
                <a:solidFill>
                  <a:srgbClr val="8B929C"/>
                </a:solidFill>
                <a:latin typeface="Consolas" pitchFamily="34" charset="0"/>
                <a:ea typeface="Consolas" pitchFamily="34" charset="-122"/>
                <a:cs typeface="Consolas" pitchFamily="34" charset="-120"/>
              </a:rPr>
              <a:t>// Julie (responsable)</a:t>
            </a:r>
            <a:endParaRPr lang="en-US" sz="1600" dirty="0"/>
          </a:p>
        </p:txBody>
      </p:sp>
      <p:sp>
        <p:nvSpPr>
          <p:cNvPr id="10" name="Shape 7"/>
          <p:cNvSpPr/>
          <p:nvPr/>
        </p:nvSpPr>
        <p:spPr>
          <a:xfrm>
            <a:off x="6949440" y="1783080"/>
            <a:ext cx="4572000" cy="3840480"/>
          </a:xfrm>
          <a:prstGeom prst="roundRect">
            <a:avLst>
              <a:gd name="adj" fmla="val 1905"/>
            </a:avLst>
          </a:prstGeom>
          <a:solidFill>
            <a:srgbClr val="16181D"/>
          </a:solidFill>
          <a:ln w="12700">
            <a:solidFill>
              <a:srgbClr val="16181D"/>
            </a:solidFill>
            <a:prstDash val="solid"/>
          </a:ln>
        </p:spPr>
      </p:sp>
      <p:sp>
        <p:nvSpPr>
          <p:cNvPr id="11" name="Text 8"/>
          <p:cNvSpPr txBox="1"/>
          <p:nvPr/>
        </p:nvSpPr>
        <p:spPr>
          <a:xfrm>
            <a:off x="7178040" y="1965960"/>
            <a:ext cx="4114800" cy="3474720"/>
          </a:xfrm>
          <a:prstGeom prst="rect">
            <a:avLst/>
          </a:prstGeom>
          <a:noFill/>
          <a:ln/>
        </p:spPr>
        <p:txBody>
          <a:bodyPr wrap="square" lIns="0" tIns="0" rIns="0" bIns="0" rtlCol="0" anchor="t"/>
          <a:lstStyle/>
          <a:p>
            <a:pPr indent="0" marL="0">
              <a:buNone/>
            </a:pPr>
            <a:r>
              <a:rPr lang="en-US" sz="1900" b="1" dirty="0">
                <a:solidFill>
                  <a:srgbClr val="E8590C"/>
                </a:solidFill>
                <a:latin typeface="Calibri" pitchFamily="34" charset="0"/>
                <a:ea typeface="Calibri" pitchFamily="34" charset="-122"/>
                <a:cs typeface="Calibri" pitchFamily="34" charset="-120"/>
              </a:rPr>
              <a:t>Le bouton Imprimer</a:t>
            </a:r>
            <a:endParaRPr lang="en-US" sz="1900" dirty="0"/>
          </a:p>
          <a:p>
            <a:pPr indent="0" marL="0">
              <a:buNone/>
            </a:pPr>
            <a:r>
              <a:rPr lang="en-US" sz="1600" dirty="0">
                <a:solidFill>
                  <a:srgbClr val="FFFFFF"/>
                </a:solidFill>
                <a:latin typeface="Calibri" pitchFamily="34" charset="0"/>
                <a:ea typeface="Calibri" pitchFamily="34" charset="-122"/>
                <a:cs typeface="Calibri" pitchFamily="34" charset="-120"/>
              </a:rPr>
              <a:t>
On clique toujours sur le même bouton ; selon le choix, c'est l'imprimante, le PDF ou l'e-mail qui fait le travail, chacun à sa façon.
</a:t>
            </a:r>
            <a:endParaRPr lang="en-US" sz="1900" dirty="0"/>
          </a:p>
          <a:p>
            <a:pPr indent="0" marL="0">
              <a:buNone/>
            </a:pPr>
            <a:r>
              <a:rPr lang="en-US" sz="1500" i="1" dirty="0">
                <a:solidFill>
                  <a:srgbClr val="C9CDD3"/>
                </a:solidFill>
                <a:latin typeface="Calibri" pitchFamily="34" charset="0"/>
                <a:ea typeface="Calibri" pitchFamily="34" charset="-122"/>
                <a:cs typeface="Calibri" pitchFamily="34" charset="-120"/>
              </a:rPr>
              <a:t>Le mot « polymorphisme » vient du grec et signifie « plusieurs formes ».</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COMPOSITION ET AGRÉGATION</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Composition et agrégation</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23</a:t>
            </a:r>
            <a:endParaRPr lang="en-US" sz="1000" dirty="0"/>
          </a:p>
        </p:txBody>
      </p:sp>
      <p:pic>
        <p:nvPicPr>
          <p:cNvPr id="8" name="Image 0" descr="s2diag/compo.png">    </p:cNvPr>
          <p:cNvPicPr>
            <a:picLocks noChangeAspect="1"/>
          </p:cNvPicPr>
          <p:nvPr/>
        </p:nvPicPr>
        <p:blipFill>
          <a:blip r:embed="rId1"/>
          <a:stretch>
            <a:fillRect/>
          </a:stretch>
        </p:blipFill>
        <p:spPr>
          <a:xfrm>
            <a:off x="640080" y="1840946"/>
            <a:ext cx="6217920" cy="2536027"/>
          </a:xfrm>
          <a:prstGeom prst="rect">
            <a:avLst/>
          </a:prstGeom>
        </p:spPr>
      </p:pic>
      <p:sp>
        <p:nvSpPr>
          <p:cNvPr id="9" name="Shape 5"/>
          <p:cNvSpPr/>
          <p:nvPr/>
        </p:nvSpPr>
        <p:spPr>
          <a:xfrm>
            <a:off x="7132320" y="1783080"/>
            <a:ext cx="4389120" cy="1828800"/>
          </a:xfrm>
          <a:prstGeom prst="roundRect">
            <a:avLst>
              <a:gd name="adj" fmla="val 4000"/>
            </a:avLst>
          </a:prstGeom>
          <a:solidFill>
            <a:srgbClr val="16181D"/>
          </a:solidFill>
          <a:ln w="12700">
            <a:solidFill>
              <a:srgbClr val="16181D"/>
            </a:solidFill>
            <a:prstDash val="solid"/>
          </a:ln>
        </p:spPr>
      </p:sp>
      <p:sp>
        <p:nvSpPr>
          <p:cNvPr id="10" name="Text 6"/>
          <p:cNvSpPr txBox="1"/>
          <p:nvPr/>
        </p:nvSpPr>
        <p:spPr>
          <a:xfrm>
            <a:off x="7360920" y="1965960"/>
            <a:ext cx="3931920" cy="457200"/>
          </a:xfrm>
          <a:prstGeom prst="rect">
            <a:avLst/>
          </a:prstGeom>
          <a:noFill/>
          <a:ln/>
        </p:spPr>
        <p:txBody>
          <a:bodyPr wrap="square" lIns="0" tIns="0" rIns="0" bIns="0" rtlCol="0" anchor="ctr"/>
          <a:lstStyle/>
          <a:p>
            <a:pPr indent="0" marL="0">
              <a:buNone/>
            </a:pPr>
            <a:r>
              <a:rPr lang="en-US" sz="1900" b="1" dirty="0">
                <a:solidFill>
                  <a:srgbClr val="E8590C"/>
                </a:solidFill>
                <a:latin typeface="Arial" pitchFamily="34" charset="0"/>
                <a:ea typeface="Arial" pitchFamily="34" charset="-122"/>
                <a:cs typeface="Arial" pitchFamily="34" charset="-120"/>
              </a:rPr>
              <a:t>Composition ◆</a:t>
            </a:r>
            <a:endParaRPr lang="en-US" sz="1900" dirty="0"/>
          </a:p>
        </p:txBody>
      </p:sp>
      <p:sp>
        <p:nvSpPr>
          <p:cNvPr id="11" name="Text 7"/>
          <p:cNvSpPr txBox="1"/>
          <p:nvPr/>
        </p:nvSpPr>
        <p:spPr>
          <a:xfrm>
            <a:off x="7360920" y="2468880"/>
            <a:ext cx="3931920" cy="10058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On supprime l'incident : ses commentaires sont supprimés aussi.</a:t>
            </a:r>
            <a:endParaRPr lang="en-US" sz="1600" dirty="0"/>
          </a:p>
          <a:p>
            <a:pPr indent="0" marL="0">
              <a:buNone/>
            </a:pPr>
            <a:r>
              <a:rPr lang="en-US" sz="1600" i="1" dirty="0">
                <a:solidFill>
                  <a:srgbClr val="FFFFFF"/>
                </a:solidFill>
                <a:latin typeface="Calibri" pitchFamily="34" charset="0"/>
                <a:ea typeface="Calibri" pitchFamily="34" charset="-122"/>
                <a:cs typeface="Calibri" pitchFamily="34" charset="-120"/>
              </a:rPr>
              <a:t>Comme une maison et ses pièces.</a:t>
            </a:r>
            <a:endParaRPr lang="en-US" sz="1600" dirty="0"/>
          </a:p>
        </p:txBody>
      </p:sp>
      <p:sp>
        <p:nvSpPr>
          <p:cNvPr id="12" name="Shape 8"/>
          <p:cNvSpPr/>
          <p:nvPr/>
        </p:nvSpPr>
        <p:spPr>
          <a:xfrm>
            <a:off x="7132320" y="3794760"/>
            <a:ext cx="4389120" cy="1828800"/>
          </a:xfrm>
          <a:prstGeom prst="roundRect">
            <a:avLst>
              <a:gd name="adj" fmla="val 4000"/>
            </a:avLst>
          </a:prstGeom>
          <a:solidFill>
            <a:srgbClr val="F2F3F5"/>
          </a:solidFill>
          <a:ln w="12700">
            <a:solidFill>
              <a:srgbClr val="F2F3F5"/>
            </a:solidFill>
            <a:prstDash val="solid"/>
          </a:ln>
        </p:spPr>
      </p:sp>
      <p:sp>
        <p:nvSpPr>
          <p:cNvPr id="13" name="Text 9"/>
          <p:cNvSpPr txBox="1"/>
          <p:nvPr/>
        </p:nvSpPr>
        <p:spPr>
          <a:xfrm>
            <a:off x="7360920" y="3977640"/>
            <a:ext cx="3931920" cy="457200"/>
          </a:xfrm>
          <a:prstGeom prst="rect">
            <a:avLst/>
          </a:prstGeom>
          <a:noFill/>
          <a:ln/>
        </p:spPr>
        <p:txBody>
          <a:bodyPr wrap="square" lIns="0" tIns="0" rIns="0" bIns="0" rtlCol="0" anchor="ctr"/>
          <a:lstStyle/>
          <a:p>
            <a:pPr indent="0" marL="0">
              <a:buNone/>
            </a:pPr>
            <a:r>
              <a:rPr lang="en-US" sz="1900" b="1" dirty="0">
                <a:solidFill>
                  <a:srgbClr val="16181D"/>
                </a:solidFill>
                <a:latin typeface="Arial" pitchFamily="34" charset="0"/>
                <a:ea typeface="Arial" pitchFamily="34" charset="-122"/>
                <a:cs typeface="Arial" pitchFamily="34" charset="-120"/>
              </a:rPr>
              <a:t>Agrégation ◇</a:t>
            </a:r>
            <a:endParaRPr lang="en-US" sz="1900" dirty="0"/>
          </a:p>
        </p:txBody>
      </p:sp>
      <p:sp>
        <p:nvSpPr>
          <p:cNvPr id="14" name="Text 10"/>
          <p:cNvSpPr txBox="1"/>
          <p:nvPr/>
        </p:nvSpPr>
        <p:spPr>
          <a:xfrm>
            <a:off x="7360920" y="4480560"/>
            <a:ext cx="3931920" cy="1005840"/>
          </a:xfrm>
          <a:prstGeom prst="rect">
            <a:avLst/>
          </a:prstGeom>
          <a:noFill/>
          <a:ln/>
        </p:spPr>
        <p:txBody>
          <a:bodyPr wrap="square" lIns="0" tIns="0" rIns="0" bIns="0" rtlCol="0" anchor="t"/>
          <a:lstStyle/>
          <a:p>
            <a:pPr indent="0" marL="0">
              <a:buNone/>
            </a:pPr>
            <a:r>
              <a:rPr lang="en-US" sz="1600" dirty="0">
                <a:solidFill>
                  <a:srgbClr val="5F6670"/>
                </a:solidFill>
                <a:latin typeface="Calibri" pitchFamily="34" charset="0"/>
                <a:ea typeface="Calibri" pitchFamily="34" charset="-122"/>
                <a:cs typeface="Calibri" pitchFamily="34" charset="-120"/>
              </a:rPr>
              <a:t>On supprime l'équipe : les analystes restent.</a:t>
            </a:r>
            <a:endParaRPr lang="en-US" sz="1600" dirty="0"/>
          </a:p>
          <a:p>
            <a:pPr indent="0" marL="0">
              <a:buNone/>
            </a:pPr>
            <a:r>
              <a:rPr lang="en-US" sz="1600" i="1" dirty="0">
                <a:solidFill>
                  <a:srgbClr val="5F6670"/>
                </a:solidFill>
                <a:latin typeface="Calibri" pitchFamily="34" charset="0"/>
                <a:ea typeface="Calibri" pitchFamily="34" charset="-122"/>
                <a:cs typeface="Calibri" pitchFamily="34" charset="-120"/>
              </a:rPr>
              <a:t>Comme une équipe et ses joueurs.</a:t>
            </a:r>
            <a:endParaRPr lang="en-US" sz="1600" dirty="0"/>
          </a:p>
        </p:txBody>
      </p:sp>
      <p:sp>
        <p:nvSpPr>
          <p:cNvPr id="15" name="Text 11"/>
          <p:cNvSpPr txBox="1"/>
          <p:nvPr/>
        </p:nvSpPr>
        <p:spPr>
          <a:xfrm>
            <a:off x="640080" y="4754880"/>
            <a:ext cx="6217920" cy="731520"/>
          </a:xfrm>
          <a:prstGeom prst="rect">
            <a:avLst/>
          </a:prstGeom>
          <a:noFill/>
          <a:ln/>
        </p:spPr>
        <p:txBody>
          <a:bodyPr wrap="square" lIns="0" tIns="0" rIns="0" bIns="0" rtlCol="0" anchor="t"/>
          <a:lstStyle/>
          <a:p>
            <a:pPr indent="0" marL="0">
              <a:buNone/>
            </a:pPr>
            <a:r>
              <a:rPr lang="en-US" sz="1900" b="1" dirty="0">
                <a:solidFill>
                  <a:srgbClr val="16181D"/>
                </a:solidFill>
                <a:latin typeface="Arial" pitchFamily="34" charset="0"/>
                <a:ea typeface="Arial" pitchFamily="34" charset="-122"/>
                <a:cs typeface="Arial" pitchFamily="34" charset="-120"/>
              </a:rPr>
              <a:t>La question à se poser : si je supprime l'un, l'autre disparaît-il ?</a:t>
            </a:r>
            <a:endParaRPr lang="en-US" sz="1900" dirty="0"/>
          </a:p>
        </p:txBody>
      </p:sp>
      <p:sp>
        <p:nvSpPr>
          <p:cNvPr id="16" name="Text 12"/>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OMG, UML 2.5.1, chapitre 11 (Associations, AggregationKind). Diagramme généré avec PlantUML.</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F3F5"/>
        </a:solidFill>
      </p:bgPr>
    </p:bg>
    <p:spTree>
      <p:nvGrpSpPr>
        <p:cNvPr id="1" name=""/>
        <p:cNvGrpSpPr/>
        <p:nvPr/>
      </p:nvGrpSpPr>
      <p:grpSpPr>
        <a:xfrm>
          <a:off x="0" y="0"/>
          <a:ext cx="0" cy="0"/>
          <a:chOff x="0" y="0"/>
          <a:chExt cx="0" cy="0"/>
        </a:xfrm>
      </p:grpSpPr>
      <p:sp>
        <p:nvSpPr>
          <p:cNvPr id="2" name="Text 0"/>
          <p:cNvSpPr txBox="1"/>
          <p:nvPr/>
        </p:nvSpPr>
        <p:spPr>
          <a:xfrm>
            <a:off x="640080" y="1463040"/>
            <a:ext cx="3657600" cy="457200"/>
          </a:xfrm>
          <a:prstGeom prst="rect">
            <a:avLst/>
          </a:prstGeom>
          <a:noFill/>
          <a:ln/>
        </p:spPr>
        <p:txBody>
          <a:bodyPr wrap="square" lIns="0" tIns="0" rIns="0" bIns="0" rtlCol="0" anchor="ctr"/>
          <a:lstStyle/>
          <a:p>
            <a:pPr indent="0" marL="0">
              <a:buNone/>
            </a:pPr>
            <a:r>
              <a:rPr lang="en-US" sz="1600" b="1" spc="400" kern="0" dirty="0">
                <a:solidFill>
                  <a:srgbClr val="E8590C"/>
                </a:solidFill>
                <a:latin typeface="Calibri" pitchFamily="34" charset="0"/>
                <a:ea typeface="Calibri" pitchFamily="34" charset="-122"/>
                <a:cs typeface="Calibri" pitchFamily="34" charset="-120"/>
              </a:rPr>
              <a:t>RIDER</a:t>
            </a:r>
            <a:endParaRPr lang="en-US" sz="1600" dirty="0"/>
          </a:p>
        </p:txBody>
      </p:sp>
      <p:sp>
        <p:nvSpPr>
          <p:cNvPr id="3" name="Shape 1"/>
          <p:cNvSpPr/>
          <p:nvPr/>
        </p:nvSpPr>
        <p:spPr>
          <a:xfrm>
            <a:off x="640080" y="2011680"/>
            <a:ext cx="10911535" cy="1005840"/>
          </a:xfrm>
          <a:prstGeom prst="roundRect">
            <a:avLst>
              <a:gd name="adj" fmla="val 7273"/>
            </a:avLst>
          </a:prstGeom>
          <a:solidFill>
            <a:srgbClr val="1E2127"/>
          </a:solidFill>
          <a:ln w="12700">
            <a:solidFill>
              <a:srgbClr val="1E2127"/>
            </a:solidFill>
            <a:prstDash val="solid"/>
          </a:ln>
        </p:spPr>
      </p:sp>
      <p:sp>
        <p:nvSpPr>
          <p:cNvPr id="4" name="Text 2"/>
          <p:cNvSpPr txBox="1"/>
          <p:nvPr/>
        </p:nvSpPr>
        <p:spPr>
          <a:xfrm>
            <a:off x="1005840" y="2011680"/>
            <a:ext cx="10180015" cy="1005840"/>
          </a:xfrm>
          <a:prstGeom prst="rect">
            <a:avLst/>
          </a:prstGeom>
          <a:noFill/>
          <a:ln/>
        </p:spPr>
        <p:txBody>
          <a:bodyPr wrap="square" lIns="0" tIns="0" rIns="0" bIns="0" rtlCol="0" anchor="ctr"/>
          <a:lstStyle/>
          <a:p>
            <a:pPr indent="0" marL="0">
              <a:buNone/>
            </a:pPr>
            <a:r>
              <a:rPr lang="en-US" sz="2800" dirty="0">
                <a:solidFill>
                  <a:srgbClr val="E6E6E6"/>
                </a:solidFill>
                <a:latin typeface="Consolas" pitchFamily="34" charset="0"/>
                <a:ea typeface="Consolas" pitchFamily="34" charset="-122"/>
                <a:cs typeface="Consolas" pitchFamily="34" charset="-120"/>
              </a:rPr>
              <a:t>git checkout s02-etape4-polymorphisme-composition</a:t>
            </a:r>
            <a:endParaRPr lang="en-US" sz="2800" dirty="0"/>
          </a:p>
        </p:txBody>
      </p:sp>
      <p:sp>
        <p:nvSpPr>
          <p:cNvPr id="5" name="Text 3"/>
          <p:cNvSpPr txBox="1"/>
          <p:nvPr/>
        </p:nvSpPr>
        <p:spPr>
          <a:xfrm>
            <a:off x="640080" y="3291840"/>
            <a:ext cx="10911535" cy="731520"/>
          </a:xfrm>
          <a:prstGeom prst="rect">
            <a:avLst/>
          </a:prstGeom>
          <a:noFill/>
          <a:ln/>
        </p:spPr>
        <p:txBody>
          <a:bodyPr wrap="square" lIns="0" tIns="0" rIns="0" bIns="0" rtlCol="0" anchor="t"/>
          <a:lstStyle/>
          <a:p>
            <a:pPr indent="0" marL="0">
              <a:buNone/>
            </a:pPr>
            <a:r>
              <a:rPr lang="en-US" sz="2400" b="1" dirty="0">
                <a:solidFill>
                  <a:srgbClr val="16181D"/>
                </a:solidFill>
                <a:latin typeface="Arial" pitchFamily="34" charset="0"/>
                <a:ea typeface="Arial" pitchFamily="34" charset="-122"/>
                <a:cs typeface="Arial" pitchFamily="34" charset="-120"/>
              </a:rPr>
              <a:t>Tout assembler</a:t>
            </a:r>
            <a:endParaRPr lang="en-US" sz="2400" dirty="0"/>
          </a:p>
        </p:txBody>
      </p:sp>
      <p:sp>
        <p:nvSpPr>
          <p:cNvPr id="6" name="Text 4"/>
          <p:cNvSpPr txBox="1"/>
          <p:nvPr/>
        </p:nvSpPr>
        <p:spPr>
          <a:xfrm>
            <a:off x="640080" y="4114800"/>
            <a:ext cx="4572000" cy="365760"/>
          </a:xfrm>
          <a:prstGeom prst="rect">
            <a:avLst/>
          </a:prstGeom>
          <a:noFill/>
          <a:ln/>
        </p:spPr>
        <p:txBody>
          <a:bodyPr wrap="square" lIns="0" tIns="0" rIns="0" bIns="0" rtlCol="0" anchor="ctr"/>
          <a:lstStyle/>
          <a:p>
            <a:pPr indent="0" marL="0">
              <a:buNone/>
            </a:pPr>
            <a:r>
              <a:rPr lang="en-US" sz="1300" b="1" spc="200" kern="0" dirty="0">
                <a:solidFill>
                  <a:srgbClr val="5F6670"/>
                </a:solidFill>
                <a:latin typeface="Calibri" pitchFamily="34" charset="0"/>
                <a:ea typeface="Calibri" pitchFamily="34" charset="-122"/>
                <a:cs typeface="Calibri" pitchFamily="34" charset="-120"/>
              </a:rPr>
              <a:t>CE QU'ON REGARDE</a:t>
            </a:r>
            <a:endParaRPr lang="en-US" sz="1300" dirty="0"/>
          </a:p>
        </p:txBody>
      </p:sp>
      <p:sp>
        <p:nvSpPr>
          <p:cNvPr id="7" name="Text 5"/>
          <p:cNvSpPr txBox="1"/>
          <p:nvPr/>
        </p:nvSpPr>
        <p:spPr>
          <a:xfrm>
            <a:off x="640080" y="4526280"/>
            <a:ext cx="10911535" cy="16459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Une List&lt;User&gt; et un seul appel à Describe() : le polymorphisme</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Une List&lt;INotifier&gt; : chaque canal notifie à sa façon</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Incident.AddComment(...) : les commentaires font partie de l'incident</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IReadOnlyList&lt;Comment&gt; : on lit la liste, on ne la modifie pas de l'extérieur</a:t>
            </a:r>
            <a:endParaRPr lang="en-US" sz="1800" dirty="0"/>
          </a:p>
        </p:txBody>
      </p:sp>
      <p:sp>
        <p:nvSpPr>
          <p:cNvPr id="8" name="Text 6"/>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05</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L'UML complet</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Les six relations et le modèle d'IncidentHub</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UML · RELATIONS</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Six façons de relier deux classes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26</a:t>
            </a:r>
            <a:endParaRPr lang="en-US" sz="1000" dirty="0"/>
          </a:p>
        </p:txBody>
      </p:sp>
      <p:pic>
        <p:nvPicPr>
          <p:cNvPr id="8" name="Image 0" descr="s2diag/relations.png">    </p:cNvPr>
          <p:cNvPicPr>
            <a:picLocks noChangeAspect="1"/>
          </p:cNvPicPr>
          <p:nvPr/>
        </p:nvPicPr>
        <p:blipFill>
          <a:blip r:embed="rId1"/>
          <a:stretch>
            <a:fillRect/>
          </a:stretch>
        </p:blipFill>
        <p:spPr>
          <a:xfrm>
            <a:off x="640080" y="2297451"/>
            <a:ext cx="6675120" cy="2903177"/>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498080" y="1783080"/>
          <a:ext cx="4050792" cy="914400"/>
        </p:xfrm>
        <a:graphic>
          <a:graphicData uri="http://schemas.openxmlformats.org/drawingml/2006/table">
            <a:tbl>
              <a:tblPr/>
              <a:tblGrid>
                <a:gridCol w="1417320"/>
                <a:gridCol w="1463040"/>
                <a:gridCol w="1170432"/>
              </a:tblGrid>
              <a:tr h="51206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Relation</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Symbole</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r>
              <a:tr h="512064">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Association</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trait ——&gt;</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a un lien avec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12064">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Composition</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losange plein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supprimé avec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512064">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Agrégation</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losange vide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existe sans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12064">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Héritage</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triangle vide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est un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512064">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Réalisation</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pointillé +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implémente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12064">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Dépendance</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pointillé - - &gt;</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utilise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bl>
          </a:graphicData>
        </a:graphic>
      </p:graphicFrame>
      <p:sp>
        <p:nvSpPr>
          <p:cNvPr id="10" name="Text 5"/>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OMG, UML 2.5.1, chapitres 7, 9 et 11. Diagramme généré avec PlantUML.</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UML · INCIDENTHUB</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Le modèle d'IncidentHub après la séance 2</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27</a:t>
            </a:r>
            <a:endParaRPr lang="en-US" sz="1000" dirty="0"/>
          </a:p>
        </p:txBody>
      </p:sp>
      <p:pic>
        <p:nvPicPr>
          <p:cNvPr id="8" name="Image 0" descr="s2diag/modele-s2.png">    </p:cNvPr>
          <p:cNvPicPr>
            <a:picLocks noChangeAspect="1"/>
          </p:cNvPicPr>
          <p:nvPr/>
        </p:nvPicPr>
        <p:blipFill>
          <a:blip r:embed="rId1"/>
          <a:stretch>
            <a:fillRect/>
          </a:stretch>
        </p:blipFill>
        <p:spPr>
          <a:xfrm>
            <a:off x="1580987" y="1645920"/>
            <a:ext cx="5982025" cy="4343400"/>
          </a:xfrm>
          <a:prstGeom prst="rect">
            <a:avLst/>
          </a:prstGeom>
        </p:spPr>
      </p:pic>
      <p:sp>
        <p:nvSpPr>
          <p:cNvPr id="9" name="Shape 5"/>
          <p:cNvSpPr/>
          <p:nvPr/>
        </p:nvSpPr>
        <p:spPr>
          <a:xfrm>
            <a:off x="8686800" y="1783080"/>
            <a:ext cx="2834640" cy="4023360"/>
          </a:xfrm>
          <a:prstGeom prst="roundRect">
            <a:avLst>
              <a:gd name="adj" fmla="val 2581"/>
            </a:avLst>
          </a:prstGeom>
          <a:solidFill>
            <a:srgbClr val="F2F3F5"/>
          </a:solidFill>
          <a:ln w="12700">
            <a:solidFill>
              <a:srgbClr val="F2F3F5"/>
            </a:solidFill>
            <a:prstDash val="solid"/>
          </a:ln>
        </p:spPr>
      </p:sp>
      <p:sp>
        <p:nvSpPr>
          <p:cNvPr id="10" name="Text 6"/>
          <p:cNvSpPr txBox="1"/>
          <p:nvPr/>
        </p:nvSpPr>
        <p:spPr>
          <a:xfrm>
            <a:off x="8869680" y="1965960"/>
            <a:ext cx="2514600" cy="3657600"/>
          </a:xfrm>
          <a:prstGeom prst="rect">
            <a:avLst/>
          </a:prstGeom>
          <a:noFill/>
          <a:ln/>
        </p:spPr>
        <p:txBody>
          <a:bodyPr wrap="square" lIns="0" tIns="0" rIns="0" bIns="0" rtlCol="0" anchor="t"/>
          <a:lstStyle/>
          <a:p>
            <a:pPr indent="0" marL="0">
              <a:buNone/>
            </a:pPr>
            <a:r>
              <a:rPr lang="en-US" sz="1700" b="1" dirty="0">
                <a:solidFill>
                  <a:srgbClr val="E8590C"/>
                </a:solidFill>
                <a:latin typeface="Calibri" pitchFamily="34" charset="0"/>
                <a:ea typeface="Calibri" pitchFamily="34" charset="-122"/>
                <a:cs typeface="Calibri" pitchFamily="34" charset="-120"/>
              </a:rPr>
              <a:t>Ce qu'on lit</a:t>
            </a:r>
            <a:endParaRPr lang="en-US" sz="1700" dirty="0"/>
          </a:p>
          <a:p>
            <a:pPr indent="0" marL="0">
              <a:buNone/>
            </a:pPr>
            <a:r>
              <a:rPr lang="en-US" sz="1500" dirty="0">
                <a:solidFill>
                  <a:srgbClr val="16181D"/>
                </a:solidFill>
                <a:latin typeface="Calibri" pitchFamily="34" charset="0"/>
                <a:ea typeface="Calibri" pitchFamily="34" charset="-122"/>
                <a:cs typeface="Calibri" pitchFamily="34" charset="-120"/>
              </a:rPr>
              <a:t>User abstraite (italique)
3 rôles par héritage
1 interface, 1 réalisation
Composition avec Comment
Multiplicités partout
1 règle OCL (pre)
</a:t>
            </a:r>
            <a:endParaRPr lang="en-US" sz="1700" dirty="0"/>
          </a:p>
          <a:p>
            <a:pPr indent="0" marL="0">
              <a:buNone/>
            </a:pPr>
            <a:endParaRPr lang="en-US" sz="1700" dirty="0"/>
          </a:p>
          <a:p>
            <a:pPr indent="0" marL="0">
              <a:buNone/>
            </a:pPr>
            <a:r>
              <a:rPr lang="en-US" sz="1500" b="1" dirty="0">
                <a:solidFill>
                  <a:srgbClr val="16181D"/>
                </a:solidFill>
                <a:latin typeface="Calibri" pitchFamily="34" charset="0"/>
                <a:ea typeface="Calibri" pitchFamily="34" charset="-122"/>
                <a:cs typeface="Calibri" pitchFamily="34" charset="-120"/>
              </a:rPr>
              <a:t>C'est la base du Livrable 1 (séance 4).</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UML · CAS D'UTILISATION</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Qui fait quoi avec IncidentHub ?</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28</a:t>
            </a:r>
            <a:endParaRPr lang="en-US" sz="1000" dirty="0"/>
          </a:p>
        </p:txBody>
      </p:sp>
      <p:pic>
        <p:nvPicPr>
          <p:cNvPr id="8" name="Image 0" descr="diag/usecase.png">    </p:cNvPr>
          <p:cNvPicPr>
            <a:picLocks noChangeAspect="1"/>
          </p:cNvPicPr>
          <p:nvPr/>
        </p:nvPicPr>
        <p:blipFill>
          <a:blip r:embed="rId1"/>
          <a:stretch>
            <a:fillRect/>
          </a:stretch>
        </p:blipFill>
        <p:spPr>
          <a:xfrm>
            <a:off x="640080" y="1839243"/>
            <a:ext cx="7498080" cy="3270954"/>
          </a:xfrm>
          <a:prstGeom prst="rect">
            <a:avLst/>
          </a:prstGeom>
        </p:spPr>
      </p:pic>
      <p:sp>
        <p:nvSpPr>
          <p:cNvPr id="9" name="Shape 5"/>
          <p:cNvSpPr/>
          <p:nvPr/>
        </p:nvSpPr>
        <p:spPr>
          <a:xfrm>
            <a:off x="8321040" y="1783080"/>
            <a:ext cx="3200400" cy="3474720"/>
          </a:xfrm>
          <a:prstGeom prst="roundRect">
            <a:avLst>
              <a:gd name="adj" fmla="val 2286"/>
            </a:avLst>
          </a:prstGeom>
          <a:solidFill>
            <a:srgbClr val="16181D"/>
          </a:solidFill>
          <a:ln w="12700">
            <a:solidFill>
              <a:srgbClr val="16181D"/>
            </a:solidFill>
            <a:prstDash val="solid"/>
          </a:ln>
        </p:spPr>
      </p:sp>
      <p:sp>
        <p:nvSpPr>
          <p:cNvPr id="10" name="Text 6"/>
          <p:cNvSpPr txBox="1"/>
          <p:nvPr/>
        </p:nvSpPr>
        <p:spPr>
          <a:xfrm>
            <a:off x="8549640" y="1965960"/>
            <a:ext cx="2743200" cy="3108960"/>
          </a:xfrm>
          <a:prstGeom prst="rect">
            <a:avLst/>
          </a:prstGeom>
          <a:noFill/>
          <a:ln/>
        </p:spPr>
        <p:txBody>
          <a:bodyPr wrap="square" lIns="0" tIns="0" rIns="0" bIns="0" rtlCol="0" anchor="t"/>
          <a:lstStyle/>
          <a:p>
            <a:pPr indent="0" marL="0">
              <a:buNone/>
            </a:pPr>
            <a:r>
              <a:rPr lang="en-US" sz="1700" b="1" dirty="0">
                <a:solidFill>
                  <a:srgbClr val="E8590C"/>
                </a:solidFill>
                <a:latin typeface="Calibri" pitchFamily="34" charset="0"/>
                <a:ea typeface="Calibri" pitchFamily="34" charset="-122"/>
                <a:cs typeface="Calibri" pitchFamily="34" charset="-120"/>
              </a:rPr>
              <a:t>«include»</a:t>
            </a:r>
            <a:endParaRPr lang="en-US" sz="1700" dirty="0"/>
          </a:p>
          <a:p>
            <a:pPr indent="0" marL="0">
              <a:buNone/>
            </a:pPr>
            <a:r>
              <a:rPr lang="en-US" sz="1500" dirty="0">
                <a:solidFill>
                  <a:srgbClr val="FFFFFF"/>
                </a:solidFill>
                <a:latin typeface="Calibri" pitchFamily="34" charset="0"/>
                <a:ea typeface="Calibri" pitchFamily="34" charset="-122"/>
                <a:cs typeface="Calibri" pitchFamily="34" charset="-120"/>
              </a:rPr>
              <a:t>toujours inclus : signaler suppose de s'authentifier
</a:t>
            </a:r>
            <a:endParaRPr lang="en-US" sz="1700" dirty="0"/>
          </a:p>
          <a:p>
            <a:pPr indent="0" marL="0">
              <a:buNone/>
            </a:pPr>
            <a:r>
              <a:rPr lang="en-US" sz="1700" b="1" dirty="0">
                <a:solidFill>
                  <a:srgbClr val="E8590C"/>
                </a:solidFill>
                <a:latin typeface="Calibri" pitchFamily="34" charset="0"/>
                <a:ea typeface="Calibri" pitchFamily="34" charset="-122"/>
                <a:cs typeface="Calibri" pitchFamily="34" charset="-120"/>
              </a:rPr>
              <a:t>«extend»</a:t>
            </a:r>
            <a:endParaRPr lang="en-US" sz="1700" dirty="0"/>
          </a:p>
          <a:p>
            <a:pPr indent="0" marL="0">
              <a:buNone/>
            </a:pPr>
            <a:r>
              <a:rPr lang="en-US" sz="1500" dirty="0">
                <a:solidFill>
                  <a:srgbClr val="FFFFFF"/>
                </a:solidFill>
                <a:latin typeface="Calibri" pitchFamily="34" charset="0"/>
                <a:ea typeface="Calibri" pitchFamily="34" charset="-122"/>
                <a:cs typeface="Calibri" pitchFamily="34" charset="-120"/>
              </a:rPr>
              <a:t>possible en plus : on peut joindre une preuve</a:t>
            </a:r>
            <a:endParaRPr lang="en-US" sz="1700" dirty="0"/>
          </a:p>
        </p:txBody>
      </p:sp>
      <p:sp>
        <p:nvSpPr>
          <p:cNvPr id="11" name="Text 7"/>
          <p:cNvSpPr txBox="1"/>
          <p:nvPr/>
        </p:nvSpPr>
        <p:spPr>
          <a:xfrm>
            <a:off x="640080" y="5486400"/>
            <a:ext cx="10911535" cy="411480"/>
          </a:xfrm>
          <a:prstGeom prst="rect">
            <a:avLst/>
          </a:prstGeom>
          <a:noFill/>
          <a:ln/>
        </p:spPr>
        <p:txBody>
          <a:bodyPr wrap="square" lIns="0" tIns="0" rIns="0" bIns="0" rtlCol="0" anchor="ctr"/>
          <a:lstStyle/>
          <a:p>
            <a:pPr indent="0" marL="0">
              <a:buNone/>
            </a:pPr>
            <a:r>
              <a:rPr lang="en-US" sz="1600" b="1" dirty="0">
                <a:solidFill>
                  <a:srgbClr val="16181D"/>
                </a:solidFill>
                <a:latin typeface="Calibri" pitchFamily="34" charset="0"/>
                <a:ea typeface="Calibri" pitchFamily="34" charset="-122"/>
                <a:cs typeface="Calibri" pitchFamily="34" charset="-120"/>
              </a:rPr>
              <a:t>C'est souvent le premier schéma dessiné avec un client : il fixe le périmètre avant la première ligne de code.</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UML · ACTIVITÉS</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Le diagramme d'activités : le déroulement pas à pas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29</a:t>
            </a:r>
            <a:endParaRPr lang="en-US" sz="1000" dirty="0"/>
          </a:p>
        </p:txBody>
      </p:sp>
      <p:pic>
        <p:nvPicPr>
          <p:cNvPr id="8" name="Image 0" descr="s2diag/activite.png">    </p:cNvPr>
          <p:cNvPicPr>
            <a:picLocks noChangeAspect="1"/>
          </p:cNvPicPr>
          <p:nvPr/>
        </p:nvPicPr>
        <p:blipFill>
          <a:blip r:embed="rId1"/>
          <a:stretch>
            <a:fillRect/>
          </a:stretch>
        </p:blipFill>
        <p:spPr>
          <a:xfrm>
            <a:off x="894276" y="1645920"/>
            <a:ext cx="6166729" cy="4343400"/>
          </a:xfrm>
          <a:prstGeom prst="rect">
            <a:avLst/>
          </a:prstGeom>
        </p:spPr>
      </p:pic>
      <p:sp>
        <p:nvSpPr>
          <p:cNvPr id="9" name="Shape 5"/>
          <p:cNvSpPr/>
          <p:nvPr/>
        </p:nvSpPr>
        <p:spPr>
          <a:xfrm>
            <a:off x="7589520" y="1737360"/>
            <a:ext cx="3931920" cy="2788920"/>
          </a:xfrm>
          <a:prstGeom prst="roundRect">
            <a:avLst>
              <a:gd name="adj" fmla="val 2623"/>
            </a:avLst>
          </a:prstGeom>
          <a:solidFill>
            <a:srgbClr val="F2F3F5"/>
          </a:solidFill>
          <a:ln w="12700">
            <a:solidFill>
              <a:srgbClr val="F2F3F5"/>
            </a:solidFill>
            <a:prstDash val="solid"/>
          </a:ln>
        </p:spPr>
      </p:sp>
      <p:sp>
        <p:nvSpPr>
          <p:cNvPr id="10" name="Text 6"/>
          <p:cNvSpPr txBox="1"/>
          <p:nvPr/>
        </p:nvSpPr>
        <p:spPr>
          <a:xfrm>
            <a:off x="7772400" y="1874520"/>
            <a:ext cx="548640" cy="384048"/>
          </a:xfrm>
          <a:prstGeom prst="rect">
            <a:avLst/>
          </a:prstGeom>
          <a:noFill/>
          <a:ln/>
        </p:spPr>
        <p:txBody>
          <a:bodyPr wrap="square" lIns="0" tIns="0" rIns="0" bIns="0" rtlCol="0" anchor="ctr"/>
          <a:lstStyle/>
          <a:p>
            <a:pPr algn="ctr" indent="0" marL="0">
              <a:buNone/>
            </a:pPr>
            <a:r>
              <a:rPr lang="en-US" sz="1600" b="1" dirty="0">
                <a:solidFill>
                  <a:srgbClr val="E8590C"/>
                </a:solidFill>
                <a:latin typeface="Arial" pitchFamily="34" charset="0"/>
                <a:ea typeface="Arial" pitchFamily="34" charset="-122"/>
                <a:cs typeface="Arial" pitchFamily="34" charset="-120"/>
              </a:rPr>
              <a:t>●</a:t>
            </a:r>
            <a:endParaRPr lang="en-US" sz="1600" dirty="0"/>
          </a:p>
        </p:txBody>
      </p:sp>
      <p:sp>
        <p:nvSpPr>
          <p:cNvPr id="11" name="Text 7"/>
          <p:cNvSpPr txBox="1"/>
          <p:nvPr/>
        </p:nvSpPr>
        <p:spPr>
          <a:xfrm>
            <a:off x="8366760" y="1874520"/>
            <a:ext cx="3063240" cy="384048"/>
          </a:xfrm>
          <a:prstGeom prst="rect">
            <a:avLst/>
          </a:prstGeom>
          <a:noFill/>
          <a:ln/>
        </p:spPr>
        <p:txBody>
          <a:bodyPr wrap="square" lIns="0" tIns="0" rIns="0" bIns="0" rtlCol="0" anchor="ctr"/>
          <a:lstStyle/>
          <a:p>
            <a:pPr indent="0" marL="0">
              <a:buNone/>
            </a:pPr>
            <a:r>
              <a:rPr lang="en-US" sz="1400" dirty="0">
                <a:solidFill>
                  <a:srgbClr val="16181D"/>
                </a:solidFill>
                <a:latin typeface="Calibri" pitchFamily="34" charset="0"/>
                <a:ea typeface="Calibri" pitchFamily="34" charset="-122"/>
                <a:cs typeface="Calibri" pitchFamily="34" charset="-120"/>
              </a:rPr>
              <a:t>début</a:t>
            </a:r>
            <a:endParaRPr lang="en-US" sz="1400" dirty="0"/>
          </a:p>
        </p:txBody>
      </p:sp>
      <p:sp>
        <p:nvSpPr>
          <p:cNvPr id="12" name="Text 8"/>
          <p:cNvSpPr txBox="1"/>
          <p:nvPr/>
        </p:nvSpPr>
        <p:spPr>
          <a:xfrm>
            <a:off x="7772400" y="2304288"/>
            <a:ext cx="548640" cy="384048"/>
          </a:xfrm>
          <a:prstGeom prst="rect">
            <a:avLst/>
          </a:prstGeom>
          <a:noFill/>
          <a:ln/>
        </p:spPr>
        <p:txBody>
          <a:bodyPr wrap="square" lIns="0" tIns="0" rIns="0" bIns="0" rtlCol="0" anchor="ctr"/>
          <a:lstStyle/>
          <a:p>
            <a:pPr algn="ctr" indent="0" marL="0">
              <a:buNone/>
            </a:pPr>
            <a:r>
              <a:rPr lang="en-US" sz="1600" b="1" dirty="0">
                <a:solidFill>
                  <a:srgbClr val="E8590C"/>
                </a:solidFill>
                <a:latin typeface="Arial" pitchFamily="34" charset="0"/>
                <a:ea typeface="Arial" pitchFamily="34" charset="-122"/>
                <a:cs typeface="Arial" pitchFamily="34" charset="-120"/>
              </a:rPr>
              <a:t>▭</a:t>
            </a:r>
            <a:endParaRPr lang="en-US" sz="1600" dirty="0"/>
          </a:p>
        </p:txBody>
      </p:sp>
      <p:sp>
        <p:nvSpPr>
          <p:cNvPr id="13" name="Text 9"/>
          <p:cNvSpPr txBox="1"/>
          <p:nvPr/>
        </p:nvSpPr>
        <p:spPr>
          <a:xfrm>
            <a:off x="8366760" y="2304288"/>
            <a:ext cx="3063240" cy="384048"/>
          </a:xfrm>
          <a:prstGeom prst="rect">
            <a:avLst/>
          </a:prstGeom>
          <a:noFill/>
          <a:ln/>
        </p:spPr>
        <p:txBody>
          <a:bodyPr wrap="square" lIns="0" tIns="0" rIns="0" bIns="0" rtlCol="0" anchor="ctr"/>
          <a:lstStyle/>
          <a:p>
            <a:pPr indent="0" marL="0">
              <a:buNone/>
            </a:pPr>
            <a:r>
              <a:rPr lang="en-US" sz="1400" dirty="0">
                <a:solidFill>
                  <a:srgbClr val="16181D"/>
                </a:solidFill>
                <a:latin typeface="Calibri" pitchFamily="34" charset="0"/>
                <a:ea typeface="Calibri" pitchFamily="34" charset="-122"/>
                <a:cs typeface="Calibri" pitchFamily="34" charset="-120"/>
              </a:rPr>
              <a:t>action (rectangle arrondi)</a:t>
            </a:r>
            <a:endParaRPr lang="en-US" sz="1400" dirty="0"/>
          </a:p>
        </p:txBody>
      </p:sp>
      <p:sp>
        <p:nvSpPr>
          <p:cNvPr id="14" name="Text 10"/>
          <p:cNvSpPr txBox="1"/>
          <p:nvPr/>
        </p:nvSpPr>
        <p:spPr>
          <a:xfrm>
            <a:off x="7772400" y="2734056"/>
            <a:ext cx="548640" cy="384048"/>
          </a:xfrm>
          <a:prstGeom prst="rect">
            <a:avLst/>
          </a:prstGeom>
          <a:noFill/>
          <a:ln/>
        </p:spPr>
        <p:txBody>
          <a:bodyPr wrap="square" lIns="0" tIns="0" rIns="0" bIns="0" rtlCol="0" anchor="ctr"/>
          <a:lstStyle/>
          <a:p>
            <a:pPr algn="ctr" indent="0" marL="0">
              <a:buNone/>
            </a:pPr>
            <a:r>
              <a:rPr lang="en-US" sz="1600" b="1" dirty="0">
                <a:solidFill>
                  <a:srgbClr val="E8590C"/>
                </a:solidFill>
                <a:latin typeface="Arial" pitchFamily="34" charset="0"/>
                <a:ea typeface="Arial" pitchFamily="34" charset="-122"/>
                <a:cs typeface="Arial" pitchFamily="34" charset="-120"/>
              </a:rPr>
              <a:t>◇</a:t>
            </a:r>
            <a:endParaRPr lang="en-US" sz="1600" dirty="0"/>
          </a:p>
        </p:txBody>
      </p:sp>
      <p:sp>
        <p:nvSpPr>
          <p:cNvPr id="15" name="Text 11"/>
          <p:cNvSpPr txBox="1"/>
          <p:nvPr/>
        </p:nvSpPr>
        <p:spPr>
          <a:xfrm>
            <a:off x="8366760" y="2734056"/>
            <a:ext cx="3063240" cy="384048"/>
          </a:xfrm>
          <a:prstGeom prst="rect">
            <a:avLst/>
          </a:prstGeom>
          <a:noFill/>
          <a:ln/>
        </p:spPr>
        <p:txBody>
          <a:bodyPr wrap="square" lIns="0" tIns="0" rIns="0" bIns="0" rtlCol="0" anchor="ctr"/>
          <a:lstStyle/>
          <a:p>
            <a:pPr indent="0" marL="0">
              <a:buNone/>
            </a:pPr>
            <a:r>
              <a:rPr lang="en-US" sz="1400" dirty="0">
                <a:solidFill>
                  <a:srgbClr val="16181D"/>
                </a:solidFill>
                <a:latin typeface="Calibri" pitchFamily="34" charset="0"/>
                <a:ea typeface="Calibri" pitchFamily="34" charset="-122"/>
                <a:cs typeface="Calibri" pitchFamily="34" charset="-120"/>
              </a:rPr>
              <a:t>décision, ou fusion des chemins</a:t>
            </a:r>
            <a:endParaRPr lang="en-US" sz="1400" dirty="0"/>
          </a:p>
        </p:txBody>
      </p:sp>
      <p:sp>
        <p:nvSpPr>
          <p:cNvPr id="16" name="Text 12"/>
          <p:cNvSpPr txBox="1"/>
          <p:nvPr/>
        </p:nvSpPr>
        <p:spPr>
          <a:xfrm>
            <a:off x="7772400" y="3163824"/>
            <a:ext cx="548640" cy="384048"/>
          </a:xfrm>
          <a:prstGeom prst="rect">
            <a:avLst/>
          </a:prstGeom>
          <a:noFill/>
          <a:ln/>
        </p:spPr>
        <p:txBody>
          <a:bodyPr wrap="square" lIns="0" tIns="0" rIns="0" bIns="0" rtlCol="0" anchor="ctr"/>
          <a:lstStyle/>
          <a:p>
            <a:pPr algn="ctr" indent="0" marL="0">
              <a:buNone/>
            </a:pPr>
            <a:r>
              <a:rPr lang="en-US" sz="1600" b="1" dirty="0">
                <a:solidFill>
                  <a:srgbClr val="E8590C"/>
                </a:solidFill>
                <a:latin typeface="Arial" pitchFamily="34" charset="0"/>
                <a:ea typeface="Arial" pitchFamily="34" charset="-122"/>
                <a:cs typeface="Arial" pitchFamily="34" charset="-120"/>
              </a:rPr>
              <a:t>▬</a:t>
            </a:r>
            <a:endParaRPr lang="en-US" sz="1600" dirty="0"/>
          </a:p>
        </p:txBody>
      </p:sp>
      <p:sp>
        <p:nvSpPr>
          <p:cNvPr id="17" name="Text 13"/>
          <p:cNvSpPr txBox="1"/>
          <p:nvPr/>
        </p:nvSpPr>
        <p:spPr>
          <a:xfrm>
            <a:off x="8366760" y="3163824"/>
            <a:ext cx="3063240" cy="384048"/>
          </a:xfrm>
          <a:prstGeom prst="rect">
            <a:avLst/>
          </a:prstGeom>
          <a:noFill/>
          <a:ln/>
        </p:spPr>
        <p:txBody>
          <a:bodyPr wrap="square" lIns="0" tIns="0" rIns="0" bIns="0" rtlCol="0" anchor="ctr"/>
          <a:lstStyle/>
          <a:p>
            <a:pPr indent="0" marL="0">
              <a:buNone/>
            </a:pPr>
            <a:r>
              <a:rPr lang="en-US" sz="1400" dirty="0">
                <a:solidFill>
                  <a:srgbClr val="16181D"/>
                </a:solidFill>
                <a:latin typeface="Calibri" pitchFamily="34" charset="0"/>
                <a:ea typeface="Calibri" pitchFamily="34" charset="-122"/>
                <a:cs typeface="Calibri" pitchFamily="34" charset="-120"/>
              </a:rPr>
              <a:t>barre épaisse : en parallèle</a:t>
            </a:r>
            <a:endParaRPr lang="en-US" sz="1400" dirty="0"/>
          </a:p>
        </p:txBody>
      </p:sp>
      <p:sp>
        <p:nvSpPr>
          <p:cNvPr id="18" name="Text 14"/>
          <p:cNvSpPr txBox="1"/>
          <p:nvPr/>
        </p:nvSpPr>
        <p:spPr>
          <a:xfrm>
            <a:off x="7772400" y="3593592"/>
            <a:ext cx="548640" cy="384048"/>
          </a:xfrm>
          <a:prstGeom prst="rect">
            <a:avLst/>
          </a:prstGeom>
          <a:noFill/>
          <a:ln/>
        </p:spPr>
        <p:txBody>
          <a:bodyPr wrap="square" lIns="0" tIns="0" rIns="0" bIns="0" rtlCol="0" anchor="ctr"/>
          <a:lstStyle/>
          <a:p>
            <a:pPr algn="ctr" indent="0" marL="0">
              <a:buNone/>
            </a:pPr>
            <a:r>
              <a:rPr lang="en-US" sz="1600" b="1" dirty="0">
                <a:solidFill>
                  <a:srgbClr val="E8590C"/>
                </a:solidFill>
                <a:latin typeface="Arial" pitchFamily="34" charset="0"/>
                <a:ea typeface="Arial" pitchFamily="34" charset="-122"/>
                <a:cs typeface="Arial" pitchFamily="34" charset="-120"/>
              </a:rPr>
              <a:t>◉</a:t>
            </a:r>
            <a:endParaRPr lang="en-US" sz="1600" dirty="0"/>
          </a:p>
        </p:txBody>
      </p:sp>
      <p:sp>
        <p:nvSpPr>
          <p:cNvPr id="19" name="Text 15"/>
          <p:cNvSpPr txBox="1"/>
          <p:nvPr/>
        </p:nvSpPr>
        <p:spPr>
          <a:xfrm>
            <a:off x="8366760" y="3593592"/>
            <a:ext cx="3063240" cy="384048"/>
          </a:xfrm>
          <a:prstGeom prst="rect">
            <a:avLst/>
          </a:prstGeom>
          <a:noFill/>
          <a:ln/>
        </p:spPr>
        <p:txBody>
          <a:bodyPr wrap="square" lIns="0" tIns="0" rIns="0" bIns="0" rtlCol="0" anchor="ctr"/>
          <a:lstStyle/>
          <a:p>
            <a:pPr indent="0" marL="0">
              <a:buNone/>
            </a:pPr>
            <a:r>
              <a:rPr lang="en-US" sz="1400" dirty="0">
                <a:solidFill>
                  <a:srgbClr val="16181D"/>
                </a:solidFill>
                <a:latin typeface="Calibri" pitchFamily="34" charset="0"/>
                <a:ea typeface="Calibri" pitchFamily="34" charset="-122"/>
                <a:cs typeface="Calibri" pitchFamily="34" charset="-120"/>
              </a:rPr>
              <a:t>fin</a:t>
            </a:r>
            <a:endParaRPr lang="en-US" sz="1400" dirty="0"/>
          </a:p>
        </p:txBody>
      </p:sp>
      <p:sp>
        <p:nvSpPr>
          <p:cNvPr id="20" name="Text 16"/>
          <p:cNvSpPr txBox="1"/>
          <p:nvPr/>
        </p:nvSpPr>
        <p:spPr>
          <a:xfrm>
            <a:off x="7772400" y="4023360"/>
            <a:ext cx="548640" cy="384048"/>
          </a:xfrm>
          <a:prstGeom prst="rect">
            <a:avLst/>
          </a:prstGeom>
          <a:noFill/>
          <a:ln/>
        </p:spPr>
        <p:txBody>
          <a:bodyPr wrap="square" lIns="0" tIns="0" rIns="0" bIns="0" rtlCol="0" anchor="ctr"/>
          <a:lstStyle/>
          <a:p>
            <a:pPr algn="ctr" indent="0" marL="0">
              <a:buNone/>
            </a:pPr>
            <a:r>
              <a:rPr lang="en-US" sz="1600" b="1" dirty="0">
                <a:solidFill>
                  <a:srgbClr val="E8590C"/>
                </a:solidFill>
                <a:latin typeface="Arial" pitchFamily="34" charset="0"/>
                <a:ea typeface="Arial" pitchFamily="34" charset="-122"/>
                <a:cs typeface="Arial" pitchFamily="34" charset="-120"/>
              </a:rPr>
              <a:t>| |</a:t>
            </a:r>
            <a:endParaRPr lang="en-US" sz="1600" dirty="0"/>
          </a:p>
        </p:txBody>
      </p:sp>
      <p:sp>
        <p:nvSpPr>
          <p:cNvPr id="21" name="Text 17"/>
          <p:cNvSpPr txBox="1"/>
          <p:nvPr/>
        </p:nvSpPr>
        <p:spPr>
          <a:xfrm>
            <a:off x="8366760" y="4023360"/>
            <a:ext cx="3063240" cy="384048"/>
          </a:xfrm>
          <a:prstGeom prst="rect">
            <a:avLst/>
          </a:prstGeom>
          <a:noFill/>
          <a:ln/>
        </p:spPr>
        <p:txBody>
          <a:bodyPr wrap="square" lIns="0" tIns="0" rIns="0" bIns="0" rtlCol="0" anchor="ctr"/>
          <a:lstStyle/>
          <a:p>
            <a:pPr indent="0" marL="0">
              <a:buNone/>
            </a:pPr>
            <a:r>
              <a:rPr lang="en-US" sz="1400" dirty="0">
                <a:solidFill>
                  <a:srgbClr val="16181D"/>
                </a:solidFill>
                <a:latin typeface="Calibri" pitchFamily="34" charset="0"/>
                <a:ea typeface="Calibri" pitchFamily="34" charset="-122"/>
                <a:cs typeface="Calibri" pitchFamily="34" charset="-120"/>
              </a:rPr>
              <a:t>couloirs : qui fait quoi</a:t>
            </a:r>
            <a:endParaRPr lang="en-US" sz="1400" dirty="0"/>
          </a:p>
        </p:txBody>
      </p:sp>
      <p:sp>
        <p:nvSpPr>
          <p:cNvPr id="22" name="Shape 18"/>
          <p:cNvSpPr/>
          <p:nvPr/>
        </p:nvSpPr>
        <p:spPr>
          <a:xfrm>
            <a:off x="7589520" y="4663440"/>
            <a:ext cx="3931920" cy="1280160"/>
          </a:xfrm>
          <a:prstGeom prst="roundRect">
            <a:avLst>
              <a:gd name="adj" fmla="val 5714"/>
            </a:avLst>
          </a:prstGeom>
          <a:solidFill>
            <a:srgbClr val="16181D"/>
          </a:solidFill>
          <a:ln w="12700">
            <a:solidFill>
              <a:srgbClr val="16181D"/>
            </a:solidFill>
            <a:prstDash val="solid"/>
          </a:ln>
        </p:spPr>
      </p:sp>
      <p:sp>
        <p:nvSpPr>
          <p:cNvPr id="23" name="Text 19"/>
          <p:cNvSpPr txBox="1"/>
          <p:nvPr/>
        </p:nvSpPr>
        <p:spPr>
          <a:xfrm>
            <a:off x="7772400" y="4709160"/>
            <a:ext cx="3611880" cy="1188720"/>
          </a:xfrm>
          <a:prstGeom prst="rect">
            <a:avLst/>
          </a:prstGeom>
          <a:noFill/>
          <a:ln/>
        </p:spPr>
        <p:txBody>
          <a:bodyPr wrap="square" lIns="0" tIns="0" rIns="0" bIns="0" rtlCol="0" anchor="ctr"/>
          <a:lstStyle/>
          <a:p>
            <a:pPr indent="0" marL="0">
              <a:buNone/>
            </a:pPr>
            <a:r>
              <a:rPr lang="en-US" sz="1350" b="1" dirty="0">
                <a:solidFill>
                  <a:srgbClr val="E8590C"/>
                </a:solidFill>
                <a:latin typeface="Calibri" pitchFamily="34" charset="0"/>
                <a:ea typeface="Calibri" pitchFamily="34" charset="-122"/>
                <a:cs typeface="Calibri" pitchFamily="34" charset="-120"/>
              </a:rPr>
              <a:t>Activités ou BPMN ?  </a:t>
            </a:r>
            <a:pPr indent="0" marL="0">
              <a:buNone/>
            </a:pPr>
            <a:r>
              <a:rPr lang="en-US" sz="1350" dirty="0">
                <a:solidFill>
                  <a:srgbClr val="FFFFFF"/>
                </a:solidFill>
                <a:latin typeface="Calibri" pitchFamily="34" charset="0"/>
                <a:ea typeface="Calibri" pitchFamily="34" charset="-122"/>
                <a:cs typeface="Calibri" pitchFamily="34" charset="-120"/>
              </a:rPr>
              <a:t>L'idée est la même : le diagramme d'activités s'adresse plutôt à l'équipe de développement, BPMN au métier et aux moteurs de workflow.</a:t>
            </a:r>
            <a:endParaRPr lang="en-US" sz="1350" dirty="0"/>
          </a:p>
        </p:txBody>
      </p:sp>
      <p:sp>
        <p:nvSpPr>
          <p:cNvPr id="24" name="Text 20"/>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OMG, UML 2.5.1, chapitres 15-16 (Activities). Diagramme généré avec PlantUML.</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06</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L'IA dessine le modèle</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Qu'est-ce qui est faux ?</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PROMPT</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La demande naïve</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31</a:t>
            </a:r>
            <a:endParaRPr lang="en-US" sz="1000" dirty="0"/>
          </a:p>
        </p:txBody>
      </p:sp>
      <p:sp>
        <p:nvSpPr>
          <p:cNvPr id="8" name="Shape 5"/>
          <p:cNvSpPr/>
          <p:nvPr/>
        </p:nvSpPr>
        <p:spPr>
          <a:xfrm>
            <a:off x="640080" y="1828800"/>
            <a:ext cx="10911535" cy="1645920"/>
          </a:xfrm>
          <a:prstGeom prst="roundRect">
            <a:avLst>
              <a:gd name="adj" fmla="val 4444"/>
            </a:avLst>
          </a:prstGeom>
          <a:solidFill>
            <a:srgbClr val="16181D"/>
          </a:solidFill>
          <a:ln w="12700">
            <a:solidFill>
              <a:srgbClr val="16181D"/>
            </a:solidFill>
            <a:prstDash val="solid"/>
          </a:ln>
        </p:spPr>
      </p:sp>
      <p:sp>
        <p:nvSpPr>
          <p:cNvPr id="9" name="Text 6"/>
          <p:cNvSpPr txBox="1"/>
          <p:nvPr/>
        </p:nvSpPr>
        <p:spPr>
          <a:xfrm>
            <a:off x="1097280" y="1828800"/>
            <a:ext cx="9997135" cy="1645920"/>
          </a:xfrm>
          <a:prstGeom prst="rect">
            <a:avLst/>
          </a:prstGeom>
          <a:noFill/>
          <a:ln/>
        </p:spPr>
        <p:txBody>
          <a:bodyPr wrap="square" lIns="0" tIns="0" rIns="0" bIns="0" rtlCol="0" anchor="ctr"/>
          <a:lstStyle/>
          <a:p>
            <a:pPr indent="0" marL="0">
              <a:buNone/>
            </a:pPr>
            <a:r>
              <a:rPr lang="en-US" sz="1900" dirty="0">
                <a:solidFill>
                  <a:srgbClr val="FFFFFF"/>
                </a:solidFill>
                <a:latin typeface="Consolas" pitchFamily="34" charset="0"/>
                <a:ea typeface="Consolas" pitchFamily="34" charset="-122"/>
                <a:cs typeface="Consolas" pitchFamily="34" charset="-120"/>
              </a:rPr>
              <a:t>Génère un diagramme de classes Mermaid pour IncidentHub, une application de signalement d'incidents cyber, avec des déclarants, des analystes, des responsables et des commentaires.</a:t>
            </a:r>
            <a:endParaRPr lang="en-US" sz="1900" dirty="0"/>
          </a:p>
        </p:txBody>
      </p:sp>
      <p:sp>
        <p:nvSpPr>
          <p:cNvPr id="10" name="Text 7"/>
          <p:cNvSpPr txBox="1"/>
          <p:nvPr/>
        </p:nvSpPr>
        <p:spPr>
          <a:xfrm>
            <a:off x="640080" y="3931920"/>
            <a:ext cx="10911535" cy="457200"/>
          </a:xfrm>
          <a:prstGeom prst="rect">
            <a:avLst/>
          </a:prstGeom>
          <a:noFill/>
          <a:ln/>
        </p:spPr>
        <p:txBody>
          <a:bodyPr wrap="square" lIns="0" tIns="0" rIns="0" bIns="0" rtlCol="0" anchor="ctr"/>
          <a:lstStyle/>
          <a:p>
            <a:pPr indent="0" marL="0">
              <a:buNone/>
            </a:pPr>
            <a:r>
              <a:rPr lang="en-US" sz="1600" b="1" dirty="0">
                <a:solidFill>
                  <a:srgbClr val="E8590C"/>
                </a:solidFill>
                <a:latin typeface="Consolas" pitchFamily="34" charset="0"/>
                <a:ea typeface="Consolas" pitchFamily="34" charset="-122"/>
                <a:cs typeface="Consolas" pitchFamily="34" charset="-120"/>
              </a:rPr>
              <a:t>RIDER  ·  git checkout demo/s02-ia-diagramme  ·  docs/modele-genere-par-ia.md</a:t>
            </a:r>
            <a:endParaRPr lang="en-US" sz="1600" dirty="0"/>
          </a:p>
        </p:txBody>
      </p:sp>
      <p:sp>
        <p:nvSpPr>
          <p:cNvPr id="11" name="Text 8"/>
          <p:cNvSpPr txBox="1"/>
          <p:nvPr/>
        </p:nvSpPr>
        <p:spPr>
          <a:xfrm>
            <a:off x="640080" y="4663440"/>
            <a:ext cx="10911535" cy="457200"/>
          </a:xfrm>
          <a:prstGeom prst="rect">
            <a:avLst/>
          </a:prstGeom>
          <a:noFill/>
          <a:ln/>
        </p:spPr>
        <p:txBody>
          <a:bodyPr wrap="square" lIns="0" tIns="0" rIns="0" bIns="0" rtlCol="0" anchor="ctr"/>
          <a:lstStyle/>
          <a:p>
            <a:pPr indent="0" marL="0">
              <a:buNone/>
            </a:pPr>
            <a:r>
              <a:rPr lang="en-US" sz="1800" i="1" dirty="0">
                <a:solidFill>
                  <a:srgbClr val="5F6670"/>
                </a:solidFill>
                <a:latin typeface="Calibri" pitchFamily="34" charset="0"/>
                <a:ea typeface="Calibri" pitchFamily="34" charset="-122"/>
                <a:cs typeface="Calibri" pitchFamily="34" charset="-120"/>
              </a:rPr>
              <a:t>Indice : appliquez le test du « est un », et regardez les symboles + et -.</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PARTICIPATION · 3 MINUTES</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Combien de problèmes voyez-vous ?</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32</a:t>
            </a:r>
            <a:endParaRPr lang="en-US" sz="1000" dirty="0"/>
          </a:p>
        </p:txBody>
      </p:sp>
      <p:sp>
        <p:nvSpPr>
          <p:cNvPr id="8" name="Shape 5"/>
          <p:cNvSpPr/>
          <p:nvPr/>
        </p:nvSpPr>
        <p:spPr>
          <a:xfrm>
            <a:off x="640080" y="2103120"/>
            <a:ext cx="3474720" cy="2194560"/>
          </a:xfrm>
          <a:prstGeom prst="roundRect">
            <a:avLst>
              <a:gd name="adj" fmla="val 3333"/>
            </a:avLst>
          </a:prstGeom>
          <a:solidFill>
            <a:srgbClr val="F2F3F5"/>
          </a:solidFill>
          <a:ln w="12700">
            <a:solidFill>
              <a:srgbClr val="F2F3F5"/>
            </a:solidFill>
            <a:prstDash val="solid"/>
          </a:ln>
        </p:spPr>
      </p:sp>
      <p:sp>
        <p:nvSpPr>
          <p:cNvPr id="9" name="Text 6"/>
          <p:cNvSpPr txBox="1"/>
          <p:nvPr/>
        </p:nvSpPr>
        <p:spPr>
          <a:xfrm>
            <a:off x="640080" y="2286000"/>
            <a:ext cx="3474720" cy="1005840"/>
          </a:xfrm>
          <a:prstGeom prst="rect">
            <a:avLst/>
          </a:prstGeom>
          <a:noFill/>
          <a:ln/>
        </p:spPr>
        <p:txBody>
          <a:bodyPr wrap="square" lIns="0" tIns="0" rIns="0" bIns="0" rtlCol="0" anchor="ctr"/>
          <a:lstStyle/>
          <a:p>
            <a:pPr algn="ctr" indent="0" marL="0">
              <a:buNone/>
            </a:pPr>
            <a:r>
              <a:rPr lang="en-US" sz="4800" dirty="0">
                <a:solidFill>
                  <a:srgbClr val="000000"/>
                </a:solidFill>
              </a:rPr>
              <a:t>👍</a:t>
            </a:r>
            <a:endParaRPr lang="en-US" sz="4800" dirty="0"/>
          </a:p>
        </p:txBody>
      </p:sp>
      <p:sp>
        <p:nvSpPr>
          <p:cNvPr id="10" name="Text 7"/>
          <p:cNvSpPr txBox="1"/>
          <p:nvPr/>
        </p:nvSpPr>
        <p:spPr>
          <a:xfrm>
            <a:off x="640080" y="3383280"/>
            <a:ext cx="3474720" cy="640080"/>
          </a:xfrm>
          <a:prstGeom prst="rect">
            <a:avLst/>
          </a:prstGeom>
          <a:noFill/>
          <a:ln/>
        </p:spPr>
        <p:txBody>
          <a:bodyPr wrap="square" lIns="0" tIns="0" rIns="0" bIns="0" rtlCol="0" anchor="ctr"/>
          <a:lstStyle/>
          <a:p>
            <a:pPr algn="ctr" indent="0" marL="0">
              <a:buNone/>
            </a:pPr>
            <a:r>
              <a:rPr lang="en-US" sz="2400" b="1" dirty="0">
                <a:solidFill>
                  <a:srgbClr val="16181D"/>
                </a:solidFill>
                <a:latin typeface="Arial" pitchFamily="34" charset="0"/>
                <a:ea typeface="Arial" pitchFamily="34" charset="-122"/>
                <a:cs typeface="Arial" pitchFamily="34" charset="-120"/>
              </a:rPr>
              <a:t>1 ou 2</a:t>
            </a:r>
            <a:endParaRPr lang="en-US" sz="2400" dirty="0"/>
          </a:p>
        </p:txBody>
      </p:sp>
      <p:sp>
        <p:nvSpPr>
          <p:cNvPr id="11" name="Shape 8"/>
          <p:cNvSpPr/>
          <p:nvPr/>
        </p:nvSpPr>
        <p:spPr>
          <a:xfrm>
            <a:off x="4343400" y="2103120"/>
            <a:ext cx="3474720" cy="2194560"/>
          </a:xfrm>
          <a:prstGeom prst="roundRect">
            <a:avLst>
              <a:gd name="adj" fmla="val 3333"/>
            </a:avLst>
          </a:prstGeom>
          <a:solidFill>
            <a:srgbClr val="F2F3F5"/>
          </a:solidFill>
          <a:ln w="12700">
            <a:solidFill>
              <a:srgbClr val="F2F3F5"/>
            </a:solidFill>
            <a:prstDash val="solid"/>
          </a:ln>
        </p:spPr>
      </p:sp>
      <p:sp>
        <p:nvSpPr>
          <p:cNvPr id="12" name="Text 9"/>
          <p:cNvSpPr txBox="1"/>
          <p:nvPr/>
        </p:nvSpPr>
        <p:spPr>
          <a:xfrm>
            <a:off x="4343400" y="2286000"/>
            <a:ext cx="3474720" cy="1005840"/>
          </a:xfrm>
          <a:prstGeom prst="rect">
            <a:avLst/>
          </a:prstGeom>
          <a:noFill/>
          <a:ln/>
        </p:spPr>
        <p:txBody>
          <a:bodyPr wrap="square" lIns="0" tIns="0" rIns="0" bIns="0" rtlCol="0" anchor="ctr"/>
          <a:lstStyle/>
          <a:p>
            <a:pPr algn="ctr" indent="0" marL="0">
              <a:buNone/>
            </a:pPr>
            <a:r>
              <a:rPr lang="en-US" sz="4800" dirty="0">
                <a:solidFill>
                  <a:srgbClr val="000000"/>
                </a:solidFill>
              </a:rPr>
              <a:t>❤️</a:t>
            </a:r>
            <a:endParaRPr lang="en-US" sz="4800" dirty="0"/>
          </a:p>
        </p:txBody>
      </p:sp>
      <p:sp>
        <p:nvSpPr>
          <p:cNvPr id="13" name="Text 10"/>
          <p:cNvSpPr txBox="1"/>
          <p:nvPr/>
        </p:nvSpPr>
        <p:spPr>
          <a:xfrm>
            <a:off x="4343400" y="3383280"/>
            <a:ext cx="3474720" cy="640080"/>
          </a:xfrm>
          <a:prstGeom prst="rect">
            <a:avLst/>
          </a:prstGeom>
          <a:noFill/>
          <a:ln/>
        </p:spPr>
        <p:txBody>
          <a:bodyPr wrap="square" lIns="0" tIns="0" rIns="0" bIns="0" rtlCol="0" anchor="ctr"/>
          <a:lstStyle/>
          <a:p>
            <a:pPr algn="ctr" indent="0" marL="0">
              <a:buNone/>
            </a:pPr>
            <a:r>
              <a:rPr lang="en-US" sz="2400" b="1" dirty="0">
                <a:solidFill>
                  <a:srgbClr val="16181D"/>
                </a:solidFill>
                <a:latin typeface="Arial" pitchFamily="34" charset="0"/>
                <a:ea typeface="Arial" pitchFamily="34" charset="-122"/>
                <a:cs typeface="Arial" pitchFamily="34" charset="-120"/>
              </a:rPr>
              <a:t>3 ou 4</a:t>
            </a:r>
            <a:endParaRPr lang="en-US" sz="2400" dirty="0"/>
          </a:p>
        </p:txBody>
      </p:sp>
      <p:sp>
        <p:nvSpPr>
          <p:cNvPr id="14" name="Shape 11"/>
          <p:cNvSpPr/>
          <p:nvPr/>
        </p:nvSpPr>
        <p:spPr>
          <a:xfrm>
            <a:off x="8046720" y="2103120"/>
            <a:ext cx="3474720" cy="2194560"/>
          </a:xfrm>
          <a:prstGeom prst="roundRect">
            <a:avLst>
              <a:gd name="adj" fmla="val 3333"/>
            </a:avLst>
          </a:prstGeom>
          <a:solidFill>
            <a:srgbClr val="F2F3F5"/>
          </a:solidFill>
          <a:ln w="12700">
            <a:solidFill>
              <a:srgbClr val="F2F3F5"/>
            </a:solidFill>
            <a:prstDash val="solid"/>
          </a:ln>
        </p:spPr>
      </p:sp>
      <p:sp>
        <p:nvSpPr>
          <p:cNvPr id="15" name="Text 12"/>
          <p:cNvSpPr txBox="1"/>
          <p:nvPr/>
        </p:nvSpPr>
        <p:spPr>
          <a:xfrm>
            <a:off x="8046720" y="2286000"/>
            <a:ext cx="3474720" cy="1005840"/>
          </a:xfrm>
          <a:prstGeom prst="rect">
            <a:avLst/>
          </a:prstGeom>
          <a:noFill/>
          <a:ln/>
        </p:spPr>
        <p:txBody>
          <a:bodyPr wrap="square" lIns="0" tIns="0" rIns="0" bIns="0" rtlCol="0" anchor="ctr"/>
          <a:lstStyle/>
          <a:p>
            <a:pPr algn="ctr" indent="0" marL="0">
              <a:buNone/>
            </a:pPr>
            <a:r>
              <a:rPr lang="en-US" sz="4800" dirty="0">
                <a:solidFill>
                  <a:srgbClr val="000000"/>
                </a:solidFill>
              </a:rPr>
              <a:t>😮</a:t>
            </a:r>
            <a:endParaRPr lang="en-US" sz="4800" dirty="0"/>
          </a:p>
        </p:txBody>
      </p:sp>
      <p:sp>
        <p:nvSpPr>
          <p:cNvPr id="16" name="Text 13"/>
          <p:cNvSpPr txBox="1"/>
          <p:nvPr/>
        </p:nvSpPr>
        <p:spPr>
          <a:xfrm>
            <a:off x="8046720" y="3383280"/>
            <a:ext cx="3474720" cy="640080"/>
          </a:xfrm>
          <a:prstGeom prst="rect">
            <a:avLst/>
          </a:prstGeom>
          <a:noFill/>
          <a:ln/>
        </p:spPr>
        <p:txBody>
          <a:bodyPr wrap="square" lIns="0" tIns="0" rIns="0" bIns="0" rtlCol="0" anchor="ctr"/>
          <a:lstStyle/>
          <a:p>
            <a:pPr algn="ctr" indent="0" marL="0">
              <a:buNone/>
            </a:pPr>
            <a:r>
              <a:rPr lang="en-US" sz="2400" b="1" dirty="0">
                <a:solidFill>
                  <a:srgbClr val="16181D"/>
                </a:solidFill>
                <a:latin typeface="Arial" pitchFamily="34" charset="0"/>
                <a:ea typeface="Arial" pitchFamily="34" charset="-122"/>
                <a:cs typeface="Arial" pitchFamily="34" charset="-120"/>
              </a:rPr>
              <a:t>5 et plus</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CORRECTION</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Ce que l'IA a mal modélisé</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33</a:t>
            </a:r>
            <a:endParaRPr lang="en-US" sz="1000" dirty="0"/>
          </a:p>
        </p:txBody>
      </p:sp>
      <p:sp>
        <p:nvSpPr>
          <p:cNvPr id="8" name="Text 5"/>
          <p:cNvSpPr txBox="1"/>
          <p:nvPr/>
        </p:nvSpPr>
        <p:spPr>
          <a:xfrm>
            <a:off x="640080" y="1783080"/>
            <a:ext cx="548640" cy="640080"/>
          </a:xfrm>
          <a:prstGeom prst="rect">
            <a:avLst/>
          </a:prstGeom>
          <a:noFill/>
          <a:ln/>
        </p:spPr>
        <p:txBody>
          <a:bodyPr wrap="square" lIns="0" tIns="0" rIns="0" bIns="0" rtlCol="0" anchor="ctr"/>
          <a:lstStyle/>
          <a:p>
            <a:pPr indent="0" marL="0">
              <a:buNone/>
            </a:pPr>
            <a:r>
              <a:rPr lang="en-US" sz="2400" b="1" dirty="0">
                <a:solidFill>
                  <a:srgbClr val="E8590C"/>
                </a:solidFill>
                <a:latin typeface="Arial" pitchFamily="34" charset="0"/>
                <a:ea typeface="Arial" pitchFamily="34" charset="-122"/>
                <a:cs typeface="Arial" pitchFamily="34" charset="-120"/>
              </a:rPr>
              <a:t>1</a:t>
            </a:r>
            <a:endParaRPr lang="en-US" sz="2400" dirty="0"/>
          </a:p>
        </p:txBody>
      </p:sp>
      <p:sp>
        <p:nvSpPr>
          <p:cNvPr id="9" name="Text 6"/>
          <p:cNvSpPr txBox="1"/>
          <p:nvPr/>
        </p:nvSpPr>
        <p:spPr>
          <a:xfrm>
            <a:off x="1280160" y="1783080"/>
            <a:ext cx="5120640" cy="640080"/>
          </a:xfrm>
          <a:prstGeom prst="rect">
            <a:avLst/>
          </a:prstGeom>
          <a:noFill/>
          <a:ln/>
        </p:spPr>
        <p:txBody>
          <a:bodyPr wrap="square" lIns="0" tIns="0" rIns="0" bIns="0"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Manager hérite d'Analyst, qui hérite de Reporter</a:t>
            </a:r>
            <a:endParaRPr lang="en-US" sz="1700" dirty="0"/>
          </a:p>
        </p:txBody>
      </p:sp>
      <p:sp>
        <p:nvSpPr>
          <p:cNvPr id="10" name="Text 7"/>
          <p:cNvSpPr txBox="1"/>
          <p:nvPr/>
        </p:nvSpPr>
        <p:spPr>
          <a:xfrm>
            <a:off x="6583680" y="1783080"/>
            <a:ext cx="4937760" cy="640080"/>
          </a:xfrm>
          <a:prstGeom prst="rect">
            <a:avLst/>
          </a:prstGeom>
          <a:noFill/>
          <a:ln/>
        </p:spPr>
        <p:txBody>
          <a:bodyPr wrap="square" lIns="0" tIns="0" rIns="0" bIns="0" rtlCol="0" anchor="ctr"/>
          <a:lstStyle/>
          <a:p>
            <a:pPr indent="0" marL="0">
              <a:buNone/>
            </a:pPr>
            <a:r>
              <a:rPr lang="en-US" sz="1600" dirty="0">
                <a:solidFill>
                  <a:srgbClr val="5F6670"/>
                </a:solidFill>
                <a:latin typeface="Calibri" pitchFamily="34" charset="0"/>
                <a:ea typeface="Calibri" pitchFamily="34" charset="-122"/>
                <a:cs typeface="Calibri" pitchFamily="34" charset="-120"/>
              </a:rPr>
              <a:t>Test du « est un » : un responsable n'est pas un analyste</a:t>
            </a:r>
            <a:endParaRPr lang="en-US" sz="1600" dirty="0"/>
          </a:p>
        </p:txBody>
      </p:sp>
      <p:sp>
        <p:nvSpPr>
          <p:cNvPr id="11" name="Shape 8"/>
          <p:cNvSpPr/>
          <p:nvPr/>
        </p:nvSpPr>
        <p:spPr>
          <a:xfrm>
            <a:off x="640080" y="2496312"/>
            <a:ext cx="10911535" cy="0"/>
          </a:xfrm>
          <a:prstGeom prst="line">
            <a:avLst/>
          </a:prstGeom>
          <a:noFill/>
          <a:ln w="12700">
            <a:solidFill>
              <a:srgbClr val="D9DCE1"/>
            </a:solidFill>
            <a:prstDash val="solid"/>
          </a:ln>
        </p:spPr>
      </p:sp>
      <p:sp>
        <p:nvSpPr>
          <p:cNvPr id="12" name="Text 9"/>
          <p:cNvSpPr txBox="1"/>
          <p:nvPr/>
        </p:nvSpPr>
        <p:spPr>
          <a:xfrm>
            <a:off x="640080" y="2560320"/>
            <a:ext cx="548640" cy="640080"/>
          </a:xfrm>
          <a:prstGeom prst="rect">
            <a:avLst/>
          </a:prstGeom>
          <a:noFill/>
          <a:ln/>
        </p:spPr>
        <p:txBody>
          <a:bodyPr wrap="square" lIns="0" tIns="0" rIns="0" bIns="0" rtlCol="0" anchor="ctr"/>
          <a:lstStyle/>
          <a:p>
            <a:pPr indent="0" marL="0">
              <a:buNone/>
            </a:pPr>
            <a:r>
              <a:rPr lang="en-US" sz="2400" b="1" dirty="0">
                <a:solidFill>
                  <a:srgbClr val="E8590C"/>
                </a:solidFill>
                <a:latin typeface="Arial" pitchFamily="34" charset="0"/>
                <a:ea typeface="Arial" pitchFamily="34" charset="-122"/>
                <a:cs typeface="Arial" pitchFamily="34" charset="-120"/>
              </a:rPr>
              <a:t>2</a:t>
            </a:r>
            <a:endParaRPr lang="en-US" sz="2400" dirty="0"/>
          </a:p>
        </p:txBody>
      </p:sp>
      <p:sp>
        <p:nvSpPr>
          <p:cNvPr id="13" name="Text 10"/>
          <p:cNvSpPr txBox="1"/>
          <p:nvPr/>
        </p:nvSpPr>
        <p:spPr>
          <a:xfrm>
            <a:off x="1280160" y="2560320"/>
            <a:ext cx="5120640" cy="640080"/>
          </a:xfrm>
          <a:prstGeom prst="rect">
            <a:avLst/>
          </a:prstGeom>
          <a:noFill/>
          <a:ln/>
        </p:spPr>
        <p:txBody>
          <a:bodyPr wrap="square" lIns="0" tIns="0" rIns="0" bIns="0"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Comment hérite d'Incident</a:t>
            </a:r>
            <a:endParaRPr lang="en-US" sz="1700" dirty="0"/>
          </a:p>
        </p:txBody>
      </p:sp>
      <p:sp>
        <p:nvSpPr>
          <p:cNvPr id="14" name="Text 11"/>
          <p:cNvSpPr txBox="1"/>
          <p:nvPr/>
        </p:nvSpPr>
        <p:spPr>
          <a:xfrm>
            <a:off x="6583680" y="2560320"/>
            <a:ext cx="4937760" cy="640080"/>
          </a:xfrm>
          <a:prstGeom prst="rect">
            <a:avLst/>
          </a:prstGeom>
          <a:noFill/>
          <a:ln/>
        </p:spPr>
        <p:txBody>
          <a:bodyPr wrap="square" lIns="0" tIns="0" rIns="0" bIns="0" rtlCol="0" anchor="ctr"/>
          <a:lstStyle/>
          <a:p>
            <a:pPr indent="0" marL="0">
              <a:buNone/>
            </a:pPr>
            <a:r>
              <a:rPr lang="en-US" sz="1600" dirty="0">
                <a:solidFill>
                  <a:srgbClr val="5F6670"/>
                </a:solidFill>
                <a:latin typeface="Calibri" pitchFamily="34" charset="0"/>
                <a:ea typeface="Calibri" pitchFamily="34" charset="-122"/>
                <a:cs typeface="Calibri" pitchFamily="34" charset="-120"/>
              </a:rPr>
              <a:t>Un commentaire fait partie d'un incident : composition</a:t>
            </a:r>
            <a:endParaRPr lang="en-US" sz="1600" dirty="0"/>
          </a:p>
        </p:txBody>
      </p:sp>
      <p:sp>
        <p:nvSpPr>
          <p:cNvPr id="15" name="Shape 12"/>
          <p:cNvSpPr/>
          <p:nvPr/>
        </p:nvSpPr>
        <p:spPr>
          <a:xfrm>
            <a:off x="640080" y="3273552"/>
            <a:ext cx="10911535" cy="0"/>
          </a:xfrm>
          <a:prstGeom prst="line">
            <a:avLst/>
          </a:prstGeom>
          <a:noFill/>
          <a:ln w="12700">
            <a:solidFill>
              <a:srgbClr val="D9DCE1"/>
            </a:solidFill>
            <a:prstDash val="solid"/>
          </a:ln>
        </p:spPr>
      </p:sp>
      <p:sp>
        <p:nvSpPr>
          <p:cNvPr id="16" name="Text 13"/>
          <p:cNvSpPr txBox="1"/>
          <p:nvPr/>
        </p:nvSpPr>
        <p:spPr>
          <a:xfrm>
            <a:off x="640080" y="3337560"/>
            <a:ext cx="548640" cy="640080"/>
          </a:xfrm>
          <a:prstGeom prst="rect">
            <a:avLst/>
          </a:prstGeom>
          <a:noFill/>
          <a:ln/>
        </p:spPr>
        <p:txBody>
          <a:bodyPr wrap="square" lIns="0" tIns="0" rIns="0" bIns="0" rtlCol="0" anchor="ctr"/>
          <a:lstStyle/>
          <a:p>
            <a:pPr indent="0" marL="0">
              <a:buNone/>
            </a:pPr>
            <a:r>
              <a:rPr lang="en-US" sz="2400" b="1" dirty="0">
                <a:solidFill>
                  <a:srgbClr val="E8590C"/>
                </a:solidFill>
                <a:latin typeface="Arial" pitchFamily="34" charset="0"/>
                <a:ea typeface="Arial" pitchFamily="34" charset="-122"/>
                <a:cs typeface="Arial" pitchFamily="34" charset="-120"/>
              </a:rPr>
              <a:t>3</a:t>
            </a:r>
            <a:endParaRPr lang="en-US" sz="2400" dirty="0"/>
          </a:p>
        </p:txBody>
      </p:sp>
      <p:sp>
        <p:nvSpPr>
          <p:cNvPr id="17" name="Text 14"/>
          <p:cNvSpPr txBox="1"/>
          <p:nvPr/>
        </p:nvSpPr>
        <p:spPr>
          <a:xfrm>
            <a:off x="1280160" y="3337560"/>
            <a:ext cx="5120640" cy="640080"/>
          </a:xfrm>
          <a:prstGeom prst="rect">
            <a:avLst/>
          </a:prstGeom>
          <a:noFill/>
          <a:ln/>
        </p:spPr>
        <p:txBody>
          <a:bodyPr wrap="square" lIns="0" tIns="0" rIns="0" bIns="0"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Tout est public (+)</a:t>
            </a:r>
            <a:endParaRPr lang="en-US" sz="1700" dirty="0"/>
          </a:p>
        </p:txBody>
      </p:sp>
      <p:sp>
        <p:nvSpPr>
          <p:cNvPr id="18" name="Text 15"/>
          <p:cNvSpPr txBox="1"/>
          <p:nvPr/>
        </p:nvSpPr>
        <p:spPr>
          <a:xfrm>
            <a:off x="6583680" y="3337560"/>
            <a:ext cx="4937760" cy="640080"/>
          </a:xfrm>
          <a:prstGeom prst="rect">
            <a:avLst/>
          </a:prstGeom>
          <a:noFill/>
          <a:ln/>
        </p:spPr>
        <p:txBody>
          <a:bodyPr wrap="square" lIns="0" tIns="0" rIns="0" bIns="0" rtlCol="0" anchor="ctr"/>
          <a:lstStyle/>
          <a:p>
            <a:pPr indent="0" marL="0">
              <a:buNone/>
            </a:pPr>
            <a:r>
              <a:rPr lang="en-US" sz="1600" dirty="0">
                <a:solidFill>
                  <a:srgbClr val="5F6670"/>
                </a:solidFill>
                <a:latin typeface="Calibri" pitchFamily="34" charset="0"/>
                <a:ea typeface="Calibri" pitchFamily="34" charset="-122"/>
                <a:cs typeface="Calibri" pitchFamily="34" charset="-120"/>
              </a:rPr>
              <a:t>Encapsulation : le guichet et le coffre</a:t>
            </a:r>
            <a:endParaRPr lang="en-US" sz="1600" dirty="0"/>
          </a:p>
        </p:txBody>
      </p:sp>
      <p:sp>
        <p:nvSpPr>
          <p:cNvPr id="19" name="Shape 16"/>
          <p:cNvSpPr/>
          <p:nvPr/>
        </p:nvSpPr>
        <p:spPr>
          <a:xfrm>
            <a:off x="640080" y="4050792"/>
            <a:ext cx="10911535" cy="0"/>
          </a:xfrm>
          <a:prstGeom prst="line">
            <a:avLst/>
          </a:prstGeom>
          <a:noFill/>
          <a:ln w="12700">
            <a:solidFill>
              <a:srgbClr val="D9DCE1"/>
            </a:solidFill>
            <a:prstDash val="solid"/>
          </a:ln>
        </p:spPr>
      </p:sp>
      <p:sp>
        <p:nvSpPr>
          <p:cNvPr id="20" name="Text 17"/>
          <p:cNvSpPr txBox="1"/>
          <p:nvPr/>
        </p:nvSpPr>
        <p:spPr>
          <a:xfrm>
            <a:off x="640080" y="4114800"/>
            <a:ext cx="548640" cy="640080"/>
          </a:xfrm>
          <a:prstGeom prst="rect">
            <a:avLst/>
          </a:prstGeom>
          <a:noFill/>
          <a:ln/>
        </p:spPr>
        <p:txBody>
          <a:bodyPr wrap="square" lIns="0" tIns="0" rIns="0" bIns="0" rtlCol="0" anchor="ctr"/>
          <a:lstStyle/>
          <a:p>
            <a:pPr indent="0" marL="0">
              <a:buNone/>
            </a:pPr>
            <a:r>
              <a:rPr lang="en-US" sz="2400" b="1" dirty="0">
                <a:solidFill>
                  <a:srgbClr val="E8590C"/>
                </a:solidFill>
                <a:latin typeface="Arial" pitchFamily="34" charset="0"/>
                <a:ea typeface="Arial" pitchFamily="34" charset="-122"/>
                <a:cs typeface="Arial" pitchFamily="34" charset="-120"/>
              </a:rPr>
              <a:t>4</a:t>
            </a:r>
            <a:endParaRPr lang="en-US" sz="2400" dirty="0"/>
          </a:p>
        </p:txBody>
      </p:sp>
      <p:sp>
        <p:nvSpPr>
          <p:cNvPr id="21" name="Text 18"/>
          <p:cNvSpPr txBox="1"/>
          <p:nvPr/>
        </p:nvSpPr>
        <p:spPr>
          <a:xfrm>
            <a:off x="1280160" y="4114800"/>
            <a:ext cx="5120640" cy="640080"/>
          </a:xfrm>
          <a:prstGeom prst="rect">
            <a:avLst/>
          </a:prstGeom>
          <a:noFill/>
          <a:ln/>
        </p:spPr>
        <p:txBody>
          <a:bodyPr wrap="square" lIns="0" tIns="0" rIns="0" bIns="0"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Aucune multiplicité</a:t>
            </a:r>
            <a:endParaRPr lang="en-US" sz="1700" dirty="0"/>
          </a:p>
        </p:txBody>
      </p:sp>
      <p:sp>
        <p:nvSpPr>
          <p:cNvPr id="22" name="Text 19"/>
          <p:cNvSpPr txBox="1"/>
          <p:nvPr/>
        </p:nvSpPr>
        <p:spPr>
          <a:xfrm>
            <a:off x="6583680" y="4114800"/>
            <a:ext cx="4937760" cy="640080"/>
          </a:xfrm>
          <a:prstGeom prst="rect">
            <a:avLst/>
          </a:prstGeom>
          <a:noFill/>
          <a:ln/>
        </p:spPr>
        <p:txBody>
          <a:bodyPr wrap="square" lIns="0" tIns="0" rIns="0" bIns="0" rtlCol="0" anchor="ctr"/>
          <a:lstStyle/>
          <a:p>
            <a:pPr indent="0" marL="0">
              <a:buNone/>
            </a:pPr>
            <a:r>
              <a:rPr lang="en-US" sz="1600" dirty="0">
                <a:solidFill>
                  <a:srgbClr val="5F6670"/>
                </a:solidFill>
                <a:latin typeface="Calibri" pitchFamily="34" charset="0"/>
                <a:ea typeface="Calibri" pitchFamily="34" charset="-122"/>
                <a:cs typeface="Calibri" pitchFamily="34" charset="-120"/>
              </a:rPr>
              <a:t>Combien ? Les règles métier disparaissent</a:t>
            </a:r>
            <a:endParaRPr lang="en-US" sz="1600" dirty="0"/>
          </a:p>
        </p:txBody>
      </p:sp>
      <p:sp>
        <p:nvSpPr>
          <p:cNvPr id="23" name="Shape 20"/>
          <p:cNvSpPr/>
          <p:nvPr/>
        </p:nvSpPr>
        <p:spPr>
          <a:xfrm>
            <a:off x="640080" y="4828032"/>
            <a:ext cx="10911535" cy="0"/>
          </a:xfrm>
          <a:prstGeom prst="line">
            <a:avLst/>
          </a:prstGeom>
          <a:noFill/>
          <a:ln w="12700">
            <a:solidFill>
              <a:srgbClr val="D9DCE1"/>
            </a:solidFill>
            <a:prstDash val="solid"/>
          </a:ln>
        </p:spPr>
      </p:sp>
      <p:sp>
        <p:nvSpPr>
          <p:cNvPr id="24" name="Text 21"/>
          <p:cNvSpPr txBox="1"/>
          <p:nvPr/>
        </p:nvSpPr>
        <p:spPr>
          <a:xfrm>
            <a:off x="640080" y="4892040"/>
            <a:ext cx="548640" cy="640080"/>
          </a:xfrm>
          <a:prstGeom prst="rect">
            <a:avLst/>
          </a:prstGeom>
          <a:noFill/>
          <a:ln/>
        </p:spPr>
        <p:txBody>
          <a:bodyPr wrap="square" lIns="0" tIns="0" rIns="0" bIns="0" rtlCol="0" anchor="ctr"/>
          <a:lstStyle/>
          <a:p>
            <a:pPr indent="0" marL="0">
              <a:buNone/>
            </a:pPr>
            <a:r>
              <a:rPr lang="en-US" sz="2400" b="1" dirty="0">
                <a:solidFill>
                  <a:srgbClr val="E8590C"/>
                </a:solidFill>
                <a:latin typeface="Arial" pitchFamily="34" charset="0"/>
                <a:ea typeface="Arial" pitchFamily="34" charset="-122"/>
                <a:cs typeface="Arial" pitchFamily="34" charset="-120"/>
              </a:rPr>
              <a:t>5</a:t>
            </a:r>
            <a:endParaRPr lang="en-US" sz="2400" dirty="0"/>
          </a:p>
        </p:txBody>
      </p:sp>
      <p:sp>
        <p:nvSpPr>
          <p:cNvPr id="25" name="Text 22"/>
          <p:cNvSpPr txBox="1"/>
          <p:nvPr/>
        </p:nvSpPr>
        <p:spPr>
          <a:xfrm>
            <a:off x="1280160" y="4892040"/>
            <a:ext cx="5120640" cy="640080"/>
          </a:xfrm>
          <a:prstGeom prst="rect">
            <a:avLst/>
          </a:prstGeom>
          <a:noFill/>
          <a:ln/>
        </p:spPr>
        <p:txBody>
          <a:bodyPr wrap="square" lIns="0" tIns="0" rIns="0" bIns="0"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Status en String</a:t>
            </a:r>
            <a:endParaRPr lang="en-US" sz="1700" dirty="0"/>
          </a:p>
        </p:txBody>
      </p:sp>
      <p:sp>
        <p:nvSpPr>
          <p:cNvPr id="26" name="Text 23"/>
          <p:cNvSpPr txBox="1"/>
          <p:nvPr/>
        </p:nvSpPr>
        <p:spPr>
          <a:xfrm>
            <a:off x="6583680" y="4892040"/>
            <a:ext cx="4937760" cy="640080"/>
          </a:xfrm>
          <a:prstGeom prst="rect">
            <a:avLst/>
          </a:prstGeom>
          <a:noFill/>
          <a:ln/>
        </p:spPr>
        <p:txBody>
          <a:bodyPr wrap="square" lIns="0" tIns="0" rIns="0" bIns="0" rtlCol="0" anchor="ctr"/>
          <a:lstStyle/>
          <a:p>
            <a:pPr indent="0" marL="0">
              <a:buNone/>
            </a:pPr>
            <a:r>
              <a:rPr lang="en-US" sz="1600" dirty="0">
                <a:solidFill>
                  <a:srgbClr val="5F6670"/>
                </a:solidFill>
                <a:latin typeface="Calibri" pitchFamily="34" charset="0"/>
                <a:ea typeface="Calibri" pitchFamily="34" charset="-122"/>
                <a:cs typeface="Calibri" pitchFamily="34" charset="-120"/>
              </a:rPr>
              <a:t>Un enum : des choix fermés</a:t>
            </a:r>
            <a:endParaRPr lang="en-US" sz="1600" dirty="0"/>
          </a:p>
        </p:txBody>
      </p:sp>
      <p:sp>
        <p:nvSpPr>
          <p:cNvPr id="27" name="Shape 24"/>
          <p:cNvSpPr/>
          <p:nvPr/>
        </p:nvSpPr>
        <p:spPr>
          <a:xfrm>
            <a:off x="640080" y="5605272"/>
            <a:ext cx="10911535" cy="0"/>
          </a:xfrm>
          <a:prstGeom prst="line">
            <a:avLst/>
          </a:prstGeom>
          <a:noFill/>
          <a:ln w="12700">
            <a:solidFill>
              <a:srgbClr val="D9DCE1"/>
            </a:solidFill>
            <a:prstDash val="solid"/>
          </a:ln>
        </p:spPr>
      </p:sp>
      <p:sp>
        <p:nvSpPr>
          <p:cNvPr id="28" name="Text 25"/>
          <p:cNvSpPr txBox="1"/>
          <p:nvPr/>
        </p:nvSpPr>
        <p:spPr>
          <a:xfrm>
            <a:off x="640080" y="5760720"/>
            <a:ext cx="10911535" cy="365760"/>
          </a:xfrm>
          <a:prstGeom prst="rect">
            <a:avLst/>
          </a:prstGeom>
          <a:noFill/>
          <a:ln/>
        </p:spPr>
        <p:txBody>
          <a:bodyPr wrap="square" lIns="0" tIns="0" rIns="0" bIns="0" rtlCol="0" anchor="ctr"/>
          <a:lstStyle/>
          <a:p>
            <a:pPr indent="0" marL="0">
              <a:buNone/>
            </a:pPr>
            <a:r>
              <a:rPr lang="en-US" sz="1600" b="1" dirty="0">
                <a:solidFill>
                  <a:srgbClr val="16181D"/>
                </a:solidFill>
                <a:latin typeface="Calibri" pitchFamily="34" charset="0"/>
                <a:ea typeface="Calibri" pitchFamily="34" charset="-122"/>
                <a:cs typeface="Calibri" pitchFamily="34" charset="-120"/>
              </a:rPr>
              <a:t>L'IA a tendance à tout relier par héritage : c'est à vous de vérifier, à chaque fois, que la relation « est un » est juste.</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POUR ALLER PLUS LOIN · APPROFONDIR</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Et si Sophie devient analyste ?</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34</a:t>
            </a:r>
            <a:endParaRPr lang="en-US" sz="1000" dirty="0"/>
          </a:p>
        </p:txBody>
      </p:sp>
      <p:sp>
        <p:nvSpPr>
          <p:cNvPr id="8" name="Shape 5"/>
          <p:cNvSpPr/>
          <p:nvPr/>
        </p:nvSpPr>
        <p:spPr>
          <a:xfrm>
            <a:off x="640080" y="1783080"/>
            <a:ext cx="5303520" cy="3383280"/>
          </a:xfrm>
          <a:prstGeom prst="roundRect">
            <a:avLst>
              <a:gd name="adj" fmla="val 2162"/>
            </a:avLst>
          </a:prstGeom>
          <a:solidFill>
            <a:srgbClr val="F2F3F5"/>
          </a:solidFill>
          <a:ln w="12700">
            <a:solidFill>
              <a:srgbClr val="F2F3F5"/>
            </a:solidFill>
            <a:prstDash val="solid"/>
          </a:ln>
        </p:spPr>
      </p:sp>
      <p:sp>
        <p:nvSpPr>
          <p:cNvPr id="9" name="Text 6"/>
          <p:cNvSpPr txBox="1"/>
          <p:nvPr/>
        </p:nvSpPr>
        <p:spPr>
          <a:xfrm>
            <a:off x="960120" y="1965960"/>
            <a:ext cx="4754880" cy="3017520"/>
          </a:xfrm>
          <a:prstGeom prst="rect">
            <a:avLst/>
          </a:prstGeom>
          <a:noFill/>
          <a:ln/>
        </p:spPr>
        <p:txBody>
          <a:bodyPr wrap="square" lIns="0" tIns="0" rIns="0" bIns="0" rtlCol="0" anchor="t"/>
          <a:lstStyle/>
          <a:p>
            <a:pPr indent="0" marL="0">
              <a:buNone/>
            </a:pPr>
            <a:r>
              <a:rPr lang="en-US" sz="1900" b="1" dirty="0">
                <a:solidFill>
                  <a:srgbClr val="16181D"/>
                </a:solidFill>
                <a:latin typeface="Calibri" pitchFamily="34" charset="0"/>
                <a:ea typeface="Calibri" pitchFamily="34" charset="-122"/>
                <a:cs typeface="Calibri" pitchFamily="34" charset="-120"/>
              </a:rPr>
              <a:t>Avec l'héritage</a:t>
            </a:r>
            <a:endParaRPr lang="en-US" sz="1900" dirty="0"/>
          </a:p>
          <a:p>
            <a:pPr indent="0" marL="0">
              <a:buNone/>
            </a:pPr>
            <a:endParaRPr lang="en-US" sz="1900" dirty="0"/>
          </a:p>
          <a:p>
            <a:pPr indent="0" marL="0">
              <a:buNone/>
            </a:pPr>
            <a:r>
              <a:rPr lang="en-US" sz="1600" dirty="0">
                <a:solidFill>
                  <a:srgbClr val="5F6670"/>
                </a:solidFill>
                <a:latin typeface="Calibri" pitchFamily="34" charset="0"/>
                <a:ea typeface="Calibri" pitchFamily="34" charset="-122"/>
                <a:cs typeface="Calibri" pitchFamily="34" charset="-120"/>
              </a:rPr>
              <a:t>Sophie est créée comme Reporter. Un objet ne change pas de classe : pour qu'elle devienne analyste, il faut recréer l'objet.</a:t>
            </a:r>
            <a:endParaRPr lang="en-US" sz="1900" dirty="0"/>
          </a:p>
        </p:txBody>
      </p:sp>
      <p:sp>
        <p:nvSpPr>
          <p:cNvPr id="10" name="Shape 7"/>
          <p:cNvSpPr/>
          <p:nvPr/>
        </p:nvSpPr>
        <p:spPr>
          <a:xfrm>
            <a:off x="6217920" y="1783080"/>
            <a:ext cx="5303520" cy="3383280"/>
          </a:xfrm>
          <a:prstGeom prst="roundRect">
            <a:avLst>
              <a:gd name="adj" fmla="val 2162"/>
            </a:avLst>
          </a:prstGeom>
          <a:solidFill>
            <a:srgbClr val="16181D"/>
          </a:solidFill>
          <a:ln w="12700">
            <a:solidFill>
              <a:srgbClr val="16181D"/>
            </a:solidFill>
            <a:prstDash val="solid"/>
          </a:ln>
        </p:spPr>
      </p:sp>
      <p:sp>
        <p:nvSpPr>
          <p:cNvPr id="11" name="Text 8"/>
          <p:cNvSpPr txBox="1"/>
          <p:nvPr/>
        </p:nvSpPr>
        <p:spPr>
          <a:xfrm>
            <a:off x="6537960" y="1965960"/>
            <a:ext cx="4754880" cy="3017520"/>
          </a:xfrm>
          <a:prstGeom prst="rect">
            <a:avLst/>
          </a:prstGeom>
          <a:noFill/>
          <a:ln/>
        </p:spPr>
        <p:txBody>
          <a:bodyPr wrap="square" lIns="0" tIns="0" rIns="0" bIns="0" rtlCol="0" anchor="t"/>
          <a:lstStyle/>
          <a:p>
            <a:pPr indent="0" marL="0">
              <a:buNone/>
            </a:pPr>
            <a:r>
              <a:rPr lang="en-US" sz="1900" b="1" dirty="0">
                <a:solidFill>
                  <a:srgbClr val="E8590C"/>
                </a:solidFill>
                <a:latin typeface="Calibri" pitchFamily="34" charset="0"/>
                <a:ea typeface="Calibri" pitchFamily="34" charset="-122"/>
                <a:cs typeface="Calibri" pitchFamily="34" charset="-120"/>
              </a:rPr>
              <a:t>Avec un rôle</a:t>
            </a:r>
            <a:endParaRPr lang="en-US" sz="1900" dirty="0"/>
          </a:p>
          <a:p>
            <a:pPr indent="0" marL="0">
              <a:buNone/>
            </a:pPr>
            <a:endParaRPr lang="en-US" sz="1900" dirty="0"/>
          </a:p>
          <a:p>
            <a:pPr indent="0" marL="0">
              <a:buNone/>
            </a:pPr>
            <a:r>
              <a:rPr lang="en-US" sz="1600" dirty="0">
                <a:solidFill>
                  <a:srgbClr val="FFFFFF"/>
                </a:solidFill>
                <a:latin typeface="Calibri" pitchFamily="34" charset="0"/>
                <a:ea typeface="Calibri" pitchFamily="34" charset="-122"/>
                <a:cs typeface="Calibri" pitchFamily="34" charset="-120"/>
              </a:rPr>
              <a:t>Un seul User, avec un rôle (ou une liste de rôles). Sophie change de rôle, l'objet reste le même.</a:t>
            </a:r>
            <a:endParaRPr lang="en-US" sz="1900" dirty="0"/>
          </a:p>
          <a:p>
            <a:pPr indent="0" marL="0">
              <a:buNone/>
            </a:pPr>
            <a:endParaRPr lang="en-US" sz="1900" dirty="0"/>
          </a:p>
          <a:p>
            <a:pPr indent="0" marL="0">
              <a:buNone/>
            </a:pPr>
            <a:r>
              <a:rPr lang="en-US" sz="1600" dirty="0">
                <a:solidFill>
                  <a:srgbClr val="FFFFFF"/>
                </a:solidFill>
                <a:latin typeface="Calibri" pitchFamily="34" charset="0"/>
                <a:ea typeface="Calibri" pitchFamily="34" charset="-122"/>
                <a:cs typeface="Calibri" pitchFamily="34" charset="-120"/>
              </a:rPr>
              <a:t>C'est ce que font Keycloak et la plupart des systèmes réels (Q2).</a:t>
            </a:r>
            <a:endParaRPr lang="en-US" sz="1900" dirty="0"/>
          </a:p>
        </p:txBody>
      </p:sp>
      <p:sp>
        <p:nvSpPr>
          <p:cNvPr id="12" name="Text 9"/>
          <p:cNvSpPr txBox="1"/>
          <p:nvPr/>
        </p:nvSpPr>
        <p:spPr>
          <a:xfrm>
            <a:off x="640080" y="5440680"/>
            <a:ext cx="10911535" cy="457200"/>
          </a:xfrm>
          <a:prstGeom prst="rect">
            <a:avLst/>
          </a:prstGeom>
          <a:noFill/>
          <a:ln/>
        </p:spPr>
        <p:txBody>
          <a:bodyPr wrap="square" lIns="0" tIns="0" rIns="0" bIns="0" rtlCol="0" anchor="ctr"/>
          <a:lstStyle/>
          <a:p>
            <a:pPr indent="0" marL="0">
              <a:buNone/>
            </a:pPr>
            <a:r>
              <a:rPr lang="en-US" sz="1800" b="1" dirty="0">
                <a:solidFill>
                  <a:srgbClr val="16181D"/>
                </a:solidFill>
                <a:latin typeface="Arial" pitchFamily="34" charset="0"/>
                <a:ea typeface="Arial" pitchFamily="34" charset="-122"/>
                <a:cs typeface="Arial" pitchFamily="34" charset="-120"/>
              </a:rPr>
              <a:t>Il n'existe pas de modèle parfait, seulement des compromis ; pour IncidentHub, on garde l'héritage.</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À RETENIR</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Les 4 piliers de la POO, avec leurs images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35</a:t>
            </a:r>
            <a:endParaRPr lang="en-US" sz="1000" dirty="0"/>
          </a:p>
        </p:txBody>
      </p:sp>
      <p:sp>
        <p:nvSpPr>
          <p:cNvPr id="8" name="Shape 5"/>
          <p:cNvSpPr/>
          <p:nvPr/>
        </p:nvSpPr>
        <p:spPr>
          <a:xfrm>
            <a:off x="640080" y="1920240"/>
            <a:ext cx="2560320" cy="2926080"/>
          </a:xfrm>
          <a:prstGeom prst="roundRect">
            <a:avLst>
              <a:gd name="adj" fmla="val 2857"/>
            </a:avLst>
          </a:prstGeom>
          <a:solidFill>
            <a:srgbClr val="16181D"/>
          </a:solidFill>
          <a:ln w="12700">
            <a:solidFill>
              <a:srgbClr val="16181D"/>
            </a:solidFill>
            <a:prstDash val="solid"/>
          </a:ln>
        </p:spPr>
      </p:sp>
      <p:sp>
        <p:nvSpPr>
          <p:cNvPr id="9" name="Text 6"/>
          <p:cNvSpPr txBox="1"/>
          <p:nvPr/>
        </p:nvSpPr>
        <p:spPr>
          <a:xfrm>
            <a:off x="868680" y="2148840"/>
            <a:ext cx="2194560" cy="54864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Encapsulation</a:t>
            </a:r>
            <a:endParaRPr lang="en-US" sz="1900" dirty="0"/>
          </a:p>
        </p:txBody>
      </p:sp>
      <p:sp>
        <p:nvSpPr>
          <p:cNvPr id="10" name="Text 7"/>
          <p:cNvSpPr txBox="1"/>
          <p:nvPr/>
        </p:nvSpPr>
        <p:spPr>
          <a:xfrm>
            <a:off x="868680" y="2788920"/>
            <a:ext cx="2148840" cy="1371600"/>
          </a:xfrm>
          <a:prstGeom prst="rect">
            <a:avLst/>
          </a:prstGeom>
          <a:noFill/>
          <a:ln/>
        </p:spPr>
        <p:txBody>
          <a:bodyPr wrap="square" lIns="0" tIns="0" rIns="0" bIns="0" rtlCol="0" anchor="t"/>
          <a:lstStyle/>
          <a:p>
            <a:pPr indent="0" marL="0">
              <a:buNone/>
            </a:pPr>
            <a:r>
              <a:rPr lang="en-US" sz="1700" dirty="0">
                <a:solidFill>
                  <a:srgbClr val="C9CDD3"/>
                </a:solidFill>
                <a:latin typeface="Calibri" pitchFamily="34" charset="0"/>
                <a:ea typeface="Calibri" pitchFamily="34" charset="-122"/>
                <a:cs typeface="Calibri" pitchFamily="34" charset="-120"/>
              </a:rPr>
              <a:t>Le guichet et le coffre</a:t>
            </a:r>
            <a:endParaRPr lang="en-US" sz="1700" dirty="0"/>
          </a:p>
        </p:txBody>
      </p:sp>
      <p:sp>
        <p:nvSpPr>
          <p:cNvPr id="11" name="Text 8"/>
          <p:cNvSpPr txBox="1"/>
          <p:nvPr/>
        </p:nvSpPr>
        <p:spPr>
          <a:xfrm>
            <a:off x="868680" y="4297680"/>
            <a:ext cx="2194560" cy="365760"/>
          </a:xfrm>
          <a:prstGeom prst="rect">
            <a:avLst/>
          </a:prstGeom>
          <a:noFill/>
          <a:ln/>
        </p:spPr>
        <p:txBody>
          <a:bodyPr wrap="square" lIns="0" tIns="0" rIns="0" bIns="0" rtlCol="0" anchor="ctr"/>
          <a:lstStyle/>
          <a:p>
            <a:pPr indent="0" marL="0">
              <a:buNone/>
            </a:pPr>
            <a:r>
              <a:rPr lang="en-US" sz="1400" b="1" dirty="0">
                <a:solidFill>
                  <a:srgbClr val="E8590C"/>
                </a:solidFill>
                <a:latin typeface="Calibri" pitchFamily="34" charset="0"/>
                <a:ea typeface="Calibri" pitchFamily="34" charset="-122"/>
                <a:cs typeface="Calibri" pitchFamily="34" charset="-120"/>
              </a:rPr>
              <a:t>S1</a:t>
            </a:r>
            <a:endParaRPr lang="en-US" sz="1400" dirty="0"/>
          </a:p>
        </p:txBody>
      </p:sp>
      <p:sp>
        <p:nvSpPr>
          <p:cNvPr id="12" name="Shape 9"/>
          <p:cNvSpPr/>
          <p:nvPr/>
        </p:nvSpPr>
        <p:spPr>
          <a:xfrm>
            <a:off x="3383280" y="1920240"/>
            <a:ext cx="2560320" cy="2926080"/>
          </a:xfrm>
          <a:prstGeom prst="roundRect">
            <a:avLst>
              <a:gd name="adj" fmla="val 2857"/>
            </a:avLst>
          </a:prstGeom>
          <a:solidFill>
            <a:srgbClr val="16181D"/>
          </a:solidFill>
          <a:ln w="12700">
            <a:solidFill>
              <a:srgbClr val="16181D"/>
            </a:solidFill>
            <a:prstDash val="solid"/>
          </a:ln>
        </p:spPr>
      </p:sp>
      <p:sp>
        <p:nvSpPr>
          <p:cNvPr id="13" name="Text 10"/>
          <p:cNvSpPr txBox="1"/>
          <p:nvPr/>
        </p:nvSpPr>
        <p:spPr>
          <a:xfrm>
            <a:off x="3611880" y="2148840"/>
            <a:ext cx="2194560" cy="54864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Héritage</a:t>
            </a:r>
            <a:endParaRPr lang="en-US" sz="1900" dirty="0"/>
          </a:p>
        </p:txBody>
      </p:sp>
      <p:sp>
        <p:nvSpPr>
          <p:cNvPr id="14" name="Text 11"/>
          <p:cNvSpPr txBox="1"/>
          <p:nvPr/>
        </p:nvSpPr>
        <p:spPr>
          <a:xfrm>
            <a:off x="3611880" y="2788920"/>
            <a:ext cx="2148840" cy="1371600"/>
          </a:xfrm>
          <a:prstGeom prst="rect">
            <a:avLst/>
          </a:prstGeom>
          <a:noFill/>
          <a:ln/>
        </p:spPr>
        <p:txBody>
          <a:bodyPr wrap="square" lIns="0" tIns="0" rIns="0" bIns="0" rtlCol="0" anchor="t"/>
          <a:lstStyle/>
          <a:p>
            <a:pPr indent="0" marL="0">
              <a:buNone/>
            </a:pPr>
            <a:r>
              <a:rPr lang="en-US" sz="1700" dirty="0">
                <a:solidFill>
                  <a:srgbClr val="C9CDD3"/>
                </a:solidFill>
                <a:latin typeface="Calibri" pitchFamily="34" charset="0"/>
                <a:ea typeface="Calibri" pitchFamily="34" charset="-122"/>
                <a:cs typeface="Calibri" pitchFamily="34" charset="-120"/>
              </a:rPr>
              <a:t>Un analyste est un utilisateur</a:t>
            </a:r>
            <a:endParaRPr lang="en-US" sz="1700" dirty="0"/>
          </a:p>
        </p:txBody>
      </p:sp>
      <p:sp>
        <p:nvSpPr>
          <p:cNvPr id="15" name="Text 12"/>
          <p:cNvSpPr txBox="1"/>
          <p:nvPr/>
        </p:nvSpPr>
        <p:spPr>
          <a:xfrm>
            <a:off x="3611880" y="4297680"/>
            <a:ext cx="2194560" cy="365760"/>
          </a:xfrm>
          <a:prstGeom prst="rect">
            <a:avLst/>
          </a:prstGeom>
          <a:noFill/>
          <a:ln/>
        </p:spPr>
        <p:txBody>
          <a:bodyPr wrap="square" lIns="0" tIns="0" rIns="0" bIns="0" rtlCol="0" anchor="ctr"/>
          <a:lstStyle/>
          <a:p>
            <a:pPr indent="0" marL="0">
              <a:buNone/>
            </a:pPr>
            <a:r>
              <a:rPr lang="en-US" sz="1400" b="1" dirty="0">
                <a:solidFill>
                  <a:srgbClr val="E8590C"/>
                </a:solidFill>
                <a:latin typeface="Calibri" pitchFamily="34" charset="0"/>
                <a:ea typeface="Calibri" pitchFamily="34" charset="-122"/>
                <a:cs typeface="Calibri" pitchFamily="34" charset="-120"/>
              </a:rPr>
              <a:t>S2</a:t>
            </a:r>
            <a:endParaRPr lang="en-US" sz="1400" dirty="0"/>
          </a:p>
        </p:txBody>
      </p:sp>
      <p:sp>
        <p:nvSpPr>
          <p:cNvPr id="16" name="Shape 13"/>
          <p:cNvSpPr/>
          <p:nvPr/>
        </p:nvSpPr>
        <p:spPr>
          <a:xfrm>
            <a:off x="6126480" y="1920240"/>
            <a:ext cx="2560320" cy="2926080"/>
          </a:xfrm>
          <a:prstGeom prst="roundRect">
            <a:avLst>
              <a:gd name="adj" fmla="val 2857"/>
            </a:avLst>
          </a:prstGeom>
          <a:solidFill>
            <a:srgbClr val="16181D"/>
          </a:solidFill>
          <a:ln w="12700">
            <a:solidFill>
              <a:srgbClr val="16181D"/>
            </a:solidFill>
            <a:prstDash val="solid"/>
          </a:ln>
        </p:spPr>
      </p:sp>
      <p:sp>
        <p:nvSpPr>
          <p:cNvPr id="17" name="Text 14"/>
          <p:cNvSpPr txBox="1"/>
          <p:nvPr/>
        </p:nvSpPr>
        <p:spPr>
          <a:xfrm>
            <a:off x="6355080" y="2148840"/>
            <a:ext cx="2194560" cy="54864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Abstraction</a:t>
            </a:r>
            <a:endParaRPr lang="en-US" sz="1900" dirty="0"/>
          </a:p>
        </p:txBody>
      </p:sp>
      <p:sp>
        <p:nvSpPr>
          <p:cNvPr id="18" name="Text 15"/>
          <p:cNvSpPr txBox="1"/>
          <p:nvPr/>
        </p:nvSpPr>
        <p:spPr>
          <a:xfrm>
            <a:off x="6355080" y="2788920"/>
            <a:ext cx="2148840" cy="1371600"/>
          </a:xfrm>
          <a:prstGeom prst="rect">
            <a:avLst/>
          </a:prstGeom>
          <a:noFill/>
          <a:ln/>
        </p:spPr>
        <p:txBody>
          <a:bodyPr wrap="square" lIns="0" tIns="0" rIns="0" bIns="0" rtlCol="0" anchor="t"/>
          <a:lstStyle/>
          <a:p>
            <a:pPr indent="0" marL="0">
              <a:buNone/>
            </a:pPr>
            <a:r>
              <a:rPr lang="en-US" sz="1700" dirty="0">
                <a:solidFill>
                  <a:srgbClr val="C9CDD3"/>
                </a:solidFill>
                <a:latin typeface="Calibri" pitchFamily="34" charset="0"/>
                <a:ea typeface="Calibri" pitchFamily="34" charset="-122"/>
                <a:cs typeface="Calibri" pitchFamily="34" charset="-120"/>
              </a:rPr>
              <a:t>On conduit une voiture, pas « un véhicule »</a:t>
            </a:r>
            <a:endParaRPr lang="en-US" sz="1700" dirty="0"/>
          </a:p>
        </p:txBody>
      </p:sp>
      <p:sp>
        <p:nvSpPr>
          <p:cNvPr id="19" name="Text 16"/>
          <p:cNvSpPr txBox="1"/>
          <p:nvPr/>
        </p:nvSpPr>
        <p:spPr>
          <a:xfrm>
            <a:off x="6355080" y="4297680"/>
            <a:ext cx="2194560" cy="365760"/>
          </a:xfrm>
          <a:prstGeom prst="rect">
            <a:avLst/>
          </a:prstGeom>
          <a:noFill/>
          <a:ln/>
        </p:spPr>
        <p:txBody>
          <a:bodyPr wrap="square" lIns="0" tIns="0" rIns="0" bIns="0" rtlCol="0" anchor="ctr"/>
          <a:lstStyle/>
          <a:p>
            <a:pPr indent="0" marL="0">
              <a:buNone/>
            </a:pPr>
            <a:r>
              <a:rPr lang="en-US" sz="1400" b="1" dirty="0">
                <a:solidFill>
                  <a:srgbClr val="E8590C"/>
                </a:solidFill>
                <a:latin typeface="Calibri" pitchFamily="34" charset="0"/>
                <a:ea typeface="Calibri" pitchFamily="34" charset="-122"/>
                <a:cs typeface="Calibri" pitchFamily="34" charset="-120"/>
              </a:rPr>
              <a:t>S2</a:t>
            </a:r>
            <a:endParaRPr lang="en-US" sz="1400" dirty="0"/>
          </a:p>
        </p:txBody>
      </p:sp>
      <p:sp>
        <p:nvSpPr>
          <p:cNvPr id="20" name="Shape 17"/>
          <p:cNvSpPr/>
          <p:nvPr/>
        </p:nvSpPr>
        <p:spPr>
          <a:xfrm>
            <a:off x="8869680" y="1920240"/>
            <a:ext cx="2560320" cy="2926080"/>
          </a:xfrm>
          <a:prstGeom prst="roundRect">
            <a:avLst>
              <a:gd name="adj" fmla="val 2857"/>
            </a:avLst>
          </a:prstGeom>
          <a:solidFill>
            <a:srgbClr val="16181D"/>
          </a:solidFill>
          <a:ln w="12700">
            <a:solidFill>
              <a:srgbClr val="16181D"/>
            </a:solidFill>
            <a:prstDash val="solid"/>
          </a:ln>
        </p:spPr>
      </p:sp>
      <p:sp>
        <p:nvSpPr>
          <p:cNvPr id="21" name="Text 18"/>
          <p:cNvSpPr txBox="1"/>
          <p:nvPr/>
        </p:nvSpPr>
        <p:spPr>
          <a:xfrm>
            <a:off x="9098280" y="2148840"/>
            <a:ext cx="2194560" cy="54864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Polymorphisme</a:t>
            </a:r>
            <a:endParaRPr lang="en-US" sz="1900" dirty="0"/>
          </a:p>
        </p:txBody>
      </p:sp>
      <p:sp>
        <p:nvSpPr>
          <p:cNvPr id="22" name="Text 19"/>
          <p:cNvSpPr txBox="1"/>
          <p:nvPr/>
        </p:nvSpPr>
        <p:spPr>
          <a:xfrm>
            <a:off x="9098280" y="2788920"/>
            <a:ext cx="2148840" cy="1371600"/>
          </a:xfrm>
          <a:prstGeom prst="rect">
            <a:avLst/>
          </a:prstGeom>
          <a:noFill/>
          <a:ln/>
        </p:spPr>
        <p:txBody>
          <a:bodyPr wrap="square" lIns="0" tIns="0" rIns="0" bIns="0" rtlCol="0" anchor="t"/>
          <a:lstStyle/>
          <a:p>
            <a:pPr indent="0" marL="0">
              <a:buNone/>
            </a:pPr>
            <a:r>
              <a:rPr lang="en-US" sz="1700" dirty="0">
                <a:solidFill>
                  <a:srgbClr val="C9CDD3"/>
                </a:solidFill>
                <a:latin typeface="Calibri" pitchFamily="34" charset="0"/>
                <a:ea typeface="Calibri" pitchFamily="34" charset="-122"/>
                <a:cs typeface="Calibri" pitchFamily="34" charset="-120"/>
              </a:rPr>
              <a:t>Le bouton Imprimer</a:t>
            </a:r>
            <a:endParaRPr lang="en-US" sz="1700" dirty="0"/>
          </a:p>
        </p:txBody>
      </p:sp>
      <p:sp>
        <p:nvSpPr>
          <p:cNvPr id="23" name="Text 20"/>
          <p:cNvSpPr txBox="1"/>
          <p:nvPr/>
        </p:nvSpPr>
        <p:spPr>
          <a:xfrm>
            <a:off x="9098280" y="4297680"/>
            <a:ext cx="2194560" cy="365760"/>
          </a:xfrm>
          <a:prstGeom prst="rect">
            <a:avLst/>
          </a:prstGeom>
          <a:noFill/>
          <a:ln/>
        </p:spPr>
        <p:txBody>
          <a:bodyPr wrap="square" lIns="0" tIns="0" rIns="0" bIns="0" rtlCol="0" anchor="ctr"/>
          <a:lstStyle/>
          <a:p>
            <a:pPr indent="0" marL="0">
              <a:buNone/>
            </a:pPr>
            <a:r>
              <a:rPr lang="en-US" sz="1400" b="1" dirty="0">
                <a:solidFill>
                  <a:srgbClr val="E8590C"/>
                </a:solidFill>
                <a:latin typeface="Calibri" pitchFamily="34" charset="0"/>
                <a:ea typeface="Calibri" pitchFamily="34" charset="-122"/>
                <a:cs typeface="Calibri" pitchFamily="34" charset="-120"/>
              </a:rPr>
              <a:t>S2</a:t>
            </a:r>
            <a:endParaRPr lang="en-US" sz="1400" dirty="0"/>
          </a:p>
        </p:txBody>
      </p:sp>
      <p:sp>
        <p:nvSpPr>
          <p:cNvPr id="24" name="Text 21"/>
          <p:cNvSpPr txBox="1"/>
          <p:nvPr/>
        </p:nvSpPr>
        <p:spPr>
          <a:xfrm>
            <a:off x="640080" y="5212080"/>
            <a:ext cx="10911535" cy="457200"/>
          </a:xfrm>
          <a:prstGeom prst="rect">
            <a:avLst/>
          </a:prstGeom>
          <a:noFill/>
          <a:ln/>
        </p:spPr>
        <p:txBody>
          <a:bodyPr wrap="square" lIns="0" tIns="0" rIns="0" bIns="0" rtlCol="0" anchor="ctr"/>
          <a:lstStyle/>
          <a:p>
            <a:pPr indent="0" marL="0">
              <a:buNone/>
            </a:pPr>
            <a:r>
              <a:rPr lang="en-US" sz="1800" b="1" dirty="0">
                <a:solidFill>
                  <a:srgbClr val="16181D"/>
                </a:solidFill>
                <a:latin typeface="Calibri" pitchFamily="34" charset="0"/>
                <a:ea typeface="Calibri" pitchFamily="34" charset="-122"/>
                <a:cs typeface="Calibri" pitchFamily="34" charset="-120"/>
              </a:rPr>
              <a:t>Et deux relations à ne pas confondre : hériter (« est un ») et composer (« fait partie de »).</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POUR LA SÉANCE 3</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Avant mercredi prochain</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36</a:t>
            </a:r>
            <a:endParaRPr lang="en-US" sz="1000" dirty="0"/>
          </a:p>
        </p:txBody>
      </p:sp>
      <p:sp>
        <p:nvSpPr>
          <p:cNvPr id="8" name="Shape 5"/>
          <p:cNvSpPr/>
          <p:nvPr/>
        </p:nvSpPr>
        <p:spPr>
          <a:xfrm>
            <a:off x="640080" y="1920240"/>
            <a:ext cx="731520" cy="731520"/>
          </a:xfrm>
          <a:prstGeom prst="ellipse">
            <a:avLst/>
          </a:prstGeom>
          <a:solidFill>
            <a:srgbClr val="16181D"/>
          </a:solidFill>
          <a:ln w="12700">
            <a:solidFill>
              <a:srgbClr val="16181D"/>
            </a:solidFill>
            <a:prstDash val="solid"/>
          </a:ln>
        </p:spPr>
      </p:sp>
      <p:sp>
        <p:nvSpPr>
          <p:cNvPr id="9" name="Text 6"/>
          <p:cNvSpPr txBox="1"/>
          <p:nvPr/>
        </p:nvSpPr>
        <p:spPr>
          <a:xfrm>
            <a:off x="640080" y="19202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10" name="Text 7"/>
          <p:cNvSpPr txBox="1"/>
          <p:nvPr/>
        </p:nvSpPr>
        <p:spPr>
          <a:xfrm>
            <a:off x="1645920" y="1828800"/>
            <a:ext cx="9144000" cy="502920"/>
          </a:xfrm>
          <a:prstGeom prst="rect">
            <a:avLst/>
          </a:prstGeom>
          <a:noFill/>
          <a:ln/>
        </p:spPr>
        <p:txBody>
          <a:bodyPr wrap="square" lIns="0" tIns="0" rIns="0" bIns="0" rtlCol="0" anchor="ctr"/>
          <a:lstStyle/>
          <a:p>
            <a:pPr indent="0" marL="0">
              <a:buNone/>
            </a:pPr>
            <a:r>
              <a:rPr lang="en-US" sz="2200" b="1" dirty="0">
                <a:solidFill>
                  <a:srgbClr val="16181D"/>
                </a:solidFill>
                <a:latin typeface="Arial" pitchFamily="34" charset="0"/>
                <a:ea typeface="Arial" pitchFamily="34" charset="-122"/>
                <a:cs typeface="Arial" pitchFamily="34" charset="-120"/>
              </a:rPr>
              <a:t>Vérifier Rider et .NET 10</a:t>
            </a:r>
            <a:endParaRPr lang="en-US" sz="2200" dirty="0"/>
          </a:p>
        </p:txBody>
      </p:sp>
      <p:sp>
        <p:nvSpPr>
          <p:cNvPr id="11" name="Text 8"/>
          <p:cNvSpPr txBox="1"/>
          <p:nvPr/>
        </p:nvSpPr>
        <p:spPr>
          <a:xfrm>
            <a:off x="1645920" y="2331720"/>
            <a:ext cx="9144000" cy="457200"/>
          </a:xfrm>
          <a:prstGeom prst="rect">
            <a:avLst/>
          </a:prstGeom>
          <a:noFill/>
          <a:ln/>
        </p:spPr>
        <p:txBody>
          <a:bodyPr wrap="square" lIns="0" tIns="0" rIns="0" bIns="0" rtlCol="0" anchor="ctr"/>
          <a:lstStyle/>
          <a:p>
            <a:pPr indent="0" marL="0">
              <a:buNone/>
            </a:pPr>
            <a:r>
              <a:rPr lang="en-US" sz="1700" dirty="0">
                <a:solidFill>
                  <a:srgbClr val="5F6670"/>
                </a:solidFill>
                <a:latin typeface="Calibri" pitchFamily="34" charset="0"/>
                <a:ea typeface="Calibri" pitchFamily="34" charset="-122"/>
                <a:cs typeface="Calibri" pitchFamily="34" charset="-120"/>
              </a:rPr>
              <a:t>Créer un projet console et le lancer : on code en séance 3.</a:t>
            </a:r>
            <a:endParaRPr lang="en-US" sz="1700" dirty="0"/>
          </a:p>
        </p:txBody>
      </p:sp>
      <p:sp>
        <p:nvSpPr>
          <p:cNvPr id="12" name="Shape 9"/>
          <p:cNvSpPr/>
          <p:nvPr/>
        </p:nvSpPr>
        <p:spPr>
          <a:xfrm>
            <a:off x="640080" y="3200400"/>
            <a:ext cx="731520" cy="731520"/>
          </a:xfrm>
          <a:prstGeom prst="ellipse">
            <a:avLst/>
          </a:prstGeom>
          <a:solidFill>
            <a:srgbClr val="16181D"/>
          </a:solidFill>
          <a:ln w="12700">
            <a:solidFill>
              <a:srgbClr val="16181D"/>
            </a:solidFill>
            <a:prstDash val="solid"/>
          </a:ln>
        </p:spPr>
      </p:sp>
      <p:sp>
        <p:nvSpPr>
          <p:cNvPr id="13" name="Text 10"/>
          <p:cNvSpPr txBox="1"/>
          <p:nvPr/>
        </p:nvSpPr>
        <p:spPr>
          <a:xfrm>
            <a:off x="640080" y="32004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4" name="Text 11"/>
          <p:cNvSpPr txBox="1"/>
          <p:nvPr/>
        </p:nvSpPr>
        <p:spPr>
          <a:xfrm>
            <a:off x="1645920" y="3108960"/>
            <a:ext cx="9144000" cy="502920"/>
          </a:xfrm>
          <a:prstGeom prst="rect">
            <a:avLst/>
          </a:prstGeom>
          <a:noFill/>
          <a:ln/>
        </p:spPr>
        <p:txBody>
          <a:bodyPr wrap="square" lIns="0" tIns="0" rIns="0" bIns="0" rtlCol="0" anchor="ctr"/>
          <a:lstStyle/>
          <a:p>
            <a:pPr indent="0" marL="0">
              <a:buNone/>
            </a:pPr>
            <a:r>
              <a:rPr lang="en-US" sz="2200" b="1" dirty="0">
                <a:solidFill>
                  <a:srgbClr val="16181D"/>
                </a:solidFill>
                <a:latin typeface="Arial" pitchFamily="34" charset="0"/>
                <a:ea typeface="Arial" pitchFamily="34" charset="-122"/>
                <a:cs typeface="Arial" pitchFamily="34" charset="-120"/>
              </a:rPr>
              <a:t>Relire les slides d'aujourd'hui</a:t>
            </a:r>
            <a:endParaRPr lang="en-US" sz="2200" dirty="0"/>
          </a:p>
        </p:txBody>
      </p:sp>
      <p:sp>
        <p:nvSpPr>
          <p:cNvPr id="15" name="Text 12"/>
          <p:cNvSpPr txBox="1"/>
          <p:nvPr/>
        </p:nvSpPr>
        <p:spPr>
          <a:xfrm>
            <a:off x="1645920" y="3611880"/>
            <a:ext cx="9144000" cy="457200"/>
          </a:xfrm>
          <a:prstGeom prst="rect">
            <a:avLst/>
          </a:prstGeom>
          <a:noFill/>
          <a:ln/>
        </p:spPr>
        <p:txBody>
          <a:bodyPr wrap="square" lIns="0" tIns="0" rIns="0" bIns="0" rtlCol="0" anchor="ctr"/>
          <a:lstStyle/>
          <a:p>
            <a:pPr indent="0" marL="0">
              <a:buNone/>
            </a:pPr>
            <a:r>
              <a:rPr lang="en-US" sz="1700" dirty="0">
                <a:solidFill>
                  <a:srgbClr val="5F6670"/>
                </a:solidFill>
                <a:latin typeface="Calibri" pitchFamily="34" charset="0"/>
                <a:ea typeface="Calibri" pitchFamily="34" charset="-122"/>
                <a:cs typeface="Calibri" pitchFamily="34" charset="-120"/>
              </a:rPr>
              <a:t>Le QCM de la séance 2 a lieu en début de séance 3.</a:t>
            </a:r>
            <a:endParaRPr lang="en-US" sz="1700" dirty="0"/>
          </a:p>
        </p:txBody>
      </p:sp>
      <p:sp>
        <p:nvSpPr>
          <p:cNvPr id="16" name="Shape 13"/>
          <p:cNvSpPr/>
          <p:nvPr/>
        </p:nvSpPr>
        <p:spPr>
          <a:xfrm>
            <a:off x="640080" y="4480560"/>
            <a:ext cx="731520" cy="731520"/>
          </a:xfrm>
          <a:prstGeom prst="ellipse">
            <a:avLst/>
          </a:prstGeom>
          <a:solidFill>
            <a:srgbClr val="16181D"/>
          </a:solidFill>
          <a:ln w="12700">
            <a:solidFill>
              <a:srgbClr val="16181D"/>
            </a:solidFill>
            <a:prstDash val="solid"/>
          </a:ln>
        </p:spPr>
      </p:sp>
      <p:sp>
        <p:nvSpPr>
          <p:cNvPr id="17" name="Text 14"/>
          <p:cNvSpPr txBox="1"/>
          <p:nvPr/>
        </p:nvSpPr>
        <p:spPr>
          <a:xfrm>
            <a:off x="640080" y="44805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8" name="Text 15"/>
          <p:cNvSpPr txBox="1"/>
          <p:nvPr/>
        </p:nvSpPr>
        <p:spPr>
          <a:xfrm>
            <a:off x="1645920" y="4389120"/>
            <a:ext cx="9144000" cy="502920"/>
          </a:xfrm>
          <a:prstGeom prst="rect">
            <a:avLst/>
          </a:prstGeom>
          <a:noFill/>
          <a:ln/>
        </p:spPr>
        <p:txBody>
          <a:bodyPr wrap="square" lIns="0" tIns="0" rIns="0" bIns="0" rtlCol="0" anchor="ctr"/>
          <a:lstStyle/>
          <a:p>
            <a:pPr indent="0" marL="0">
              <a:buNone/>
            </a:pPr>
            <a:r>
              <a:rPr lang="en-US" sz="2200" b="1" dirty="0">
                <a:solidFill>
                  <a:srgbClr val="16181D"/>
                </a:solidFill>
                <a:latin typeface="Arial" pitchFamily="34" charset="0"/>
                <a:ea typeface="Arial" pitchFamily="34" charset="-122"/>
                <a:cs typeface="Arial" pitchFamily="34" charset="-120"/>
              </a:rPr>
              <a:t>Installer Git</a:t>
            </a:r>
            <a:endParaRPr lang="en-US" sz="2200" dirty="0"/>
          </a:p>
        </p:txBody>
      </p:sp>
      <p:sp>
        <p:nvSpPr>
          <p:cNvPr id="19" name="Text 16"/>
          <p:cNvSpPr txBox="1"/>
          <p:nvPr/>
        </p:nvSpPr>
        <p:spPr>
          <a:xfrm>
            <a:off x="1645920" y="4892040"/>
            <a:ext cx="9144000" cy="457200"/>
          </a:xfrm>
          <a:prstGeom prst="rect">
            <a:avLst/>
          </a:prstGeom>
          <a:noFill/>
          <a:ln/>
        </p:spPr>
        <p:txBody>
          <a:bodyPr wrap="square" lIns="0" tIns="0" rIns="0" bIns="0" rtlCol="0" anchor="ctr"/>
          <a:lstStyle/>
          <a:p>
            <a:pPr indent="0" marL="0">
              <a:buNone/>
            </a:pPr>
            <a:r>
              <a:rPr lang="en-US" sz="1700" dirty="0">
                <a:solidFill>
                  <a:srgbClr val="5F6670"/>
                </a:solidFill>
                <a:latin typeface="Calibri" pitchFamily="34" charset="0"/>
                <a:ea typeface="Calibri" pitchFamily="34" charset="-122"/>
                <a:cs typeface="Calibri" pitchFamily="34" charset="-120"/>
              </a:rPr>
              <a:t>Pour la séance 4 · git-scm.com · vérifier avec : git --version</a:t>
            </a:r>
            <a:endParaRPr lang="en-US" sz="1700" dirty="0"/>
          </a:p>
        </p:txBody>
      </p:sp>
      <p:sp>
        <p:nvSpPr>
          <p:cNvPr id="20" name="Shape 17"/>
          <p:cNvSpPr/>
          <p:nvPr/>
        </p:nvSpPr>
        <p:spPr>
          <a:xfrm>
            <a:off x="640080" y="5486400"/>
            <a:ext cx="10911535" cy="548640"/>
          </a:xfrm>
          <a:prstGeom prst="roundRect">
            <a:avLst>
              <a:gd name="adj" fmla="val 13333"/>
            </a:avLst>
          </a:prstGeom>
          <a:solidFill>
            <a:srgbClr val="16181D"/>
          </a:solidFill>
          <a:ln w="12700">
            <a:solidFill>
              <a:srgbClr val="16181D"/>
            </a:solidFill>
            <a:prstDash val="solid"/>
          </a:ln>
        </p:spPr>
      </p:sp>
      <p:sp>
        <p:nvSpPr>
          <p:cNvPr id="21" name="Text 18"/>
          <p:cNvSpPr txBox="1"/>
          <p:nvPr/>
        </p:nvSpPr>
        <p:spPr>
          <a:xfrm>
            <a:off x="914400" y="5486400"/>
            <a:ext cx="10362895"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Check-in de présence : lien dans le chat.</a:t>
            </a:r>
            <a:endParaRPr lang="en-US"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6181D"/>
        </a:solidFill>
      </p:bgPr>
    </p:bg>
    <p:spTree>
      <p:nvGrpSpPr>
        <p:cNvPr id="1" name=""/>
        <p:cNvGrpSpPr/>
        <p:nvPr/>
      </p:nvGrpSpPr>
      <p:grpSpPr>
        <a:xfrm>
          <a:off x="0" y="0"/>
          <a:ext cx="0" cy="0"/>
          <a:chOff x="0" y="0"/>
          <a:chExt cx="0" cy="0"/>
        </a:xfrm>
      </p:grpSpPr>
      <p:sp>
        <p:nvSpPr>
          <p:cNvPr id="2" name="Shape 0"/>
          <p:cNvSpPr/>
          <p:nvPr/>
        </p:nvSpPr>
        <p:spPr>
          <a:xfrm>
            <a:off x="640080" y="2286000"/>
            <a:ext cx="274320" cy="274320"/>
          </a:xfrm>
          <a:prstGeom prst="rect">
            <a:avLst/>
          </a:prstGeom>
          <a:solidFill>
            <a:srgbClr val="E8590C"/>
          </a:solidFill>
          <a:ln w="12700">
            <a:solidFill>
              <a:srgbClr val="E8590C"/>
            </a:solidFill>
            <a:prstDash val="solid"/>
          </a:ln>
        </p:spPr>
      </p:sp>
      <p:sp>
        <p:nvSpPr>
          <p:cNvPr id="3" name="Text 1"/>
          <p:cNvSpPr txBox="1"/>
          <p:nvPr/>
        </p:nvSpPr>
        <p:spPr>
          <a:xfrm>
            <a:off x="640080" y="2743200"/>
            <a:ext cx="10911535"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Merci. À mercredi prochain.</a:t>
            </a:r>
            <a:endParaRPr lang="en-US" sz="4400" dirty="0"/>
          </a:p>
        </p:txBody>
      </p:sp>
      <p:sp>
        <p:nvSpPr>
          <p:cNvPr id="4" name="Text 2"/>
          <p:cNvSpPr txBox="1"/>
          <p:nvPr/>
        </p:nvSpPr>
        <p:spPr>
          <a:xfrm>
            <a:off x="640080" y="3749040"/>
            <a:ext cx="10911535" cy="54864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Séance 3 · Les fondamentaux de C# : types, null, chaînes, static, virtual, [Flags]</a:t>
            </a:r>
            <a:endParaRPr lang="en-US" sz="2000" dirty="0"/>
          </a:p>
        </p:txBody>
      </p:sp>
      <p:sp>
        <p:nvSpPr>
          <p:cNvPr id="5" name="Text 3"/>
          <p:cNvSpPr txBox="1"/>
          <p:nvPr/>
        </p:nvSpPr>
        <p:spPr>
          <a:xfrm>
            <a:off x="640080" y="5303520"/>
            <a:ext cx="10911535" cy="365760"/>
          </a:xfrm>
          <a:prstGeom prst="rect">
            <a:avLst/>
          </a:prstGeom>
          <a:noFill/>
          <a:ln/>
        </p:spPr>
        <p:txBody>
          <a:bodyPr wrap="square" lIns="0" tIns="0" rIns="0" bIns="0" rtlCol="0" anchor="ctr"/>
          <a:lstStyle/>
          <a:p>
            <a:pPr indent="0" marL="0">
              <a:buNone/>
            </a:pPr>
            <a:r>
              <a:rPr lang="en-US" sz="1400" dirty="0">
                <a:solidFill>
                  <a:srgbClr val="9AA0A8"/>
                </a:solidFill>
                <a:latin typeface="Calibri" pitchFamily="34" charset="0"/>
                <a:ea typeface="Calibri" pitchFamily="34" charset="-122"/>
                <a:cs typeface="Calibri" pitchFamily="34" charset="-120"/>
              </a:rPr>
              <a:t>Git et le travail en équipe : séance 4.</a:t>
            </a:r>
            <a:endParaRPr lang="en-US" sz="14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37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Complément Application — Séance 2</dc:title>
  <dc:subject>PptxGenJS Presentation</dc:subject>
  <dc:creator>Ludwig Lebrun</dc:creator>
  <cp:lastModifiedBy>Ludwig Lebrun</cp:lastModifiedBy>
  <cp:revision>1</cp:revision>
  <dcterms:created xsi:type="dcterms:W3CDTF">2026-10-21T15:57:12Z</dcterms:created>
  <dcterms:modified xsi:type="dcterms:W3CDTF">2026-10-21T15:57:12Z</dcterms:modified>
</cp:coreProperties>
</file>