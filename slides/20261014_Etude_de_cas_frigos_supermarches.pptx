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73" r:id="rId6"/>
    <p:sldId id="272" r:id="rId7"/>
    <p:sldId id="260" r:id="rId8"/>
    <p:sldId id="274"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126" y="12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7262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 min] Objectif : analyser un incident très récent comme un retour d'expérience. Méthode : on s'appuie sur l'alerte du CERT-FR, les avis de sécurité Danfoss et CISA, les recherches publiées par Claroty, et la presse. Certains points ne sont pas encore établis (voie d'entrée exacte, auteurs) : on le dira à chaque fois.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 3 min] Dans la nuit du 11 au 12 octobre 2026, des attaquants prennent le contrôle à distance des systèmes qui pilotent le froid de nombreux supermarchés français. Ils déclenchent un dégivrage de tous les meubles froids, avec une consigne autour de 50 °C. Des centaines de magasins touchés : plus de 300 Intermarché et Netto, environ 100 magasins U, 80 Carrefour, une trentaine de Monoprix, plusieurs E.Leclerc. Produits frais et surgelés détruits par précaution sanitaire. Pertes : de 20 000 à 60 000 € pour un petit magasin, jusqu'à 200 000 € pour un hypermarché, plusieurs millions au total. Le parquet de Paris signale des départs de feu. Aucune demande de rançon, aucune revendication à ce jour. Les chiffres ont évolué au fil des jours : on donne des ordres de grandeur.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 3 min] Indispensable pour comprendre l'attaque. Chaque meuble froid a son petit contrôleur. Dans le local technique, un contrôleur central (le « System Manager », chez Danfoss la gamme AK-SM / AK-SC) les supervise tous : consignes de température, cycles de dégivrage, alarmes. Il offre une interface web, pour que le frigoriste (souvent un prestataire extérieur) puisse intervenir à distance. Le dégivrage est une fonction normale : on chauffe brièvement l'évaporateur pour faire fondre la glace, en général moins d'une heure. Le point faible : cette interface web était parfois accessible directement depuis Internet.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 – 4 min] Reconstitution à partir des sources ; la voie d'entrée exacte n'est pas encore officiellement établie. 1) Reconnaissance : chercher sur Internet les interfaces de ces contrôleurs, avec des moteurs comme Shodan ou Censys, qui recensent les appareils connectés. Des chercheurs en comptaient plusieurs milliers, dont plus de la moitié en France. 2) Accès : se connecter à l'interface web exposée. 3) Authentification : selon plusieurs experts, un compte administrateur dont le mot de passe était dérivé de la date du jour. 4) Action : lancer le dégivrage sur tous les meubles, fixer la consigne vers 50 °C et allonger la durée du cycle (de 1 h à 8 h selon la presse). 5) Impact : marchandises perdues, matériel endommagé. Entre parenthèses, les techniques correspondantes du référentiel MITRE ATT&amp;CK for ICS (notre correspondance).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 3 min] Expliquer le principe sans jargon. Pour faciliter le dépannage, certains contrôleurs acceptaient un « code du jour » calculé à partir de la date. Pratique pour le technicien… et pour quiconque connaît la formule : le secret n'en est pas un. C'est exactement la faille CVE-2025-41450, publiée en mai 2025 pour les AK-SM 800A (« génération de mot de passe basée sur la date et l'heure », contournement d'authentification, score CVSS 8,2), corrigée dans la version R4.2. Pour les modèles en fin de vie touchés, la presse rapporte le même mécanisme, sans confirmation officielle. Lien avec le cours : c'est un secret dans le code, comme la clé de Toyota en S3. Un « secret » écrit dans un programme distribué à des milliers d'exemplaires finit toujours par être connu.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 – 2 min] Le point le plus instructif. Les attaquants n'ont rien « cassé » : ils ont utilisé une fonction normale, le dégivrage, prévue pour chauffer brièvement. En allongeant sa durée, la montée en température ressemblait à un dégivrage, et les alarmes ne se déclenchaient pas tout de suite (selon la presse, c'est le but de l'allongement). Lien direct avec la séance 1 : un objet doit refuser les valeurs absurdes. Une règle métier simple (un dégivrage de plus d'une heure, ou une consigne de 50 °C pour un frigo, est refusé ou déclenche une alerte) aurait limité les dégâts.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3 min] Parcourir la chronologie. 2023 : trois failles dans l'AK-SM 800A, dont une critique (CVSS 9,8) ; l'organisation néerlandaise DIVD balaie Internet et prévient les propriétaires exposés. 2025 : trois nouvelles failles découvertes par Claroty Team82 (le code du jour, une injection de commande dans la configuration des e-mails d'alarme, une manipulation de la configuration web) ; avis CISA en mai, correctifs R4.2 puis 4.3.1. Août 2026 : Claroty publie sa recherche et recense 2 765 interfaces exposées sur Internet. Octobre 2026 : l'attaque. Nuance : Claroty voit un lien avec ses travaux ; Danfoss indique que la majorité des appareils touchés sont des modèles en fin de vie, non couverts par ces correctifs. Les deux peuvent être vrais en même temps.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 – 4 min] Le cœur de l'analyse. 1) Fin de vie : les AK-SM 800 ne sont plus supportés depuis 2021, les AK-SC 355 depuis 2016 ; aucun correctif n'existera jamais. Danfoss a déclaré que la majorité des appareils concernés sont des produits obsolètes. 2) Exposition : des milliers d'interfaces joignables directement depuis Internet, dont plus de la moitié en France selon des chercheurs. 3) Hors du radar : ces équipements sont gérés par les services techniques et les frigoristes, pas par la DSI ; ils n'apparaissent pas dans l'inventaire informatique. 4) Longue durée de vie : une installation de froid dure 10 à 20 ans ; on ne la remplace pas pour une mise à jour. 5) Responsabilité floue : qui doit mettre à jour, l'exploitant du magasin ou le mainteneur ? Citer le hackeur éthique Clément Domingo sur franceinfo : « C'est simplement une mise à jour qui n'a pas été faite.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 – 3 min] Le CERT-FR (l'équipe de réponse de l'ANSSI) publie une alerte dès le 12 octobre, mise à jour le 13 : de nombreuses compromissions de contrôleurs Danfoss AK-SM et AK-SC, et Copeland / Dixell XWEB. Ses recommandations sont la checklist de base. En cas de compromission : déconnecter d'Internet, réinitialiser en configuration d'usine, puis reconfigurer en durcissant ; et l'alerte prévient qu'une réinitialisation seule ne suffit pas si l'exposition demeure. Côté justice : enquête du parquet de Paris, confiée à l'Office anti-cybercriminalité (OFAC). Le gouvernement a saisi l'ANSSI. Danfoss appelle à remplacer les équipements en fin de vie.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 – 3 min] La question n'est pas de blâmer, mais de voir où on aurait pu agir. 1) 2023 : les propriétaires exposés ont été prévenus par DIVD. 2) 2025 : les correctifs existaient pour la gamme supportée. 3) Août 2026 : la publication de Claroty, deux mois avant l'attaque, aurait dû déclencher une revue d'exposition (« sommes-nous visibles sur Internet ? »). 4) Le soir même : une alarme indépendante du contrôleur (une simple sonde de température qui envoie un SMS) et la capacité de couper l'accès distant et de repasser en mode local auraient limité les pertes. Et une sécurité physique (un thermostat de sécurité câblé, qui coupe le chauffage au-delà d'une température) aurait évité les départs de feu.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 – 3 min] Huit pratiques, reprises des recommandations du CERT-FR, du guide de l'ANSSI sur la cybersécurité des systèmes industriels et de la norme IEC 62443. La première suffit à elle seule à empêcher ce type d'attaque : aucune interface d'administration directement sur Internet.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3 min] Ramener le cas au cours. Chaque faille a une contrepartie dans le code qu'on apprend à écrire. Un code du jour calculable : un secret dans le code (séance 3, Toyota). Une injection de commande dans la configuration des e-mails d'alarme (CVE-2025-41451) : une donnée de l'utilisateur passée telle quelle à une commande système, comme l'injection SQL de Stanford (séance 1) ; on la démontera au Q2. Une consigne absurde acceptée sans broncher : une règle métier manquante ; l'objet aurait dû refuser (séance 1). Une interface d'administration ouverte à tous : authentification et autorisation, Keycloak au Q2.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3 min] Aucun outil ne doit être utilisé contre un équipement réel : c'est illégal (accès frauduleux à un système, articles 323-1 et suivants du Code pénal) et dangereux. Mais on peut reproduire le principe dans un laboratoire fermé, avec des simulateurs. Scénario A, l'attaque : un faux contrôleur de meuble froid (serveur Modbus simulé avec la bibliothèque pymodbus : température, consigne, durée de dégivrage) et une petite interface web dont le mot de passe est la date du jour, dans un réseau Docker isolé. Scénario B, la défense : on rejoue avec un pare-feu, un vrai mot de passe et une règle d'alerte sur les consignes anormales. Scénario C, l'observation : un pot de miel (Conpot, du Honeynet Project) qui imite un contrôleur, pour voir qui le scanne. Ce laboratoire pourra être construit pour le Q2.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 5 min] Réactions : 👍 l'enseigne (l'exploitant), ❤️ le frigoriste (le mainteneur), 😮 Danfoss (le fabricant), 😂 l'État (l'ANSSI, la régulation). Lire le résultat, prendre 2 ou 3 avis dans le chat. Pas de réponse unique : la responsabilité est partagée, et c'est précisément le problème, chacun pense que c'est l'autre. Question bonus : faut-il interdire par la loi la vente d'équipements avec des mots de passe calculables ou par défaut ? (Le Royaume-Uni l'a fait pour les objets connectés grand public en 2024, avec la loi PSTI ; le règlement européen Cyber Resilience Act va dans le même sens.)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 1 min] Conclure. Pas d'attaque sophistiquée : une interface exposée, un mot de passe prévisible, une mise à jour non faite, et une fonction normale détournée. Les défenses sont connues et simples. Ce qui manque, le plus souvent, c'est de savoir que l'équipement existe et qu'il est visible.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 – 0 min] Slide de référence, à partager. Esprit critique : les chiffres de magasins et de températures ont évolué au fil des jours ; la voie d'entrée exacte et les auteurs ne sont pas établis à la date de cette présentation.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554480"/>
            <a:ext cx="10911535" cy="457200"/>
          </a:xfrm>
          <a:prstGeom prst="rect">
            <a:avLst/>
          </a:prstGeom>
          <a:noFill/>
          <a:ln/>
        </p:spPr>
        <p:txBody>
          <a:bodyPr wrap="square" lIns="0" tIns="0" rIns="0" bIns="0" rtlCol="0" anchor="ctr"/>
          <a:lstStyle/>
          <a:p>
            <a:pPr marL="0" indent="0">
              <a:buNone/>
            </a:pPr>
            <a:r>
              <a:rPr lang="en-US" sz="1600" b="1" kern="0" spc="300" dirty="0">
                <a:solidFill>
                  <a:srgbClr val="E8590C"/>
                </a:solidFill>
                <a:latin typeface="Calibri" pitchFamily="34" charset="0"/>
                <a:ea typeface="Calibri" pitchFamily="34" charset="-122"/>
                <a:cs typeface="Calibri" pitchFamily="34" charset="-120"/>
              </a:rPr>
              <a:t>ÉTUDE DE CAS · OCTOBRE 2026</a:t>
            </a:r>
            <a:endParaRPr lang="en-US" sz="1600" dirty="0"/>
          </a:p>
        </p:txBody>
      </p:sp>
      <p:sp>
        <p:nvSpPr>
          <p:cNvPr id="3" name="Text 1"/>
          <p:cNvSpPr txBox="1"/>
          <p:nvPr/>
        </p:nvSpPr>
        <p:spPr>
          <a:xfrm>
            <a:off x="640080" y="2103120"/>
            <a:ext cx="10911535" cy="164592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Des frigos à 50 °C dans des centaines de supermarchés</a:t>
            </a:r>
            <a:endParaRPr lang="en-US" sz="4600" dirty="0"/>
          </a:p>
        </p:txBody>
      </p:sp>
      <p:sp>
        <p:nvSpPr>
          <p:cNvPr id="4" name="Text 2"/>
          <p:cNvSpPr txBox="1"/>
          <p:nvPr/>
        </p:nvSpPr>
        <p:spPr>
          <a:xfrm>
            <a:off x="640080" y="3886200"/>
            <a:ext cx="9601200" cy="914400"/>
          </a:xfrm>
          <a:prstGeom prst="rect">
            <a:avLst/>
          </a:prstGeom>
          <a:noFill/>
          <a:ln/>
        </p:spPr>
        <p:txBody>
          <a:bodyPr wrap="square" lIns="0" tIns="0" rIns="0" bIns="0" rtlCol="0" anchor="t"/>
          <a:lstStyle/>
          <a:p>
            <a:pPr marL="0" indent="0">
              <a:buNone/>
            </a:pPr>
            <a:r>
              <a:rPr lang="en-US" sz="2000" dirty="0">
                <a:solidFill>
                  <a:srgbClr val="C9CDD3"/>
                </a:solidFill>
                <a:latin typeface="Calibri" pitchFamily="34" charset="0"/>
                <a:ea typeface="Calibri" pitchFamily="34" charset="-122"/>
                <a:cs typeface="Calibri" pitchFamily="34" charset="-120"/>
              </a:rPr>
              <a:t>Comment les attaquants ont fait, pourquoi rien n'avait été corrigé, et ce qu'on aurait pu faire autrement</a:t>
            </a:r>
            <a:endParaRPr lang="en-US" sz="2000" dirty="0"/>
          </a:p>
        </p:txBody>
      </p:sp>
      <p:sp>
        <p:nvSpPr>
          <p:cNvPr id="5" name="Text 3"/>
          <p:cNvSpPr txBox="1"/>
          <p:nvPr/>
        </p:nvSpPr>
        <p:spPr>
          <a:xfrm>
            <a:off x="640080" y="5486400"/>
            <a:ext cx="10911535" cy="365760"/>
          </a:xfrm>
          <a:prstGeom prst="rect">
            <a:avLst/>
          </a:prstGeom>
          <a:noFill/>
          <a:ln/>
        </p:spPr>
        <p:txBody>
          <a:bodyPr wrap="square" lIns="0" tIns="0" rIns="0" bIns="0" rtlCol="0" anchor="ctr"/>
          <a:lstStyle/>
          <a:p>
            <a:pPr marL="0" indent="0">
              <a:buNone/>
            </a:pPr>
            <a:r>
              <a:rPr lang="en-US" sz="1300" dirty="0">
                <a:solidFill>
                  <a:srgbClr val="9AA0A8"/>
                </a:solidFill>
                <a:latin typeface="Calibri" pitchFamily="34" charset="0"/>
                <a:ea typeface="Calibri" pitchFamily="34" charset="-122"/>
                <a:cs typeface="Calibri" pitchFamily="34" charset="-120"/>
              </a:rPr>
              <a:t>Sources : alerte CERT-FR, avis CISA et Danfoss, recherches Claroty, presse. Liste complète en fin de présentation.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LES FAITS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Un week-end d'octobre, des meubles froids à 50 °C</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640080" y="1828800"/>
            <a:ext cx="2560320" cy="1737360"/>
          </a:xfrm>
          <a:prstGeom prst="roundRect">
            <a:avLst>
              <a:gd name="adj" fmla="val 4211"/>
            </a:avLst>
          </a:prstGeom>
          <a:solidFill>
            <a:srgbClr val="16181D"/>
          </a:solidFill>
          <a:ln w="12700">
            <a:solidFill>
              <a:srgbClr val="16181D"/>
            </a:solidFill>
            <a:prstDash val="solid"/>
          </a:ln>
        </p:spPr>
        <p:txBody>
          <a:bodyPr/>
          <a:lstStyle/>
          <a:p>
            <a:endParaRPr lang="fr-BE"/>
          </a:p>
        </p:txBody>
      </p:sp>
      <p:sp>
        <p:nvSpPr>
          <p:cNvPr id="9" name="Text 6"/>
          <p:cNvSpPr txBox="1"/>
          <p:nvPr/>
        </p:nvSpPr>
        <p:spPr>
          <a:xfrm>
            <a:off x="868680" y="1920240"/>
            <a:ext cx="2194560" cy="914400"/>
          </a:xfrm>
          <a:prstGeom prst="rect">
            <a:avLst/>
          </a:prstGeom>
          <a:noFill/>
          <a:ln/>
        </p:spPr>
        <p:txBody>
          <a:bodyPr wrap="square" lIns="0" tIns="0" rIns="0" bIns="0" rtlCol="0" anchor="ctr"/>
          <a:lstStyle/>
          <a:p>
            <a:pPr marL="0" indent="0">
              <a:buNone/>
            </a:pPr>
            <a:r>
              <a:rPr lang="en-US" sz="4400" b="1" dirty="0">
                <a:solidFill>
                  <a:srgbClr val="E8590C"/>
                </a:solidFill>
                <a:latin typeface="Arial" pitchFamily="34" charset="0"/>
                <a:ea typeface="Arial" pitchFamily="34" charset="-122"/>
                <a:cs typeface="Arial" pitchFamily="34" charset="-120"/>
              </a:rPr>
              <a:t>300+</a:t>
            </a:r>
            <a:endParaRPr lang="en-US" sz="4400" dirty="0"/>
          </a:p>
        </p:txBody>
      </p:sp>
      <p:sp>
        <p:nvSpPr>
          <p:cNvPr id="10" name="Text 7"/>
          <p:cNvSpPr txBox="1"/>
          <p:nvPr/>
        </p:nvSpPr>
        <p:spPr>
          <a:xfrm>
            <a:off x="868680" y="2834640"/>
            <a:ext cx="2194560" cy="5486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Intermarché et Netto</a:t>
            </a:r>
            <a:endParaRPr lang="en-US" sz="1600" dirty="0"/>
          </a:p>
        </p:txBody>
      </p:sp>
      <p:sp>
        <p:nvSpPr>
          <p:cNvPr id="11" name="Shape 8"/>
          <p:cNvSpPr/>
          <p:nvPr/>
        </p:nvSpPr>
        <p:spPr>
          <a:xfrm>
            <a:off x="3383280" y="1828800"/>
            <a:ext cx="2560320" cy="1737360"/>
          </a:xfrm>
          <a:prstGeom prst="roundRect">
            <a:avLst>
              <a:gd name="adj" fmla="val 4211"/>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3611880" y="1920240"/>
            <a:ext cx="2194560" cy="914400"/>
          </a:xfrm>
          <a:prstGeom prst="rect">
            <a:avLst/>
          </a:prstGeom>
          <a:noFill/>
          <a:ln/>
        </p:spPr>
        <p:txBody>
          <a:bodyPr wrap="square" lIns="0" tIns="0" rIns="0" bIns="0" rtlCol="0" anchor="ctr"/>
          <a:lstStyle/>
          <a:p>
            <a:pPr marL="0" indent="0">
              <a:buNone/>
            </a:pPr>
            <a:r>
              <a:rPr lang="en-US" sz="4400" b="1" dirty="0">
                <a:solidFill>
                  <a:srgbClr val="16181D"/>
                </a:solidFill>
                <a:latin typeface="Arial" pitchFamily="34" charset="0"/>
                <a:ea typeface="Arial" pitchFamily="34" charset="-122"/>
                <a:cs typeface="Arial" pitchFamily="34" charset="-120"/>
              </a:rPr>
              <a:t>~100</a:t>
            </a:r>
            <a:endParaRPr lang="en-US" sz="4400" dirty="0"/>
          </a:p>
        </p:txBody>
      </p:sp>
      <p:sp>
        <p:nvSpPr>
          <p:cNvPr id="13" name="Text 10"/>
          <p:cNvSpPr txBox="1"/>
          <p:nvPr/>
        </p:nvSpPr>
        <p:spPr>
          <a:xfrm>
            <a:off x="3611880" y="2834640"/>
            <a:ext cx="2194560" cy="548640"/>
          </a:xfrm>
          <a:prstGeom prst="rect">
            <a:avLst/>
          </a:prstGeom>
          <a:noFill/>
          <a:ln/>
        </p:spPr>
        <p:txBody>
          <a:bodyPr wrap="square" lIns="0" tIns="0" rIns="0" bIns="0" rtlCol="0" anchor="ctr"/>
          <a:lstStyle/>
          <a:p>
            <a:pPr marL="0" indent="0">
              <a:buNone/>
            </a:pPr>
            <a:r>
              <a:rPr lang="en-US" sz="1600" dirty="0">
                <a:solidFill>
                  <a:srgbClr val="5F6670"/>
                </a:solidFill>
                <a:latin typeface="Calibri" pitchFamily="34" charset="0"/>
                <a:ea typeface="Calibri" pitchFamily="34" charset="-122"/>
                <a:cs typeface="Calibri" pitchFamily="34" charset="-120"/>
              </a:rPr>
              <a:t>magasins U</a:t>
            </a:r>
            <a:endParaRPr lang="en-US" sz="1600" dirty="0"/>
          </a:p>
        </p:txBody>
      </p:sp>
      <p:sp>
        <p:nvSpPr>
          <p:cNvPr id="14" name="Shape 11"/>
          <p:cNvSpPr/>
          <p:nvPr/>
        </p:nvSpPr>
        <p:spPr>
          <a:xfrm>
            <a:off x="6126480" y="1828800"/>
            <a:ext cx="2560320" cy="1737360"/>
          </a:xfrm>
          <a:prstGeom prst="roundRect">
            <a:avLst>
              <a:gd name="adj" fmla="val 4211"/>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6355080" y="1920240"/>
            <a:ext cx="2194560" cy="914400"/>
          </a:xfrm>
          <a:prstGeom prst="rect">
            <a:avLst/>
          </a:prstGeom>
          <a:noFill/>
          <a:ln/>
        </p:spPr>
        <p:txBody>
          <a:bodyPr wrap="square" lIns="0" tIns="0" rIns="0" bIns="0" rtlCol="0" anchor="ctr"/>
          <a:lstStyle/>
          <a:p>
            <a:pPr marL="0" indent="0">
              <a:buNone/>
            </a:pPr>
            <a:r>
              <a:rPr lang="en-US" sz="4400" b="1" dirty="0">
                <a:solidFill>
                  <a:srgbClr val="16181D"/>
                </a:solidFill>
                <a:latin typeface="Arial" pitchFamily="34" charset="0"/>
                <a:ea typeface="Arial" pitchFamily="34" charset="-122"/>
                <a:cs typeface="Arial" pitchFamily="34" charset="-120"/>
              </a:rPr>
              <a:t>80</a:t>
            </a:r>
            <a:endParaRPr lang="en-US" sz="4400" dirty="0"/>
          </a:p>
        </p:txBody>
      </p:sp>
      <p:sp>
        <p:nvSpPr>
          <p:cNvPr id="16" name="Text 13"/>
          <p:cNvSpPr txBox="1"/>
          <p:nvPr/>
        </p:nvSpPr>
        <p:spPr>
          <a:xfrm>
            <a:off x="6355080" y="2834640"/>
            <a:ext cx="2194560" cy="548640"/>
          </a:xfrm>
          <a:prstGeom prst="rect">
            <a:avLst/>
          </a:prstGeom>
          <a:noFill/>
          <a:ln/>
        </p:spPr>
        <p:txBody>
          <a:bodyPr wrap="square" lIns="0" tIns="0" rIns="0" bIns="0" rtlCol="0" anchor="ctr"/>
          <a:lstStyle/>
          <a:p>
            <a:pPr marL="0" indent="0">
              <a:buNone/>
            </a:pPr>
            <a:r>
              <a:rPr lang="en-US" sz="1600" dirty="0">
                <a:solidFill>
                  <a:srgbClr val="5F6670"/>
                </a:solidFill>
                <a:latin typeface="Calibri" pitchFamily="34" charset="0"/>
                <a:ea typeface="Calibri" pitchFamily="34" charset="-122"/>
                <a:cs typeface="Calibri" pitchFamily="34" charset="-120"/>
              </a:rPr>
              <a:t>Carrefour</a:t>
            </a:r>
            <a:endParaRPr lang="en-US" sz="1600" dirty="0"/>
          </a:p>
        </p:txBody>
      </p:sp>
      <p:sp>
        <p:nvSpPr>
          <p:cNvPr id="17" name="Shape 14"/>
          <p:cNvSpPr/>
          <p:nvPr/>
        </p:nvSpPr>
        <p:spPr>
          <a:xfrm>
            <a:off x="8869680" y="1828800"/>
            <a:ext cx="2560320" cy="1737360"/>
          </a:xfrm>
          <a:prstGeom prst="roundRect">
            <a:avLst>
              <a:gd name="adj" fmla="val 4211"/>
            </a:avLst>
          </a:prstGeom>
          <a:solidFill>
            <a:srgbClr val="F2F3F5"/>
          </a:solidFill>
          <a:ln w="12700">
            <a:solidFill>
              <a:srgbClr val="F2F3F5"/>
            </a:solidFill>
            <a:prstDash val="solid"/>
          </a:ln>
        </p:spPr>
        <p:txBody>
          <a:bodyPr/>
          <a:lstStyle/>
          <a:p>
            <a:endParaRPr lang="fr-BE"/>
          </a:p>
        </p:txBody>
      </p:sp>
      <p:sp>
        <p:nvSpPr>
          <p:cNvPr id="18" name="Text 15"/>
          <p:cNvSpPr txBox="1"/>
          <p:nvPr/>
        </p:nvSpPr>
        <p:spPr>
          <a:xfrm>
            <a:off x="9098280" y="1920240"/>
            <a:ext cx="2194560" cy="914400"/>
          </a:xfrm>
          <a:prstGeom prst="rect">
            <a:avLst/>
          </a:prstGeom>
          <a:noFill/>
          <a:ln/>
        </p:spPr>
        <p:txBody>
          <a:bodyPr wrap="square" lIns="0" tIns="0" rIns="0" bIns="0" rtlCol="0" anchor="ctr"/>
          <a:lstStyle/>
          <a:p>
            <a:pPr marL="0" indent="0">
              <a:buNone/>
            </a:pPr>
            <a:r>
              <a:rPr lang="en-US" sz="4400" b="1" dirty="0">
                <a:solidFill>
                  <a:srgbClr val="16181D"/>
                </a:solidFill>
                <a:latin typeface="Arial" pitchFamily="34" charset="0"/>
                <a:ea typeface="Arial" pitchFamily="34" charset="-122"/>
                <a:cs typeface="Arial" pitchFamily="34" charset="-120"/>
              </a:rPr>
              <a:t>~30</a:t>
            </a:r>
            <a:endParaRPr lang="en-US" sz="4400" dirty="0"/>
          </a:p>
        </p:txBody>
      </p:sp>
      <p:sp>
        <p:nvSpPr>
          <p:cNvPr id="19" name="Text 16"/>
          <p:cNvSpPr txBox="1"/>
          <p:nvPr/>
        </p:nvSpPr>
        <p:spPr>
          <a:xfrm>
            <a:off x="9098280" y="2834640"/>
            <a:ext cx="2194560" cy="548640"/>
          </a:xfrm>
          <a:prstGeom prst="rect">
            <a:avLst/>
          </a:prstGeom>
          <a:noFill/>
          <a:ln/>
        </p:spPr>
        <p:txBody>
          <a:bodyPr wrap="square" lIns="0" tIns="0" rIns="0" bIns="0" rtlCol="0" anchor="ctr"/>
          <a:lstStyle/>
          <a:p>
            <a:pPr marL="0" indent="0">
              <a:buNone/>
            </a:pPr>
            <a:r>
              <a:rPr lang="en-US" sz="1600" dirty="0">
                <a:solidFill>
                  <a:srgbClr val="5F6670"/>
                </a:solidFill>
                <a:latin typeface="Calibri" pitchFamily="34" charset="0"/>
                <a:ea typeface="Calibri" pitchFamily="34" charset="-122"/>
                <a:cs typeface="Calibri" pitchFamily="34" charset="-120"/>
              </a:rPr>
              <a:t>Monoprix</a:t>
            </a:r>
            <a:endParaRPr lang="en-US" sz="1600" dirty="0"/>
          </a:p>
        </p:txBody>
      </p:sp>
      <p:sp>
        <p:nvSpPr>
          <p:cNvPr id="20" name="Text 17"/>
          <p:cNvSpPr txBox="1"/>
          <p:nvPr/>
        </p:nvSpPr>
        <p:spPr>
          <a:xfrm>
            <a:off x="640080" y="3794760"/>
            <a:ext cx="1828800" cy="594360"/>
          </a:xfrm>
          <a:prstGeom prst="rect">
            <a:avLst/>
          </a:prstGeom>
          <a:noFill/>
          <a:ln/>
        </p:spPr>
        <p:txBody>
          <a:bodyPr wrap="square" lIns="0" tIns="0" rIns="0" bIns="0" rtlCol="0" anchor="ctr"/>
          <a:lstStyle/>
          <a:p>
            <a:pPr marL="0" indent="0">
              <a:buNone/>
            </a:pPr>
            <a:r>
              <a:rPr lang="en-US" sz="1600" b="1" dirty="0">
                <a:solidFill>
                  <a:srgbClr val="E8590C"/>
                </a:solidFill>
                <a:latin typeface="Arial" pitchFamily="34" charset="0"/>
                <a:ea typeface="Arial" pitchFamily="34" charset="-122"/>
                <a:cs typeface="Arial" pitchFamily="34" charset="-120"/>
              </a:rPr>
              <a:t>Pertes</a:t>
            </a:r>
            <a:endParaRPr lang="en-US" sz="1600" dirty="0"/>
          </a:p>
        </p:txBody>
      </p:sp>
      <p:sp>
        <p:nvSpPr>
          <p:cNvPr id="21" name="Text 18"/>
          <p:cNvSpPr txBox="1"/>
          <p:nvPr/>
        </p:nvSpPr>
        <p:spPr>
          <a:xfrm>
            <a:off x="2468880" y="3794760"/>
            <a:ext cx="9052560" cy="594360"/>
          </a:xfrm>
          <a:prstGeom prst="rect">
            <a:avLst/>
          </a:prstGeom>
          <a:noFill/>
          <a:ln/>
        </p:spPr>
        <p:txBody>
          <a:bodyPr wrap="square" lIns="0" tIns="0" rIns="0" bIns="0" rtlCol="0" anchor="ctr"/>
          <a:lstStyle/>
          <a:p>
            <a:pPr marL="0" indent="0">
              <a:buNone/>
            </a:pPr>
            <a:r>
              <a:rPr lang="en-US" sz="1550" dirty="0">
                <a:solidFill>
                  <a:srgbClr val="16181D"/>
                </a:solidFill>
                <a:latin typeface="Calibri" pitchFamily="34" charset="0"/>
                <a:ea typeface="Calibri" pitchFamily="34" charset="-122"/>
                <a:cs typeface="Calibri" pitchFamily="34" charset="-120"/>
              </a:rPr>
              <a:t>20 000 à 60 000 € par petit magasin, jusqu'à 200 000 € par hypermarché ; plusieurs millions au total.</a:t>
            </a:r>
            <a:endParaRPr lang="en-US" sz="1550" dirty="0"/>
          </a:p>
        </p:txBody>
      </p:sp>
      <p:sp>
        <p:nvSpPr>
          <p:cNvPr id="22" name="Text 19"/>
          <p:cNvSpPr txBox="1"/>
          <p:nvPr/>
        </p:nvSpPr>
        <p:spPr>
          <a:xfrm>
            <a:off x="640080" y="4453128"/>
            <a:ext cx="1828800" cy="594360"/>
          </a:xfrm>
          <a:prstGeom prst="rect">
            <a:avLst/>
          </a:prstGeom>
          <a:noFill/>
          <a:ln/>
        </p:spPr>
        <p:txBody>
          <a:bodyPr wrap="square" lIns="0" tIns="0" rIns="0" bIns="0" rtlCol="0" anchor="ctr"/>
          <a:lstStyle/>
          <a:p>
            <a:pPr marL="0" indent="0">
              <a:buNone/>
            </a:pPr>
            <a:r>
              <a:rPr lang="en-US" sz="1600" b="1" dirty="0">
                <a:solidFill>
                  <a:srgbClr val="E8590C"/>
                </a:solidFill>
                <a:latin typeface="Arial" pitchFamily="34" charset="0"/>
                <a:ea typeface="Arial" pitchFamily="34" charset="-122"/>
                <a:cs typeface="Arial" pitchFamily="34" charset="-120"/>
              </a:rPr>
              <a:t>Conséquences</a:t>
            </a:r>
            <a:endParaRPr lang="en-US" sz="1600" dirty="0"/>
          </a:p>
        </p:txBody>
      </p:sp>
      <p:sp>
        <p:nvSpPr>
          <p:cNvPr id="23" name="Text 20"/>
          <p:cNvSpPr txBox="1"/>
          <p:nvPr/>
        </p:nvSpPr>
        <p:spPr>
          <a:xfrm>
            <a:off x="2468880" y="4453128"/>
            <a:ext cx="9052560" cy="594360"/>
          </a:xfrm>
          <a:prstGeom prst="rect">
            <a:avLst/>
          </a:prstGeom>
          <a:noFill/>
          <a:ln/>
        </p:spPr>
        <p:txBody>
          <a:bodyPr wrap="square" lIns="0" tIns="0" rIns="0" bIns="0" rtlCol="0" anchor="ctr"/>
          <a:lstStyle/>
          <a:p>
            <a:pPr marL="0" indent="0">
              <a:buNone/>
            </a:pPr>
            <a:r>
              <a:rPr lang="en-US" sz="1550" dirty="0">
                <a:solidFill>
                  <a:srgbClr val="16181D"/>
                </a:solidFill>
                <a:latin typeface="Calibri" pitchFamily="34" charset="0"/>
                <a:ea typeface="Calibri" pitchFamily="34" charset="-122"/>
                <a:cs typeface="Calibri" pitchFamily="34" charset="-120"/>
              </a:rPr>
              <a:t>Produits détruits par précaution sanitaire ; départs de feu signalés sur certains équipements.</a:t>
            </a:r>
            <a:endParaRPr lang="en-US" sz="1550" dirty="0"/>
          </a:p>
        </p:txBody>
      </p:sp>
      <p:sp>
        <p:nvSpPr>
          <p:cNvPr id="24" name="Text 21"/>
          <p:cNvSpPr txBox="1"/>
          <p:nvPr/>
        </p:nvSpPr>
        <p:spPr>
          <a:xfrm>
            <a:off x="640080" y="5111496"/>
            <a:ext cx="1828800" cy="594360"/>
          </a:xfrm>
          <a:prstGeom prst="rect">
            <a:avLst/>
          </a:prstGeom>
          <a:noFill/>
          <a:ln/>
        </p:spPr>
        <p:txBody>
          <a:bodyPr wrap="square" lIns="0" tIns="0" rIns="0" bIns="0" rtlCol="0" anchor="ctr"/>
          <a:lstStyle/>
          <a:p>
            <a:pPr marL="0" indent="0">
              <a:buNone/>
            </a:pPr>
            <a:r>
              <a:rPr lang="en-US" sz="1600" b="1" dirty="0">
                <a:solidFill>
                  <a:srgbClr val="E8590C"/>
                </a:solidFill>
                <a:latin typeface="Arial" pitchFamily="34" charset="0"/>
                <a:ea typeface="Arial" pitchFamily="34" charset="-122"/>
                <a:cs typeface="Arial" pitchFamily="34" charset="-120"/>
              </a:rPr>
              <a:t>Mobile</a:t>
            </a:r>
            <a:endParaRPr lang="en-US" sz="1600" dirty="0"/>
          </a:p>
        </p:txBody>
      </p:sp>
      <p:sp>
        <p:nvSpPr>
          <p:cNvPr id="25" name="Text 22"/>
          <p:cNvSpPr txBox="1"/>
          <p:nvPr/>
        </p:nvSpPr>
        <p:spPr>
          <a:xfrm>
            <a:off x="2468880" y="5111496"/>
            <a:ext cx="9052560" cy="594360"/>
          </a:xfrm>
          <a:prstGeom prst="rect">
            <a:avLst/>
          </a:prstGeom>
          <a:noFill/>
          <a:ln/>
        </p:spPr>
        <p:txBody>
          <a:bodyPr wrap="square" lIns="0" tIns="0" rIns="0" bIns="0" rtlCol="0" anchor="ctr"/>
          <a:lstStyle/>
          <a:p>
            <a:pPr marL="0" indent="0">
              <a:buNone/>
            </a:pPr>
            <a:r>
              <a:rPr lang="en-US" sz="1550" dirty="0">
                <a:solidFill>
                  <a:srgbClr val="16181D"/>
                </a:solidFill>
                <a:latin typeface="Calibri" pitchFamily="34" charset="0"/>
                <a:ea typeface="Calibri" pitchFamily="34" charset="-122"/>
                <a:cs typeface="Calibri" pitchFamily="34" charset="-120"/>
              </a:rPr>
              <a:t>Aucune rançon, aucune revendication à ce jour.</a:t>
            </a:r>
            <a:endParaRPr lang="en-US" sz="1550" dirty="0"/>
          </a:p>
        </p:txBody>
      </p:sp>
      <p:sp>
        <p:nvSpPr>
          <p:cNvPr id="26" name="Text 23"/>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franceinfo, CBS News (12/10/2026), SecurityWeek ; parquet de Paris. Chiffres arrondis : ils ont évolué au fil des jours.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COMPRENDRE LE SYSTÈME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Comment on pilote le froid d'un supermarché</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640080" y="2103120"/>
            <a:ext cx="2011680" cy="1188720"/>
          </a:xfrm>
          <a:prstGeom prst="roundRect">
            <a:avLst>
              <a:gd name="adj" fmla="val 6154"/>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777240" y="2103120"/>
            <a:ext cx="1737360" cy="1188720"/>
          </a:xfrm>
          <a:prstGeom prst="rect">
            <a:avLst/>
          </a:prstGeom>
          <a:noFill/>
          <a:ln/>
        </p:spPr>
        <p:txBody>
          <a:bodyPr wrap="square" lIns="0" tIns="0" rIns="0" bIns="0" rtlCol="0" anchor="ctr"/>
          <a:lstStyle/>
          <a:p>
            <a:pPr marL="0" indent="0" algn="ctr">
              <a:buNone/>
            </a:pPr>
            <a:r>
              <a:rPr lang="en-US" sz="1600" b="1" dirty="0">
                <a:solidFill>
                  <a:srgbClr val="16181D"/>
                </a:solidFill>
                <a:latin typeface="Calibri" pitchFamily="34" charset="0"/>
                <a:ea typeface="Calibri" pitchFamily="34" charset="-122"/>
                <a:cs typeface="Calibri" pitchFamily="34" charset="-120"/>
              </a:rPr>
              <a:t>Frigoriste</a:t>
            </a:r>
            <a:endParaRPr lang="en-US" sz="1600" dirty="0"/>
          </a:p>
          <a:p>
            <a:pPr marL="0" indent="0" algn="ctr">
              <a:buNone/>
            </a:pPr>
            <a:r>
              <a:rPr lang="en-US" sz="1300" dirty="0">
                <a:solidFill>
                  <a:srgbClr val="5F6670"/>
                </a:solidFill>
                <a:latin typeface="Calibri" pitchFamily="34" charset="0"/>
                <a:ea typeface="Calibri" pitchFamily="34" charset="-122"/>
                <a:cs typeface="Calibri" pitchFamily="34" charset="-120"/>
              </a:rPr>
              <a:t>maintenance à distance</a:t>
            </a:r>
            <a:endParaRPr lang="en-US" sz="1600" dirty="0"/>
          </a:p>
        </p:txBody>
      </p:sp>
      <p:sp>
        <p:nvSpPr>
          <p:cNvPr id="10" name="Shape 7"/>
          <p:cNvSpPr/>
          <p:nvPr/>
        </p:nvSpPr>
        <p:spPr>
          <a:xfrm>
            <a:off x="640080" y="4023360"/>
            <a:ext cx="2011680" cy="1188720"/>
          </a:xfrm>
          <a:prstGeom prst="roundRect">
            <a:avLst>
              <a:gd name="adj" fmla="val 6154"/>
            </a:avLst>
          </a:prstGeom>
          <a:solidFill>
            <a:srgbClr val="16181D"/>
          </a:solidFill>
          <a:ln w="12700">
            <a:solidFill>
              <a:srgbClr val="16181D"/>
            </a:solidFill>
            <a:prstDash val="solid"/>
          </a:ln>
        </p:spPr>
        <p:txBody>
          <a:bodyPr/>
          <a:lstStyle/>
          <a:p>
            <a:endParaRPr lang="fr-BE"/>
          </a:p>
        </p:txBody>
      </p:sp>
      <p:sp>
        <p:nvSpPr>
          <p:cNvPr id="11" name="Text 8"/>
          <p:cNvSpPr txBox="1"/>
          <p:nvPr/>
        </p:nvSpPr>
        <p:spPr>
          <a:xfrm>
            <a:off x="777240" y="4023360"/>
            <a:ext cx="1737360" cy="11887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Attaquant</a:t>
            </a:r>
            <a:endParaRPr lang="en-US" sz="1600" dirty="0"/>
          </a:p>
          <a:p>
            <a:pPr marL="0" indent="0" algn="ctr">
              <a:buNone/>
            </a:pPr>
            <a:r>
              <a:rPr lang="en-US" sz="1300" dirty="0">
                <a:solidFill>
                  <a:srgbClr val="C9CDD3"/>
                </a:solidFill>
                <a:latin typeface="Calibri" pitchFamily="34" charset="0"/>
                <a:ea typeface="Calibri" pitchFamily="34" charset="-122"/>
                <a:cs typeface="Calibri" pitchFamily="34" charset="-120"/>
              </a:rPr>
              <a:t>n'importe où sur Internet</a:t>
            </a:r>
            <a:endParaRPr lang="en-US" sz="1600" dirty="0"/>
          </a:p>
        </p:txBody>
      </p:sp>
      <p:sp>
        <p:nvSpPr>
          <p:cNvPr id="12" name="Shape 9"/>
          <p:cNvSpPr/>
          <p:nvPr/>
        </p:nvSpPr>
        <p:spPr>
          <a:xfrm>
            <a:off x="3383280" y="3063240"/>
            <a:ext cx="1828800" cy="1188720"/>
          </a:xfrm>
          <a:prstGeom prst="roundRect">
            <a:avLst>
              <a:gd name="adj" fmla="val 6154"/>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3520440" y="3063240"/>
            <a:ext cx="1554480" cy="1188720"/>
          </a:xfrm>
          <a:prstGeom prst="rect">
            <a:avLst/>
          </a:prstGeom>
          <a:noFill/>
          <a:ln/>
        </p:spPr>
        <p:txBody>
          <a:bodyPr wrap="square" lIns="0" tIns="0" rIns="0" bIns="0" rtlCol="0" anchor="ctr"/>
          <a:lstStyle/>
          <a:p>
            <a:pPr marL="0" indent="0" algn="ctr">
              <a:buNone/>
            </a:pPr>
            <a:r>
              <a:rPr lang="en-US" sz="1600" b="1" dirty="0">
                <a:solidFill>
                  <a:srgbClr val="16181D"/>
                </a:solidFill>
                <a:latin typeface="Calibri" pitchFamily="34" charset="0"/>
                <a:ea typeface="Calibri" pitchFamily="34" charset="-122"/>
                <a:cs typeface="Calibri" pitchFamily="34" charset="-120"/>
              </a:rPr>
              <a:t>Internet</a:t>
            </a:r>
            <a:endParaRPr lang="en-US" sz="1600" dirty="0"/>
          </a:p>
          <a:p>
            <a:pPr marL="0" indent="0" algn="ctr">
              <a:buNone/>
            </a:pPr>
            <a:endParaRPr lang="en-US" sz="1600" dirty="0"/>
          </a:p>
        </p:txBody>
      </p:sp>
      <p:sp>
        <p:nvSpPr>
          <p:cNvPr id="14" name="Shape 11"/>
          <p:cNvSpPr/>
          <p:nvPr/>
        </p:nvSpPr>
        <p:spPr>
          <a:xfrm>
            <a:off x="5943600" y="2743200"/>
            <a:ext cx="2377440" cy="1828800"/>
          </a:xfrm>
          <a:prstGeom prst="roundRect">
            <a:avLst>
              <a:gd name="adj" fmla="val 4000"/>
            </a:avLst>
          </a:prstGeom>
          <a:solidFill>
            <a:srgbClr val="16181D"/>
          </a:solidFill>
          <a:ln w="12700">
            <a:solidFill>
              <a:srgbClr val="16181D"/>
            </a:solidFill>
            <a:prstDash val="solid"/>
          </a:ln>
        </p:spPr>
        <p:txBody>
          <a:bodyPr/>
          <a:lstStyle/>
          <a:p>
            <a:endParaRPr lang="fr-BE"/>
          </a:p>
        </p:txBody>
      </p:sp>
      <p:sp>
        <p:nvSpPr>
          <p:cNvPr id="15" name="Text 12"/>
          <p:cNvSpPr txBox="1"/>
          <p:nvPr/>
        </p:nvSpPr>
        <p:spPr>
          <a:xfrm>
            <a:off x="6080760" y="2743200"/>
            <a:ext cx="2103120" cy="1828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System Manager</a:t>
            </a:r>
            <a:endParaRPr lang="en-US" sz="1600" dirty="0"/>
          </a:p>
          <a:p>
            <a:pPr marL="0" indent="0" algn="ctr">
              <a:buNone/>
            </a:pPr>
            <a:r>
              <a:rPr lang="en-US" sz="1300" dirty="0">
                <a:solidFill>
                  <a:srgbClr val="C9CDD3"/>
                </a:solidFill>
                <a:latin typeface="Calibri" pitchFamily="34" charset="0"/>
                <a:ea typeface="Calibri" pitchFamily="34" charset="-122"/>
                <a:cs typeface="Calibri" pitchFamily="34" charset="-120"/>
              </a:rPr>
              <a:t>contrôleur central · interface web</a:t>
            </a:r>
            <a:endParaRPr lang="en-US" sz="1600" dirty="0"/>
          </a:p>
        </p:txBody>
      </p:sp>
      <p:sp>
        <p:nvSpPr>
          <p:cNvPr id="16" name="Shape 13"/>
          <p:cNvSpPr/>
          <p:nvPr/>
        </p:nvSpPr>
        <p:spPr>
          <a:xfrm>
            <a:off x="9052560" y="1920240"/>
            <a:ext cx="2468880" cy="914400"/>
          </a:xfrm>
          <a:prstGeom prst="roundRect">
            <a:avLst>
              <a:gd name="adj" fmla="val 8000"/>
            </a:avLst>
          </a:prstGeom>
          <a:solidFill>
            <a:srgbClr val="F2F3F5"/>
          </a:solidFill>
          <a:ln w="12700">
            <a:solidFill>
              <a:srgbClr val="F2F3F5"/>
            </a:solidFill>
            <a:prstDash val="solid"/>
          </a:ln>
        </p:spPr>
        <p:txBody>
          <a:bodyPr/>
          <a:lstStyle/>
          <a:p>
            <a:endParaRPr lang="fr-BE"/>
          </a:p>
        </p:txBody>
      </p:sp>
      <p:sp>
        <p:nvSpPr>
          <p:cNvPr id="17" name="Text 14"/>
          <p:cNvSpPr txBox="1"/>
          <p:nvPr/>
        </p:nvSpPr>
        <p:spPr>
          <a:xfrm>
            <a:off x="9189720" y="1920240"/>
            <a:ext cx="2194560" cy="914400"/>
          </a:xfrm>
          <a:prstGeom prst="rect">
            <a:avLst/>
          </a:prstGeom>
          <a:noFill/>
          <a:ln/>
        </p:spPr>
        <p:txBody>
          <a:bodyPr wrap="square" lIns="0" tIns="0" rIns="0" bIns="0" rtlCol="0" anchor="ctr"/>
          <a:lstStyle/>
          <a:p>
            <a:pPr marL="0" indent="0" algn="ctr">
              <a:buNone/>
            </a:pPr>
            <a:r>
              <a:rPr lang="en-US" sz="1600" b="1" dirty="0">
                <a:solidFill>
                  <a:srgbClr val="16181D"/>
                </a:solidFill>
                <a:latin typeface="Calibri" pitchFamily="34" charset="0"/>
                <a:ea typeface="Calibri" pitchFamily="34" charset="-122"/>
                <a:cs typeface="Calibri" pitchFamily="34" charset="-120"/>
              </a:rPr>
              <a:t>Meubles froids</a:t>
            </a:r>
            <a:endParaRPr lang="en-US" sz="1600" dirty="0"/>
          </a:p>
          <a:p>
            <a:pPr marL="0" indent="0" algn="ctr">
              <a:buNone/>
            </a:pPr>
            <a:r>
              <a:rPr lang="en-US" sz="1300" dirty="0">
                <a:solidFill>
                  <a:srgbClr val="5F6670"/>
                </a:solidFill>
                <a:latin typeface="Calibri" pitchFamily="34" charset="0"/>
                <a:ea typeface="Calibri" pitchFamily="34" charset="-122"/>
                <a:cs typeface="Calibri" pitchFamily="34" charset="-120"/>
              </a:rPr>
              <a:t>contrôleurs de vitrine</a:t>
            </a:r>
            <a:endParaRPr lang="en-US" sz="1600" dirty="0"/>
          </a:p>
        </p:txBody>
      </p:sp>
      <p:sp>
        <p:nvSpPr>
          <p:cNvPr id="18" name="Shape 15"/>
          <p:cNvSpPr/>
          <p:nvPr/>
        </p:nvSpPr>
        <p:spPr>
          <a:xfrm>
            <a:off x="9052560" y="3200400"/>
            <a:ext cx="2468880" cy="914400"/>
          </a:xfrm>
          <a:prstGeom prst="roundRect">
            <a:avLst>
              <a:gd name="adj" fmla="val 8000"/>
            </a:avLst>
          </a:prstGeom>
          <a:solidFill>
            <a:srgbClr val="F2F3F5"/>
          </a:solidFill>
          <a:ln w="12700">
            <a:solidFill>
              <a:srgbClr val="F2F3F5"/>
            </a:solidFill>
            <a:prstDash val="solid"/>
          </a:ln>
        </p:spPr>
        <p:txBody>
          <a:bodyPr/>
          <a:lstStyle/>
          <a:p>
            <a:endParaRPr lang="fr-BE"/>
          </a:p>
        </p:txBody>
      </p:sp>
      <p:sp>
        <p:nvSpPr>
          <p:cNvPr id="19" name="Text 16"/>
          <p:cNvSpPr txBox="1"/>
          <p:nvPr/>
        </p:nvSpPr>
        <p:spPr>
          <a:xfrm>
            <a:off x="9189720" y="3200400"/>
            <a:ext cx="2194560" cy="914400"/>
          </a:xfrm>
          <a:prstGeom prst="rect">
            <a:avLst/>
          </a:prstGeom>
          <a:noFill/>
          <a:ln/>
        </p:spPr>
        <p:txBody>
          <a:bodyPr wrap="square" lIns="0" tIns="0" rIns="0" bIns="0" rtlCol="0" anchor="ctr"/>
          <a:lstStyle/>
          <a:p>
            <a:pPr marL="0" indent="0" algn="ctr">
              <a:buNone/>
            </a:pPr>
            <a:r>
              <a:rPr lang="en-US" sz="1600" b="1" dirty="0">
                <a:solidFill>
                  <a:srgbClr val="16181D"/>
                </a:solidFill>
                <a:latin typeface="Calibri" pitchFamily="34" charset="0"/>
                <a:ea typeface="Calibri" pitchFamily="34" charset="-122"/>
                <a:cs typeface="Calibri" pitchFamily="34" charset="-120"/>
              </a:rPr>
              <a:t>Chambres froides</a:t>
            </a:r>
            <a:endParaRPr lang="en-US" sz="1600" dirty="0"/>
          </a:p>
          <a:p>
            <a:pPr marL="0" indent="0" algn="ctr">
              <a:buNone/>
            </a:pPr>
            <a:endParaRPr lang="en-US" sz="1600" dirty="0"/>
          </a:p>
        </p:txBody>
      </p:sp>
      <p:sp>
        <p:nvSpPr>
          <p:cNvPr id="20" name="Shape 17"/>
          <p:cNvSpPr/>
          <p:nvPr/>
        </p:nvSpPr>
        <p:spPr>
          <a:xfrm>
            <a:off x="9052560" y="4480560"/>
            <a:ext cx="2468880" cy="914400"/>
          </a:xfrm>
          <a:prstGeom prst="roundRect">
            <a:avLst>
              <a:gd name="adj" fmla="val 8000"/>
            </a:avLst>
          </a:prstGeom>
          <a:solidFill>
            <a:srgbClr val="F2F3F5"/>
          </a:solidFill>
          <a:ln w="12700">
            <a:solidFill>
              <a:srgbClr val="F2F3F5"/>
            </a:solidFill>
            <a:prstDash val="solid"/>
          </a:ln>
        </p:spPr>
        <p:txBody>
          <a:bodyPr/>
          <a:lstStyle/>
          <a:p>
            <a:endParaRPr lang="fr-BE"/>
          </a:p>
        </p:txBody>
      </p:sp>
      <p:sp>
        <p:nvSpPr>
          <p:cNvPr id="21" name="Text 18"/>
          <p:cNvSpPr txBox="1"/>
          <p:nvPr/>
        </p:nvSpPr>
        <p:spPr>
          <a:xfrm>
            <a:off x="9189720" y="4480560"/>
            <a:ext cx="2194560" cy="914400"/>
          </a:xfrm>
          <a:prstGeom prst="rect">
            <a:avLst/>
          </a:prstGeom>
          <a:noFill/>
          <a:ln/>
        </p:spPr>
        <p:txBody>
          <a:bodyPr wrap="square" lIns="0" tIns="0" rIns="0" bIns="0" rtlCol="0" anchor="ctr"/>
          <a:lstStyle/>
          <a:p>
            <a:pPr marL="0" indent="0" algn="ctr">
              <a:buNone/>
            </a:pPr>
            <a:r>
              <a:rPr lang="en-US" sz="1600" b="1" dirty="0">
                <a:solidFill>
                  <a:srgbClr val="16181D"/>
                </a:solidFill>
                <a:latin typeface="Calibri" pitchFamily="34" charset="0"/>
                <a:ea typeface="Calibri" pitchFamily="34" charset="-122"/>
                <a:cs typeface="Calibri" pitchFamily="34" charset="-120"/>
              </a:rPr>
              <a:t>Alarmes</a:t>
            </a:r>
            <a:endParaRPr lang="en-US" sz="1600" dirty="0"/>
          </a:p>
          <a:p>
            <a:pPr marL="0" indent="0" algn="ctr">
              <a:buNone/>
            </a:pPr>
            <a:r>
              <a:rPr lang="en-US" sz="1300" dirty="0">
                <a:solidFill>
                  <a:srgbClr val="5F6670"/>
                </a:solidFill>
                <a:latin typeface="Calibri" pitchFamily="34" charset="0"/>
                <a:ea typeface="Calibri" pitchFamily="34" charset="-122"/>
                <a:cs typeface="Calibri" pitchFamily="34" charset="-120"/>
              </a:rPr>
              <a:t>SMS, e-mail</a:t>
            </a:r>
            <a:endParaRPr lang="en-US" sz="1600" dirty="0"/>
          </a:p>
        </p:txBody>
      </p:sp>
      <p:sp>
        <p:nvSpPr>
          <p:cNvPr id="22" name="Shape 19"/>
          <p:cNvSpPr/>
          <p:nvPr/>
        </p:nvSpPr>
        <p:spPr>
          <a:xfrm>
            <a:off x="2651760" y="2697480"/>
            <a:ext cx="731520" cy="685800"/>
          </a:xfrm>
          <a:prstGeom prst="line">
            <a:avLst/>
          </a:prstGeom>
          <a:noFill/>
          <a:ln w="19050">
            <a:solidFill>
              <a:srgbClr val="16181D"/>
            </a:solidFill>
            <a:prstDash val="solid"/>
            <a:tailEnd type="triangle"/>
          </a:ln>
        </p:spPr>
        <p:txBody>
          <a:bodyPr/>
          <a:lstStyle/>
          <a:p>
            <a:endParaRPr lang="fr-BE"/>
          </a:p>
        </p:txBody>
      </p:sp>
      <p:sp>
        <p:nvSpPr>
          <p:cNvPr id="23" name="Shape 20"/>
          <p:cNvSpPr/>
          <p:nvPr/>
        </p:nvSpPr>
        <p:spPr>
          <a:xfrm flipV="1">
            <a:off x="2651760" y="3931920"/>
            <a:ext cx="731520" cy="685800"/>
          </a:xfrm>
          <a:prstGeom prst="line">
            <a:avLst/>
          </a:prstGeom>
          <a:noFill/>
          <a:ln w="31750">
            <a:solidFill>
              <a:srgbClr val="C92A2A"/>
            </a:solidFill>
            <a:prstDash val="dash"/>
            <a:tailEnd type="triangle"/>
          </a:ln>
        </p:spPr>
        <p:txBody>
          <a:bodyPr/>
          <a:lstStyle/>
          <a:p>
            <a:endParaRPr lang="fr-BE"/>
          </a:p>
        </p:txBody>
      </p:sp>
      <p:sp>
        <p:nvSpPr>
          <p:cNvPr id="24" name="Shape 21"/>
          <p:cNvSpPr/>
          <p:nvPr/>
        </p:nvSpPr>
        <p:spPr>
          <a:xfrm>
            <a:off x="5212080" y="3657600"/>
            <a:ext cx="731520" cy="0"/>
          </a:xfrm>
          <a:prstGeom prst="line">
            <a:avLst/>
          </a:prstGeom>
          <a:noFill/>
          <a:ln w="19050">
            <a:solidFill>
              <a:srgbClr val="16181D"/>
            </a:solidFill>
            <a:prstDash val="solid"/>
            <a:tailEnd type="triangle"/>
          </a:ln>
        </p:spPr>
        <p:txBody>
          <a:bodyPr/>
          <a:lstStyle/>
          <a:p>
            <a:endParaRPr lang="fr-BE"/>
          </a:p>
        </p:txBody>
      </p:sp>
      <p:sp>
        <p:nvSpPr>
          <p:cNvPr id="25" name="Shape 22"/>
          <p:cNvSpPr/>
          <p:nvPr/>
        </p:nvSpPr>
        <p:spPr>
          <a:xfrm flipV="1">
            <a:off x="8321040" y="2377440"/>
            <a:ext cx="731520" cy="914400"/>
          </a:xfrm>
          <a:prstGeom prst="line">
            <a:avLst/>
          </a:prstGeom>
          <a:noFill/>
          <a:ln w="19050">
            <a:solidFill>
              <a:srgbClr val="16181D"/>
            </a:solidFill>
            <a:prstDash val="solid"/>
            <a:tailEnd type="triangle"/>
          </a:ln>
        </p:spPr>
        <p:txBody>
          <a:bodyPr/>
          <a:lstStyle/>
          <a:p>
            <a:endParaRPr lang="fr-BE"/>
          </a:p>
        </p:txBody>
      </p:sp>
      <p:sp>
        <p:nvSpPr>
          <p:cNvPr id="26" name="Shape 23"/>
          <p:cNvSpPr/>
          <p:nvPr/>
        </p:nvSpPr>
        <p:spPr>
          <a:xfrm>
            <a:off x="8321040" y="3657600"/>
            <a:ext cx="731520" cy="0"/>
          </a:xfrm>
          <a:prstGeom prst="line">
            <a:avLst/>
          </a:prstGeom>
          <a:noFill/>
          <a:ln w="19050">
            <a:solidFill>
              <a:srgbClr val="16181D"/>
            </a:solidFill>
            <a:prstDash val="solid"/>
            <a:tailEnd type="triangle"/>
          </a:ln>
        </p:spPr>
        <p:txBody>
          <a:bodyPr/>
          <a:lstStyle/>
          <a:p>
            <a:endParaRPr lang="fr-BE"/>
          </a:p>
        </p:txBody>
      </p:sp>
      <p:sp>
        <p:nvSpPr>
          <p:cNvPr id="27" name="Shape 24"/>
          <p:cNvSpPr/>
          <p:nvPr/>
        </p:nvSpPr>
        <p:spPr>
          <a:xfrm>
            <a:off x="8321040" y="4023360"/>
            <a:ext cx="731520" cy="914400"/>
          </a:xfrm>
          <a:prstGeom prst="line">
            <a:avLst/>
          </a:prstGeom>
          <a:noFill/>
          <a:ln w="19050">
            <a:solidFill>
              <a:srgbClr val="16181D"/>
            </a:solidFill>
            <a:prstDash val="solid"/>
            <a:tailEnd type="triangle"/>
          </a:ln>
        </p:spPr>
        <p:txBody>
          <a:bodyPr/>
          <a:lstStyle/>
          <a:p>
            <a:endParaRPr lang="fr-BE"/>
          </a:p>
        </p:txBody>
      </p:sp>
      <p:sp>
        <p:nvSpPr>
          <p:cNvPr id="28" name="Text 25"/>
          <p:cNvSpPr txBox="1"/>
          <p:nvPr/>
        </p:nvSpPr>
        <p:spPr>
          <a:xfrm>
            <a:off x="640080" y="5623560"/>
            <a:ext cx="10911535" cy="365760"/>
          </a:xfrm>
          <a:prstGeom prst="rect">
            <a:avLst/>
          </a:prstGeom>
          <a:noFill/>
          <a:ln/>
        </p:spPr>
        <p:txBody>
          <a:bodyPr wrap="square" lIns="0" tIns="0" rIns="0" bIns="0" rtlCol="0" anchor="ctr"/>
          <a:lstStyle/>
          <a:p>
            <a:pPr marL="0" indent="0">
              <a:buNone/>
            </a:pPr>
            <a:r>
              <a:rPr lang="en-US" sz="1600" b="1" dirty="0">
                <a:solidFill>
                  <a:srgbClr val="C92A2A"/>
                </a:solidFill>
                <a:latin typeface="Calibri" pitchFamily="34" charset="0"/>
                <a:ea typeface="Calibri" pitchFamily="34" charset="-122"/>
                <a:cs typeface="Calibri" pitchFamily="34" charset="-120"/>
              </a:rPr>
              <a:t>Le point faible : l'interface web du contrôleur central, joignable directement depuis Internet.</a:t>
            </a:r>
            <a:endParaRPr lang="en-US" sz="1600" dirty="0"/>
          </a:p>
        </p:txBody>
      </p:sp>
      <p:pic>
        <p:nvPicPr>
          <p:cNvPr id="29" name="Image 28">
            <a:extLst>
              <a:ext uri="{FF2B5EF4-FFF2-40B4-BE49-F238E27FC236}">
                <a16:creationId xmlns:a16="http://schemas.microsoft.com/office/drawing/2014/main" id="{A404B71A-367C-E2E3-9BA3-AECB00F62C47}"/>
              </a:ext>
            </a:extLst>
          </p:cNvPr>
          <p:cNvPicPr>
            <a:picLocks noChangeAspect="1"/>
          </p:cNvPicPr>
          <p:nvPr/>
        </p:nvPicPr>
        <p:blipFill>
          <a:blip r:embed="rId3"/>
          <a:stretch>
            <a:fillRect/>
          </a:stretch>
        </p:blipFill>
        <p:spPr>
          <a:xfrm>
            <a:off x="6458444" y="1356230"/>
            <a:ext cx="1347753" cy="13183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L'ANATOMIE DE L'ATTAQUE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Cinq étapes, sans outil sophistiqué</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676656" y="1828800"/>
            <a:ext cx="2109155" cy="3566160"/>
          </a:xfrm>
          <a:prstGeom prst="roundRect">
            <a:avLst>
              <a:gd name="adj" fmla="val 3468"/>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868680" y="1965960"/>
            <a:ext cx="914400" cy="640080"/>
          </a:xfrm>
          <a:prstGeom prst="rect">
            <a:avLst/>
          </a:prstGeom>
          <a:noFill/>
          <a:ln/>
        </p:spPr>
        <p:txBody>
          <a:bodyPr wrap="square" lIns="0" tIns="0" rIns="0" bIns="0" rtlCol="0" anchor="ctr"/>
          <a:lstStyle/>
          <a:p>
            <a:pPr marL="0" indent="0">
              <a:buNone/>
            </a:pPr>
            <a:r>
              <a:rPr lang="en-US" sz="3400" b="1" dirty="0">
                <a:solidFill>
                  <a:srgbClr val="E8590C"/>
                </a:solidFill>
                <a:latin typeface="Arial" pitchFamily="34" charset="0"/>
                <a:ea typeface="Arial" pitchFamily="34" charset="-122"/>
                <a:cs typeface="Arial" pitchFamily="34" charset="-120"/>
              </a:rPr>
              <a:t>1</a:t>
            </a:r>
            <a:endParaRPr lang="en-US" sz="3400" dirty="0"/>
          </a:p>
        </p:txBody>
      </p:sp>
      <p:sp>
        <p:nvSpPr>
          <p:cNvPr id="10" name="Text 7"/>
          <p:cNvSpPr txBox="1"/>
          <p:nvPr/>
        </p:nvSpPr>
        <p:spPr>
          <a:xfrm>
            <a:off x="868680" y="2651760"/>
            <a:ext cx="1770827"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Trouver</a:t>
            </a:r>
            <a:endParaRPr lang="en-US" sz="1800" dirty="0"/>
          </a:p>
        </p:txBody>
      </p:sp>
      <p:sp>
        <p:nvSpPr>
          <p:cNvPr id="11" name="Text 8"/>
          <p:cNvSpPr txBox="1"/>
          <p:nvPr/>
        </p:nvSpPr>
        <p:spPr>
          <a:xfrm>
            <a:off x="868680" y="3154680"/>
            <a:ext cx="1770827" cy="164592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Rechercher les interfaces exposées (Shodan, Censys)</a:t>
            </a:r>
            <a:endParaRPr lang="en-US" sz="1400" dirty="0"/>
          </a:p>
        </p:txBody>
      </p:sp>
      <p:sp>
        <p:nvSpPr>
          <p:cNvPr id="12" name="Text 9"/>
          <p:cNvSpPr txBox="1"/>
          <p:nvPr/>
        </p:nvSpPr>
        <p:spPr>
          <a:xfrm>
            <a:off x="868680" y="4892040"/>
            <a:ext cx="1770827" cy="365760"/>
          </a:xfrm>
          <a:prstGeom prst="rect">
            <a:avLst/>
          </a:prstGeom>
          <a:noFill/>
          <a:ln/>
        </p:spPr>
        <p:txBody>
          <a:bodyPr wrap="square" lIns="0" tIns="0" rIns="0" bIns="0" rtlCol="0" anchor="ctr"/>
          <a:lstStyle/>
          <a:p>
            <a:pPr marL="0" indent="0">
              <a:buNone/>
            </a:pPr>
            <a:r>
              <a:rPr lang="en-US" sz="1200" b="1" dirty="0">
                <a:solidFill>
                  <a:srgbClr val="E8590C"/>
                </a:solidFill>
                <a:latin typeface="Consolas" pitchFamily="34" charset="0"/>
                <a:ea typeface="Consolas" pitchFamily="34" charset="-122"/>
                <a:cs typeface="Consolas" pitchFamily="34" charset="-120"/>
              </a:rPr>
              <a:t>T0846</a:t>
            </a:r>
            <a:endParaRPr lang="en-US" sz="1200" dirty="0"/>
          </a:p>
        </p:txBody>
      </p:sp>
      <p:sp>
        <p:nvSpPr>
          <p:cNvPr id="13" name="Shape 10"/>
          <p:cNvSpPr/>
          <p:nvPr/>
        </p:nvSpPr>
        <p:spPr>
          <a:xfrm>
            <a:off x="2858963" y="1828800"/>
            <a:ext cx="2109155" cy="3566160"/>
          </a:xfrm>
          <a:prstGeom prst="roundRect">
            <a:avLst>
              <a:gd name="adj" fmla="val 3468"/>
            </a:avLst>
          </a:prstGeom>
          <a:solidFill>
            <a:srgbClr val="F2F3F5"/>
          </a:solidFill>
          <a:ln w="12700">
            <a:solidFill>
              <a:srgbClr val="F2F3F5"/>
            </a:solidFill>
            <a:prstDash val="solid"/>
          </a:ln>
        </p:spPr>
        <p:txBody>
          <a:bodyPr/>
          <a:lstStyle/>
          <a:p>
            <a:endParaRPr lang="fr-BE"/>
          </a:p>
        </p:txBody>
      </p:sp>
      <p:sp>
        <p:nvSpPr>
          <p:cNvPr id="14" name="Text 11"/>
          <p:cNvSpPr txBox="1"/>
          <p:nvPr/>
        </p:nvSpPr>
        <p:spPr>
          <a:xfrm>
            <a:off x="3050987" y="1965960"/>
            <a:ext cx="914400" cy="640080"/>
          </a:xfrm>
          <a:prstGeom prst="rect">
            <a:avLst/>
          </a:prstGeom>
          <a:noFill/>
          <a:ln/>
        </p:spPr>
        <p:txBody>
          <a:bodyPr wrap="square" lIns="0" tIns="0" rIns="0" bIns="0" rtlCol="0" anchor="ctr"/>
          <a:lstStyle/>
          <a:p>
            <a:pPr marL="0" indent="0">
              <a:buNone/>
            </a:pPr>
            <a:r>
              <a:rPr lang="en-US" sz="3400" b="1" dirty="0">
                <a:solidFill>
                  <a:srgbClr val="E8590C"/>
                </a:solidFill>
                <a:latin typeface="Arial" pitchFamily="34" charset="0"/>
                <a:ea typeface="Arial" pitchFamily="34" charset="-122"/>
                <a:cs typeface="Arial" pitchFamily="34" charset="-120"/>
              </a:rPr>
              <a:t>2</a:t>
            </a:r>
            <a:endParaRPr lang="en-US" sz="3400" dirty="0"/>
          </a:p>
        </p:txBody>
      </p:sp>
      <p:sp>
        <p:nvSpPr>
          <p:cNvPr id="15" name="Text 12"/>
          <p:cNvSpPr txBox="1"/>
          <p:nvPr/>
        </p:nvSpPr>
        <p:spPr>
          <a:xfrm>
            <a:off x="3050987" y="2651760"/>
            <a:ext cx="1770827"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Entrer</a:t>
            </a:r>
            <a:endParaRPr lang="en-US" sz="1800" dirty="0"/>
          </a:p>
        </p:txBody>
      </p:sp>
      <p:sp>
        <p:nvSpPr>
          <p:cNvPr id="16" name="Text 13"/>
          <p:cNvSpPr txBox="1"/>
          <p:nvPr/>
        </p:nvSpPr>
        <p:spPr>
          <a:xfrm>
            <a:off x="3050987" y="3154680"/>
            <a:ext cx="1770827" cy="164592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Se connecter à l'interface web joignable depuis Internet</a:t>
            </a:r>
            <a:endParaRPr lang="en-US" sz="1400" dirty="0"/>
          </a:p>
        </p:txBody>
      </p:sp>
      <p:sp>
        <p:nvSpPr>
          <p:cNvPr id="17" name="Text 14"/>
          <p:cNvSpPr txBox="1"/>
          <p:nvPr/>
        </p:nvSpPr>
        <p:spPr>
          <a:xfrm>
            <a:off x="3050987" y="4892040"/>
            <a:ext cx="1770827" cy="365760"/>
          </a:xfrm>
          <a:prstGeom prst="rect">
            <a:avLst/>
          </a:prstGeom>
          <a:noFill/>
          <a:ln/>
        </p:spPr>
        <p:txBody>
          <a:bodyPr wrap="square" lIns="0" tIns="0" rIns="0" bIns="0" rtlCol="0" anchor="ctr"/>
          <a:lstStyle/>
          <a:p>
            <a:pPr marL="0" indent="0">
              <a:buNone/>
            </a:pPr>
            <a:r>
              <a:rPr lang="en-US" sz="1200" b="1" dirty="0">
                <a:solidFill>
                  <a:srgbClr val="E8590C"/>
                </a:solidFill>
                <a:latin typeface="Consolas" pitchFamily="34" charset="0"/>
                <a:ea typeface="Consolas" pitchFamily="34" charset="-122"/>
                <a:cs typeface="Consolas" pitchFamily="34" charset="-120"/>
              </a:rPr>
              <a:t>T0883 · T0866</a:t>
            </a:r>
            <a:endParaRPr lang="en-US" sz="1200" dirty="0"/>
          </a:p>
        </p:txBody>
      </p:sp>
      <p:sp>
        <p:nvSpPr>
          <p:cNvPr id="18" name="Shape 15"/>
          <p:cNvSpPr/>
          <p:nvPr/>
        </p:nvSpPr>
        <p:spPr>
          <a:xfrm>
            <a:off x="5041270" y="1828800"/>
            <a:ext cx="2109155" cy="3566160"/>
          </a:xfrm>
          <a:prstGeom prst="roundRect">
            <a:avLst>
              <a:gd name="adj" fmla="val 3468"/>
            </a:avLst>
          </a:prstGeom>
          <a:solidFill>
            <a:srgbClr val="16181D"/>
          </a:solidFill>
          <a:ln w="12700">
            <a:solidFill>
              <a:srgbClr val="16181D"/>
            </a:solidFill>
            <a:prstDash val="solid"/>
          </a:ln>
        </p:spPr>
        <p:txBody>
          <a:bodyPr/>
          <a:lstStyle/>
          <a:p>
            <a:endParaRPr lang="fr-BE"/>
          </a:p>
        </p:txBody>
      </p:sp>
      <p:sp>
        <p:nvSpPr>
          <p:cNvPr id="19" name="Text 16"/>
          <p:cNvSpPr txBox="1"/>
          <p:nvPr/>
        </p:nvSpPr>
        <p:spPr>
          <a:xfrm>
            <a:off x="5233294" y="1965960"/>
            <a:ext cx="914400" cy="640080"/>
          </a:xfrm>
          <a:prstGeom prst="rect">
            <a:avLst/>
          </a:prstGeom>
          <a:noFill/>
          <a:ln/>
        </p:spPr>
        <p:txBody>
          <a:bodyPr wrap="square" lIns="0" tIns="0" rIns="0" bIns="0" rtlCol="0" anchor="ctr"/>
          <a:lstStyle/>
          <a:p>
            <a:pPr marL="0" indent="0">
              <a:buNone/>
            </a:pPr>
            <a:r>
              <a:rPr lang="en-US" sz="3400" b="1" dirty="0">
                <a:solidFill>
                  <a:srgbClr val="E8590C"/>
                </a:solidFill>
                <a:latin typeface="Arial" pitchFamily="34" charset="0"/>
                <a:ea typeface="Arial" pitchFamily="34" charset="-122"/>
                <a:cs typeface="Arial" pitchFamily="34" charset="-120"/>
              </a:rPr>
              <a:t>3</a:t>
            </a:r>
            <a:endParaRPr lang="en-US" sz="3400" dirty="0"/>
          </a:p>
        </p:txBody>
      </p:sp>
      <p:sp>
        <p:nvSpPr>
          <p:cNvPr id="20" name="Text 17"/>
          <p:cNvSpPr txBox="1"/>
          <p:nvPr/>
        </p:nvSpPr>
        <p:spPr>
          <a:xfrm>
            <a:off x="5233294" y="2651760"/>
            <a:ext cx="1770827"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S'authentifier</a:t>
            </a:r>
            <a:endParaRPr lang="en-US" sz="1800" dirty="0"/>
          </a:p>
        </p:txBody>
      </p:sp>
      <p:sp>
        <p:nvSpPr>
          <p:cNvPr id="21" name="Text 18"/>
          <p:cNvSpPr txBox="1"/>
          <p:nvPr/>
        </p:nvSpPr>
        <p:spPr>
          <a:xfrm>
            <a:off x="5233294" y="3154680"/>
            <a:ext cx="1770827" cy="1645920"/>
          </a:xfrm>
          <a:prstGeom prst="rect">
            <a:avLst/>
          </a:prstGeom>
          <a:noFill/>
          <a:ln/>
        </p:spPr>
        <p:txBody>
          <a:bodyPr wrap="square" lIns="0" tIns="0" rIns="0" bIns="0" rtlCol="0" anchor="t"/>
          <a:lstStyle/>
          <a:p>
            <a:pPr marL="0" indent="0">
              <a:buNone/>
            </a:pPr>
            <a:r>
              <a:rPr lang="en-US" sz="1400" dirty="0">
                <a:solidFill>
                  <a:srgbClr val="C9CDD3"/>
                </a:solidFill>
                <a:latin typeface="Calibri" pitchFamily="34" charset="0"/>
                <a:ea typeface="Calibri" pitchFamily="34" charset="-122"/>
                <a:cs typeface="Calibri" pitchFamily="34" charset="-120"/>
              </a:rPr>
              <a:t>Mot de passe administrateur dérivé de la date du jour (selon des experts)</a:t>
            </a:r>
            <a:endParaRPr lang="en-US" sz="1400" dirty="0"/>
          </a:p>
        </p:txBody>
      </p:sp>
      <p:sp>
        <p:nvSpPr>
          <p:cNvPr id="22" name="Text 19"/>
          <p:cNvSpPr txBox="1"/>
          <p:nvPr/>
        </p:nvSpPr>
        <p:spPr>
          <a:xfrm>
            <a:off x="5233294" y="4892040"/>
            <a:ext cx="1770827" cy="365760"/>
          </a:xfrm>
          <a:prstGeom prst="rect">
            <a:avLst/>
          </a:prstGeom>
          <a:noFill/>
          <a:ln/>
        </p:spPr>
        <p:txBody>
          <a:bodyPr wrap="square" lIns="0" tIns="0" rIns="0" bIns="0" rtlCol="0" anchor="ctr"/>
          <a:lstStyle/>
          <a:p>
            <a:pPr marL="0" indent="0">
              <a:buNone/>
            </a:pPr>
            <a:r>
              <a:rPr lang="en-US" sz="1200" b="1" dirty="0">
                <a:solidFill>
                  <a:srgbClr val="E8590C"/>
                </a:solidFill>
                <a:latin typeface="Consolas" pitchFamily="34" charset="0"/>
                <a:ea typeface="Consolas" pitchFamily="34" charset="-122"/>
                <a:cs typeface="Consolas" pitchFamily="34" charset="-120"/>
              </a:rPr>
              <a:t>T0812 · T0859</a:t>
            </a:r>
            <a:endParaRPr lang="en-US" sz="1200" dirty="0"/>
          </a:p>
        </p:txBody>
      </p:sp>
      <p:sp>
        <p:nvSpPr>
          <p:cNvPr id="23" name="Shape 20"/>
          <p:cNvSpPr/>
          <p:nvPr/>
        </p:nvSpPr>
        <p:spPr>
          <a:xfrm>
            <a:off x="7223577" y="1828800"/>
            <a:ext cx="2109155" cy="3566160"/>
          </a:xfrm>
          <a:prstGeom prst="roundRect">
            <a:avLst>
              <a:gd name="adj" fmla="val 3468"/>
            </a:avLst>
          </a:prstGeom>
          <a:solidFill>
            <a:srgbClr val="F2F3F5"/>
          </a:solidFill>
          <a:ln w="12700">
            <a:solidFill>
              <a:srgbClr val="F2F3F5"/>
            </a:solidFill>
            <a:prstDash val="solid"/>
          </a:ln>
        </p:spPr>
        <p:txBody>
          <a:bodyPr/>
          <a:lstStyle/>
          <a:p>
            <a:endParaRPr lang="fr-BE"/>
          </a:p>
        </p:txBody>
      </p:sp>
      <p:sp>
        <p:nvSpPr>
          <p:cNvPr id="24" name="Text 21"/>
          <p:cNvSpPr txBox="1"/>
          <p:nvPr/>
        </p:nvSpPr>
        <p:spPr>
          <a:xfrm>
            <a:off x="7415601" y="1965960"/>
            <a:ext cx="914400" cy="640080"/>
          </a:xfrm>
          <a:prstGeom prst="rect">
            <a:avLst/>
          </a:prstGeom>
          <a:noFill/>
          <a:ln/>
        </p:spPr>
        <p:txBody>
          <a:bodyPr wrap="square" lIns="0" tIns="0" rIns="0" bIns="0" rtlCol="0" anchor="ctr"/>
          <a:lstStyle/>
          <a:p>
            <a:pPr marL="0" indent="0">
              <a:buNone/>
            </a:pPr>
            <a:r>
              <a:rPr lang="en-US" sz="3400" b="1" dirty="0">
                <a:solidFill>
                  <a:srgbClr val="E8590C"/>
                </a:solidFill>
                <a:latin typeface="Arial" pitchFamily="34" charset="0"/>
                <a:ea typeface="Arial" pitchFamily="34" charset="-122"/>
                <a:cs typeface="Arial" pitchFamily="34" charset="-120"/>
              </a:rPr>
              <a:t>4</a:t>
            </a:r>
            <a:endParaRPr lang="en-US" sz="3400" dirty="0"/>
          </a:p>
        </p:txBody>
      </p:sp>
      <p:sp>
        <p:nvSpPr>
          <p:cNvPr id="25" name="Text 22"/>
          <p:cNvSpPr txBox="1"/>
          <p:nvPr/>
        </p:nvSpPr>
        <p:spPr>
          <a:xfrm>
            <a:off x="7415601" y="2651760"/>
            <a:ext cx="1770827"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Agir</a:t>
            </a:r>
            <a:endParaRPr lang="en-US" sz="1800" dirty="0"/>
          </a:p>
        </p:txBody>
      </p:sp>
      <p:sp>
        <p:nvSpPr>
          <p:cNvPr id="26" name="Text 23"/>
          <p:cNvSpPr txBox="1"/>
          <p:nvPr/>
        </p:nvSpPr>
        <p:spPr>
          <a:xfrm>
            <a:off x="7415601" y="3154680"/>
            <a:ext cx="1770827" cy="164592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Dégivrage forcé, consigne vers 50 °C, cycle allongé à 8 h</a:t>
            </a:r>
            <a:endParaRPr lang="en-US" sz="1400" dirty="0"/>
          </a:p>
        </p:txBody>
      </p:sp>
      <p:sp>
        <p:nvSpPr>
          <p:cNvPr id="27" name="Text 24"/>
          <p:cNvSpPr txBox="1"/>
          <p:nvPr/>
        </p:nvSpPr>
        <p:spPr>
          <a:xfrm>
            <a:off x="7415601" y="4892040"/>
            <a:ext cx="1770827" cy="365760"/>
          </a:xfrm>
          <a:prstGeom prst="rect">
            <a:avLst/>
          </a:prstGeom>
          <a:noFill/>
          <a:ln/>
        </p:spPr>
        <p:txBody>
          <a:bodyPr wrap="square" lIns="0" tIns="0" rIns="0" bIns="0" rtlCol="0" anchor="ctr"/>
          <a:lstStyle/>
          <a:p>
            <a:pPr marL="0" indent="0">
              <a:buNone/>
            </a:pPr>
            <a:r>
              <a:rPr lang="en-US" sz="1200" b="1" dirty="0">
                <a:solidFill>
                  <a:srgbClr val="E8590C"/>
                </a:solidFill>
                <a:latin typeface="Consolas" pitchFamily="34" charset="0"/>
                <a:ea typeface="Consolas" pitchFamily="34" charset="-122"/>
                <a:cs typeface="Consolas" pitchFamily="34" charset="-120"/>
              </a:rPr>
              <a:t>T0836 · T0855</a:t>
            </a:r>
            <a:endParaRPr lang="en-US" sz="1200" dirty="0"/>
          </a:p>
        </p:txBody>
      </p:sp>
      <p:sp>
        <p:nvSpPr>
          <p:cNvPr id="28" name="Shape 25"/>
          <p:cNvSpPr/>
          <p:nvPr/>
        </p:nvSpPr>
        <p:spPr>
          <a:xfrm>
            <a:off x="9405884" y="1828800"/>
            <a:ext cx="2109155" cy="3566160"/>
          </a:xfrm>
          <a:prstGeom prst="roundRect">
            <a:avLst>
              <a:gd name="adj" fmla="val 3468"/>
            </a:avLst>
          </a:prstGeom>
          <a:solidFill>
            <a:srgbClr val="F2F3F5"/>
          </a:solidFill>
          <a:ln w="12700">
            <a:solidFill>
              <a:srgbClr val="F2F3F5"/>
            </a:solidFill>
            <a:prstDash val="solid"/>
          </a:ln>
        </p:spPr>
        <p:txBody>
          <a:bodyPr/>
          <a:lstStyle/>
          <a:p>
            <a:endParaRPr lang="fr-BE"/>
          </a:p>
        </p:txBody>
      </p:sp>
      <p:sp>
        <p:nvSpPr>
          <p:cNvPr id="29" name="Text 26"/>
          <p:cNvSpPr txBox="1"/>
          <p:nvPr/>
        </p:nvSpPr>
        <p:spPr>
          <a:xfrm>
            <a:off x="9597908" y="1965960"/>
            <a:ext cx="914400" cy="640080"/>
          </a:xfrm>
          <a:prstGeom prst="rect">
            <a:avLst/>
          </a:prstGeom>
          <a:noFill/>
          <a:ln/>
        </p:spPr>
        <p:txBody>
          <a:bodyPr wrap="square" lIns="0" tIns="0" rIns="0" bIns="0" rtlCol="0" anchor="ctr"/>
          <a:lstStyle/>
          <a:p>
            <a:pPr marL="0" indent="0">
              <a:buNone/>
            </a:pPr>
            <a:r>
              <a:rPr lang="en-US" sz="3400" b="1" dirty="0">
                <a:solidFill>
                  <a:srgbClr val="E8590C"/>
                </a:solidFill>
                <a:latin typeface="Arial" pitchFamily="34" charset="0"/>
                <a:ea typeface="Arial" pitchFamily="34" charset="-122"/>
                <a:cs typeface="Arial" pitchFamily="34" charset="-120"/>
              </a:rPr>
              <a:t>5</a:t>
            </a:r>
            <a:endParaRPr lang="en-US" sz="3400" dirty="0"/>
          </a:p>
        </p:txBody>
      </p:sp>
      <p:sp>
        <p:nvSpPr>
          <p:cNvPr id="30" name="Text 27"/>
          <p:cNvSpPr txBox="1"/>
          <p:nvPr/>
        </p:nvSpPr>
        <p:spPr>
          <a:xfrm>
            <a:off x="9597908" y="2651760"/>
            <a:ext cx="1770827"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Nuire</a:t>
            </a:r>
            <a:endParaRPr lang="en-US" sz="1800" dirty="0"/>
          </a:p>
        </p:txBody>
      </p:sp>
      <p:sp>
        <p:nvSpPr>
          <p:cNvPr id="31" name="Text 28"/>
          <p:cNvSpPr txBox="1"/>
          <p:nvPr/>
        </p:nvSpPr>
        <p:spPr>
          <a:xfrm>
            <a:off x="9597908" y="3154680"/>
            <a:ext cx="1770827" cy="164592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Produits perdus, matériel endommagé, départs de feu</a:t>
            </a:r>
            <a:endParaRPr lang="en-US" sz="1400" dirty="0"/>
          </a:p>
        </p:txBody>
      </p:sp>
      <p:sp>
        <p:nvSpPr>
          <p:cNvPr id="32" name="Text 29"/>
          <p:cNvSpPr txBox="1"/>
          <p:nvPr/>
        </p:nvSpPr>
        <p:spPr>
          <a:xfrm>
            <a:off x="9597908" y="4892040"/>
            <a:ext cx="1770827" cy="365760"/>
          </a:xfrm>
          <a:prstGeom prst="rect">
            <a:avLst/>
          </a:prstGeom>
          <a:noFill/>
          <a:ln/>
        </p:spPr>
        <p:txBody>
          <a:bodyPr wrap="square" lIns="0" tIns="0" rIns="0" bIns="0" rtlCol="0" anchor="ctr"/>
          <a:lstStyle/>
          <a:p>
            <a:pPr marL="0" indent="0">
              <a:buNone/>
            </a:pPr>
            <a:r>
              <a:rPr lang="en-US" sz="1200" b="1" dirty="0">
                <a:solidFill>
                  <a:srgbClr val="E8590C"/>
                </a:solidFill>
                <a:latin typeface="Consolas" pitchFamily="34" charset="0"/>
                <a:ea typeface="Consolas" pitchFamily="34" charset="-122"/>
                <a:cs typeface="Consolas" pitchFamily="34" charset="-120"/>
              </a:rPr>
              <a:t>T0879 · T0828</a:t>
            </a:r>
            <a:endParaRPr lang="en-US" sz="1200" dirty="0"/>
          </a:p>
        </p:txBody>
      </p:sp>
      <p:sp>
        <p:nvSpPr>
          <p:cNvPr id="33" name="Text 30"/>
          <p:cNvSpPr txBox="1"/>
          <p:nvPr/>
        </p:nvSpPr>
        <p:spPr>
          <a:xfrm>
            <a:off x="640080" y="5577840"/>
            <a:ext cx="10911535" cy="365760"/>
          </a:xfrm>
          <a:prstGeom prst="rect">
            <a:avLst/>
          </a:prstGeom>
          <a:noFill/>
          <a:ln/>
        </p:spPr>
        <p:txBody>
          <a:bodyPr wrap="square" lIns="0" tIns="0" rIns="0" bIns="0" rtlCol="0" anchor="ctr"/>
          <a:lstStyle/>
          <a:p>
            <a:pPr marL="0" indent="0">
              <a:buNone/>
            </a:pPr>
            <a:r>
              <a:rPr lang="en-US" sz="1300" i="1" dirty="0">
                <a:solidFill>
                  <a:srgbClr val="5F6670"/>
                </a:solidFill>
                <a:latin typeface="Calibri" pitchFamily="34" charset="0"/>
                <a:ea typeface="Calibri" pitchFamily="34" charset="-122"/>
                <a:cs typeface="Calibri" pitchFamily="34" charset="-120"/>
              </a:rPr>
              <a:t>Reconstitution : la voie d'entrée exacte n'est pas encore établie officiellement. Codes : MITRE ATT&amp;CK for ICS (notre correspondance).</a:t>
            </a:r>
            <a:endParaRPr lang="en-US" sz="1300" dirty="0"/>
          </a:p>
        </p:txBody>
      </p:sp>
      <p:sp>
        <p:nvSpPr>
          <p:cNvPr id="34" name="Text 31"/>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CERT-FR, alerte CERTFR-2026-ALE-012 ; franceinfo ; Generation-NT ; Hive Security (2026) ; attack.mitre.org/techniques/ics.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C2AFBB5-0A0D-CAD1-DE95-99B0ECA628C1}"/>
              </a:ext>
            </a:extLst>
          </p:cNvPr>
          <p:cNvPicPr>
            <a:picLocks noChangeAspect="1"/>
          </p:cNvPicPr>
          <p:nvPr/>
        </p:nvPicPr>
        <p:blipFill>
          <a:blip r:embed="rId2"/>
          <a:stretch>
            <a:fillRect/>
          </a:stretch>
        </p:blipFill>
        <p:spPr>
          <a:xfrm>
            <a:off x="4533682" y="1499918"/>
            <a:ext cx="3124636" cy="3858163"/>
          </a:xfrm>
          <a:prstGeom prst="rect">
            <a:avLst/>
          </a:prstGeom>
        </p:spPr>
      </p:pic>
      <p:sp>
        <p:nvSpPr>
          <p:cNvPr id="4" name="ZoneTexte 3">
            <a:extLst>
              <a:ext uri="{FF2B5EF4-FFF2-40B4-BE49-F238E27FC236}">
                <a16:creationId xmlns:a16="http://schemas.microsoft.com/office/drawing/2014/main" id="{B61F7835-751F-0E7A-5842-764C231ED7B3}"/>
              </a:ext>
            </a:extLst>
          </p:cNvPr>
          <p:cNvSpPr txBox="1"/>
          <p:nvPr/>
        </p:nvSpPr>
        <p:spPr>
          <a:xfrm>
            <a:off x="5669384" y="5042539"/>
            <a:ext cx="1604682" cy="369332"/>
          </a:xfrm>
          <a:prstGeom prst="rect">
            <a:avLst/>
          </a:prstGeom>
          <a:noFill/>
        </p:spPr>
        <p:txBody>
          <a:bodyPr wrap="square" rtlCol="0">
            <a:spAutoFit/>
          </a:bodyPr>
          <a:lstStyle/>
          <a:p>
            <a:r>
              <a:rPr lang="en-BE" dirty="0"/>
              <a:t>v0.50</a:t>
            </a:r>
            <a:endParaRPr lang="fr-BE" dirty="0"/>
          </a:p>
        </p:txBody>
      </p:sp>
    </p:spTree>
    <p:extLst>
      <p:ext uri="{BB962C8B-B14F-4D97-AF65-F5344CB8AC3E}">
        <p14:creationId xmlns:p14="http://schemas.microsoft.com/office/powerpoint/2010/main" val="295223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8777B2F-3691-95BB-C0EF-C6D104873B75}"/>
              </a:ext>
            </a:extLst>
          </p:cNvPr>
          <p:cNvPicPr>
            <a:picLocks noChangeAspect="1"/>
          </p:cNvPicPr>
          <p:nvPr/>
        </p:nvPicPr>
        <p:blipFill>
          <a:blip r:embed="rId2"/>
          <a:stretch>
            <a:fillRect/>
          </a:stretch>
        </p:blipFill>
        <p:spPr>
          <a:xfrm>
            <a:off x="726141" y="89641"/>
            <a:ext cx="10739718" cy="6678717"/>
          </a:xfrm>
          <a:prstGeom prst="rect">
            <a:avLst/>
          </a:prstGeom>
        </p:spPr>
      </p:pic>
      <p:sp>
        <p:nvSpPr>
          <p:cNvPr id="4" name="Rectangle 3">
            <a:extLst>
              <a:ext uri="{FF2B5EF4-FFF2-40B4-BE49-F238E27FC236}">
                <a16:creationId xmlns:a16="http://schemas.microsoft.com/office/drawing/2014/main" id="{E3D49BAC-1129-4506-75FA-F3E26CD16F4B}"/>
              </a:ext>
            </a:extLst>
          </p:cNvPr>
          <p:cNvSpPr/>
          <p:nvPr/>
        </p:nvSpPr>
        <p:spPr>
          <a:xfrm>
            <a:off x="6364941" y="5423647"/>
            <a:ext cx="5307106" cy="1255059"/>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BE"/>
          </a:p>
        </p:txBody>
      </p:sp>
    </p:spTree>
    <p:extLst>
      <p:ext uri="{BB962C8B-B14F-4D97-AF65-F5344CB8AC3E}">
        <p14:creationId xmlns:p14="http://schemas.microsoft.com/office/powerpoint/2010/main" val="605681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 MOT DE PASSE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Un mot de passe que tout le monde peut calculer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640080" y="1783080"/>
            <a:ext cx="6035040" cy="2194560"/>
          </a:xfrm>
          <a:prstGeom prst="roundRect">
            <a:avLst>
              <a:gd name="adj" fmla="val 3333"/>
            </a:avLst>
          </a:prstGeom>
          <a:solidFill>
            <a:srgbClr val="1E2127"/>
          </a:solidFill>
          <a:ln w="12700">
            <a:solidFill>
              <a:srgbClr val="1E2127"/>
            </a:solidFill>
            <a:prstDash val="solid"/>
          </a:ln>
        </p:spPr>
        <p:txBody>
          <a:bodyPr/>
          <a:lstStyle/>
          <a:p>
            <a:endParaRPr lang="fr-BE"/>
          </a:p>
        </p:txBody>
      </p:sp>
      <p:sp>
        <p:nvSpPr>
          <p:cNvPr id="9" name="Text 6"/>
          <p:cNvSpPr txBox="1"/>
          <p:nvPr/>
        </p:nvSpPr>
        <p:spPr>
          <a:xfrm>
            <a:off x="960120" y="1965960"/>
            <a:ext cx="5486400" cy="1828800"/>
          </a:xfrm>
          <a:prstGeom prst="rect">
            <a:avLst/>
          </a:prstGeom>
          <a:noFill/>
          <a:ln/>
        </p:spPr>
        <p:txBody>
          <a:bodyPr wrap="square" lIns="0" tIns="0" rIns="0" bIns="0" rtlCol="0" anchor="t"/>
          <a:lstStyle/>
          <a:p>
            <a:pPr marL="0" indent="0">
              <a:buNone/>
            </a:pPr>
            <a:r>
              <a:rPr lang="en-US" sz="1500" dirty="0">
                <a:solidFill>
                  <a:srgbClr val="8B929C"/>
                </a:solidFill>
                <a:latin typeface="Consolas" pitchFamily="34" charset="0"/>
                <a:ea typeface="Consolas" pitchFamily="34" charset="-122"/>
                <a:cs typeface="Consolas" pitchFamily="34" charset="-120"/>
              </a:rPr>
              <a:t>// le principe, simplifié</a:t>
            </a:r>
            <a:endParaRPr lang="en-US" sz="1500" dirty="0"/>
          </a:p>
          <a:p>
            <a:pPr marL="0" indent="0">
              <a:buNone/>
            </a:pPr>
            <a:r>
              <a:rPr lang="en-US" sz="1500" dirty="0">
                <a:solidFill>
                  <a:srgbClr val="E6E6E6"/>
                </a:solidFill>
                <a:latin typeface="Consolas" pitchFamily="34" charset="0"/>
                <a:ea typeface="Consolas" pitchFamily="34" charset="-122"/>
                <a:cs typeface="Consolas" pitchFamily="34" charset="-120"/>
              </a:rPr>
              <a:t>string codeDuJour = Calculer(DateTime.Today);</a:t>
            </a:r>
            <a:endParaRPr lang="en-US" sz="1500" dirty="0"/>
          </a:p>
          <a:p>
            <a:pPr marL="0" indent="0">
              <a:buNone/>
            </a:pPr>
            <a:r>
              <a:rPr lang="en-US" sz="1500" b="1" dirty="0">
                <a:solidFill>
                  <a:srgbClr val="FFA94D"/>
                </a:solidFill>
                <a:latin typeface="Consolas" pitchFamily="34" charset="0"/>
                <a:ea typeface="Consolas" pitchFamily="34" charset="-122"/>
                <a:cs typeface="Consolas" pitchFamily="34" charset="-120"/>
              </a:rPr>
              <a:t>if (saisie == codeDuJour) Autoriser();</a:t>
            </a:r>
            <a:endParaRPr lang="en-US" sz="1500" dirty="0"/>
          </a:p>
          <a:p>
            <a:pPr marL="0" indent="0">
              <a:buNone/>
            </a:pPr>
            <a:r>
              <a:rPr lang="en-US" sz="1500" dirty="0">
                <a:solidFill>
                  <a:srgbClr val="C92A2A"/>
                </a:solidFill>
                <a:latin typeface="Consolas" pitchFamily="34" charset="0"/>
                <a:ea typeface="Consolas" pitchFamily="34" charset="-122"/>
                <a:cs typeface="Consolas" pitchFamily="34" charset="-120"/>
              </a:rPr>
              <a:t>// connaître la formule = connaître tous les codes</a:t>
            </a:r>
            <a:endParaRPr lang="en-US" sz="1500" dirty="0"/>
          </a:p>
        </p:txBody>
      </p:sp>
      <p:sp>
        <p:nvSpPr>
          <p:cNvPr id="10" name="Shape 7"/>
          <p:cNvSpPr/>
          <p:nvPr/>
        </p:nvSpPr>
        <p:spPr>
          <a:xfrm>
            <a:off x="6949440" y="1783080"/>
            <a:ext cx="4572000" cy="2194560"/>
          </a:xfrm>
          <a:prstGeom prst="roundRect">
            <a:avLst>
              <a:gd name="adj" fmla="val 3333"/>
            </a:avLst>
          </a:prstGeom>
          <a:solidFill>
            <a:srgbClr val="16181D"/>
          </a:solidFill>
          <a:ln w="12700">
            <a:solidFill>
              <a:srgbClr val="16181D"/>
            </a:solidFill>
            <a:prstDash val="solid"/>
          </a:ln>
        </p:spPr>
        <p:txBody>
          <a:bodyPr/>
          <a:lstStyle/>
          <a:p>
            <a:endParaRPr lang="fr-BE"/>
          </a:p>
        </p:txBody>
      </p:sp>
      <p:sp>
        <p:nvSpPr>
          <p:cNvPr id="11" name="Text 8"/>
          <p:cNvSpPr txBox="1"/>
          <p:nvPr/>
        </p:nvSpPr>
        <p:spPr>
          <a:xfrm>
            <a:off x="7178040" y="1920240"/>
            <a:ext cx="4114800" cy="1920240"/>
          </a:xfrm>
          <a:prstGeom prst="rect">
            <a:avLst/>
          </a:prstGeom>
          <a:noFill/>
          <a:ln/>
        </p:spPr>
        <p:txBody>
          <a:bodyPr wrap="square" lIns="0" tIns="0" rIns="0" bIns="0" rtlCol="0" anchor="t"/>
          <a:lstStyle/>
          <a:p>
            <a:pPr marL="0" indent="0">
              <a:buNone/>
            </a:pPr>
            <a:r>
              <a:rPr lang="en-US" sz="1800" b="1" dirty="0">
                <a:solidFill>
                  <a:srgbClr val="E8590C"/>
                </a:solidFill>
                <a:latin typeface="Calibri" pitchFamily="34" charset="0"/>
                <a:ea typeface="Calibri" pitchFamily="34" charset="-122"/>
                <a:cs typeface="Calibri" pitchFamily="34" charset="-120"/>
              </a:rPr>
              <a:t>CVE-2025-41450</a:t>
            </a:r>
            <a:endParaRPr lang="en-US" sz="1800" dirty="0"/>
          </a:p>
          <a:p>
            <a:pPr marL="0" indent="0">
              <a:buNone/>
            </a:pPr>
            <a:r>
              <a:rPr lang="en-US" sz="1450" dirty="0">
                <a:solidFill>
                  <a:srgbClr val="FFFFFF"/>
                </a:solidFill>
                <a:latin typeface="Calibri" pitchFamily="34" charset="0"/>
                <a:ea typeface="Calibri" pitchFamily="34" charset="-122"/>
                <a:cs typeface="Calibri" pitchFamily="34" charset="-120"/>
              </a:rPr>
              <a:t>Danfoss AK-SM 800A : « génération de mot de passe basée sur la date et l'heure », contournement d'authentification. CVSS 8,2. Corrigé en R4.2 (2025).</a:t>
            </a:r>
            <a:endParaRPr lang="en-US" sz="1800" dirty="0"/>
          </a:p>
        </p:txBody>
      </p:sp>
      <p:sp>
        <p:nvSpPr>
          <p:cNvPr id="12" name="Shape 9"/>
          <p:cNvSpPr/>
          <p:nvPr/>
        </p:nvSpPr>
        <p:spPr>
          <a:xfrm>
            <a:off x="640080" y="4206240"/>
            <a:ext cx="10911535" cy="1280160"/>
          </a:xfrm>
          <a:prstGeom prst="roundRect">
            <a:avLst>
              <a:gd name="adj" fmla="val 5714"/>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914400" y="4206240"/>
            <a:ext cx="10362895" cy="1280160"/>
          </a:xfrm>
          <a:prstGeom prst="rect">
            <a:avLst/>
          </a:prstGeom>
          <a:noFill/>
          <a:ln/>
        </p:spPr>
        <p:txBody>
          <a:bodyPr wrap="square" lIns="0" tIns="0" rIns="0" bIns="0" rtlCol="0" anchor="ctr"/>
          <a:lstStyle/>
          <a:p>
            <a:pPr marL="0" indent="0">
              <a:buNone/>
            </a:pPr>
            <a:r>
              <a:rPr lang="en-US" sz="1700" b="1" dirty="0">
                <a:solidFill>
                  <a:srgbClr val="16181D"/>
                </a:solidFill>
                <a:latin typeface="Calibri" pitchFamily="34" charset="0"/>
                <a:ea typeface="Calibri" pitchFamily="34" charset="-122"/>
                <a:cs typeface="Calibri" pitchFamily="34" charset="-120"/>
              </a:rPr>
              <a:t>Le lien avec le cours : </a:t>
            </a:r>
            <a:r>
              <a:rPr lang="en-US" sz="1700" dirty="0">
                <a:solidFill>
                  <a:srgbClr val="16181D"/>
                </a:solidFill>
                <a:latin typeface="Calibri" pitchFamily="34" charset="0"/>
                <a:ea typeface="Calibri" pitchFamily="34" charset="-122"/>
                <a:cs typeface="Calibri" pitchFamily="34" charset="-120"/>
              </a:rPr>
              <a:t>un secret écrit dans un programme distribué à des milliers d'exemplaires n'est pas un secret. C'est la même erreur que la clé de Toyota (séance 3).</a:t>
            </a:r>
            <a:endParaRPr lang="en-US" sz="1700" dirty="0"/>
          </a:p>
        </p:txBody>
      </p:sp>
      <p:sp>
        <p:nvSpPr>
          <p:cNvPr id="14" name="Text 11"/>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CISA, avis ICSA-25-140-03 (20/05/2025, mis à jour le 26/08/2025) ; Danfoss, avis DSA-2025-03-01. Pour les modèles en fin de vie : presse, sans confirmation officielle.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A81F7B8-9048-8BDD-6AF1-DBA360D1000C}"/>
              </a:ext>
            </a:extLst>
          </p:cNvPr>
          <p:cNvPicPr>
            <a:picLocks noChangeAspect="1"/>
          </p:cNvPicPr>
          <p:nvPr/>
        </p:nvPicPr>
        <p:blipFill>
          <a:blip r:embed="rId2"/>
          <a:stretch>
            <a:fillRect/>
          </a:stretch>
        </p:blipFill>
        <p:spPr>
          <a:xfrm>
            <a:off x="1747337" y="101318"/>
            <a:ext cx="8651722" cy="6491664"/>
          </a:xfrm>
          <a:prstGeom prst="rect">
            <a:avLst/>
          </a:prstGeom>
        </p:spPr>
      </p:pic>
    </p:spTree>
    <p:extLst>
      <p:ext uri="{BB962C8B-B14F-4D97-AF65-F5344CB8AC3E}">
        <p14:creationId xmlns:p14="http://schemas.microsoft.com/office/powerpoint/2010/main" val="2516713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marL="0" indent="0">
              <a:buNone/>
            </a:pPr>
            <a:r>
              <a:rPr lang="en-US" sz="1800" b="1" kern="0" spc="300" dirty="0">
                <a:solidFill>
                  <a:srgbClr val="E8590C"/>
                </a:solidFill>
                <a:latin typeface="Calibri" pitchFamily="34" charset="0"/>
                <a:ea typeface="Calibri" pitchFamily="34" charset="-122"/>
                <a:cs typeface="Calibri" pitchFamily="34" charset="-120"/>
              </a:rPr>
              <a:t>Le détail qui change tout</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Étude de cas · Frigos de supermarchés</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6</a:t>
            </a:r>
            <a:endParaRPr lang="en-US" sz="1000" dirty="0"/>
          </a:p>
        </p:txBody>
      </p:sp>
      <p:sp>
        <p:nvSpPr>
          <p:cNvPr id="6" name="Text 3"/>
          <p:cNvSpPr txBox="1"/>
          <p:nvPr/>
        </p:nvSpPr>
        <p:spPr>
          <a:xfrm>
            <a:off x="640080" y="1645920"/>
            <a:ext cx="10911535" cy="109728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Ils n'ont rien cassé : ils ont utilisé une fonction normale.</a:t>
            </a:r>
            <a:endParaRPr lang="en-US" sz="3400" dirty="0"/>
          </a:p>
        </p:txBody>
      </p:sp>
      <p:sp>
        <p:nvSpPr>
          <p:cNvPr id="7" name="Shape 4"/>
          <p:cNvSpPr/>
          <p:nvPr/>
        </p:nvSpPr>
        <p:spPr>
          <a:xfrm>
            <a:off x="640080" y="3017520"/>
            <a:ext cx="3474720" cy="2377440"/>
          </a:xfrm>
          <a:prstGeom prst="roundRect">
            <a:avLst>
              <a:gd name="adj" fmla="val 3077"/>
            </a:avLst>
          </a:prstGeom>
          <a:solidFill>
            <a:srgbClr val="2A2D34"/>
          </a:solidFill>
          <a:ln w="12700">
            <a:solidFill>
              <a:srgbClr val="2A2D34"/>
            </a:solidFill>
            <a:prstDash val="solid"/>
          </a:ln>
        </p:spPr>
        <p:txBody>
          <a:bodyPr/>
          <a:lstStyle/>
          <a:p>
            <a:endParaRPr lang="fr-BE"/>
          </a:p>
        </p:txBody>
      </p:sp>
      <p:sp>
        <p:nvSpPr>
          <p:cNvPr id="8" name="Text 5"/>
          <p:cNvSpPr txBox="1"/>
          <p:nvPr/>
        </p:nvSpPr>
        <p:spPr>
          <a:xfrm>
            <a:off x="914400" y="3200400"/>
            <a:ext cx="2926080" cy="457200"/>
          </a:xfrm>
          <a:prstGeom prst="rect">
            <a:avLst/>
          </a:prstGeom>
          <a:noFill/>
          <a:ln/>
        </p:spPr>
        <p:txBody>
          <a:bodyPr wrap="square" lIns="0" tIns="0" rIns="0" bIns="0" rtlCol="0" anchor="ctr"/>
          <a:lstStyle/>
          <a:p>
            <a:pPr marL="0" indent="0">
              <a:buNone/>
            </a:pPr>
            <a:r>
              <a:rPr lang="en-US" sz="1900" b="1" dirty="0">
                <a:solidFill>
                  <a:srgbClr val="E8590C"/>
                </a:solidFill>
                <a:latin typeface="Arial" pitchFamily="34" charset="0"/>
                <a:ea typeface="Arial" pitchFamily="34" charset="-122"/>
                <a:cs typeface="Arial" pitchFamily="34" charset="-120"/>
              </a:rPr>
              <a:t>Le dégivrage</a:t>
            </a:r>
            <a:endParaRPr lang="en-US" sz="1900" dirty="0"/>
          </a:p>
        </p:txBody>
      </p:sp>
      <p:sp>
        <p:nvSpPr>
          <p:cNvPr id="9" name="Text 6"/>
          <p:cNvSpPr txBox="1"/>
          <p:nvPr/>
        </p:nvSpPr>
        <p:spPr>
          <a:xfrm>
            <a:off x="914400" y="3749040"/>
            <a:ext cx="2926080" cy="1554480"/>
          </a:xfrm>
          <a:prstGeom prst="rect">
            <a:avLst/>
          </a:prstGeom>
          <a:noFill/>
          <a:ln/>
        </p:spPr>
        <p:txBody>
          <a:bodyPr wrap="square" lIns="0" tIns="0" rIns="0" bIns="0" rtlCol="0" anchor="t"/>
          <a:lstStyle/>
          <a:p>
            <a:pPr marL="0" indent="0">
              <a:buNone/>
            </a:pPr>
            <a:r>
              <a:rPr lang="en-US" sz="1550" dirty="0">
                <a:solidFill>
                  <a:srgbClr val="FFFFFF"/>
                </a:solidFill>
                <a:latin typeface="Calibri" pitchFamily="34" charset="0"/>
                <a:ea typeface="Calibri" pitchFamily="34" charset="-122"/>
                <a:cs typeface="Calibri" pitchFamily="34" charset="-120"/>
              </a:rPr>
              <a:t>Une fonction prévue : chauffer brièvement pour faire fondre la glace.</a:t>
            </a:r>
            <a:endParaRPr lang="en-US" sz="1550" dirty="0"/>
          </a:p>
        </p:txBody>
      </p:sp>
      <p:sp>
        <p:nvSpPr>
          <p:cNvPr id="10" name="Shape 7"/>
          <p:cNvSpPr/>
          <p:nvPr/>
        </p:nvSpPr>
        <p:spPr>
          <a:xfrm>
            <a:off x="4343400" y="3017520"/>
            <a:ext cx="3474720" cy="2377440"/>
          </a:xfrm>
          <a:prstGeom prst="roundRect">
            <a:avLst>
              <a:gd name="adj" fmla="val 3077"/>
            </a:avLst>
          </a:prstGeom>
          <a:solidFill>
            <a:srgbClr val="2A2D34"/>
          </a:solidFill>
          <a:ln w="12700">
            <a:solidFill>
              <a:srgbClr val="2A2D34"/>
            </a:solidFill>
            <a:prstDash val="solid"/>
          </a:ln>
        </p:spPr>
        <p:txBody>
          <a:bodyPr/>
          <a:lstStyle/>
          <a:p>
            <a:endParaRPr lang="fr-BE"/>
          </a:p>
        </p:txBody>
      </p:sp>
      <p:sp>
        <p:nvSpPr>
          <p:cNvPr id="11" name="Text 8"/>
          <p:cNvSpPr txBox="1"/>
          <p:nvPr/>
        </p:nvSpPr>
        <p:spPr>
          <a:xfrm>
            <a:off x="4617720" y="3200400"/>
            <a:ext cx="2926080" cy="457200"/>
          </a:xfrm>
          <a:prstGeom prst="rect">
            <a:avLst/>
          </a:prstGeom>
          <a:noFill/>
          <a:ln/>
        </p:spPr>
        <p:txBody>
          <a:bodyPr wrap="square" lIns="0" tIns="0" rIns="0" bIns="0" rtlCol="0" anchor="ctr"/>
          <a:lstStyle/>
          <a:p>
            <a:pPr marL="0" indent="0">
              <a:buNone/>
            </a:pPr>
            <a:r>
              <a:rPr lang="en-US" sz="1900" b="1" dirty="0">
                <a:solidFill>
                  <a:srgbClr val="E8590C"/>
                </a:solidFill>
                <a:latin typeface="Arial" pitchFamily="34" charset="0"/>
                <a:ea typeface="Arial" pitchFamily="34" charset="-122"/>
                <a:cs typeface="Arial" pitchFamily="34" charset="-120"/>
              </a:rPr>
              <a:t>L'astuce</a:t>
            </a:r>
            <a:endParaRPr lang="en-US" sz="1900" dirty="0"/>
          </a:p>
        </p:txBody>
      </p:sp>
      <p:sp>
        <p:nvSpPr>
          <p:cNvPr id="12" name="Text 9"/>
          <p:cNvSpPr txBox="1"/>
          <p:nvPr/>
        </p:nvSpPr>
        <p:spPr>
          <a:xfrm>
            <a:off x="4617720" y="3749040"/>
            <a:ext cx="2926080" cy="1554480"/>
          </a:xfrm>
          <a:prstGeom prst="rect">
            <a:avLst/>
          </a:prstGeom>
          <a:noFill/>
          <a:ln/>
        </p:spPr>
        <p:txBody>
          <a:bodyPr wrap="square" lIns="0" tIns="0" rIns="0" bIns="0" rtlCol="0" anchor="t"/>
          <a:lstStyle/>
          <a:p>
            <a:pPr marL="0" indent="0">
              <a:buNone/>
            </a:pPr>
            <a:r>
              <a:rPr lang="en-US" sz="1550" dirty="0">
                <a:solidFill>
                  <a:srgbClr val="FFFFFF"/>
                </a:solidFill>
                <a:latin typeface="Calibri" pitchFamily="34" charset="0"/>
                <a:ea typeface="Calibri" pitchFamily="34" charset="-122"/>
                <a:cs typeface="Calibri" pitchFamily="34" charset="-120"/>
              </a:rPr>
              <a:t>Allonger le cycle à 8 h : la chaleur ressemble à un dégivrage, les alarmes tardent.</a:t>
            </a:r>
            <a:endParaRPr lang="en-US" sz="1550" dirty="0"/>
          </a:p>
        </p:txBody>
      </p:sp>
      <p:sp>
        <p:nvSpPr>
          <p:cNvPr id="13" name="Shape 10"/>
          <p:cNvSpPr/>
          <p:nvPr/>
        </p:nvSpPr>
        <p:spPr>
          <a:xfrm>
            <a:off x="8046720" y="3017520"/>
            <a:ext cx="3474720" cy="2377440"/>
          </a:xfrm>
          <a:prstGeom prst="roundRect">
            <a:avLst>
              <a:gd name="adj" fmla="val 3077"/>
            </a:avLst>
          </a:prstGeom>
          <a:solidFill>
            <a:srgbClr val="E8590C"/>
          </a:solidFill>
          <a:ln w="12700">
            <a:solidFill>
              <a:srgbClr val="E8590C"/>
            </a:solidFill>
            <a:prstDash val="solid"/>
          </a:ln>
        </p:spPr>
        <p:txBody>
          <a:bodyPr/>
          <a:lstStyle/>
          <a:p>
            <a:endParaRPr lang="fr-BE"/>
          </a:p>
        </p:txBody>
      </p:sp>
      <p:sp>
        <p:nvSpPr>
          <p:cNvPr id="14" name="Text 11"/>
          <p:cNvSpPr txBox="1"/>
          <p:nvPr/>
        </p:nvSpPr>
        <p:spPr>
          <a:xfrm>
            <a:off x="8321040" y="3200400"/>
            <a:ext cx="2926080" cy="45720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La règle manquante</a:t>
            </a:r>
            <a:endParaRPr lang="en-US" sz="1900" dirty="0"/>
          </a:p>
        </p:txBody>
      </p:sp>
      <p:sp>
        <p:nvSpPr>
          <p:cNvPr id="15" name="Text 12"/>
          <p:cNvSpPr txBox="1"/>
          <p:nvPr/>
        </p:nvSpPr>
        <p:spPr>
          <a:xfrm>
            <a:off x="8321040" y="3749040"/>
            <a:ext cx="2926080" cy="1554480"/>
          </a:xfrm>
          <a:prstGeom prst="rect">
            <a:avLst/>
          </a:prstGeom>
          <a:noFill/>
          <a:ln/>
        </p:spPr>
        <p:txBody>
          <a:bodyPr wrap="square" lIns="0" tIns="0" rIns="0" bIns="0" rtlCol="0" anchor="t"/>
          <a:lstStyle/>
          <a:p>
            <a:pPr marL="0" indent="0">
              <a:buNone/>
            </a:pPr>
            <a:r>
              <a:rPr lang="en-US" sz="1550" dirty="0">
                <a:solidFill>
                  <a:srgbClr val="FFFFFF"/>
                </a:solidFill>
                <a:latin typeface="Calibri" pitchFamily="34" charset="0"/>
                <a:ea typeface="Calibri" pitchFamily="34" charset="-122"/>
                <a:cs typeface="Calibri" pitchFamily="34" charset="-120"/>
              </a:rPr>
              <a:t>Refuser un dégivrage de plus d'une heure, ou une consigne de 50 °C pour un frigo.</a:t>
            </a:r>
            <a:endParaRPr lang="en-US" sz="1550" dirty="0"/>
          </a:p>
        </p:txBody>
      </p:sp>
      <p:sp>
        <p:nvSpPr>
          <p:cNvPr id="16" name="Text 13"/>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9AA0A8"/>
                </a:solidFill>
                <a:latin typeface="Calibri" pitchFamily="34" charset="0"/>
                <a:ea typeface="Calibri" pitchFamily="34" charset="-122"/>
                <a:cs typeface="Calibri" pitchFamily="34" charset="-120"/>
              </a:rPr>
              <a:t>Source : Generation-NT, Clubic (octobre 2026). Lien avec les règles métier : séance 1 (« l'objet refuse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LES FAILLES CONNUES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Les signaux étaient publics depuis trois ans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a:t>
            </a:r>
            <a:endParaRPr lang="en-US" sz="1000" dirty="0"/>
          </a:p>
        </p:txBody>
      </p:sp>
      <p:sp>
        <p:nvSpPr>
          <p:cNvPr id="8" name="Shape 5"/>
          <p:cNvSpPr/>
          <p:nvPr/>
        </p:nvSpPr>
        <p:spPr>
          <a:xfrm>
            <a:off x="685800" y="1828800"/>
            <a:ext cx="365760" cy="365760"/>
          </a:xfrm>
          <a:prstGeom prst="ellipse">
            <a:avLst/>
          </a:prstGeom>
          <a:solidFill>
            <a:srgbClr val="E8590C"/>
          </a:solidFill>
          <a:ln w="25400">
            <a:solidFill>
              <a:srgbClr val="FFFFFF"/>
            </a:solidFill>
            <a:prstDash val="solid"/>
          </a:ln>
        </p:spPr>
        <p:txBody>
          <a:bodyPr/>
          <a:lstStyle/>
          <a:p>
            <a:endParaRPr lang="fr-BE"/>
          </a:p>
        </p:txBody>
      </p:sp>
      <p:sp>
        <p:nvSpPr>
          <p:cNvPr id="9" name="Text 6"/>
          <p:cNvSpPr txBox="1"/>
          <p:nvPr/>
        </p:nvSpPr>
        <p:spPr>
          <a:xfrm>
            <a:off x="640080" y="2331720"/>
            <a:ext cx="25603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2023</a:t>
            </a:r>
            <a:endParaRPr lang="en-US" sz="1800" dirty="0"/>
          </a:p>
        </p:txBody>
      </p:sp>
      <p:sp>
        <p:nvSpPr>
          <p:cNvPr id="10" name="Text 7"/>
          <p:cNvSpPr txBox="1"/>
          <p:nvPr/>
        </p:nvSpPr>
        <p:spPr>
          <a:xfrm>
            <a:off x="640080" y="2788920"/>
            <a:ext cx="2560320" cy="1737360"/>
          </a:xfrm>
          <a:prstGeom prst="rect">
            <a:avLst/>
          </a:prstGeom>
          <a:noFill/>
          <a:ln/>
        </p:spPr>
        <p:txBody>
          <a:bodyPr wrap="square" lIns="0" tIns="0" rIns="0" bIns="0" rtlCol="0" anchor="t"/>
          <a:lstStyle/>
          <a:p>
            <a:pPr marL="0" indent="0">
              <a:buNone/>
            </a:pPr>
            <a:r>
              <a:rPr lang="en-US" sz="1450" dirty="0">
                <a:solidFill>
                  <a:srgbClr val="16181D"/>
                </a:solidFill>
                <a:latin typeface="Calibri" pitchFamily="34" charset="0"/>
                <a:ea typeface="Calibri" pitchFamily="34" charset="-122"/>
                <a:cs typeface="Calibri" pitchFamily="34" charset="-120"/>
              </a:rPr>
              <a:t>3 failles dans l'AK-SM 800A, dont une critique (CVSS 9,8). DIVD prévient les propriétaires exposés.</a:t>
            </a:r>
            <a:endParaRPr lang="en-US" sz="1450" dirty="0"/>
          </a:p>
        </p:txBody>
      </p:sp>
      <p:sp>
        <p:nvSpPr>
          <p:cNvPr id="11" name="Shape 8"/>
          <p:cNvSpPr/>
          <p:nvPr/>
        </p:nvSpPr>
        <p:spPr>
          <a:xfrm>
            <a:off x="3429000" y="1828800"/>
            <a:ext cx="365760" cy="365760"/>
          </a:xfrm>
          <a:prstGeom prst="ellipse">
            <a:avLst/>
          </a:prstGeom>
          <a:solidFill>
            <a:srgbClr val="E8590C"/>
          </a:solidFill>
          <a:ln w="25400">
            <a:solidFill>
              <a:srgbClr val="FFFFFF"/>
            </a:solidFill>
            <a:prstDash val="solid"/>
          </a:ln>
        </p:spPr>
        <p:txBody>
          <a:bodyPr/>
          <a:lstStyle/>
          <a:p>
            <a:endParaRPr lang="fr-BE"/>
          </a:p>
        </p:txBody>
      </p:sp>
      <p:sp>
        <p:nvSpPr>
          <p:cNvPr id="12" name="Text 9"/>
          <p:cNvSpPr txBox="1"/>
          <p:nvPr/>
        </p:nvSpPr>
        <p:spPr>
          <a:xfrm>
            <a:off x="3383280" y="2331720"/>
            <a:ext cx="25603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Mai-août 2025</a:t>
            </a:r>
            <a:endParaRPr lang="en-US" sz="1800" dirty="0"/>
          </a:p>
        </p:txBody>
      </p:sp>
      <p:sp>
        <p:nvSpPr>
          <p:cNvPr id="13" name="Text 10"/>
          <p:cNvSpPr txBox="1"/>
          <p:nvPr/>
        </p:nvSpPr>
        <p:spPr>
          <a:xfrm>
            <a:off x="3383280" y="2788920"/>
            <a:ext cx="2560320" cy="1737360"/>
          </a:xfrm>
          <a:prstGeom prst="rect">
            <a:avLst/>
          </a:prstGeom>
          <a:noFill/>
          <a:ln/>
        </p:spPr>
        <p:txBody>
          <a:bodyPr wrap="square" lIns="0" tIns="0" rIns="0" bIns="0" rtlCol="0" anchor="t"/>
          <a:lstStyle/>
          <a:p>
            <a:pPr marL="0" indent="0">
              <a:buNone/>
            </a:pPr>
            <a:r>
              <a:rPr lang="en-US" sz="1450" dirty="0">
                <a:solidFill>
                  <a:srgbClr val="16181D"/>
                </a:solidFill>
                <a:latin typeface="Calibri" pitchFamily="34" charset="0"/>
                <a:ea typeface="Calibri" pitchFamily="34" charset="-122"/>
                <a:cs typeface="Calibri" pitchFamily="34" charset="-120"/>
              </a:rPr>
              <a:t>3 nouvelles failles (Claroty) : code du jour, injection de commande, configuration web. Correctifs R4.2 et 4.3.1.</a:t>
            </a:r>
            <a:endParaRPr lang="en-US" sz="1450" dirty="0"/>
          </a:p>
        </p:txBody>
      </p:sp>
      <p:sp>
        <p:nvSpPr>
          <p:cNvPr id="14" name="Shape 11"/>
          <p:cNvSpPr/>
          <p:nvPr/>
        </p:nvSpPr>
        <p:spPr>
          <a:xfrm>
            <a:off x="6172200" y="1828800"/>
            <a:ext cx="365760" cy="365760"/>
          </a:xfrm>
          <a:prstGeom prst="ellipse">
            <a:avLst/>
          </a:prstGeom>
          <a:solidFill>
            <a:srgbClr val="E8590C"/>
          </a:solidFill>
          <a:ln w="25400">
            <a:solidFill>
              <a:srgbClr val="FFFFFF"/>
            </a:solidFill>
            <a:prstDash val="solid"/>
          </a:ln>
        </p:spPr>
        <p:txBody>
          <a:bodyPr/>
          <a:lstStyle/>
          <a:p>
            <a:endParaRPr lang="fr-BE"/>
          </a:p>
        </p:txBody>
      </p:sp>
      <p:sp>
        <p:nvSpPr>
          <p:cNvPr id="15" name="Text 12"/>
          <p:cNvSpPr txBox="1"/>
          <p:nvPr/>
        </p:nvSpPr>
        <p:spPr>
          <a:xfrm>
            <a:off x="6126480" y="2331720"/>
            <a:ext cx="25603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Août 2026</a:t>
            </a:r>
            <a:endParaRPr lang="en-US" sz="1800" dirty="0"/>
          </a:p>
        </p:txBody>
      </p:sp>
      <p:sp>
        <p:nvSpPr>
          <p:cNvPr id="16" name="Text 13"/>
          <p:cNvSpPr txBox="1"/>
          <p:nvPr/>
        </p:nvSpPr>
        <p:spPr>
          <a:xfrm>
            <a:off x="6126480" y="2788920"/>
            <a:ext cx="2560320" cy="1737360"/>
          </a:xfrm>
          <a:prstGeom prst="rect">
            <a:avLst/>
          </a:prstGeom>
          <a:noFill/>
          <a:ln/>
        </p:spPr>
        <p:txBody>
          <a:bodyPr wrap="square" lIns="0" tIns="0" rIns="0" bIns="0" rtlCol="0" anchor="t"/>
          <a:lstStyle/>
          <a:p>
            <a:pPr marL="0" indent="0">
              <a:buNone/>
            </a:pPr>
            <a:r>
              <a:rPr lang="en-US" sz="1450" dirty="0">
                <a:solidFill>
                  <a:srgbClr val="16181D"/>
                </a:solidFill>
                <a:latin typeface="Calibri" pitchFamily="34" charset="0"/>
                <a:ea typeface="Calibri" pitchFamily="34" charset="-122"/>
                <a:cs typeface="Calibri" pitchFamily="34" charset="-120"/>
              </a:rPr>
              <a:t>Claroty publie sa recherche : 2 765 interfaces exposées sur Internet.</a:t>
            </a:r>
            <a:endParaRPr lang="en-US" sz="1450" dirty="0"/>
          </a:p>
        </p:txBody>
      </p:sp>
      <p:sp>
        <p:nvSpPr>
          <p:cNvPr id="17" name="Shape 14"/>
          <p:cNvSpPr/>
          <p:nvPr/>
        </p:nvSpPr>
        <p:spPr>
          <a:xfrm>
            <a:off x="8915400" y="1828800"/>
            <a:ext cx="365760" cy="365760"/>
          </a:xfrm>
          <a:prstGeom prst="ellipse">
            <a:avLst/>
          </a:prstGeom>
          <a:solidFill>
            <a:srgbClr val="C92A2A"/>
          </a:solidFill>
          <a:ln w="25400">
            <a:solidFill>
              <a:srgbClr val="FFFFFF"/>
            </a:solidFill>
            <a:prstDash val="solid"/>
          </a:ln>
        </p:spPr>
        <p:txBody>
          <a:bodyPr/>
          <a:lstStyle/>
          <a:p>
            <a:endParaRPr lang="fr-BE"/>
          </a:p>
        </p:txBody>
      </p:sp>
      <p:sp>
        <p:nvSpPr>
          <p:cNvPr id="18" name="Text 15"/>
          <p:cNvSpPr txBox="1"/>
          <p:nvPr/>
        </p:nvSpPr>
        <p:spPr>
          <a:xfrm>
            <a:off x="8869680" y="2331720"/>
            <a:ext cx="2560320" cy="457200"/>
          </a:xfrm>
          <a:prstGeom prst="rect">
            <a:avLst/>
          </a:prstGeom>
          <a:noFill/>
          <a:ln/>
        </p:spPr>
        <p:txBody>
          <a:bodyPr wrap="square" lIns="0" tIns="0" rIns="0" bIns="0" rtlCol="0" anchor="ctr"/>
          <a:lstStyle/>
          <a:p>
            <a:pPr marL="0" indent="0">
              <a:buNone/>
            </a:pPr>
            <a:r>
              <a:rPr lang="en-US" sz="1800" b="1" dirty="0">
                <a:solidFill>
                  <a:srgbClr val="C92A2A"/>
                </a:solidFill>
                <a:latin typeface="Arial" pitchFamily="34" charset="0"/>
                <a:ea typeface="Arial" pitchFamily="34" charset="-122"/>
                <a:cs typeface="Arial" pitchFamily="34" charset="-120"/>
              </a:rPr>
              <a:t>11-12 oct. 2026</a:t>
            </a:r>
            <a:endParaRPr lang="en-US" sz="1800" dirty="0"/>
          </a:p>
        </p:txBody>
      </p:sp>
      <p:sp>
        <p:nvSpPr>
          <p:cNvPr id="19" name="Text 16"/>
          <p:cNvSpPr txBox="1"/>
          <p:nvPr/>
        </p:nvSpPr>
        <p:spPr>
          <a:xfrm>
            <a:off x="8869680" y="2788920"/>
            <a:ext cx="2560320" cy="1737360"/>
          </a:xfrm>
          <a:prstGeom prst="rect">
            <a:avLst/>
          </a:prstGeom>
          <a:noFill/>
          <a:ln/>
        </p:spPr>
        <p:txBody>
          <a:bodyPr wrap="square" lIns="0" tIns="0" rIns="0" bIns="0" rtlCol="0" anchor="t"/>
          <a:lstStyle/>
          <a:p>
            <a:pPr marL="0" indent="0">
              <a:buNone/>
            </a:pPr>
            <a:r>
              <a:rPr lang="en-US" sz="1450" dirty="0">
                <a:solidFill>
                  <a:srgbClr val="16181D"/>
                </a:solidFill>
                <a:latin typeface="Calibri" pitchFamily="34" charset="0"/>
                <a:ea typeface="Calibri" pitchFamily="34" charset="-122"/>
                <a:cs typeface="Calibri" pitchFamily="34" charset="-120"/>
              </a:rPr>
              <a:t>L'attaque.</a:t>
            </a:r>
            <a:endParaRPr lang="en-US" sz="1450" dirty="0"/>
          </a:p>
        </p:txBody>
      </p:sp>
      <p:sp>
        <p:nvSpPr>
          <p:cNvPr id="20" name="Shape 17"/>
          <p:cNvSpPr/>
          <p:nvPr/>
        </p:nvSpPr>
        <p:spPr>
          <a:xfrm>
            <a:off x="868680" y="2011680"/>
            <a:ext cx="8412480" cy="0"/>
          </a:xfrm>
          <a:prstGeom prst="line">
            <a:avLst/>
          </a:prstGeom>
          <a:noFill/>
          <a:ln w="25400">
            <a:solidFill>
              <a:srgbClr val="D9DCE1"/>
            </a:solidFill>
            <a:prstDash val="solid"/>
          </a:ln>
        </p:spPr>
        <p:txBody>
          <a:bodyPr/>
          <a:lstStyle/>
          <a:p>
            <a:endParaRPr lang="fr-BE"/>
          </a:p>
        </p:txBody>
      </p:sp>
      <p:sp>
        <p:nvSpPr>
          <p:cNvPr id="21" name="Shape 18"/>
          <p:cNvSpPr/>
          <p:nvPr/>
        </p:nvSpPr>
        <p:spPr>
          <a:xfrm>
            <a:off x="640080" y="4709160"/>
            <a:ext cx="10911535" cy="1051560"/>
          </a:xfrm>
          <a:prstGeom prst="roundRect">
            <a:avLst>
              <a:gd name="adj" fmla="val 6957"/>
            </a:avLst>
          </a:prstGeom>
          <a:solidFill>
            <a:srgbClr val="F2F3F5"/>
          </a:solidFill>
          <a:ln w="12700">
            <a:solidFill>
              <a:srgbClr val="F2F3F5"/>
            </a:solidFill>
            <a:prstDash val="solid"/>
          </a:ln>
        </p:spPr>
        <p:txBody>
          <a:bodyPr/>
          <a:lstStyle/>
          <a:p>
            <a:endParaRPr lang="fr-BE"/>
          </a:p>
        </p:txBody>
      </p:sp>
      <p:sp>
        <p:nvSpPr>
          <p:cNvPr id="22" name="Text 19"/>
          <p:cNvSpPr txBox="1"/>
          <p:nvPr/>
        </p:nvSpPr>
        <p:spPr>
          <a:xfrm>
            <a:off x="914400" y="4709160"/>
            <a:ext cx="10362895" cy="1051560"/>
          </a:xfrm>
          <a:prstGeom prst="rect">
            <a:avLst/>
          </a:prstGeom>
          <a:noFill/>
          <a:ln/>
        </p:spPr>
        <p:txBody>
          <a:bodyPr wrap="square" lIns="0" tIns="0" rIns="0" bIns="0" rtlCol="0" anchor="ctr"/>
          <a:lstStyle/>
          <a:p>
            <a:pPr marL="0" indent="0">
              <a:buNone/>
            </a:pPr>
            <a:r>
              <a:rPr lang="en-US" sz="1550" b="1" dirty="0">
                <a:solidFill>
                  <a:srgbClr val="16181D"/>
                </a:solidFill>
                <a:latin typeface="Calibri" pitchFamily="34" charset="0"/>
                <a:ea typeface="Calibri" pitchFamily="34" charset="-122"/>
                <a:cs typeface="Calibri" pitchFamily="34" charset="-120"/>
              </a:rPr>
              <a:t>Nuance : </a:t>
            </a:r>
            <a:r>
              <a:rPr lang="en-US" sz="1550" dirty="0">
                <a:solidFill>
                  <a:srgbClr val="16181D"/>
                </a:solidFill>
                <a:latin typeface="Calibri" pitchFamily="34" charset="0"/>
                <a:ea typeface="Calibri" pitchFamily="34" charset="-122"/>
                <a:cs typeface="Calibri" pitchFamily="34" charset="-120"/>
              </a:rPr>
              <a:t>Claroty voit un lien avec ses travaux ; Danfoss indique que la plupart des appareils touchés sont des modèles en fin de vie, sans correctif. Les deux peuvent être vrais en même temps.</a:t>
            </a:r>
            <a:endParaRPr lang="en-US" sz="1550" dirty="0"/>
          </a:p>
        </p:txBody>
      </p:sp>
      <p:sp>
        <p:nvSpPr>
          <p:cNvPr id="23" name="Text 20"/>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DIVD, dossier DIVD-2023-00025 ; Danfoss, avis DSA-2023-08-01, DSA-2025-03-01, DSA-2025-08-01 ; CISA ICSA-25-140-03 ; Claroty Team82 (août et 12-13/10/2026).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POURQUOI RIEN N'AVAIT ÉTÉ CORRIGÉ</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Cinq raisons, toutes classiques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8</a:t>
            </a:r>
            <a:endParaRPr lang="en-US" sz="1000" dirty="0"/>
          </a:p>
        </p:txBody>
      </p:sp>
      <p:sp>
        <p:nvSpPr>
          <p:cNvPr id="8" name="Shape 5"/>
          <p:cNvSpPr/>
          <p:nvPr/>
        </p:nvSpPr>
        <p:spPr>
          <a:xfrm>
            <a:off x="640080" y="1783080"/>
            <a:ext cx="3474720" cy="1645920"/>
          </a:xfrm>
          <a:prstGeom prst="roundRect">
            <a:avLst>
              <a:gd name="adj" fmla="val 4444"/>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14400" y="1920240"/>
            <a:ext cx="2926080" cy="45720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Fin de vie</a:t>
            </a:r>
            <a:endParaRPr lang="en-US" sz="1700" dirty="0"/>
          </a:p>
        </p:txBody>
      </p:sp>
      <p:sp>
        <p:nvSpPr>
          <p:cNvPr id="10" name="Text 7"/>
          <p:cNvSpPr txBox="1"/>
          <p:nvPr/>
        </p:nvSpPr>
        <p:spPr>
          <a:xfrm>
            <a:off x="914400" y="2423160"/>
            <a:ext cx="2926080" cy="91440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AK-SM 800 non supporté depuis 2021, AK-SC 355 depuis 2016 : aucun correctif possible.</a:t>
            </a:r>
            <a:endParaRPr lang="en-US" sz="1400" dirty="0"/>
          </a:p>
        </p:txBody>
      </p:sp>
      <p:sp>
        <p:nvSpPr>
          <p:cNvPr id="11" name="Shape 8"/>
          <p:cNvSpPr/>
          <p:nvPr/>
        </p:nvSpPr>
        <p:spPr>
          <a:xfrm>
            <a:off x="4343400" y="1783080"/>
            <a:ext cx="3474720" cy="1645920"/>
          </a:xfrm>
          <a:prstGeom prst="roundRect">
            <a:avLst>
              <a:gd name="adj" fmla="val 4444"/>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4617720" y="1920240"/>
            <a:ext cx="2926080" cy="45720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Exposés sur Internet</a:t>
            </a:r>
            <a:endParaRPr lang="en-US" sz="1700" dirty="0"/>
          </a:p>
        </p:txBody>
      </p:sp>
      <p:sp>
        <p:nvSpPr>
          <p:cNvPr id="13" name="Text 10"/>
          <p:cNvSpPr txBox="1"/>
          <p:nvPr/>
        </p:nvSpPr>
        <p:spPr>
          <a:xfrm>
            <a:off x="4617720" y="2423160"/>
            <a:ext cx="2926080" cy="91440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Des milliers d'interfaces joignables, plus de la moitié en France selon des chercheurs.</a:t>
            </a:r>
            <a:endParaRPr lang="en-US" sz="1400" dirty="0"/>
          </a:p>
        </p:txBody>
      </p:sp>
      <p:sp>
        <p:nvSpPr>
          <p:cNvPr id="14" name="Shape 11"/>
          <p:cNvSpPr/>
          <p:nvPr/>
        </p:nvSpPr>
        <p:spPr>
          <a:xfrm>
            <a:off x="8046720" y="1783080"/>
            <a:ext cx="3474720" cy="1645920"/>
          </a:xfrm>
          <a:prstGeom prst="roundRect">
            <a:avLst>
              <a:gd name="adj" fmla="val 4444"/>
            </a:avLst>
          </a:prstGeom>
          <a:solidFill>
            <a:srgbClr val="16181D"/>
          </a:solidFill>
          <a:ln w="12700">
            <a:solidFill>
              <a:srgbClr val="16181D"/>
            </a:solidFill>
            <a:prstDash val="solid"/>
          </a:ln>
        </p:spPr>
        <p:txBody>
          <a:bodyPr/>
          <a:lstStyle/>
          <a:p>
            <a:endParaRPr lang="fr-BE"/>
          </a:p>
        </p:txBody>
      </p:sp>
      <p:sp>
        <p:nvSpPr>
          <p:cNvPr id="15" name="Text 12"/>
          <p:cNvSpPr txBox="1"/>
          <p:nvPr/>
        </p:nvSpPr>
        <p:spPr>
          <a:xfrm>
            <a:off x="8321040" y="1920240"/>
            <a:ext cx="2926080" cy="457200"/>
          </a:xfrm>
          <a:prstGeom prst="rect">
            <a:avLst/>
          </a:prstGeom>
          <a:noFill/>
          <a:ln/>
        </p:spPr>
        <p:txBody>
          <a:bodyPr wrap="square" lIns="0" tIns="0" rIns="0" bIns="0" rtlCol="0" anchor="ctr"/>
          <a:lstStyle/>
          <a:p>
            <a:pPr marL="0" indent="0">
              <a:buNone/>
            </a:pPr>
            <a:r>
              <a:rPr lang="en-US" sz="1700" b="1" dirty="0">
                <a:solidFill>
                  <a:srgbClr val="E8590C"/>
                </a:solidFill>
                <a:latin typeface="Arial" pitchFamily="34" charset="0"/>
                <a:ea typeface="Arial" pitchFamily="34" charset="-122"/>
                <a:cs typeface="Arial" pitchFamily="34" charset="-120"/>
              </a:rPr>
              <a:t>Hors du radar de la DSI</a:t>
            </a:r>
            <a:endParaRPr lang="en-US" sz="1700" dirty="0"/>
          </a:p>
        </p:txBody>
      </p:sp>
      <p:sp>
        <p:nvSpPr>
          <p:cNvPr id="16" name="Text 13"/>
          <p:cNvSpPr txBox="1"/>
          <p:nvPr/>
        </p:nvSpPr>
        <p:spPr>
          <a:xfrm>
            <a:off x="8321040" y="2423160"/>
            <a:ext cx="2926080" cy="9144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Gérés par les services techniques et les frigoristes, absents de l'inventaire informatique.</a:t>
            </a:r>
            <a:endParaRPr lang="en-US" sz="1400" dirty="0"/>
          </a:p>
        </p:txBody>
      </p:sp>
      <p:sp>
        <p:nvSpPr>
          <p:cNvPr id="17" name="Shape 14"/>
          <p:cNvSpPr/>
          <p:nvPr/>
        </p:nvSpPr>
        <p:spPr>
          <a:xfrm>
            <a:off x="640080" y="3611880"/>
            <a:ext cx="3474720" cy="1645920"/>
          </a:xfrm>
          <a:prstGeom prst="roundRect">
            <a:avLst>
              <a:gd name="adj" fmla="val 4444"/>
            </a:avLst>
          </a:prstGeom>
          <a:solidFill>
            <a:srgbClr val="F2F3F5"/>
          </a:solidFill>
          <a:ln w="12700">
            <a:solidFill>
              <a:srgbClr val="F2F3F5"/>
            </a:solidFill>
            <a:prstDash val="solid"/>
          </a:ln>
        </p:spPr>
        <p:txBody>
          <a:bodyPr/>
          <a:lstStyle/>
          <a:p>
            <a:endParaRPr lang="fr-BE"/>
          </a:p>
        </p:txBody>
      </p:sp>
      <p:sp>
        <p:nvSpPr>
          <p:cNvPr id="18" name="Text 15"/>
          <p:cNvSpPr txBox="1"/>
          <p:nvPr/>
        </p:nvSpPr>
        <p:spPr>
          <a:xfrm>
            <a:off x="914400" y="3749040"/>
            <a:ext cx="2926080" cy="45720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10 à 20 ans de vie</a:t>
            </a:r>
            <a:endParaRPr lang="en-US" sz="1700" dirty="0"/>
          </a:p>
        </p:txBody>
      </p:sp>
      <p:sp>
        <p:nvSpPr>
          <p:cNvPr id="19" name="Text 16"/>
          <p:cNvSpPr txBox="1"/>
          <p:nvPr/>
        </p:nvSpPr>
        <p:spPr>
          <a:xfrm>
            <a:off x="914400" y="4251960"/>
            <a:ext cx="2926080" cy="91440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On ne remplace pas une installation de froid pour une mise à jour.</a:t>
            </a:r>
            <a:endParaRPr lang="en-US" sz="1400" dirty="0"/>
          </a:p>
        </p:txBody>
      </p:sp>
      <p:sp>
        <p:nvSpPr>
          <p:cNvPr id="20" name="Shape 17"/>
          <p:cNvSpPr/>
          <p:nvPr/>
        </p:nvSpPr>
        <p:spPr>
          <a:xfrm>
            <a:off x="4343400" y="3611880"/>
            <a:ext cx="3474720" cy="1645920"/>
          </a:xfrm>
          <a:prstGeom prst="roundRect">
            <a:avLst>
              <a:gd name="adj" fmla="val 4444"/>
            </a:avLst>
          </a:prstGeom>
          <a:solidFill>
            <a:srgbClr val="F2F3F5"/>
          </a:solidFill>
          <a:ln w="12700">
            <a:solidFill>
              <a:srgbClr val="F2F3F5"/>
            </a:solidFill>
            <a:prstDash val="solid"/>
          </a:ln>
        </p:spPr>
        <p:txBody>
          <a:bodyPr/>
          <a:lstStyle/>
          <a:p>
            <a:endParaRPr lang="fr-BE"/>
          </a:p>
        </p:txBody>
      </p:sp>
      <p:sp>
        <p:nvSpPr>
          <p:cNvPr id="21" name="Text 18"/>
          <p:cNvSpPr txBox="1"/>
          <p:nvPr/>
        </p:nvSpPr>
        <p:spPr>
          <a:xfrm>
            <a:off x="4617720" y="3749040"/>
            <a:ext cx="2926080" cy="45720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Responsabilité floue</a:t>
            </a:r>
            <a:endParaRPr lang="en-US" sz="1700" dirty="0"/>
          </a:p>
        </p:txBody>
      </p:sp>
      <p:sp>
        <p:nvSpPr>
          <p:cNvPr id="22" name="Text 19"/>
          <p:cNvSpPr txBox="1"/>
          <p:nvPr/>
        </p:nvSpPr>
        <p:spPr>
          <a:xfrm>
            <a:off x="4617720" y="4251960"/>
            <a:ext cx="2926080" cy="91440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Qui met à jour : le magasin ou le mainteneur ?</a:t>
            </a:r>
            <a:endParaRPr lang="en-US" sz="1400" dirty="0"/>
          </a:p>
        </p:txBody>
      </p:sp>
      <p:sp>
        <p:nvSpPr>
          <p:cNvPr id="23" name="Shape 20"/>
          <p:cNvSpPr/>
          <p:nvPr/>
        </p:nvSpPr>
        <p:spPr>
          <a:xfrm>
            <a:off x="8046720" y="3611880"/>
            <a:ext cx="3474720" cy="1645920"/>
          </a:xfrm>
          <a:prstGeom prst="roundRect">
            <a:avLst>
              <a:gd name="adj" fmla="val 4444"/>
            </a:avLst>
          </a:prstGeom>
          <a:solidFill>
            <a:srgbClr val="E8590C"/>
          </a:solidFill>
          <a:ln w="12700">
            <a:solidFill>
              <a:srgbClr val="E8590C"/>
            </a:solidFill>
            <a:prstDash val="solid"/>
          </a:ln>
        </p:spPr>
        <p:txBody>
          <a:bodyPr/>
          <a:lstStyle/>
          <a:p>
            <a:endParaRPr lang="fr-BE"/>
          </a:p>
        </p:txBody>
      </p:sp>
      <p:sp>
        <p:nvSpPr>
          <p:cNvPr id="24" name="Text 21"/>
          <p:cNvSpPr txBox="1"/>
          <p:nvPr/>
        </p:nvSpPr>
        <p:spPr>
          <a:xfrm>
            <a:off x="8275320" y="3611880"/>
            <a:ext cx="3017520" cy="1645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C'est simplement une mise à jour qui n'a pas été faite. »</a:t>
            </a:r>
            <a:endParaRPr lang="en-US" sz="1500" dirty="0"/>
          </a:p>
          <a:p>
            <a:pPr marL="0" indent="0">
              <a:buNone/>
            </a:pPr>
            <a:r>
              <a:rPr lang="en-US" sz="1500" b="1" dirty="0">
                <a:solidFill>
                  <a:srgbClr val="FFFFFF"/>
                </a:solidFill>
                <a:latin typeface="Calibri" pitchFamily="34" charset="0"/>
                <a:ea typeface="Calibri" pitchFamily="34" charset="-122"/>
                <a:cs typeface="Calibri" pitchFamily="34" charset="-120"/>
              </a:rPr>
              <a:t>Clément Domingo, hackeur éthique</a:t>
            </a:r>
            <a:endParaRPr lang="en-US" sz="1500" dirty="0"/>
          </a:p>
        </p:txBody>
      </p:sp>
      <p:sp>
        <p:nvSpPr>
          <p:cNvPr id="25" name="Text 22"/>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Danfoss, déclarations à l'AFP et franceinfo (12/10/2026) ; Generation-NT ; franceinfo ; Claroty Team82.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LA RÉPONSE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Ce qui a été fait après l'attaque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9</a:t>
            </a:r>
            <a:endParaRPr lang="en-US" sz="1000" dirty="0"/>
          </a:p>
        </p:txBody>
      </p:sp>
      <p:sp>
        <p:nvSpPr>
          <p:cNvPr id="8" name="Shape 5"/>
          <p:cNvSpPr/>
          <p:nvPr/>
        </p:nvSpPr>
        <p:spPr>
          <a:xfrm>
            <a:off x="640080" y="1783080"/>
            <a:ext cx="3474720" cy="4023360"/>
          </a:xfrm>
          <a:prstGeom prst="roundRect">
            <a:avLst>
              <a:gd name="adj" fmla="val 2105"/>
            </a:avLst>
          </a:prstGeom>
          <a:solidFill>
            <a:srgbClr val="16181D"/>
          </a:solidFill>
          <a:ln w="12700">
            <a:solidFill>
              <a:srgbClr val="16181D"/>
            </a:solidFill>
            <a:prstDash val="solid"/>
          </a:ln>
        </p:spPr>
        <p:txBody>
          <a:bodyPr/>
          <a:lstStyle/>
          <a:p>
            <a:endParaRPr lang="fr-BE"/>
          </a:p>
        </p:txBody>
      </p:sp>
      <p:sp>
        <p:nvSpPr>
          <p:cNvPr id="9" name="Text 6"/>
          <p:cNvSpPr txBox="1"/>
          <p:nvPr/>
        </p:nvSpPr>
        <p:spPr>
          <a:xfrm>
            <a:off x="914400" y="1920240"/>
            <a:ext cx="2926080" cy="457200"/>
          </a:xfrm>
          <a:prstGeom prst="rect">
            <a:avLst/>
          </a:prstGeom>
          <a:noFill/>
          <a:ln/>
        </p:spPr>
        <p:txBody>
          <a:bodyPr wrap="square" lIns="0" tIns="0" rIns="0" bIns="0" rtlCol="0" anchor="ctr"/>
          <a:lstStyle/>
          <a:p>
            <a:pPr marL="0" indent="0">
              <a:buNone/>
            </a:pPr>
            <a:r>
              <a:rPr lang="en-US" sz="1800" b="1" dirty="0">
                <a:solidFill>
                  <a:srgbClr val="E8590C"/>
                </a:solidFill>
                <a:latin typeface="Arial" pitchFamily="34" charset="0"/>
                <a:ea typeface="Arial" pitchFamily="34" charset="-122"/>
                <a:cs typeface="Arial" pitchFamily="34" charset="-120"/>
              </a:rPr>
              <a:t>CERT-FR (ANSSI)</a:t>
            </a:r>
            <a:endParaRPr lang="en-US" sz="1800" dirty="0"/>
          </a:p>
        </p:txBody>
      </p:sp>
      <p:sp>
        <p:nvSpPr>
          <p:cNvPr id="10" name="Text 7"/>
          <p:cNvSpPr txBox="1"/>
          <p:nvPr/>
        </p:nvSpPr>
        <p:spPr>
          <a:xfrm>
            <a:off x="914400" y="251460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Alerte CERTFR-2026-ALE-012 (12-13/10)</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Retirer l'exposition à Internet</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Accès distant par VPN uniquement</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Appliquer les mises à jour</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Si compromis : déconnecter, réinitialiser, reconfigurer</a:t>
            </a:r>
            <a:endParaRPr lang="en-US" sz="1450" dirty="0"/>
          </a:p>
        </p:txBody>
      </p:sp>
      <p:sp>
        <p:nvSpPr>
          <p:cNvPr id="11" name="Shape 8"/>
          <p:cNvSpPr/>
          <p:nvPr/>
        </p:nvSpPr>
        <p:spPr>
          <a:xfrm>
            <a:off x="4343400" y="1783080"/>
            <a:ext cx="3474720" cy="4023360"/>
          </a:xfrm>
          <a:prstGeom prst="roundRect">
            <a:avLst>
              <a:gd name="adj" fmla="val 2105"/>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4617720" y="1920240"/>
            <a:ext cx="292608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Justice et État</a:t>
            </a:r>
            <a:endParaRPr lang="en-US" sz="1800" dirty="0"/>
          </a:p>
        </p:txBody>
      </p:sp>
      <p:sp>
        <p:nvSpPr>
          <p:cNvPr id="13" name="Text 10"/>
          <p:cNvSpPr txBox="1"/>
          <p:nvPr/>
        </p:nvSpPr>
        <p:spPr>
          <a:xfrm>
            <a:off x="4617720" y="251460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Enquête du parquet de Paris</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Confiée à l'OFAC (anti-cybercriminalité)</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Le gouvernement saisit l'ANSSI</a:t>
            </a:r>
            <a:endParaRPr lang="en-US" sz="1450" dirty="0"/>
          </a:p>
        </p:txBody>
      </p:sp>
      <p:sp>
        <p:nvSpPr>
          <p:cNvPr id="14" name="Shape 11"/>
          <p:cNvSpPr/>
          <p:nvPr/>
        </p:nvSpPr>
        <p:spPr>
          <a:xfrm>
            <a:off x="8046720" y="1783080"/>
            <a:ext cx="3474720" cy="4023360"/>
          </a:xfrm>
          <a:prstGeom prst="roundRect">
            <a:avLst>
              <a:gd name="adj" fmla="val 2105"/>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8321040" y="1920240"/>
            <a:ext cx="292608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Danfoss et enseignes</a:t>
            </a:r>
            <a:endParaRPr lang="en-US" sz="1800" dirty="0"/>
          </a:p>
        </p:txBody>
      </p:sp>
      <p:sp>
        <p:nvSpPr>
          <p:cNvPr id="16" name="Text 13"/>
          <p:cNvSpPr txBox="1"/>
          <p:nvPr/>
        </p:nvSpPr>
        <p:spPr>
          <a:xfrm>
            <a:off x="8321040" y="251460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Remplacer les équipements en fin de vie</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Accompagner les mises à jour</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Destruction des produits par précaution</a:t>
            </a:r>
            <a:endParaRPr lang="en-US" sz="1450" dirty="0"/>
          </a:p>
        </p:txBody>
      </p:sp>
      <p:sp>
        <p:nvSpPr>
          <p:cNvPr id="17" name="Text 14"/>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CERT-FR, alerte CERTFR-2026-ALE-012 (12/10/2026, mise à jour le 13/10/2026) ; franceinfo ; Danfoss.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RÉAGIR AUTREMENT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Quatre occasions manquées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10</a:t>
            </a:r>
            <a:endParaRPr lang="en-US" sz="1000" dirty="0"/>
          </a:p>
        </p:txBody>
      </p:sp>
      <p:sp>
        <p:nvSpPr>
          <p:cNvPr id="8" name="Text 5"/>
          <p:cNvSpPr txBox="1"/>
          <p:nvPr/>
        </p:nvSpPr>
        <p:spPr>
          <a:xfrm>
            <a:off x="640080" y="1783080"/>
            <a:ext cx="2011680" cy="822960"/>
          </a:xfrm>
          <a:prstGeom prst="rect">
            <a:avLst/>
          </a:prstGeom>
          <a:noFill/>
          <a:ln/>
        </p:spPr>
        <p:txBody>
          <a:bodyPr wrap="square" lIns="0" tIns="0" rIns="0" bIns="0" rtlCol="0" anchor="ctr"/>
          <a:lstStyle/>
          <a:p>
            <a:pPr marL="0" indent="0">
              <a:buNone/>
            </a:pPr>
            <a:r>
              <a:rPr lang="en-US" sz="1900" b="1" dirty="0">
                <a:solidFill>
                  <a:srgbClr val="E8590C"/>
                </a:solidFill>
                <a:latin typeface="Arial" pitchFamily="34" charset="0"/>
                <a:ea typeface="Arial" pitchFamily="34" charset="-122"/>
                <a:cs typeface="Arial" pitchFamily="34" charset="-120"/>
              </a:rPr>
              <a:t>2023</a:t>
            </a:r>
            <a:endParaRPr lang="en-US" sz="1900" dirty="0"/>
          </a:p>
        </p:txBody>
      </p:sp>
      <p:sp>
        <p:nvSpPr>
          <p:cNvPr id="9" name="Text 6"/>
          <p:cNvSpPr txBox="1"/>
          <p:nvPr/>
        </p:nvSpPr>
        <p:spPr>
          <a:xfrm>
            <a:off x="2743200" y="1783080"/>
            <a:ext cx="8778240" cy="822960"/>
          </a:xfrm>
          <a:prstGeom prst="rect">
            <a:avLst/>
          </a:prstGeom>
          <a:noFill/>
          <a:ln/>
        </p:spPr>
        <p:txBody>
          <a:bodyPr wrap="square" lIns="0" tIns="0" rIns="0" bIns="0" rtlCol="0" anchor="ctr"/>
          <a:lstStyle/>
          <a:p>
            <a:pPr marL="0" indent="0">
              <a:buNone/>
            </a:pPr>
            <a:r>
              <a:rPr lang="en-US" sz="1700" dirty="0">
                <a:solidFill>
                  <a:srgbClr val="16181D"/>
                </a:solidFill>
                <a:latin typeface="Calibri" pitchFamily="34" charset="0"/>
                <a:ea typeface="Calibri" pitchFamily="34" charset="-122"/>
                <a:cs typeface="Calibri" pitchFamily="34" charset="-120"/>
              </a:rPr>
              <a:t>Traiter les notifications de DIVD : retirer les interfaces d'Internet.</a:t>
            </a:r>
            <a:endParaRPr lang="en-US" sz="1700" dirty="0"/>
          </a:p>
        </p:txBody>
      </p:sp>
      <p:sp>
        <p:nvSpPr>
          <p:cNvPr id="10" name="Shape 7"/>
          <p:cNvSpPr/>
          <p:nvPr/>
        </p:nvSpPr>
        <p:spPr>
          <a:xfrm>
            <a:off x="640080" y="2670048"/>
            <a:ext cx="10911535" cy="0"/>
          </a:xfrm>
          <a:prstGeom prst="line">
            <a:avLst/>
          </a:prstGeom>
          <a:noFill/>
          <a:ln w="12700">
            <a:solidFill>
              <a:srgbClr val="D9DCE1"/>
            </a:solidFill>
            <a:prstDash val="solid"/>
          </a:ln>
        </p:spPr>
        <p:txBody>
          <a:bodyPr/>
          <a:lstStyle/>
          <a:p>
            <a:endParaRPr lang="fr-BE"/>
          </a:p>
        </p:txBody>
      </p:sp>
      <p:sp>
        <p:nvSpPr>
          <p:cNvPr id="11" name="Text 8"/>
          <p:cNvSpPr txBox="1"/>
          <p:nvPr/>
        </p:nvSpPr>
        <p:spPr>
          <a:xfrm>
            <a:off x="640080" y="2743200"/>
            <a:ext cx="2011680" cy="822960"/>
          </a:xfrm>
          <a:prstGeom prst="rect">
            <a:avLst/>
          </a:prstGeom>
          <a:noFill/>
          <a:ln/>
        </p:spPr>
        <p:txBody>
          <a:bodyPr wrap="square" lIns="0" tIns="0" rIns="0" bIns="0" rtlCol="0" anchor="ctr"/>
          <a:lstStyle/>
          <a:p>
            <a:pPr marL="0" indent="0">
              <a:buNone/>
            </a:pPr>
            <a:r>
              <a:rPr lang="en-US" sz="1900" b="1" dirty="0">
                <a:solidFill>
                  <a:srgbClr val="E8590C"/>
                </a:solidFill>
                <a:latin typeface="Arial" pitchFamily="34" charset="0"/>
                <a:ea typeface="Arial" pitchFamily="34" charset="-122"/>
                <a:cs typeface="Arial" pitchFamily="34" charset="-120"/>
              </a:rPr>
              <a:t>2025</a:t>
            </a:r>
            <a:endParaRPr lang="en-US" sz="1900" dirty="0"/>
          </a:p>
        </p:txBody>
      </p:sp>
      <p:sp>
        <p:nvSpPr>
          <p:cNvPr id="12" name="Text 9"/>
          <p:cNvSpPr txBox="1"/>
          <p:nvPr/>
        </p:nvSpPr>
        <p:spPr>
          <a:xfrm>
            <a:off x="2743200" y="2743200"/>
            <a:ext cx="8778240" cy="822960"/>
          </a:xfrm>
          <a:prstGeom prst="rect">
            <a:avLst/>
          </a:prstGeom>
          <a:noFill/>
          <a:ln/>
        </p:spPr>
        <p:txBody>
          <a:bodyPr wrap="square" lIns="0" tIns="0" rIns="0" bIns="0" rtlCol="0" anchor="ctr"/>
          <a:lstStyle/>
          <a:p>
            <a:pPr marL="0" indent="0">
              <a:buNone/>
            </a:pPr>
            <a:r>
              <a:rPr lang="en-US" sz="1700" dirty="0">
                <a:solidFill>
                  <a:srgbClr val="16181D"/>
                </a:solidFill>
                <a:latin typeface="Calibri" pitchFamily="34" charset="0"/>
                <a:ea typeface="Calibri" pitchFamily="34" charset="-122"/>
                <a:cs typeface="Calibri" pitchFamily="34" charset="-120"/>
              </a:rPr>
              <a:t>Appliquer les correctifs R4.2 et 4.3.1. Planifier le remplacement des modèles en fin de vie.</a:t>
            </a:r>
            <a:endParaRPr lang="en-US" sz="1700" dirty="0"/>
          </a:p>
        </p:txBody>
      </p:sp>
      <p:sp>
        <p:nvSpPr>
          <p:cNvPr id="13" name="Shape 10"/>
          <p:cNvSpPr/>
          <p:nvPr/>
        </p:nvSpPr>
        <p:spPr>
          <a:xfrm>
            <a:off x="640080" y="3630168"/>
            <a:ext cx="10911535" cy="0"/>
          </a:xfrm>
          <a:prstGeom prst="line">
            <a:avLst/>
          </a:prstGeom>
          <a:noFill/>
          <a:ln w="12700">
            <a:solidFill>
              <a:srgbClr val="D9DCE1"/>
            </a:solidFill>
            <a:prstDash val="solid"/>
          </a:ln>
        </p:spPr>
        <p:txBody>
          <a:bodyPr/>
          <a:lstStyle/>
          <a:p>
            <a:endParaRPr lang="fr-BE"/>
          </a:p>
        </p:txBody>
      </p:sp>
      <p:sp>
        <p:nvSpPr>
          <p:cNvPr id="14" name="Text 11"/>
          <p:cNvSpPr txBox="1"/>
          <p:nvPr/>
        </p:nvSpPr>
        <p:spPr>
          <a:xfrm>
            <a:off x="640080" y="3703320"/>
            <a:ext cx="2011680" cy="822960"/>
          </a:xfrm>
          <a:prstGeom prst="rect">
            <a:avLst/>
          </a:prstGeom>
          <a:noFill/>
          <a:ln/>
        </p:spPr>
        <p:txBody>
          <a:bodyPr wrap="square" lIns="0" tIns="0" rIns="0" bIns="0" rtlCol="0" anchor="ctr"/>
          <a:lstStyle/>
          <a:p>
            <a:pPr marL="0" indent="0">
              <a:buNone/>
            </a:pPr>
            <a:r>
              <a:rPr lang="en-US" sz="1900" b="1" dirty="0">
                <a:solidFill>
                  <a:srgbClr val="E8590C"/>
                </a:solidFill>
                <a:latin typeface="Arial" pitchFamily="34" charset="0"/>
                <a:ea typeface="Arial" pitchFamily="34" charset="-122"/>
                <a:cs typeface="Arial" pitchFamily="34" charset="-120"/>
              </a:rPr>
              <a:t>Août 2026</a:t>
            </a:r>
            <a:endParaRPr lang="en-US" sz="1900" dirty="0"/>
          </a:p>
        </p:txBody>
      </p:sp>
      <p:sp>
        <p:nvSpPr>
          <p:cNvPr id="15" name="Text 12"/>
          <p:cNvSpPr txBox="1"/>
          <p:nvPr/>
        </p:nvSpPr>
        <p:spPr>
          <a:xfrm>
            <a:off x="2743200" y="3703320"/>
            <a:ext cx="8778240" cy="822960"/>
          </a:xfrm>
          <a:prstGeom prst="rect">
            <a:avLst/>
          </a:prstGeom>
          <a:noFill/>
          <a:ln/>
        </p:spPr>
        <p:txBody>
          <a:bodyPr wrap="square" lIns="0" tIns="0" rIns="0" bIns="0" rtlCol="0" anchor="ctr"/>
          <a:lstStyle/>
          <a:p>
            <a:pPr marL="0" indent="0">
              <a:buNone/>
            </a:pPr>
            <a:r>
              <a:rPr lang="en-US" sz="1700" dirty="0">
                <a:solidFill>
                  <a:srgbClr val="16181D"/>
                </a:solidFill>
                <a:latin typeface="Calibri" pitchFamily="34" charset="0"/>
                <a:ea typeface="Calibri" pitchFamily="34" charset="-122"/>
                <a:cs typeface="Calibri" pitchFamily="34" charset="-120"/>
              </a:rPr>
              <a:t>Après la publication de Claroty : vérifier si nos équipements sont visibles sur Internet.</a:t>
            </a:r>
            <a:endParaRPr lang="en-US" sz="1700" dirty="0"/>
          </a:p>
        </p:txBody>
      </p:sp>
      <p:sp>
        <p:nvSpPr>
          <p:cNvPr id="16" name="Shape 13"/>
          <p:cNvSpPr/>
          <p:nvPr/>
        </p:nvSpPr>
        <p:spPr>
          <a:xfrm>
            <a:off x="640080" y="4590288"/>
            <a:ext cx="10911535" cy="0"/>
          </a:xfrm>
          <a:prstGeom prst="line">
            <a:avLst/>
          </a:prstGeom>
          <a:noFill/>
          <a:ln w="12700">
            <a:solidFill>
              <a:srgbClr val="D9DCE1"/>
            </a:solidFill>
            <a:prstDash val="solid"/>
          </a:ln>
        </p:spPr>
        <p:txBody>
          <a:bodyPr/>
          <a:lstStyle/>
          <a:p>
            <a:endParaRPr lang="fr-BE"/>
          </a:p>
        </p:txBody>
      </p:sp>
      <p:sp>
        <p:nvSpPr>
          <p:cNvPr id="17" name="Text 14"/>
          <p:cNvSpPr txBox="1"/>
          <p:nvPr/>
        </p:nvSpPr>
        <p:spPr>
          <a:xfrm>
            <a:off x="640080" y="4663440"/>
            <a:ext cx="2011680" cy="822960"/>
          </a:xfrm>
          <a:prstGeom prst="rect">
            <a:avLst/>
          </a:prstGeom>
          <a:noFill/>
          <a:ln/>
        </p:spPr>
        <p:txBody>
          <a:bodyPr wrap="square" lIns="0" tIns="0" rIns="0" bIns="0" rtlCol="0" anchor="ctr"/>
          <a:lstStyle/>
          <a:p>
            <a:pPr marL="0" indent="0">
              <a:buNone/>
            </a:pPr>
            <a:r>
              <a:rPr lang="en-US" sz="1900" b="1" dirty="0">
                <a:solidFill>
                  <a:srgbClr val="C92A2A"/>
                </a:solidFill>
                <a:latin typeface="Arial" pitchFamily="34" charset="0"/>
                <a:ea typeface="Arial" pitchFamily="34" charset="-122"/>
                <a:cs typeface="Arial" pitchFamily="34" charset="-120"/>
              </a:rPr>
              <a:t>Le soir même</a:t>
            </a:r>
            <a:endParaRPr lang="en-US" sz="1900" dirty="0"/>
          </a:p>
        </p:txBody>
      </p:sp>
      <p:sp>
        <p:nvSpPr>
          <p:cNvPr id="18" name="Text 15"/>
          <p:cNvSpPr txBox="1"/>
          <p:nvPr/>
        </p:nvSpPr>
        <p:spPr>
          <a:xfrm>
            <a:off x="2743200" y="4663440"/>
            <a:ext cx="8778240" cy="822960"/>
          </a:xfrm>
          <a:prstGeom prst="rect">
            <a:avLst/>
          </a:prstGeom>
          <a:noFill/>
          <a:ln/>
        </p:spPr>
        <p:txBody>
          <a:bodyPr wrap="square" lIns="0" tIns="0" rIns="0" bIns="0" rtlCol="0" anchor="ctr"/>
          <a:lstStyle/>
          <a:p>
            <a:pPr marL="0" indent="0">
              <a:buNone/>
            </a:pPr>
            <a:r>
              <a:rPr lang="en-US" sz="1700" dirty="0">
                <a:solidFill>
                  <a:srgbClr val="16181D"/>
                </a:solidFill>
                <a:latin typeface="Calibri" pitchFamily="34" charset="0"/>
                <a:ea typeface="Calibri" pitchFamily="34" charset="-122"/>
                <a:cs typeface="Calibri" pitchFamily="34" charset="-120"/>
              </a:rPr>
              <a:t>Une alarme indépendante (sonde + SMS), couper l'accès distant, passer en mode local.</a:t>
            </a:r>
            <a:endParaRPr lang="en-US" sz="1700" dirty="0"/>
          </a:p>
        </p:txBody>
      </p:sp>
      <p:sp>
        <p:nvSpPr>
          <p:cNvPr id="19" name="Shape 16"/>
          <p:cNvSpPr/>
          <p:nvPr/>
        </p:nvSpPr>
        <p:spPr>
          <a:xfrm>
            <a:off x="640080" y="5550408"/>
            <a:ext cx="10911535" cy="0"/>
          </a:xfrm>
          <a:prstGeom prst="line">
            <a:avLst/>
          </a:prstGeom>
          <a:noFill/>
          <a:ln w="12700">
            <a:solidFill>
              <a:srgbClr val="D9DCE1"/>
            </a:solidFill>
            <a:prstDash val="solid"/>
          </a:ln>
        </p:spPr>
        <p:txBody>
          <a:bodyPr/>
          <a:lstStyle/>
          <a:p>
            <a:endParaRPr lang="fr-BE"/>
          </a:p>
        </p:txBody>
      </p:sp>
      <p:sp>
        <p:nvSpPr>
          <p:cNvPr id="20" name="Shape 17"/>
          <p:cNvSpPr/>
          <p:nvPr/>
        </p:nvSpPr>
        <p:spPr>
          <a:xfrm>
            <a:off x="640080" y="5669280"/>
            <a:ext cx="10911535" cy="548640"/>
          </a:xfrm>
          <a:prstGeom prst="roundRect">
            <a:avLst>
              <a:gd name="adj" fmla="val 13333"/>
            </a:avLst>
          </a:prstGeom>
          <a:solidFill>
            <a:srgbClr val="16181D"/>
          </a:solidFill>
          <a:ln w="12700">
            <a:solidFill>
              <a:srgbClr val="16181D"/>
            </a:solidFill>
            <a:prstDash val="solid"/>
          </a:ln>
        </p:spPr>
        <p:txBody>
          <a:bodyPr/>
          <a:lstStyle/>
          <a:p>
            <a:endParaRPr lang="fr-BE"/>
          </a:p>
        </p:txBody>
      </p:sp>
      <p:sp>
        <p:nvSpPr>
          <p:cNvPr id="21" name="Text 18"/>
          <p:cNvSpPr txBox="1"/>
          <p:nvPr/>
        </p:nvSpPr>
        <p:spPr>
          <a:xfrm>
            <a:off x="914400" y="5669280"/>
            <a:ext cx="10362895"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Et une sécurité physique : un thermostat câblé qui coupe le chauffage, impossible à piloter à distance.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LES BONNES PRATIQUES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Ce que ce cas enseigne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640080" y="1783080"/>
            <a:ext cx="2560320" cy="1828800"/>
          </a:xfrm>
          <a:prstGeom prst="roundRect">
            <a:avLst>
              <a:gd name="adj" fmla="val 4000"/>
            </a:avLst>
          </a:prstGeom>
          <a:solidFill>
            <a:srgbClr val="16181D"/>
          </a:solidFill>
          <a:ln w="12700">
            <a:solidFill>
              <a:srgbClr val="16181D"/>
            </a:solidFill>
            <a:prstDash val="solid"/>
          </a:ln>
        </p:spPr>
        <p:txBody>
          <a:bodyPr/>
          <a:lstStyle/>
          <a:p>
            <a:endParaRPr lang="fr-BE"/>
          </a:p>
        </p:txBody>
      </p:sp>
      <p:sp>
        <p:nvSpPr>
          <p:cNvPr id="9" name="Text 6"/>
          <p:cNvSpPr txBox="1"/>
          <p:nvPr/>
        </p:nvSpPr>
        <p:spPr>
          <a:xfrm>
            <a:off x="822960" y="1892808"/>
            <a:ext cx="457200" cy="457200"/>
          </a:xfrm>
          <a:prstGeom prst="rect">
            <a:avLst/>
          </a:prstGeom>
          <a:noFill/>
          <a:ln/>
        </p:spPr>
        <p:txBody>
          <a:bodyPr wrap="square" lIns="0" tIns="0" rIns="0" bIns="0" rtlCol="0" anchor="ctr"/>
          <a:lstStyle/>
          <a:p>
            <a:pPr marL="0" indent="0">
              <a:buNone/>
            </a:pPr>
            <a:r>
              <a:rPr lang="en-US" sz="2200" b="1" dirty="0">
                <a:solidFill>
                  <a:srgbClr val="E8590C"/>
                </a:solidFill>
                <a:latin typeface="Arial" pitchFamily="34" charset="0"/>
                <a:ea typeface="Arial" pitchFamily="34" charset="-122"/>
                <a:cs typeface="Arial" pitchFamily="34" charset="-120"/>
              </a:rPr>
              <a:t>1</a:t>
            </a:r>
            <a:endParaRPr lang="en-US" sz="2200" dirty="0"/>
          </a:p>
        </p:txBody>
      </p:sp>
      <p:sp>
        <p:nvSpPr>
          <p:cNvPr id="10" name="Text 7"/>
          <p:cNvSpPr txBox="1"/>
          <p:nvPr/>
        </p:nvSpPr>
        <p:spPr>
          <a:xfrm>
            <a:off x="822960" y="2331720"/>
            <a:ext cx="2240280" cy="548640"/>
          </a:xfrm>
          <a:prstGeom prst="rect">
            <a:avLst/>
          </a:prstGeom>
          <a:noFill/>
          <a:ln/>
        </p:spPr>
        <p:txBody>
          <a:bodyPr wrap="square" lIns="0" tIns="0" rIns="0" bIns="0" rtlCol="0" anchor="t"/>
          <a:lstStyle/>
          <a:p>
            <a:pPr marL="0" indent="0">
              <a:buNone/>
            </a:pPr>
            <a:r>
              <a:rPr lang="en-US" sz="1450" b="1" dirty="0">
                <a:solidFill>
                  <a:srgbClr val="FFFFFF"/>
                </a:solidFill>
                <a:latin typeface="Arial" pitchFamily="34" charset="0"/>
                <a:ea typeface="Arial" pitchFamily="34" charset="-122"/>
                <a:cs typeface="Arial" pitchFamily="34" charset="-120"/>
              </a:rPr>
              <a:t>Rien d'exposé sur Internet</a:t>
            </a:r>
            <a:endParaRPr lang="en-US" sz="1450" dirty="0"/>
          </a:p>
        </p:txBody>
      </p:sp>
      <p:sp>
        <p:nvSpPr>
          <p:cNvPr id="11" name="Text 8"/>
          <p:cNvSpPr txBox="1"/>
          <p:nvPr/>
        </p:nvSpPr>
        <p:spPr>
          <a:xfrm>
            <a:off x="822960" y="2880360"/>
            <a:ext cx="2240280" cy="685800"/>
          </a:xfrm>
          <a:prstGeom prst="rect">
            <a:avLst/>
          </a:prstGeom>
          <a:noFill/>
          <a:ln/>
        </p:spPr>
        <p:txBody>
          <a:bodyPr wrap="square" lIns="0" tIns="0" rIns="0" bIns="0" rtlCol="0" anchor="t"/>
          <a:lstStyle/>
          <a:p>
            <a:pPr marL="0" indent="0">
              <a:buNone/>
            </a:pPr>
            <a:r>
              <a:rPr lang="en-US" sz="1250" dirty="0">
                <a:solidFill>
                  <a:srgbClr val="C9CDD3"/>
                </a:solidFill>
                <a:latin typeface="Calibri" pitchFamily="34" charset="0"/>
                <a:ea typeface="Calibri" pitchFamily="34" charset="-122"/>
                <a:cs typeface="Calibri" pitchFamily="34" charset="-120"/>
              </a:rPr>
              <a:t>Accès distant par VPN ou bastion, ouvert à la demande.</a:t>
            </a:r>
            <a:endParaRPr lang="en-US" sz="1250" dirty="0"/>
          </a:p>
        </p:txBody>
      </p:sp>
      <p:sp>
        <p:nvSpPr>
          <p:cNvPr id="12" name="Shape 9"/>
          <p:cNvSpPr/>
          <p:nvPr/>
        </p:nvSpPr>
        <p:spPr>
          <a:xfrm>
            <a:off x="3383280" y="1783080"/>
            <a:ext cx="2560320" cy="1828800"/>
          </a:xfrm>
          <a:prstGeom prst="roundRect">
            <a:avLst>
              <a:gd name="adj" fmla="val 4000"/>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3566160" y="1892808"/>
            <a:ext cx="457200" cy="457200"/>
          </a:xfrm>
          <a:prstGeom prst="rect">
            <a:avLst/>
          </a:prstGeom>
          <a:noFill/>
          <a:ln/>
        </p:spPr>
        <p:txBody>
          <a:bodyPr wrap="square" lIns="0" tIns="0" rIns="0" bIns="0" rtlCol="0" anchor="ctr"/>
          <a:lstStyle/>
          <a:p>
            <a:pPr marL="0" indent="0">
              <a:buNone/>
            </a:pPr>
            <a:r>
              <a:rPr lang="en-US" sz="2200" b="1" dirty="0">
                <a:solidFill>
                  <a:srgbClr val="E8590C"/>
                </a:solidFill>
                <a:latin typeface="Arial" pitchFamily="34" charset="0"/>
                <a:ea typeface="Arial" pitchFamily="34" charset="-122"/>
                <a:cs typeface="Arial" pitchFamily="34" charset="-120"/>
              </a:rPr>
              <a:t>2</a:t>
            </a:r>
            <a:endParaRPr lang="en-US" sz="2200" dirty="0"/>
          </a:p>
        </p:txBody>
      </p:sp>
      <p:sp>
        <p:nvSpPr>
          <p:cNvPr id="14" name="Text 11"/>
          <p:cNvSpPr txBox="1"/>
          <p:nvPr/>
        </p:nvSpPr>
        <p:spPr>
          <a:xfrm>
            <a:off x="3566160" y="2331720"/>
            <a:ext cx="2240280" cy="548640"/>
          </a:xfrm>
          <a:prstGeom prst="rect">
            <a:avLst/>
          </a:prstGeom>
          <a:noFill/>
          <a:ln/>
        </p:spPr>
        <p:txBody>
          <a:bodyPr wrap="square" lIns="0" tIns="0" rIns="0" bIns="0" rtlCol="0" anchor="t"/>
          <a:lstStyle/>
          <a:p>
            <a:pPr marL="0" indent="0">
              <a:buNone/>
            </a:pPr>
            <a:r>
              <a:rPr lang="en-US" sz="1450" b="1" dirty="0">
                <a:solidFill>
                  <a:srgbClr val="16181D"/>
                </a:solidFill>
                <a:latin typeface="Arial" pitchFamily="34" charset="0"/>
                <a:ea typeface="Arial" pitchFamily="34" charset="-122"/>
                <a:cs typeface="Arial" pitchFamily="34" charset="-120"/>
              </a:rPr>
              <a:t>Un inventaire complet</a:t>
            </a:r>
            <a:endParaRPr lang="en-US" sz="1450" dirty="0"/>
          </a:p>
        </p:txBody>
      </p:sp>
      <p:sp>
        <p:nvSpPr>
          <p:cNvPr id="15" name="Text 12"/>
          <p:cNvSpPr txBox="1"/>
          <p:nvPr/>
        </p:nvSpPr>
        <p:spPr>
          <a:xfrm>
            <a:off x="3566160" y="2880360"/>
            <a:ext cx="2240280" cy="685800"/>
          </a:xfrm>
          <a:prstGeom prst="rect">
            <a:avLst/>
          </a:prstGeom>
          <a:noFill/>
          <a:ln/>
        </p:spPr>
        <p:txBody>
          <a:bodyPr wrap="square" lIns="0" tIns="0" rIns="0" bIns="0" rtlCol="0" anchor="t"/>
          <a:lstStyle/>
          <a:p>
            <a:pPr marL="0" indent="0">
              <a:buNone/>
            </a:pPr>
            <a:r>
              <a:rPr lang="en-US" sz="1250" dirty="0">
                <a:solidFill>
                  <a:srgbClr val="5F6670"/>
                </a:solidFill>
                <a:latin typeface="Calibri" pitchFamily="34" charset="0"/>
                <a:ea typeface="Calibri" pitchFamily="34" charset="-122"/>
                <a:cs typeface="Calibri" pitchFamily="34" charset="-120"/>
              </a:rPr>
              <a:t>Y compris les équipements des services techniques et des prestataires.</a:t>
            </a:r>
            <a:endParaRPr lang="en-US" sz="1250" dirty="0"/>
          </a:p>
        </p:txBody>
      </p:sp>
      <p:sp>
        <p:nvSpPr>
          <p:cNvPr id="16" name="Shape 13"/>
          <p:cNvSpPr/>
          <p:nvPr/>
        </p:nvSpPr>
        <p:spPr>
          <a:xfrm>
            <a:off x="6126480" y="1783080"/>
            <a:ext cx="2560320" cy="1828800"/>
          </a:xfrm>
          <a:prstGeom prst="roundRect">
            <a:avLst>
              <a:gd name="adj" fmla="val 4000"/>
            </a:avLst>
          </a:prstGeom>
          <a:solidFill>
            <a:srgbClr val="F2F3F5"/>
          </a:solidFill>
          <a:ln w="12700">
            <a:solidFill>
              <a:srgbClr val="F2F3F5"/>
            </a:solidFill>
            <a:prstDash val="solid"/>
          </a:ln>
        </p:spPr>
        <p:txBody>
          <a:bodyPr/>
          <a:lstStyle/>
          <a:p>
            <a:endParaRPr lang="fr-BE"/>
          </a:p>
        </p:txBody>
      </p:sp>
      <p:sp>
        <p:nvSpPr>
          <p:cNvPr id="17" name="Text 14"/>
          <p:cNvSpPr txBox="1"/>
          <p:nvPr/>
        </p:nvSpPr>
        <p:spPr>
          <a:xfrm>
            <a:off x="6309360" y="1892808"/>
            <a:ext cx="457200" cy="457200"/>
          </a:xfrm>
          <a:prstGeom prst="rect">
            <a:avLst/>
          </a:prstGeom>
          <a:noFill/>
          <a:ln/>
        </p:spPr>
        <p:txBody>
          <a:bodyPr wrap="square" lIns="0" tIns="0" rIns="0" bIns="0" rtlCol="0" anchor="ctr"/>
          <a:lstStyle/>
          <a:p>
            <a:pPr marL="0" indent="0">
              <a:buNone/>
            </a:pPr>
            <a:r>
              <a:rPr lang="en-US" sz="2200" b="1" dirty="0">
                <a:solidFill>
                  <a:srgbClr val="E8590C"/>
                </a:solidFill>
                <a:latin typeface="Arial" pitchFamily="34" charset="0"/>
                <a:ea typeface="Arial" pitchFamily="34" charset="-122"/>
                <a:cs typeface="Arial" pitchFamily="34" charset="-120"/>
              </a:rPr>
              <a:t>3</a:t>
            </a:r>
            <a:endParaRPr lang="en-US" sz="2200" dirty="0"/>
          </a:p>
        </p:txBody>
      </p:sp>
      <p:sp>
        <p:nvSpPr>
          <p:cNvPr id="18" name="Text 15"/>
          <p:cNvSpPr txBox="1"/>
          <p:nvPr/>
        </p:nvSpPr>
        <p:spPr>
          <a:xfrm>
            <a:off x="6309360" y="2331720"/>
            <a:ext cx="2240280" cy="548640"/>
          </a:xfrm>
          <a:prstGeom prst="rect">
            <a:avLst/>
          </a:prstGeom>
          <a:noFill/>
          <a:ln/>
        </p:spPr>
        <p:txBody>
          <a:bodyPr wrap="square" lIns="0" tIns="0" rIns="0" bIns="0" rtlCol="0" anchor="t"/>
          <a:lstStyle/>
          <a:p>
            <a:pPr marL="0" indent="0">
              <a:buNone/>
            </a:pPr>
            <a:r>
              <a:rPr lang="en-US" sz="1450" b="1" dirty="0">
                <a:solidFill>
                  <a:srgbClr val="16181D"/>
                </a:solidFill>
                <a:latin typeface="Arial" pitchFamily="34" charset="0"/>
                <a:ea typeface="Arial" pitchFamily="34" charset="-122"/>
                <a:cs typeface="Arial" pitchFamily="34" charset="-120"/>
              </a:rPr>
              <a:t>Mettre à jour, remplacer</a:t>
            </a:r>
            <a:endParaRPr lang="en-US" sz="1450" dirty="0"/>
          </a:p>
        </p:txBody>
      </p:sp>
      <p:sp>
        <p:nvSpPr>
          <p:cNvPr id="19" name="Text 16"/>
          <p:cNvSpPr txBox="1"/>
          <p:nvPr/>
        </p:nvSpPr>
        <p:spPr>
          <a:xfrm>
            <a:off x="6309360" y="2880360"/>
            <a:ext cx="2240280" cy="685800"/>
          </a:xfrm>
          <a:prstGeom prst="rect">
            <a:avLst/>
          </a:prstGeom>
          <a:noFill/>
          <a:ln/>
        </p:spPr>
        <p:txBody>
          <a:bodyPr wrap="square" lIns="0" tIns="0" rIns="0" bIns="0" rtlCol="0" anchor="t"/>
          <a:lstStyle/>
          <a:p>
            <a:pPr marL="0" indent="0">
              <a:buNone/>
            </a:pPr>
            <a:r>
              <a:rPr lang="en-US" sz="1250" dirty="0">
                <a:solidFill>
                  <a:srgbClr val="5F6670"/>
                </a:solidFill>
                <a:latin typeface="Calibri" pitchFamily="34" charset="0"/>
                <a:ea typeface="Calibri" pitchFamily="34" charset="-122"/>
                <a:cs typeface="Calibri" pitchFamily="34" charset="-120"/>
              </a:rPr>
              <a:t>Suivre les avis de sécurité, budgéter la fin de vie.</a:t>
            </a:r>
            <a:endParaRPr lang="en-US" sz="1250" dirty="0"/>
          </a:p>
        </p:txBody>
      </p:sp>
      <p:sp>
        <p:nvSpPr>
          <p:cNvPr id="20" name="Shape 17"/>
          <p:cNvSpPr/>
          <p:nvPr/>
        </p:nvSpPr>
        <p:spPr>
          <a:xfrm>
            <a:off x="8869680" y="1783080"/>
            <a:ext cx="2560320" cy="1828800"/>
          </a:xfrm>
          <a:prstGeom prst="roundRect">
            <a:avLst>
              <a:gd name="adj" fmla="val 4000"/>
            </a:avLst>
          </a:prstGeom>
          <a:solidFill>
            <a:srgbClr val="F2F3F5"/>
          </a:solidFill>
          <a:ln w="12700">
            <a:solidFill>
              <a:srgbClr val="F2F3F5"/>
            </a:solidFill>
            <a:prstDash val="solid"/>
          </a:ln>
        </p:spPr>
        <p:txBody>
          <a:bodyPr/>
          <a:lstStyle/>
          <a:p>
            <a:endParaRPr lang="fr-BE"/>
          </a:p>
        </p:txBody>
      </p:sp>
      <p:sp>
        <p:nvSpPr>
          <p:cNvPr id="21" name="Text 18"/>
          <p:cNvSpPr txBox="1"/>
          <p:nvPr/>
        </p:nvSpPr>
        <p:spPr>
          <a:xfrm>
            <a:off x="9052560" y="1892808"/>
            <a:ext cx="457200" cy="457200"/>
          </a:xfrm>
          <a:prstGeom prst="rect">
            <a:avLst/>
          </a:prstGeom>
          <a:noFill/>
          <a:ln/>
        </p:spPr>
        <p:txBody>
          <a:bodyPr wrap="square" lIns="0" tIns="0" rIns="0" bIns="0" rtlCol="0" anchor="ctr"/>
          <a:lstStyle/>
          <a:p>
            <a:pPr marL="0" indent="0">
              <a:buNone/>
            </a:pPr>
            <a:r>
              <a:rPr lang="en-US" sz="2200" b="1" dirty="0">
                <a:solidFill>
                  <a:srgbClr val="E8590C"/>
                </a:solidFill>
                <a:latin typeface="Arial" pitchFamily="34" charset="0"/>
                <a:ea typeface="Arial" pitchFamily="34" charset="-122"/>
                <a:cs typeface="Arial" pitchFamily="34" charset="-120"/>
              </a:rPr>
              <a:t>4</a:t>
            </a:r>
            <a:endParaRPr lang="en-US" sz="2200" dirty="0"/>
          </a:p>
        </p:txBody>
      </p:sp>
      <p:sp>
        <p:nvSpPr>
          <p:cNvPr id="22" name="Text 19"/>
          <p:cNvSpPr txBox="1"/>
          <p:nvPr/>
        </p:nvSpPr>
        <p:spPr>
          <a:xfrm>
            <a:off x="9052560" y="2331720"/>
            <a:ext cx="2240280" cy="548640"/>
          </a:xfrm>
          <a:prstGeom prst="rect">
            <a:avLst/>
          </a:prstGeom>
          <a:noFill/>
          <a:ln/>
        </p:spPr>
        <p:txBody>
          <a:bodyPr wrap="square" lIns="0" tIns="0" rIns="0" bIns="0" rtlCol="0" anchor="t"/>
          <a:lstStyle/>
          <a:p>
            <a:pPr marL="0" indent="0">
              <a:buNone/>
            </a:pPr>
            <a:r>
              <a:rPr lang="en-US" sz="1450" b="1" dirty="0">
                <a:solidFill>
                  <a:srgbClr val="16181D"/>
                </a:solidFill>
                <a:latin typeface="Arial" pitchFamily="34" charset="0"/>
                <a:ea typeface="Arial" pitchFamily="34" charset="-122"/>
                <a:cs typeface="Arial" pitchFamily="34" charset="-120"/>
              </a:rPr>
              <a:t>Pas de mot de passe par défaut</a:t>
            </a:r>
            <a:endParaRPr lang="en-US" sz="1450" dirty="0"/>
          </a:p>
        </p:txBody>
      </p:sp>
      <p:sp>
        <p:nvSpPr>
          <p:cNvPr id="23" name="Text 20"/>
          <p:cNvSpPr txBox="1"/>
          <p:nvPr/>
        </p:nvSpPr>
        <p:spPr>
          <a:xfrm>
            <a:off x="9052560" y="2880360"/>
            <a:ext cx="2240280" cy="685800"/>
          </a:xfrm>
          <a:prstGeom prst="rect">
            <a:avLst/>
          </a:prstGeom>
          <a:noFill/>
          <a:ln/>
        </p:spPr>
        <p:txBody>
          <a:bodyPr wrap="square" lIns="0" tIns="0" rIns="0" bIns="0" rtlCol="0" anchor="t"/>
          <a:lstStyle/>
          <a:p>
            <a:pPr marL="0" indent="0">
              <a:buNone/>
            </a:pPr>
            <a:r>
              <a:rPr lang="en-US" sz="1250" dirty="0">
                <a:solidFill>
                  <a:srgbClr val="5F6670"/>
                </a:solidFill>
                <a:latin typeface="Calibri" pitchFamily="34" charset="0"/>
                <a:ea typeface="Calibri" pitchFamily="34" charset="-122"/>
                <a:cs typeface="Calibri" pitchFamily="34" charset="-120"/>
              </a:rPr>
              <a:t>Ni calculable, ni partagé entre sites.</a:t>
            </a:r>
            <a:endParaRPr lang="en-US" sz="1250" dirty="0"/>
          </a:p>
        </p:txBody>
      </p:sp>
      <p:sp>
        <p:nvSpPr>
          <p:cNvPr id="24" name="Shape 21"/>
          <p:cNvSpPr/>
          <p:nvPr/>
        </p:nvSpPr>
        <p:spPr>
          <a:xfrm>
            <a:off x="640080" y="3794760"/>
            <a:ext cx="2560320" cy="1828800"/>
          </a:xfrm>
          <a:prstGeom prst="roundRect">
            <a:avLst>
              <a:gd name="adj" fmla="val 4000"/>
            </a:avLst>
          </a:prstGeom>
          <a:solidFill>
            <a:srgbClr val="F2F3F5"/>
          </a:solidFill>
          <a:ln w="12700">
            <a:solidFill>
              <a:srgbClr val="F2F3F5"/>
            </a:solidFill>
            <a:prstDash val="solid"/>
          </a:ln>
        </p:spPr>
        <p:txBody>
          <a:bodyPr/>
          <a:lstStyle/>
          <a:p>
            <a:endParaRPr lang="fr-BE"/>
          </a:p>
        </p:txBody>
      </p:sp>
      <p:sp>
        <p:nvSpPr>
          <p:cNvPr id="25" name="Text 22"/>
          <p:cNvSpPr txBox="1"/>
          <p:nvPr/>
        </p:nvSpPr>
        <p:spPr>
          <a:xfrm>
            <a:off x="822960" y="3904488"/>
            <a:ext cx="457200" cy="457200"/>
          </a:xfrm>
          <a:prstGeom prst="rect">
            <a:avLst/>
          </a:prstGeom>
          <a:noFill/>
          <a:ln/>
        </p:spPr>
        <p:txBody>
          <a:bodyPr wrap="square" lIns="0" tIns="0" rIns="0" bIns="0" rtlCol="0" anchor="ctr"/>
          <a:lstStyle/>
          <a:p>
            <a:pPr marL="0" indent="0">
              <a:buNone/>
            </a:pPr>
            <a:r>
              <a:rPr lang="en-US" sz="2200" b="1" dirty="0">
                <a:solidFill>
                  <a:srgbClr val="E8590C"/>
                </a:solidFill>
                <a:latin typeface="Arial" pitchFamily="34" charset="0"/>
                <a:ea typeface="Arial" pitchFamily="34" charset="-122"/>
                <a:cs typeface="Arial" pitchFamily="34" charset="-120"/>
              </a:rPr>
              <a:t>5</a:t>
            </a:r>
            <a:endParaRPr lang="en-US" sz="2200" dirty="0"/>
          </a:p>
        </p:txBody>
      </p:sp>
      <p:sp>
        <p:nvSpPr>
          <p:cNvPr id="26" name="Text 23"/>
          <p:cNvSpPr txBox="1"/>
          <p:nvPr/>
        </p:nvSpPr>
        <p:spPr>
          <a:xfrm>
            <a:off x="822960" y="4343400"/>
            <a:ext cx="2240280" cy="548640"/>
          </a:xfrm>
          <a:prstGeom prst="rect">
            <a:avLst/>
          </a:prstGeom>
          <a:noFill/>
          <a:ln/>
        </p:spPr>
        <p:txBody>
          <a:bodyPr wrap="square" lIns="0" tIns="0" rIns="0" bIns="0" rtlCol="0" anchor="t"/>
          <a:lstStyle/>
          <a:p>
            <a:pPr marL="0" indent="0">
              <a:buNone/>
            </a:pPr>
            <a:r>
              <a:rPr lang="en-US" sz="1450" b="1" dirty="0">
                <a:solidFill>
                  <a:srgbClr val="16181D"/>
                </a:solidFill>
                <a:latin typeface="Arial" pitchFamily="34" charset="0"/>
                <a:ea typeface="Arial" pitchFamily="34" charset="-122"/>
                <a:cs typeface="Arial" pitchFamily="34" charset="-120"/>
              </a:rPr>
              <a:t>Surveiller les changements</a:t>
            </a:r>
            <a:endParaRPr lang="en-US" sz="1450" dirty="0"/>
          </a:p>
        </p:txBody>
      </p:sp>
      <p:sp>
        <p:nvSpPr>
          <p:cNvPr id="27" name="Text 24"/>
          <p:cNvSpPr txBox="1"/>
          <p:nvPr/>
        </p:nvSpPr>
        <p:spPr>
          <a:xfrm>
            <a:off x="822960" y="4892040"/>
            <a:ext cx="2240280" cy="685800"/>
          </a:xfrm>
          <a:prstGeom prst="rect">
            <a:avLst/>
          </a:prstGeom>
          <a:noFill/>
          <a:ln/>
        </p:spPr>
        <p:txBody>
          <a:bodyPr wrap="square" lIns="0" tIns="0" rIns="0" bIns="0" rtlCol="0" anchor="t"/>
          <a:lstStyle/>
          <a:p>
            <a:pPr marL="0" indent="0">
              <a:buNone/>
            </a:pPr>
            <a:r>
              <a:rPr lang="en-US" sz="1250" dirty="0">
                <a:solidFill>
                  <a:srgbClr val="5F6670"/>
                </a:solidFill>
                <a:latin typeface="Calibri" pitchFamily="34" charset="0"/>
                <a:ea typeface="Calibri" pitchFamily="34" charset="-122"/>
                <a:cs typeface="Calibri" pitchFamily="34" charset="-120"/>
              </a:rPr>
              <a:t>Alerter sur une consigne ou une durée anormale.</a:t>
            </a:r>
            <a:endParaRPr lang="en-US" sz="1250" dirty="0"/>
          </a:p>
        </p:txBody>
      </p:sp>
      <p:sp>
        <p:nvSpPr>
          <p:cNvPr id="28" name="Shape 25"/>
          <p:cNvSpPr/>
          <p:nvPr/>
        </p:nvSpPr>
        <p:spPr>
          <a:xfrm>
            <a:off x="3383280" y="3794760"/>
            <a:ext cx="2560320" cy="1828800"/>
          </a:xfrm>
          <a:prstGeom prst="roundRect">
            <a:avLst>
              <a:gd name="adj" fmla="val 4000"/>
            </a:avLst>
          </a:prstGeom>
          <a:solidFill>
            <a:srgbClr val="F2F3F5"/>
          </a:solidFill>
          <a:ln w="12700">
            <a:solidFill>
              <a:srgbClr val="F2F3F5"/>
            </a:solidFill>
            <a:prstDash val="solid"/>
          </a:ln>
        </p:spPr>
        <p:txBody>
          <a:bodyPr/>
          <a:lstStyle/>
          <a:p>
            <a:endParaRPr lang="fr-BE"/>
          </a:p>
        </p:txBody>
      </p:sp>
      <p:sp>
        <p:nvSpPr>
          <p:cNvPr id="29" name="Text 26"/>
          <p:cNvSpPr txBox="1"/>
          <p:nvPr/>
        </p:nvSpPr>
        <p:spPr>
          <a:xfrm>
            <a:off x="3566160" y="3904488"/>
            <a:ext cx="457200" cy="457200"/>
          </a:xfrm>
          <a:prstGeom prst="rect">
            <a:avLst/>
          </a:prstGeom>
          <a:noFill/>
          <a:ln/>
        </p:spPr>
        <p:txBody>
          <a:bodyPr wrap="square" lIns="0" tIns="0" rIns="0" bIns="0" rtlCol="0" anchor="ctr"/>
          <a:lstStyle/>
          <a:p>
            <a:pPr marL="0" indent="0">
              <a:buNone/>
            </a:pPr>
            <a:r>
              <a:rPr lang="en-US" sz="2200" b="1" dirty="0">
                <a:solidFill>
                  <a:srgbClr val="E8590C"/>
                </a:solidFill>
                <a:latin typeface="Arial" pitchFamily="34" charset="0"/>
                <a:ea typeface="Arial" pitchFamily="34" charset="-122"/>
                <a:cs typeface="Arial" pitchFamily="34" charset="-120"/>
              </a:rPr>
              <a:t>6</a:t>
            </a:r>
            <a:endParaRPr lang="en-US" sz="2200" dirty="0"/>
          </a:p>
        </p:txBody>
      </p:sp>
      <p:sp>
        <p:nvSpPr>
          <p:cNvPr id="30" name="Text 27"/>
          <p:cNvSpPr txBox="1"/>
          <p:nvPr/>
        </p:nvSpPr>
        <p:spPr>
          <a:xfrm>
            <a:off x="3566160" y="4343400"/>
            <a:ext cx="2240280" cy="548640"/>
          </a:xfrm>
          <a:prstGeom prst="rect">
            <a:avLst/>
          </a:prstGeom>
          <a:noFill/>
          <a:ln/>
        </p:spPr>
        <p:txBody>
          <a:bodyPr wrap="square" lIns="0" tIns="0" rIns="0" bIns="0" rtlCol="0" anchor="t"/>
          <a:lstStyle/>
          <a:p>
            <a:pPr marL="0" indent="0">
              <a:buNone/>
            </a:pPr>
            <a:r>
              <a:rPr lang="en-US" sz="1450" b="1" dirty="0">
                <a:solidFill>
                  <a:srgbClr val="16181D"/>
                </a:solidFill>
                <a:latin typeface="Arial" pitchFamily="34" charset="0"/>
                <a:ea typeface="Arial" pitchFamily="34" charset="-122"/>
                <a:cs typeface="Arial" pitchFamily="34" charset="-120"/>
              </a:rPr>
              <a:t>Des sécurités indépendantes</a:t>
            </a:r>
            <a:endParaRPr lang="en-US" sz="1450" dirty="0"/>
          </a:p>
        </p:txBody>
      </p:sp>
      <p:sp>
        <p:nvSpPr>
          <p:cNvPr id="31" name="Text 28"/>
          <p:cNvSpPr txBox="1"/>
          <p:nvPr/>
        </p:nvSpPr>
        <p:spPr>
          <a:xfrm>
            <a:off x="3566160" y="4892040"/>
            <a:ext cx="2240280" cy="685800"/>
          </a:xfrm>
          <a:prstGeom prst="rect">
            <a:avLst/>
          </a:prstGeom>
          <a:noFill/>
          <a:ln/>
        </p:spPr>
        <p:txBody>
          <a:bodyPr wrap="square" lIns="0" tIns="0" rIns="0" bIns="0" rtlCol="0" anchor="t"/>
          <a:lstStyle/>
          <a:p>
            <a:pPr marL="0" indent="0">
              <a:buNone/>
            </a:pPr>
            <a:r>
              <a:rPr lang="en-US" sz="1250" dirty="0">
                <a:solidFill>
                  <a:srgbClr val="5F6670"/>
                </a:solidFill>
                <a:latin typeface="Calibri" pitchFamily="34" charset="0"/>
                <a:ea typeface="Calibri" pitchFamily="34" charset="-122"/>
                <a:cs typeface="Calibri" pitchFamily="34" charset="-120"/>
              </a:rPr>
              <a:t>Alarme autonome, limite physique câblée.</a:t>
            </a:r>
            <a:endParaRPr lang="en-US" sz="1250" dirty="0"/>
          </a:p>
        </p:txBody>
      </p:sp>
      <p:sp>
        <p:nvSpPr>
          <p:cNvPr id="32" name="Shape 29"/>
          <p:cNvSpPr/>
          <p:nvPr/>
        </p:nvSpPr>
        <p:spPr>
          <a:xfrm>
            <a:off x="6126480" y="3794760"/>
            <a:ext cx="2560320" cy="1828800"/>
          </a:xfrm>
          <a:prstGeom prst="roundRect">
            <a:avLst>
              <a:gd name="adj" fmla="val 4000"/>
            </a:avLst>
          </a:prstGeom>
          <a:solidFill>
            <a:srgbClr val="F2F3F5"/>
          </a:solidFill>
          <a:ln w="12700">
            <a:solidFill>
              <a:srgbClr val="F2F3F5"/>
            </a:solidFill>
            <a:prstDash val="solid"/>
          </a:ln>
        </p:spPr>
        <p:txBody>
          <a:bodyPr/>
          <a:lstStyle/>
          <a:p>
            <a:endParaRPr lang="fr-BE"/>
          </a:p>
        </p:txBody>
      </p:sp>
      <p:sp>
        <p:nvSpPr>
          <p:cNvPr id="33" name="Text 30"/>
          <p:cNvSpPr txBox="1"/>
          <p:nvPr/>
        </p:nvSpPr>
        <p:spPr>
          <a:xfrm>
            <a:off x="6309360" y="3904488"/>
            <a:ext cx="457200" cy="457200"/>
          </a:xfrm>
          <a:prstGeom prst="rect">
            <a:avLst/>
          </a:prstGeom>
          <a:noFill/>
          <a:ln/>
        </p:spPr>
        <p:txBody>
          <a:bodyPr wrap="square" lIns="0" tIns="0" rIns="0" bIns="0" rtlCol="0" anchor="ctr"/>
          <a:lstStyle/>
          <a:p>
            <a:pPr marL="0" indent="0">
              <a:buNone/>
            </a:pPr>
            <a:r>
              <a:rPr lang="en-US" sz="2200" b="1" dirty="0">
                <a:solidFill>
                  <a:srgbClr val="E8590C"/>
                </a:solidFill>
                <a:latin typeface="Arial" pitchFamily="34" charset="0"/>
                <a:ea typeface="Arial" pitchFamily="34" charset="-122"/>
                <a:cs typeface="Arial" pitchFamily="34" charset="-120"/>
              </a:rPr>
              <a:t>7</a:t>
            </a:r>
            <a:endParaRPr lang="en-US" sz="2200" dirty="0"/>
          </a:p>
        </p:txBody>
      </p:sp>
      <p:sp>
        <p:nvSpPr>
          <p:cNvPr id="34" name="Text 31"/>
          <p:cNvSpPr txBox="1"/>
          <p:nvPr/>
        </p:nvSpPr>
        <p:spPr>
          <a:xfrm>
            <a:off x="6309360" y="4343400"/>
            <a:ext cx="2240280" cy="548640"/>
          </a:xfrm>
          <a:prstGeom prst="rect">
            <a:avLst/>
          </a:prstGeom>
          <a:noFill/>
          <a:ln/>
        </p:spPr>
        <p:txBody>
          <a:bodyPr wrap="square" lIns="0" tIns="0" rIns="0" bIns="0" rtlCol="0" anchor="t"/>
          <a:lstStyle/>
          <a:p>
            <a:pPr marL="0" indent="0">
              <a:buNone/>
            </a:pPr>
            <a:r>
              <a:rPr lang="en-US" sz="1450" b="1" dirty="0">
                <a:solidFill>
                  <a:srgbClr val="16181D"/>
                </a:solidFill>
                <a:latin typeface="Arial" pitchFamily="34" charset="0"/>
                <a:ea typeface="Arial" pitchFamily="34" charset="-122"/>
                <a:cs typeface="Arial" pitchFamily="34" charset="-120"/>
              </a:rPr>
              <a:t>Un plan de réponse</a:t>
            </a:r>
            <a:endParaRPr lang="en-US" sz="1450" dirty="0"/>
          </a:p>
        </p:txBody>
      </p:sp>
      <p:sp>
        <p:nvSpPr>
          <p:cNvPr id="35" name="Text 32"/>
          <p:cNvSpPr txBox="1"/>
          <p:nvPr/>
        </p:nvSpPr>
        <p:spPr>
          <a:xfrm>
            <a:off x="6309360" y="4892040"/>
            <a:ext cx="2240280" cy="685800"/>
          </a:xfrm>
          <a:prstGeom prst="rect">
            <a:avLst/>
          </a:prstGeom>
          <a:noFill/>
          <a:ln/>
        </p:spPr>
        <p:txBody>
          <a:bodyPr wrap="square" lIns="0" tIns="0" rIns="0" bIns="0" rtlCol="0" anchor="t"/>
          <a:lstStyle/>
          <a:p>
            <a:pPr marL="0" indent="0">
              <a:buNone/>
            </a:pPr>
            <a:r>
              <a:rPr lang="en-US" sz="1250" dirty="0">
                <a:solidFill>
                  <a:srgbClr val="5F6670"/>
                </a:solidFill>
                <a:latin typeface="Calibri" pitchFamily="34" charset="0"/>
                <a:ea typeface="Calibri" pitchFamily="34" charset="-122"/>
                <a:cs typeface="Calibri" pitchFamily="34" charset="-120"/>
              </a:rPr>
              <a:t>Couper l'accès, mode local, garder les traces, porter plainte.</a:t>
            </a:r>
            <a:endParaRPr lang="en-US" sz="1250" dirty="0"/>
          </a:p>
        </p:txBody>
      </p:sp>
      <p:sp>
        <p:nvSpPr>
          <p:cNvPr id="36" name="Shape 33"/>
          <p:cNvSpPr/>
          <p:nvPr/>
        </p:nvSpPr>
        <p:spPr>
          <a:xfrm>
            <a:off x="8869680" y="3794760"/>
            <a:ext cx="2560320" cy="1828800"/>
          </a:xfrm>
          <a:prstGeom prst="roundRect">
            <a:avLst>
              <a:gd name="adj" fmla="val 4000"/>
            </a:avLst>
          </a:prstGeom>
          <a:solidFill>
            <a:srgbClr val="F2F3F5"/>
          </a:solidFill>
          <a:ln w="12700">
            <a:solidFill>
              <a:srgbClr val="F2F3F5"/>
            </a:solidFill>
            <a:prstDash val="solid"/>
          </a:ln>
        </p:spPr>
        <p:txBody>
          <a:bodyPr/>
          <a:lstStyle/>
          <a:p>
            <a:endParaRPr lang="fr-BE"/>
          </a:p>
        </p:txBody>
      </p:sp>
      <p:sp>
        <p:nvSpPr>
          <p:cNvPr id="37" name="Text 34"/>
          <p:cNvSpPr txBox="1"/>
          <p:nvPr/>
        </p:nvSpPr>
        <p:spPr>
          <a:xfrm>
            <a:off x="9052560" y="3904488"/>
            <a:ext cx="457200" cy="457200"/>
          </a:xfrm>
          <a:prstGeom prst="rect">
            <a:avLst/>
          </a:prstGeom>
          <a:noFill/>
          <a:ln/>
        </p:spPr>
        <p:txBody>
          <a:bodyPr wrap="square" lIns="0" tIns="0" rIns="0" bIns="0" rtlCol="0" anchor="ctr"/>
          <a:lstStyle/>
          <a:p>
            <a:pPr marL="0" indent="0">
              <a:buNone/>
            </a:pPr>
            <a:r>
              <a:rPr lang="en-US" sz="2200" b="1" dirty="0">
                <a:solidFill>
                  <a:srgbClr val="E8590C"/>
                </a:solidFill>
                <a:latin typeface="Arial" pitchFamily="34" charset="0"/>
                <a:ea typeface="Arial" pitchFamily="34" charset="-122"/>
                <a:cs typeface="Arial" pitchFamily="34" charset="-120"/>
              </a:rPr>
              <a:t>8</a:t>
            </a:r>
            <a:endParaRPr lang="en-US" sz="2200" dirty="0"/>
          </a:p>
        </p:txBody>
      </p:sp>
      <p:sp>
        <p:nvSpPr>
          <p:cNvPr id="38" name="Text 35"/>
          <p:cNvSpPr txBox="1"/>
          <p:nvPr/>
        </p:nvSpPr>
        <p:spPr>
          <a:xfrm>
            <a:off x="9052560" y="4343400"/>
            <a:ext cx="2240280" cy="548640"/>
          </a:xfrm>
          <a:prstGeom prst="rect">
            <a:avLst/>
          </a:prstGeom>
          <a:noFill/>
          <a:ln/>
        </p:spPr>
        <p:txBody>
          <a:bodyPr wrap="square" lIns="0" tIns="0" rIns="0" bIns="0" rtlCol="0" anchor="t"/>
          <a:lstStyle/>
          <a:p>
            <a:pPr marL="0" indent="0">
              <a:buNone/>
            </a:pPr>
            <a:r>
              <a:rPr lang="en-US" sz="1450" b="1" dirty="0">
                <a:solidFill>
                  <a:srgbClr val="16181D"/>
                </a:solidFill>
                <a:latin typeface="Arial" pitchFamily="34" charset="0"/>
                <a:ea typeface="Arial" pitchFamily="34" charset="-122"/>
                <a:cs typeface="Arial" pitchFamily="34" charset="-120"/>
              </a:rPr>
              <a:t>Des contrats clairs</a:t>
            </a:r>
            <a:endParaRPr lang="en-US" sz="1450" dirty="0"/>
          </a:p>
        </p:txBody>
      </p:sp>
      <p:sp>
        <p:nvSpPr>
          <p:cNvPr id="39" name="Text 36"/>
          <p:cNvSpPr txBox="1"/>
          <p:nvPr/>
        </p:nvSpPr>
        <p:spPr>
          <a:xfrm>
            <a:off x="9052560" y="4892040"/>
            <a:ext cx="2240280" cy="685800"/>
          </a:xfrm>
          <a:prstGeom prst="rect">
            <a:avLst/>
          </a:prstGeom>
          <a:noFill/>
          <a:ln/>
        </p:spPr>
        <p:txBody>
          <a:bodyPr wrap="square" lIns="0" tIns="0" rIns="0" bIns="0" rtlCol="0" anchor="t"/>
          <a:lstStyle/>
          <a:p>
            <a:pPr marL="0" indent="0">
              <a:buNone/>
            </a:pPr>
            <a:r>
              <a:rPr lang="en-US" sz="1250" dirty="0">
                <a:solidFill>
                  <a:srgbClr val="5F6670"/>
                </a:solidFill>
                <a:latin typeface="Calibri" pitchFamily="34" charset="0"/>
                <a:ea typeface="Calibri" pitchFamily="34" charset="-122"/>
                <a:cs typeface="Calibri" pitchFamily="34" charset="-120"/>
              </a:rPr>
              <a:t>Obligations de sécurité des mainteneurs (IEC 62443-2-4).</a:t>
            </a:r>
            <a:endParaRPr lang="en-US" sz="1250" dirty="0"/>
          </a:p>
        </p:txBody>
      </p:sp>
      <p:sp>
        <p:nvSpPr>
          <p:cNvPr id="40" name="Text 37"/>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CERT-FR (2026) ; ANSSI, « La cybersécurité des systèmes industriels » ; IEC 62443-3-3 et 62443-2-4.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ET POUR NOUS, DÉVELOPPEURS ?</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Ce que le code aurait pu empêcher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3657600"/>
        </p:xfrm>
        <a:graphic>
          <a:graphicData uri="http://schemas.openxmlformats.org/drawingml/2006/table">
            <a:tbl>
              <a:tblPr/>
              <a:tblGrid>
                <a:gridCol w="49377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73152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Ce qui s'est passé</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En code, c'est…</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Dans le cours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731520">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Un mot de passe calculé à partir de la date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un secret dans le code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S3 (Toyota), Q2</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Une injection de commande dans la configuration des alarmes (CVE-2025-41451)</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une saisie passée telle quelle au système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S1 (Stanford), Q2 · injections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731520">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Une consigne de 50 °C acceptée pour un frigo</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une règle métier manquante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S1 : l'objet refuse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Une interface d'administration ouverte à tous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authentification et autorisation absentes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Q2 · Keycloak</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bl>
          </a:graphicData>
        </a:graphic>
      </p:graphicFrame>
      <p:sp>
        <p:nvSpPr>
          <p:cNvPr id="9" name="Shape 5"/>
          <p:cNvSpPr/>
          <p:nvPr/>
        </p:nvSpPr>
        <p:spPr>
          <a:xfrm>
            <a:off x="640080" y="5532120"/>
            <a:ext cx="10911535" cy="548640"/>
          </a:xfrm>
          <a:prstGeom prst="roundRect">
            <a:avLst>
              <a:gd name="adj" fmla="val 13333"/>
            </a:avLst>
          </a:prstGeom>
          <a:solidFill>
            <a:srgbClr val="16181D"/>
          </a:solidFill>
          <a:ln w="12700">
            <a:solidFill>
              <a:srgbClr val="16181D"/>
            </a:solidFill>
            <a:prstDash val="solid"/>
          </a:ln>
        </p:spPr>
        <p:txBody>
          <a:bodyPr/>
          <a:lstStyle/>
          <a:p>
            <a:endParaRPr lang="fr-BE"/>
          </a:p>
        </p:txBody>
      </p:sp>
      <p:sp>
        <p:nvSpPr>
          <p:cNvPr id="10" name="Text 6"/>
          <p:cNvSpPr txBox="1"/>
          <p:nvPr/>
        </p:nvSpPr>
        <p:spPr>
          <a:xfrm>
            <a:off x="914400" y="5532120"/>
            <a:ext cx="10362895"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Les failles de demain s'écrivent aujourd'hui, dans du code comme le nôtre.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REPRODUIRE EN LABORATOIRE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Rejouer le scénario, sans danger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13</a:t>
            </a:r>
            <a:endParaRPr lang="en-US" sz="1000" dirty="0"/>
          </a:p>
        </p:txBody>
      </p:sp>
      <p:sp>
        <p:nvSpPr>
          <p:cNvPr id="8" name="Shape 5"/>
          <p:cNvSpPr/>
          <p:nvPr/>
        </p:nvSpPr>
        <p:spPr>
          <a:xfrm>
            <a:off x="640080" y="1783080"/>
            <a:ext cx="3474720" cy="3108960"/>
          </a:xfrm>
          <a:prstGeom prst="roundRect">
            <a:avLst>
              <a:gd name="adj" fmla="val 2353"/>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14400" y="1920240"/>
            <a:ext cx="548640" cy="640080"/>
          </a:xfrm>
          <a:prstGeom prst="rect">
            <a:avLst/>
          </a:prstGeom>
          <a:noFill/>
          <a:ln/>
        </p:spPr>
        <p:txBody>
          <a:bodyPr wrap="square" lIns="0" tIns="0" rIns="0" bIns="0" rtlCol="0" anchor="ctr"/>
          <a:lstStyle/>
          <a:p>
            <a:pPr marL="0" indent="0">
              <a:buNone/>
            </a:pPr>
            <a:r>
              <a:rPr lang="en-US" sz="3200" b="1" dirty="0">
                <a:solidFill>
                  <a:srgbClr val="E8590C"/>
                </a:solidFill>
                <a:latin typeface="Arial" pitchFamily="34" charset="0"/>
                <a:ea typeface="Arial" pitchFamily="34" charset="-122"/>
                <a:cs typeface="Arial" pitchFamily="34" charset="-120"/>
              </a:rPr>
              <a:t>A</a:t>
            </a:r>
            <a:endParaRPr lang="en-US" sz="3200" dirty="0"/>
          </a:p>
        </p:txBody>
      </p:sp>
      <p:sp>
        <p:nvSpPr>
          <p:cNvPr id="10" name="Text 7"/>
          <p:cNvSpPr txBox="1"/>
          <p:nvPr/>
        </p:nvSpPr>
        <p:spPr>
          <a:xfrm>
            <a:off x="1508760" y="1965960"/>
            <a:ext cx="2468880" cy="54864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L'attaque</a:t>
            </a:r>
            <a:endParaRPr lang="en-US" sz="1900" dirty="0"/>
          </a:p>
        </p:txBody>
      </p:sp>
      <p:sp>
        <p:nvSpPr>
          <p:cNvPr id="11" name="Text 8"/>
          <p:cNvSpPr txBox="1"/>
          <p:nvPr/>
        </p:nvSpPr>
        <p:spPr>
          <a:xfrm>
            <a:off x="914400" y="2697480"/>
            <a:ext cx="2926080" cy="2103120"/>
          </a:xfrm>
          <a:prstGeom prst="rect">
            <a:avLst/>
          </a:prstGeom>
          <a:noFill/>
          <a:ln/>
        </p:spPr>
        <p:txBody>
          <a:bodyPr wrap="square" lIns="0" tIns="0" rIns="0" bIns="0" rtlCol="0" anchor="t"/>
          <a:lstStyle/>
          <a:p>
            <a:pPr marL="0" indent="0">
              <a:buNone/>
            </a:pPr>
            <a:r>
              <a:rPr lang="en-US" sz="1450" dirty="0">
                <a:solidFill>
                  <a:srgbClr val="5F6670"/>
                </a:solidFill>
                <a:latin typeface="Calibri" pitchFamily="34" charset="0"/>
                <a:ea typeface="Calibri" pitchFamily="34" charset="-122"/>
                <a:cs typeface="Calibri" pitchFamily="34" charset="-120"/>
              </a:rPr>
              <a:t>Un faux contrôleur (Modbus simulé, pymodbus) et une interface web au mot de passe « date du jour », dans un réseau Docker fermé.</a:t>
            </a:r>
            <a:endParaRPr lang="en-US" sz="1450" dirty="0"/>
          </a:p>
        </p:txBody>
      </p:sp>
      <p:sp>
        <p:nvSpPr>
          <p:cNvPr id="12" name="Shape 9"/>
          <p:cNvSpPr/>
          <p:nvPr/>
        </p:nvSpPr>
        <p:spPr>
          <a:xfrm>
            <a:off x="4343400" y="1783080"/>
            <a:ext cx="3474720" cy="3108960"/>
          </a:xfrm>
          <a:prstGeom prst="roundRect">
            <a:avLst>
              <a:gd name="adj" fmla="val 2353"/>
            </a:avLst>
          </a:prstGeom>
          <a:solidFill>
            <a:srgbClr val="16181D"/>
          </a:solidFill>
          <a:ln w="12700">
            <a:solidFill>
              <a:srgbClr val="16181D"/>
            </a:solidFill>
            <a:prstDash val="solid"/>
          </a:ln>
        </p:spPr>
        <p:txBody>
          <a:bodyPr/>
          <a:lstStyle/>
          <a:p>
            <a:endParaRPr lang="fr-BE"/>
          </a:p>
        </p:txBody>
      </p:sp>
      <p:sp>
        <p:nvSpPr>
          <p:cNvPr id="13" name="Text 10"/>
          <p:cNvSpPr txBox="1"/>
          <p:nvPr/>
        </p:nvSpPr>
        <p:spPr>
          <a:xfrm>
            <a:off x="4617720" y="1920240"/>
            <a:ext cx="548640" cy="640080"/>
          </a:xfrm>
          <a:prstGeom prst="rect">
            <a:avLst/>
          </a:prstGeom>
          <a:noFill/>
          <a:ln/>
        </p:spPr>
        <p:txBody>
          <a:bodyPr wrap="square" lIns="0" tIns="0" rIns="0" bIns="0" rtlCol="0" anchor="ctr"/>
          <a:lstStyle/>
          <a:p>
            <a:pPr marL="0" indent="0">
              <a:buNone/>
            </a:pPr>
            <a:r>
              <a:rPr lang="en-US" sz="3200" b="1" dirty="0">
                <a:solidFill>
                  <a:srgbClr val="E8590C"/>
                </a:solidFill>
                <a:latin typeface="Arial" pitchFamily="34" charset="0"/>
                <a:ea typeface="Arial" pitchFamily="34" charset="-122"/>
                <a:cs typeface="Arial" pitchFamily="34" charset="-120"/>
              </a:rPr>
              <a:t>B</a:t>
            </a:r>
            <a:endParaRPr lang="en-US" sz="3200" dirty="0"/>
          </a:p>
        </p:txBody>
      </p:sp>
      <p:sp>
        <p:nvSpPr>
          <p:cNvPr id="14" name="Text 11"/>
          <p:cNvSpPr txBox="1"/>
          <p:nvPr/>
        </p:nvSpPr>
        <p:spPr>
          <a:xfrm>
            <a:off x="5212080" y="1965960"/>
            <a:ext cx="2468880" cy="54864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La défense</a:t>
            </a:r>
            <a:endParaRPr lang="en-US" sz="1900" dirty="0"/>
          </a:p>
        </p:txBody>
      </p:sp>
      <p:sp>
        <p:nvSpPr>
          <p:cNvPr id="15" name="Text 12"/>
          <p:cNvSpPr txBox="1"/>
          <p:nvPr/>
        </p:nvSpPr>
        <p:spPr>
          <a:xfrm>
            <a:off x="4617720" y="2697480"/>
            <a:ext cx="2926080" cy="2103120"/>
          </a:xfrm>
          <a:prstGeom prst="rect">
            <a:avLst/>
          </a:prstGeom>
          <a:noFill/>
          <a:ln/>
        </p:spPr>
        <p:txBody>
          <a:bodyPr wrap="square" lIns="0" tIns="0" rIns="0" bIns="0" rtlCol="0" anchor="t"/>
          <a:lstStyle/>
          <a:p>
            <a:pPr marL="0" indent="0">
              <a:buNone/>
            </a:pPr>
            <a:r>
              <a:rPr lang="en-US" sz="1450" dirty="0">
                <a:solidFill>
                  <a:srgbClr val="C9CDD3"/>
                </a:solidFill>
                <a:latin typeface="Calibri" pitchFamily="34" charset="0"/>
                <a:ea typeface="Calibri" pitchFamily="34" charset="-122"/>
                <a:cs typeface="Calibri" pitchFamily="34" charset="-120"/>
              </a:rPr>
              <a:t>Le même scénario avec un pare-feu, un vrai mot de passe et une alerte sur les consignes anormales.</a:t>
            </a:r>
            <a:endParaRPr lang="en-US" sz="1450" dirty="0"/>
          </a:p>
        </p:txBody>
      </p:sp>
      <p:sp>
        <p:nvSpPr>
          <p:cNvPr id="16" name="Shape 13"/>
          <p:cNvSpPr/>
          <p:nvPr/>
        </p:nvSpPr>
        <p:spPr>
          <a:xfrm>
            <a:off x="8046720" y="1783080"/>
            <a:ext cx="3474720" cy="3108960"/>
          </a:xfrm>
          <a:prstGeom prst="roundRect">
            <a:avLst>
              <a:gd name="adj" fmla="val 2353"/>
            </a:avLst>
          </a:prstGeom>
          <a:solidFill>
            <a:srgbClr val="F2F3F5"/>
          </a:solidFill>
          <a:ln w="12700">
            <a:solidFill>
              <a:srgbClr val="F2F3F5"/>
            </a:solidFill>
            <a:prstDash val="solid"/>
          </a:ln>
        </p:spPr>
        <p:txBody>
          <a:bodyPr/>
          <a:lstStyle/>
          <a:p>
            <a:endParaRPr lang="fr-BE"/>
          </a:p>
        </p:txBody>
      </p:sp>
      <p:sp>
        <p:nvSpPr>
          <p:cNvPr id="17" name="Text 14"/>
          <p:cNvSpPr txBox="1"/>
          <p:nvPr/>
        </p:nvSpPr>
        <p:spPr>
          <a:xfrm>
            <a:off x="8321040" y="1920240"/>
            <a:ext cx="548640" cy="640080"/>
          </a:xfrm>
          <a:prstGeom prst="rect">
            <a:avLst/>
          </a:prstGeom>
          <a:noFill/>
          <a:ln/>
        </p:spPr>
        <p:txBody>
          <a:bodyPr wrap="square" lIns="0" tIns="0" rIns="0" bIns="0" rtlCol="0" anchor="ctr"/>
          <a:lstStyle/>
          <a:p>
            <a:pPr marL="0" indent="0">
              <a:buNone/>
            </a:pPr>
            <a:r>
              <a:rPr lang="en-US" sz="3200" b="1" dirty="0">
                <a:solidFill>
                  <a:srgbClr val="E8590C"/>
                </a:solidFill>
                <a:latin typeface="Arial" pitchFamily="34" charset="0"/>
                <a:ea typeface="Arial" pitchFamily="34" charset="-122"/>
                <a:cs typeface="Arial" pitchFamily="34" charset="-120"/>
              </a:rPr>
              <a:t>C</a:t>
            </a:r>
            <a:endParaRPr lang="en-US" sz="3200" dirty="0"/>
          </a:p>
        </p:txBody>
      </p:sp>
      <p:sp>
        <p:nvSpPr>
          <p:cNvPr id="18" name="Text 15"/>
          <p:cNvSpPr txBox="1"/>
          <p:nvPr/>
        </p:nvSpPr>
        <p:spPr>
          <a:xfrm>
            <a:off x="8915400" y="1965960"/>
            <a:ext cx="2468880" cy="54864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L'observation</a:t>
            </a:r>
            <a:endParaRPr lang="en-US" sz="1900" dirty="0"/>
          </a:p>
        </p:txBody>
      </p:sp>
      <p:sp>
        <p:nvSpPr>
          <p:cNvPr id="19" name="Text 16"/>
          <p:cNvSpPr txBox="1"/>
          <p:nvPr/>
        </p:nvSpPr>
        <p:spPr>
          <a:xfrm>
            <a:off x="8321040" y="2697480"/>
            <a:ext cx="2926080" cy="2103120"/>
          </a:xfrm>
          <a:prstGeom prst="rect">
            <a:avLst/>
          </a:prstGeom>
          <a:noFill/>
          <a:ln/>
        </p:spPr>
        <p:txBody>
          <a:bodyPr wrap="square" lIns="0" tIns="0" rIns="0" bIns="0" rtlCol="0" anchor="t"/>
          <a:lstStyle/>
          <a:p>
            <a:pPr marL="0" indent="0">
              <a:buNone/>
            </a:pPr>
            <a:r>
              <a:rPr lang="en-US" sz="1450" dirty="0">
                <a:solidFill>
                  <a:srgbClr val="5F6670"/>
                </a:solidFill>
                <a:latin typeface="Calibri" pitchFamily="34" charset="0"/>
                <a:ea typeface="Calibri" pitchFamily="34" charset="-122"/>
                <a:cs typeface="Calibri" pitchFamily="34" charset="-120"/>
              </a:rPr>
              <a:t>Un pot de miel (Conpot) qui imite un contrôleur : qui vient le scanner ?</a:t>
            </a:r>
            <a:endParaRPr lang="en-US" sz="1450" dirty="0"/>
          </a:p>
        </p:txBody>
      </p:sp>
      <p:sp>
        <p:nvSpPr>
          <p:cNvPr id="20" name="Shape 17"/>
          <p:cNvSpPr/>
          <p:nvPr/>
        </p:nvSpPr>
        <p:spPr>
          <a:xfrm>
            <a:off x="640080" y="5120640"/>
            <a:ext cx="10911535" cy="777240"/>
          </a:xfrm>
          <a:prstGeom prst="roundRect">
            <a:avLst>
              <a:gd name="adj" fmla="val 9412"/>
            </a:avLst>
          </a:prstGeom>
          <a:solidFill>
            <a:srgbClr val="C92A2A"/>
          </a:solidFill>
          <a:ln w="12700">
            <a:solidFill>
              <a:srgbClr val="C92A2A"/>
            </a:solidFill>
            <a:prstDash val="solid"/>
          </a:ln>
        </p:spPr>
        <p:txBody>
          <a:bodyPr/>
          <a:lstStyle/>
          <a:p>
            <a:endParaRPr lang="fr-BE"/>
          </a:p>
        </p:txBody>
      </p:sp>
      <p:sp>
        <p:nvSpPr>
          <p:cNvPr id="21" name="Text 18"/>
          <p:cNvSpPr txBox="1"/>
          <p:nvPr/>
        </p:nvSpPr>
        <p:spPr>
          <a:xfrm>
            <a:off x="914400" y="5120640"/>
            <a:ext cx="10362895" cy="7772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Jamais contre un équipement réel : accès frauduleux à un système (Code pénal, art. 323-1 et suivants).</a:t>
            </a:r>
            <a:endParaRPr lang="en-US" sz="1600" dirty="0"/>
          </a:p>
        </p:txBody>
      </p:sp>
      <p:sp>
        <p:nvSpPr>
          <p:cNvPr id="22" name="Text 19"/>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pymodbus (github.com/pymodbus-dev) ; Conpot, Honeynet Project (github.com/mushorg/conpot).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DÉBAT · 5 MINUTES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À vous : qui aurait dû agir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640080" y="1783080"/>
            <a:ext cx="256032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640080" y="1920240"/>
            <a:ext cx="2560320" cy="82296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0" name="Text 7"/>
          <p:cNvSpPr txBox="1"/>
          <p:nvPr/>
        </p:nvSpPr>
        <p:spPr>
          <a:xfrm>
            <a:off x="822960" y="2788920"/>
            <a:ext cx="2194560" cy="457200"/>
          </a:xfrm>
          <a:prstGeom prst="rect">
            <a:avLst/>
          </a:prstGeom>
          <a:noFill/>
          <a:ln/>
        </p:spPr>
        <p:txBody>
          <a:bodyPr wrap="square" lIns="0" tIns="0" rIns="0" bIns="0" rtlCol="0" anchor="ctr"/>
          <a:lstStyle/>
          <a:p>
            <a:pPr marL="0" indent="0" algn="ctr">
              <a:buNone/>
            </a:pPr>
            <a:r>
              <a:rPr lang="en-US" sz="1800" b="1" dirty="0">
                <a:solidFill>
                  <a:srgbClr val="16181D"/>
                </a:solidFill>
                <a:latin typeface="Arial" pitchFamily="34" charset="0"/>
                <a:ea typeface="Arial" pitchFamily="34" charset="-122"/>
                <a:cs typeface="Arial" pitchFamily="34" charset="-120"/>
              </a:rPr>
              <a:t>L'enseigne</a:t>
            </a:r>
            <a:endParaRPr lang="en-US" sz="1800" dirty="0"/>
          </a:p>
        </p:txBody>
      </p:sp>
      <p:sp>
        <p:nvSpPr>
          <p:cNvPr id="11" name="Text 8"/>
          <p:cNvSpPr txBox="1"/>
          <p:nvPr/>
        </p:nvSpPr>
        <p:spPr>
          <a:xfrm>
            <a:off x="822960" y="3246120"/>
            <a:ext cx="2194560" cy="822960"/>
          </a:xfrm>
          <a:prstGeom prst="rect">
            <a:avLst/>
          </a:prstGeom>
          <a:noFill/>
          <a:ln/>
        </p:spPr>
        <p:txBody>
          <a:bodyPr wrap="square" lIns="0" tIns="0" rIns="0" bIns="0" rtlCol="0" anchor="t"/>
          <a:lstStyle/>
          <a:p>
            <a:pPr marL="0" indent="0" algn="ctr">
              <a:buNone/>
            </a:pPr>
            <a:r>
              <a:rPr lang="en-US" sz="1300" dirty="0">
                <a:solidFill>
                  <a:srgbClr val="5F6670"/>
                </a:solidFill>
                <a:latin typeface="Calibri" pitchFamily="34" charset="0"/>
                <a:ea typeface="Calibri" pitchFamily="34" charset="-122"/>
                <a:cs typeface="Calibri" pitchFamily="34" charset="-120"/>
              </a:rPr>
              <a:t>qui exploite le magasin</a:t>
            </a:r>
            <a:endParaRPr lang="en-US" sz="1300" dirty="0"/>
          </a:p>
        </p:txBody>
      </p:sp>
      <p:sp>
        <p:nvSpPr>
          <p:cNvPr id="12" name="Shape 9"/>
          <p:cNvSpPr/>
          <p:nvPr/>
        </p:nvSpPr>
        <p:spPr>
          <a:xfrm>
            <a:off x="3383280" y="1783080"/>
            <a:ext cx="256032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3383280" y="1920240"/>
            <a:ext cx="2560320" cy="82296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4" name="Text 11"/>
          <p:cNvSpPr txBox="1"/>
          <p:nvPr/>
        </p:nvSpPr>
        <p:spPr>
          <a:xfrm>
            <a:off x="3566160" y="2788920"/>
            <a:ext cx="2194560" cy="457200"/>
          </a:xfrm>
          <a:prstGeom prst="rect">
            <a:avLst/>
          </a:prstGeom>
          <a:noFill/>
          <a:ln/>
        </p:spPr>
        <p:txBody>
          <a:bodyPr wrap="square" lIns="0" tIns="0" rIns="0" bIns="0" rtlCol="0" anchor="ctr"/>
          <a:lstStyle/>
          <a:p>
            <a:pPr marL="0" indent="0" algn="ctr">
              <a:buNone/>
            </a:pPr>
            <a:r>
              <a:rPr lang="en-US" sz="1800" b="1" dirty="0">
                <a:solidFill>
                  <a:srgbClr val="16181D"/>
                </a:solidFill>
                <a:latin typeface="Arial" pitchFamily="34" charset="0"/>
                <a:ea typeface="Arial" pitchFamily="34" charset="-122"/>
                <a:cs typeface="Arial" pitchFamily="34" charset="-120"/>
              </a:rPr>
              <a:t>Le frigoriste</a:t>
            </a:r>
            <a:endParaRPr lang="en-US" sz="1800" dirty="0"/>
          </a:p>
        </p:txBody>
      </p:sp>
      <p:sp>
        <p:nvSpPr>
          <p:cNvPr id="15" name="Text 12"/>
          <p:cNvSpPr txBox="1"/>
          <p:nvPr/>
        </p:nvSpPr>
        <p:spPr>
          <a:xfrm>
            <a:off x="3566160" y="3246120"/>
            <a:ext cx="2194560" cy="822960"/>
          </a:xfrm>
          <a:prstGeom prst="rect">
            <a:avLst/>
          </a:prstGeom>
          <a:noFill/>
          <a:ln/>
        </p:spPr>
        <p:txBody>
          <a:bodyPr wrap="square" lIns="0" tIns="0" rIns="0" bIns="0" rtlCol="0" anchor="t"/>
          <a:lstStyle/>
          <a:p>
            <a:pPr marL="0" indent="0" algn="ctr">
              <a:buNone/>
            </a:pPr>
            <a:r>
              <a:rPr lang="en-US" sz="1300" dirty="0">
                <a:solidFill>
                  <a:srgbClr val="5F6670"/>
                </a:solidFill>
                <a:latin typeface="Calibri" pitchFamily="34" charset="0"/>
                <a:ea typeface="Calibri" pitchFamily="34" charset="-122"/>
                <a:cs typeface="Calibri" pitchFamily="34" charset="-120"/>
              </a:rPr>
              <a:t>qui maintient à distance</a:t>
            </a:r>
            <a:endParaRPr lang="en-US" sz="1300" dirty="0"/>
          </a:p>
        </p:txBody>
      </p:sp>
      <p:sp>
        <p:nvSpPr>
          <p:cNvPr id="16" name="Shape 13"/>
          <p:cNvSpPr/>
          <p:nvPr/>
        </p:nvSpPr>
        <p:spPr>
          <a:xfrm>
            <a:off x="6126480" y="1783080"/>
            <a:ext cx="256032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17" name="Text 14"/>
          <p:cNvSpPr txBox="1"/>
          <p:nvPr/>
        </p:nvSpPr>
        <p:spPr>
          <a:xfrm>
            <a:off x="6126480" y="1920240"/>
            <a:ext cx="2560320" cy="82296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8" name="Text 15"/>
          <p:cNvSpPr txBox="1"/>
          <p:nvPr/>
        </p:nvSpPr>
        <p:spPr>
          <a:xfrm>
            <a:off x="6309360" y="2788920"/>
            <a:ext cx="2194560" cy="457200"/>
          </a:xfrm>
          <a:prstGeom prst="rect">
            <a:avLst/>
          </a:prstGeom>
          <a:noFill/>
          <a:ln/>
        </p:spPr>
        <p:txBody>
          <a:bodyPr wrap="square" lIns="0" tIns="0" rIns="0" bIns="0" rtlCol="0" anchor="ctr"/>
          <a:lstStyle/>
          <a:p>
            <a:pPr marL="0" indent="0" algn="ctr">
              <a:buNone/>
            </a:pPr>
            <a:r>
              <a:rPr lang="en-US" sz="1800" b="1" dirty="0">
                <a:solidFill>
                  <a:srgbClr val="16181D"/>
                </a:solidFill>
                <a:latin typeface="Arial" pitchFamily="34" charset="0"/>
                <a:ea typeface="Arial" pitchFamily="34" charset="-122"/>
                <a:cs typeface="Arial" pitchFamily="34" charset="-120"/>
              </a:rPr>
              <a:t>Danfoss</a:t>
            </a:r>
            <a:endParaRPr lang="en-US" sz="1800" dirty="0"/>
          </a:p>
        </p:txBody>
      </p:sp>
      <p:sp>
        <p:nvSpPr>
          <p:cNvPr id="19" name="Text 16"/>
          <p:cNvSpPr txBox="1"/>
          <p:nvPr/>
        </p:nvSpPr>
        <p:spPr>
          <a:xfrm>
            <a:off x="6309360" y="3246120"/>
            <a:ext cx="2194560" cy="822960"/>
          </a:xfrm>
          <a:prstGeom prst="rect">
            <a:avLst/>
          </a:prstGeom>
          <a:noFill/>
          <a:ln/>
        </p:spPr>
        <p:txBody>
          <a:bodyPr wrap="square" lIns="0" tIns="0" rIns="0" bIns="0" rtlCol="0" anchor="t"/>
          <a:lstStyle/>
          <a:p>
            <a:pPr marL="0" indent="0" algn="ctr">
              <a:buNone/>
            </a:pPr>
            <a:r>
              <a:rPr lang="en-US" sz="1300" dirty="0">
                <a:solidFill>
                  <a:srgbClr val="5F6670"/>
                </a:solidFill>
                <a:latin typeface="Calibri" pitchFamily="34" charset="0"/>
                <a:ea typeface="Calibri" pitchFamily="34" charset="-122"/>
                <a:cs typeface="Calibri" pitchFamily="34" charset="-120"/>
              </a:rPr>
              <a:t>qui fabrique le contrôleur</a:t>
            </a:r>
            <a:endParaRPr lang="en-US" sz="1300" dirty="0"/>
          </a:p>
        </p:txBody>
      </p:sp>
      <p:sp>
        <p:nvSpPr>
          <p:cNvPr id="20" name="Shape 17"/>
          <p:cNvSpPr/>
          <p:nvPr/>
        </p:nvSpPr>
        <p:spPr>
          <a:xfrm>
            <a:off x="8869680" y="1783080"/>
            <a:ext cx="256032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21" name="Text 18"/>
          <p:cNvSpPr txBox="1"/>
          <p:nvPr/>
        </p:nvSpPr>
        <p:spPr>
          <a:xfrm>
            <a:off x="8869680" y="1920240"/>
            <a:ext cx="2560320" cy="82296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22" name="Text 19"/>
          <p:cNvSpPr txBox="1"/>
          <p:nvPr/>
        </p:nvSpPr>
        <p:spPr>
          <a:xfrm>
            <a:off x="9052560" y="2788920"/>
            <a:ext cx="2194560" cy="457200"/>
          </a:xfrm>
          <a:prstGeom prst="rect">
            <a:avLst/>
          </a:prstGeom>
          <a:noFill/>
          <a:ln/>
        </p:spPr>
        <p:txBody>
          <a:bodyPr wrap="square" lIns="0" tIns="0" rIns="0" bIns="0" rtlCol="0" anchor="ctr"/>
          <a:lstStyle/>
          <a:p>
            <a:pPr marL="0" indent="0" algn="ctr">
              <a:buNone/>
            </a:pPr>
            <a:r>
              <a:rPr lang="en-US" sz="1800" b="1" dirty="0">
                <a:solidFill>
                  <a:srgbClr val="16181D"/>
                </a:solidFill>
                <a:latin typeface="Arial" pitchFamily="34" charset="0"/>
                <a:ea typeface="Arial" pitchFamily="34" charset="-122"/>
                <a:cs typeface="Arial" pitchFamily="34" charset="-120"/>
              </a:rPr>
              <a:t>L'État</a:t>
            </a:r>
            <a:endParaRPr lang="en-US" sz="1800" dirty="0"/>
          </a:p>
        </p:txBody>
      </p:sp>
      <p:sp>
        <p:nvSpPr>
          <p:cNvPr id="23" name="Text 20"/>
          <p:cNvSpPr txBox="1"/>
          <p:nvPr/>
        </p:nvSpPr>
        <p:spPr>
          <a:xfrm>
            <a:off x="9052560" y="3246120"/>
            <a:ext cx="2194560" cy="822960"/>
          </a:xfrm>
          <a:prstGeom prst="rect">
            <a:avLst/>
          </a:prstGeom>
          <a:noFill/>
          <a:ln/>
        </p:spPr>
        <p:txBody>
          <a:bodyPr wrap="square" lIns="0" tIns="0" rIns="0" bIns="0" rtlCol="0" anchor="t"/>
          <a:lstStyle/>
          <a:p>
            <a:pPr marL="0" indent="0" algn="ctr">
              <a:buNone/>
            </a:pPr>
            <a:r>
              <a:rPr lang="en-US" sz="1300" dirty="0">
                <a:solidFill>
                  <a:srgbClr val="5F6670"/>
                </a:solidFill>
                <a:latin typeface="Calibri" pitchFamily="34" charset="0"/>
                <a:ea typeface="Calibri" pitchFamily="34" charset="-122"/>
                <a:cs typeface="Calibri" pitchFamily="34" charset="-120"/>
              </a:rPr>
              <a:t>qui fixe les règles</a:t>
            </a:r>
            <a:endParaRPr lang="en-US" sz="1300" dirty="0"/>
          </a:p>
        </p:txBody>
      </p:sp>
      <p:sp>
        <p:nvSpPr>
          <p:cNvPr id="24" name="Shape 21"/>
          <p:cNvSpPr/>
          <p:nvPr/>
        </p:nvSpPr>
        <p:spPr>
          <a:xfrm>
            <a:off x="640080" y="4480560"/>
            <a:ext cx="10911535" cy="1097280"/>
          </a:xfrm>
          <a:prstGeom prst="roundRect">
            <a:avLst>
              <a:gd name="adj" fmla="val 6667"/>
            </a:avLst>
          </a:prstGeom>
          <a:solidFill>
            <a:srgbClr val="16181D"/>
          </a:solidFill>
          <a:ln w="12700">
            <a:solidFill>
              <a:srgbClr val="16181D"/>
            </a:solidFill>
            <a:prstDash val="solid"/>
          </a:ln>
        </p:spPr>
        <p:txBody>
          <a:bodyPr/>
          <a:lstStyle/>
          <a:p>
            <a:endParaRPr lang="fr-BE"/>
          </a:p>
        </p:txBody>
      </p:sp>
      <p:sp>
        <p:nvSpPr>
          <p:cNvPr id="25" name="Text 22"/>
          <p:cNvSpPr txBox="1"/>
          <p:nvPr/>
        </p:nvSpPr>
        <p:spPr>
          <a:xfrm>
            <a:off x="914400" y="4480560"/>
            <a:ext cx="10362895" cy="1097280"/>
          </a:xfrm>
          <a:prstGeom prst="rect">
            <a:avLst/>
          </a:prstGeom>
          <a:noFill/>
          <a:ln/>
        </p:spPr>
        <p:txBody>
          <a:bodyPr wrap="square" lIns="0" tIns="0" rIns="0" bIns="0" rtlCol="0" anchor="ctr"/>
          <a:lstStyle/>
          <a:p>
            <a:pPr marL="0" indent="0">
              <a:buNone/>
            </a:pPr>
            <a:r>
              <a:rPr lang="en-US" sz="1700" b="1" dirty="0">
                <a:solidFill>
                  <a:srgbClr val="E8590C"/>
                </a:solidFill>
                <a:latin typeface="Calibri" pitchFamily="34" charset="0"/>
                <a:ea typeface="Calibri" pitchFamily="34" charset="-122"/>
                <a:cs typeface="Calibri" pitchFamily="34" charset="-120"/>
              </a:rPr>
              <a:t>Question bonus  </a:t>
            </a:r>
            <a:r>
              <a:rPr lang="en-US" sz="1700" dirty="0">
                <a:solidFill>
                  <a:srgbClr val="FFFFFF"/>
                </a:solidFill>
                <a:latin typeface="Calibri" pitchFamily="34" charset="0"/>
                <a:ea typeface="Calibri" pitchFamily="34" charset="-122"/>
                <a:cs typeface="Calibri" pitchFamily="34" charset="-120"/>
              </a:rPr>
              <a:t>Faut-il interdire par la loi les mots de passe par défaut ou calculables ? Le Royaume-Uni l'a fait en 2024 pour les objets connectés grand public.</a:t>
            </a:r>
            <a:endParaRPr lang="en-US" sz="1700" dirty="0"/>
          </a:p>
        </p:txBody>
      </p:sp>
      <p:sp>
        <p:nvSpPr>
          <p:cNvPr id="26" name="Text 23"/>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Royaume-Uni, Product Security and Telecommunications Infrastructure Act (en vigueur le 29/04/2024) ; règlement (UE) 2024/2847 (Cyber Resilience Act).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marL="0" indent="0">
              <a:buNone/>
            </a:pPr>
            <a:r>
              <a:rPr lang="en-US" sz="1800" b="1" kern="0" spc="300" dirty="0">
                <a:solidFill>
                  <a:srgbClr val="E8590C"/>
                </a:solidFill>
                <a:latin typeface="Calibri" pitchFamily="34" charset="0"/>
                <a:ea typeface="Calibri" pitchFamily="34" charset="-122"/>
                <a:cs typeface="Calibri" pitchFamily="34" charset="-120"/>
              </a:rPr>
              <a:t>À retenir</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Étude de cas · Frigos de supermarchés</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15</a:t>
            </a:r>
            <a:endParaRPr lang="en-US" sz="1000" dirty="0"/>
          </a:p>
        </p:txBody>
      </p:sp>
      <p:sp>
        <p:nvSpPr>
          <p:cNvPr id="6" name="Text 3"/>
          <p:cNvSpPr txBox="1"/>
          <p:nvPr/>
        </p:nvSpPr>
        <p:spPr>
          <a:xfrm>
            <a:off x="640080" y="1737360"/>
            <a:ext cx="10911535" cy="219456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Une interface exposée.</a:t>
            </a:r>
            <a:endParaRPr lang="en-US" sz="4000" dirty="0"/>
          </a:p>
          <a:p>
            <a:pPr marL="0" indent="0">
              <a:buNone/>
            </a:pPr>
            <a:r>
              <a:rPr lang="en-US" sz="4000" b="1" dirty="0">
                <a:solidFill>
                  <a:srgbClr val="FFFFFF"/>
                </a:solidFill>
                <a:latin typeface="Arial" pitchFamily="34" charset="0"/>
                <a:ea typeface="Arial" pitchFamily="34" charset="-122"/>
                <a:cs typeface="Arial" pitchFamily="34" charset="-120"/>
              </a:rPr>
              <a:t>Un mot de passe prévisible.</a:t>
            </a:r>
            <a:endParaRPr lang="en-US" sz="4000" dirty="0"/>
          </a:p>
          <a:p>
            <a:pPr marL="0" indent="0">
              <a:buNone/>
            </a:pPr>
            <a:r>
              <a:rPr lang="en-US" sz="4000" b="1" dirty="0">
                <a:solidFill>
                  <a:srgbClr val="FFFFFF"/>
                </a:solidFill>
                <a:latin typeface="Arial" pitchFamily="34" charset="0"/>
                <a:ea typeface="Arial" pitchFamily="34" charset="-122"/>
                <a:cs typeface="Arial" pitchFamily="34" charset="-120"/>
              </a:rPr>
              <a:t>Une mise à jour jamais faite.</a:t>
            </a:r>
            <a:endParaRPr lang="en-US" sz="4000" dirty="0"/>
          </a:p>
        </p:txBody>
      </p:sp>
      <p:sp>
        <p:nvSpPr>
          <p:cNvPr id="7" name="Text 4"/>
          <p:cNvSpPr txBox="1"/>
          <p:nvPr/>
        </p:nvSpPr>
        <p:spPr>
          <a:xfrm>
            <a:off x="640080" y="4206240"/>
            <a:ext cx="10515600" cy="1097280"/>
          </a:xfrm>
          <a:prstGeom prst="rect">
            <a:avLst/>
          </a:prstGeom>
          <a:noFill/>
          <a:ln/>
        </p:spPr>
        <p:txBody>
          <a:bodyPr wrap="square" lIns="0" tIns="0" rIns="0" bIns="0" rtlCol="0" anchor="t"/>
          <a:lstStyle/>
          <a:p>
            <a:pPr marL="0" indent="0">
              <a:buNone/>
            </a:pPr>
            <a:r>
              <a:rPr lang="en-US" sz="2100" dirty="0">
                <a:solidFill>
                  <a:srgbClr val="C9CDD3"/>
                </a:solidFill>
                <a:latin typeface="Calibri" pitchFamily="34" charset="0"/>
                <a:ea typeface="Calibri" pitchFamily="34" charset="-122"/>
                <a:cs typeface="Calibri" pitchFamily="34" charset="-120"/>
              </a:rPr>
              <a:t>Les défenses sont connues et simples. Le plus souvent, ce qui manque, c'est de savoir que l'équipement existe et qu'il est visible.</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SOURCES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Pour aller plus loin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Étude de cas · Frigos de supermarchés</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16</a:t>
            </a:r>
            <a:endParaRPr lang="en-US" sz="1000" dirty="0"/>
          </a:p>
        </p:txBody>
      </p:sp>
      <p:sp>
        <p:nvSpPr>
          <p:cNvPr id="8" name="Text 5"/>
          <p:cNvSpPr txBox="1"/>
          <p:nvPr/>
        </p:nvSpPr>
        <p:spPr>
          <a:xfrm>
            <a:off x="640080" y="1783080"/>
            <a:ext cx="10911535" cy="4206240"/>
          </a:xfrm>
          <a:prstGeom prst="rect">
            <a:avLst/>
          </a:prstGeom>
          <a:noFill/>
          <a:ln/>
        </p:spPr>
        <p:txBody>
          <a:bodyPr wrap="square" lIns="0" tIns="0" rIns="0" bIns="0" rtlCol="0" anchor="t"/>
          <a:lstStyle/>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CERT-FR (ANSSI), alerte CERTFR-2026-ALE-012, 12/10/2026, mise à jour le 13/10/2026 · cert.cyber.gouv.fr</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CISA, avis ICSA-25-140-03 « Danfoss AK-SM 8xxA Series », 20/05/2025, mis à jour le 26/08/2025 · cisa.gov</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Danfoss, avis de sécurité DSA-2023-08-01, DSA-2025-03-01, DSA-2025-08-01 · danfoss.com</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DIVD, dossier DIVD-2023-00025 · csirt.divd.nl</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Claroty Team82, recherche d'août 2026 et billet du 12-13/10/2026 · claroty.com</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franceinfo, « Un piratage pas si sophistiqué que ça… », octobre 2026</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CBS News, SecurityWeek, Generation-NT, Futura-Sciences, octobre 2026</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Libération, 12/10/2026 (article à l'origine de cette étude de cas)</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ANSSI, « La cybersécurité des systèmes industriels » ; IEC 62443 ; MITRE ATT&amp;CK for ICS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3776</Words>
  <Application>Microsoft Office PowerPoint</Application>
  <PresentationFormat>Grand écran</PresentationFormat>
  <Paragraphs>287</Paragraphs>
  <Slides>19</Slides>
  <Notes>16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 cas : l'attaque des frigos de supermarchés</dc:title>
  <dc:subject>PptxGenJS Presentation</dc:subject>
  <dc:creator>Ludwig Lebrun</dc:creator>
  <cp:lastModifiedBy>Ludwig Lebrun</cp:lastModifiedBy>
  <cp:revision>2</cp:revision>
  <dcterms:created xsi:type="dcterms:W3CDTF">2026-10-14T15:41:49Z</dcterms:created>
  <dcterms:modified xsi:type="dcterms:W3CDTF">2026-10-14T17:17:16Z</dcterms:modified>
</cp:coreProperties>
</file>