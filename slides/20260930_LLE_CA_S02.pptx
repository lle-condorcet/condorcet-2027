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 min] Ce deck démarre après le retour sur le questionnaire et la fin de la séance 1. Les heures des notes supposent un début de ce deck à 1:00 : ajuster mentalement.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 – 2 min] Rappel rapide : on sait lire une classe, on sait pourquoi on protège ses données (le guichet) et pourquoi l'objet fait respecter ses règles. Aujourd'hui, on passe d'une classe à un ensemble de classes qui travaillent ensemble. À la fin de la séance, vous avez tout pour le Livrable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 – 3 min] Reprendre calmement, c'était la partie la moins claire de la S1. Une propriété, c'est une case du formulaire, avec deux portes : get, la porte pour lire la valeur ; set, la porte pour l'écrire. On choisit qui a le droit de passer par chaque porte. Reprendre l'image du guichet : vous pouvez consulter votre solde (get public), mais seule la banque peut le modifier (set privé). Lire le tableau ligne par ligne, avec un exemple d'IncidentHub pour chacune.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[1:06 – 3 min] Montrer le contrat de la classe à gauche, puis chaque ligne à droite. Lire le statut : autorisé (get public). Écrire directement le statut : refusé par le compilateur, avec l'erreur CS0272 (« l'accesseur set est inaccessible »). Passer par la méthode Close() : autorisé, et c'est Close() qui vérifie la règle métier. Modifier l'Id : refusé, erreur CS0200 (« la propriété est en lecture seule »). Message : le compilateur fait respecter l'encapsulation à votre place, avant même d'exécuter le programme.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[1:09 – 2 min] 42 d'entre vous connaissent Python et 29 Java (questionnaire). Même idée partout : on cache la donnée, on contrôle l'accès. En Java, on écrit à la main un champ privé et des méthodes getX() et setX() : c'est d'ailleurs de là que viennent les mots « getter » et « setter ». En Python, on utilise un décorateur @property. C# a simplement rendu ça plus court. Si vous lisez « getter » ou « setter » dans une documentation, c'est exactement 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 Bloc de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 – 3 min] Partir du problème. Nos trois rôles (déclarant, analyste, responsable) ont tous un nom et un e-mail. Si on écrit trois classes séparées, on copie trois fois les mêmes lignes. Le jour où on ajoute un numéro de téléphone, il faut penser à le faire trois fois, et on en oublie une. En développement, le copier-coller est un signal d'alarme (on parle de « code smell », une odeur de code). Question au chat : que feriez-vous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 – 3 min] L'héritage, c'est dire : « un analyste est un utilisateur, avec quelque chose en plus ». Ce qui est commun (nom, e-mail) est écrit une seule fois dans la classe parente User ; chaque classe enfant ne contient que ce qui lui est propre. Image : la classification du vivant. Un chien est un mammifère : il a tout ce qu'ont les mammifères, plus ce qui fait un chien. En UML : une flèche avec un triangle vide, qui pointe vers le parent. Le test à se poser toujours : « X est-il vraiment un Y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[1:17 – 4 min] Ouvrir User.cs, puis Analyst.cs. Montrer que Analyst ne réécrit ni Name ni Email. Montrer base(...). Puis Incident.AssignTo : le type Analyst empêche d'assigner un déclarant, c'est le compilateur qui vérifie la règle. Lancer Program.cs.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 – 3 min] On complète les symboles de visibilité vus la semaine dernière. private (-) : le coffre, seule la classe y touche. public (+) : le guichet, tout le monde. protected (#) : la clé de la maison familiale ; les enfants l'ont, pas les voisins ; la classe et ses héritières y ont accès. internal (~ en UML) : le même projet. Et deux notations UML de plus : souligné pour static (appartient à la classe, pas à chaque objet), italique pour abstrait (on y vient).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 – 2 min] Le piège classique : hériter pour récupérer du code, alors que la relation « est un » est fausse. Exemple : faire hériter Comment d'Incident parce qu'ils ont tous les deux un texte et une date. Un commentaire n'est pas un incident. Dès 1994, le livre « Design Patterns » (le Gang of Four) donnait ce conseil, toujours valable : préférer la composition à l'héritage. On verra la composition dans quelques minutes. Et on verra dans le moment IA que les IA font souvent cette erreur.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[1:26] Bloc de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[1:26 – 3 min] Dans IncidentHub, personne n'est juste « un utilisateur » : on est déclarant, analyste ou responsable. La classe User sert de modèle commun, mais on ne doit pas pouvoir créer un User tout seul. On la déclare abstract. Image : le permis de conduire. On ne conduit jamais « un véhicule » en général : on conduit une voiture, une moto, un camion. « Véhicule » est une idée commune, abstraite. Une classe abstraite peut aussi imposer à ses héritières d'écrire une méthode : ici RoleName(). En UML : le nom en italique.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[1:29 – 3 min] Montrer l'erreur de compilation sur new User(...) (commentée dans Program.cs). Montrer que chaque classe fille doit implémenter RoleName(), sinon le compilateur refuse. Describe() est écrite une seule fois et marche pour tous.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 Bloc de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 – 2 min] Nouveau besoin métier : quand un incident change d'état, on veut prévenir quelqu'un. Par e-mail aujourd'hui, par Teams demain, peut-être par SMS pour les incidents critiques. Si Incident connaît directement l'e-mail, Teams et les SMS, il faudra le modifier à chaque nouveau canal. On veut au contraire qu'Incident dise juste : « prévenez », sans savoir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 – 3 min] Image : la prise électrique. Elle définit une norme (la forme, la tension). N'importe quel appareil qui respecte la norme peut s'y brancher : une lampe, un chargeur, un grille-pain. La prise ne sait pas ce qu'on y branche, et elle n'a pas besoin de le savoir. Une interface, c'est pareil : un contrat qui dit « je sais notifier ». EmailNotifier et TeamsNotifier signent ce contrat. En C#, les interfaces commencent par I par convention. En UML : le stéréotype «interface» et une flèche pointillée à triangle vide (la réalisation).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 – 2 min] La question revient toujours. Classe abstraite : une famille (« est un »), avec du code commun déjà écrit, un seul parent possible en C#. Interface : une capacité (« sait faire »), un contrat sans code (ou presque), et une classe peut en signer plusieurs. Un Analyst est un User (classe abstraite) ; un EmailNotifier sait notifier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[1:39 – 4 min] Montrer INotifier.cs (trois lignes), puis les deux implémentations. Dans Program.cs, montrer la liste de INotifier : on peut ajouter un SmsNotifier demain sans toucher à Incident. C'est l'idée qu'on retrouvera avec l'injection de dépendances en S6.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 Bloc de 14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 – 3 min] Le mot vient du grec : « plusieurs formes ». Image : le bouton Imprimer. Vous cliquez sur le même bouton ; selon ce qui est choisi, ça part sur une imprimante, en PDF ou par e-mail. Vous n'avez pas à savoir comment. En code : on parcourt une liste de User et on appelle Describe() ; chaque objet répond à sa façon selon ce qu'il est vraiment. Pareil pour la liste de INotifier. C'est ce qui rend le code extensible : ajouter un rôle ou un canal ne demande pas de modifier la boucle.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[1:46 – 3 min] Deux relations « partie de », qui se distinguent par une seule question : la partie survit-elle au tout ? Composition (losange plein) : la maison et ses pièces ; si on démolit la maison, les pièces disparaissent. Supprimer un incident supprime ses commentaires. Agrégation (losange vide) : l'équipe et ses joueurs ; si l'équipe est dissoute, les joueurs existent toujours. Un analyste existe sans son équipe. C'est la composition que recommandait le Gang of Four à la place de l'héritage abusif.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[1:49 – 5 min] Lancer Program.cs et lire la sortie. Montrer la liste privée de commentaires et son exposition en lecture seule : c'est l'encapsulation appliquée à une collection (le guichet, encore). AddComment refuse un texte 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 Bloc de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 – 3 min] Maintenant qu'on a vu les concepts, on peut lire toutes les relations. Association : a un lien avec. Composition (losange plein) : meurt avec. Agrégation (losange vide) : survit sans. Héritage (triangle vide, trait plein) : est un. Réalisation (triangle vide, pointillé) : implémente. Dépendance (flèche pointillée) : utilise ponctuellement.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[1:57 – 3 min] Lire le modèle à voix haute avec tout ce qu'on a vu : User abstraite et ses trois rôles, l'incident déclaré par un User et assigné à au plus un Analyst, les commentaires en composition, l'interface INotifier. La note porte une règle en OCL : pour démarrer le travail, il faut un analyste assigné (une précondition, « pre »). C'est ce modèle que vous allez coder dans le Livrable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2 min] Le diagramme de cas d'utilisation, déjà aperçu : les acteurs sont des rôles (pas des personnes), les ovales des services rendus. «include» : toujours inclus (signaler suppose de s'authentifier). «extend» : possible en plus (joindre une preuve). C'est souvent le premier dessin qu'on fait avec un client, avant même le diagramme de classes : il fixe le périmètre.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 – 3 min] Le diagramme d'activités, c'est l'organigramme de l'UML : il décrit un déroulement, étape par étape, avec les décisions et les couloirs de responsabilité. On reprend exactement le processus vu en BPMN la semaine dernière, pour comparer. Nouveauté : la barre épaisse, qui veut dire « en parallèle ». Si l'incident est significatif au sens de NIS2, on alerte le CCB pendant qu'on traite l'incident, sans attendre ; la seconde barre attend que les deux soient finis. Activités ou BPMN ? Même idée. Le diagramme d'activités parle à l'équipe de développement et s'intègre au reste du modèle UML ; BPMN parle au métier et peut être exécuté par un moteur de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Bloc de 12 minutes. Prompt et sortie de référence : prompts.md et branche demo/s02-ia-diagramme.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2 min] Lancer le prompt en direct. Si la sortie diffère de la référence, le dire et basculer sur la branche demo/s02-ia-diagramme (fichier docs/modele-genere-par-ia.md, rendu directement par la forge ou par l'aperçu Markdown de Rider).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[2:07 – 3 min] Réactions : 👍 = 1 ou 2, ❤️ = 3 ou 4, 😮 = 5 et plus. Puis 3-4 réponses dans le chat. Ils ont maintenant tous les outils de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 3 min] Les IA abusent très souvent de l'héritage : c'est la solution la plus « visible » pour relier des classes. Chaque défaut renvoie à un point de la séance. Ajuster ce tableau à la sortie réellement capturée (prompts.md).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 – 4 min] Question ouverte, surtout pour le parcours Approfondir, sans forcément trancher. Avec l'héritage, un objet ne change pas de classe : Sophie créée comme Reporter ne peut pas devenir Analyst, il faudrait recréer l'objet. Alternative : un seul User avec un rôle (enum Role, ou une liste de rôles). C'est d'ailleurs ce que font Keycloak et la plupart des systèmes réels (rôles et permissions), qu'on verra au Q2. Il n'y a pas de modèle parfait : il y a des compromis. Pour le Livrable 1, on garde l'héritage, qui est l'objet de la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[2:17] Bloc de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[2:17 – 3 min] Présenter l'énoncé (ENONCE.md, déposé dans Teams). Tout ce qui est demandé a été vu en S1 et S2. Couleur orange : IA autorisée, AI-LOG.md obligatoire. Insister : le diagramme docs/modele.md doit correspondre à votre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 3 min] Expliquer la correction : des tests automatiques sont fournis. Vous lancez dotnet test sur votre poste avant de rendre : si c'est vert, vous savez déjà que le socle est bon. Apprendre : vous partez du template, avec des TODO numérotés. Approfondir : vous partez de zéro, vous respectez le même contrat (les tests doivent passer) et vous ajoutez une extension. Les tuteurs peuvent aider sur le canal Entraide, sans faire à la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 – 2 min] Grille binaire : chaque critère est respecté ou non. La plupart sont vérifiés par les tests automatiques ; la cohérence du diagramme et l'AI-LOG sont relus. Rappel : les QCM contiendront des questions sur ce code. Si vous l'avez compris, c'est facile.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2 min] Récapituler les quatre piliers avec leurs images. Ce sont ces images qu'il faut retenir, et ce seront les questions du QCM.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[2:27 – 6 min] Coller le lien Forms. À partir d'aujourd'hui, le QCM compte (les 7 meilleurs sur 8). Couleur rouge : sans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 Fin. Exporter les réponses du QCM S2. Publier ENONCE.md et le template du Livrable 1 dans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81D"/>
        </a:solidFill>
      </p:bgPr>
    </p:bg>
    <p:spTree>
      <p:nvGrpSpPr>
        <p:cNvPr id="1" name=""/>
        <p:cNvGrpSpPr/>
        <p:nvPr/>
      </p:nvGrpSpPr>
      <p:grpSpPr>
        <a:xfrm>
          <a:off x="0" y="0"/>
          <a:ext cx="0" cy="0"/>
          <a:chOff x="0" y="0"/>
          <a:chExt cx="0" cy="0"/>
        </a:xfrm>
      </p:grpSpPr>
      <p:sp>
        <p:nvSpPr>
          <p:cNvPr id="2" name="Shape 0"/>
          <p:cNvSpPr/>
          <p:nvPr/>
        </p:nvSpPr>
        <p:spPr>
          <a:xfrm>
            <a:off x="640080" y="1737360"/>
            <a:ext cx="274320" cy="274320"/>
          </a:xfrm>
          <a:prstGeom prst="rect">
            <a:avLst/>
          </a:prstGeom>
          <a:solidFill>
            <a:srgbClr val="E8590C"/>
          </a:solidFill>
          <a:ln w="12700">
            <a:solidFill>
              <a:srgbClr val="E8590C"/>
            </a:solidFill>
            <a:prstDash val="solid"/>
          </a:ln>
        </p:spPr>
      </p:sp>
      <p:sp>
        <p:nvSpPr>
          <p:cNvPr id="3" name="Text 1"/>
          <p:cNvSpPr txBox="1"/>
          <p:nvPr/>
        </p:nvSpPr>
        <p:spPr>
          <a:xfrm>
            <a:off x="640080" y="2194560"/>
            <a:ext cx="10911535"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Complément Application</a:t>
            </a:r>
            <a:endParaRPr lang="en-US" sz="5400" dirty="0"/>
          </a:p>
        </p:txBody>
      </p:sp>
      <p:sp>
        <p:nvSpPr>
          <p:cNvPr id="4" name="Text 2"/>
          <p:cNvSpPr txBox="1"/>
          <p:nvPr/>
        </p:nvSpPr>
        <p:spPr>
          <a:xfrm>
            <a:off x="640080" y="3291840"/>
            <a:ext cx="10911535" cy="640080"/>
          </a:xfrm>
          <a:prstGeom prst="rect">
            <a:avLst/>
          </a:prstGeom>
          <a:noFill/>
          <a:ln/>
        </p:spPr>
        <p:txBody>
          <a:bodyPr wrap="square" lIns="0" tIns="0" rIns="0" bIns="0" rtlCol="0" anchor="ctr"/>
          <a:lstStyle/>
          <a:p>
            <a:pPr indent="0" marL="0">
              <a:buNone/>
            </a:pPr>
            <a:r>
              <a:rPr lang="en-US" sz="2600" dirty="0">
                <a:solidFill>
                  <a:srgbClr val="C9CDD3"/>
                </a:solidFill>
                <a:latin typeface="Calibri" pitchFamily="34" charset="0"/>
                <a:ea typeface="Calibri" pitchFamily="34" charset="-122"/>
                <a:cs typeface="Calibri" pitchFamily="34" charset="-120"/>
              </a:rPr>
              <a:t>Séance 2 · POO avancée</a:t>
            </a:r>
            <a:endParaRPr lang="en-US" sz="2600" dirty="0"/>
          </a:p>
        </p:txBody>
      </p:sp>
      <p:sp>
        <p:nvSpPr>
          <p:cNvPr id="5" name="Text 3"/>
          <p:cNvSpPr txBox="1"/>
          <p:nvPr/>
        </p:nvSpPr>
        <p:spPr>
          <a:xfrm>
            <a:off x="640080" y="3931920"/>
            <a:ext cx="10911535" cy="548640"/>
          </a:xfrm>
          <a:prstGeom prst="rect">
            <a:avLst/>
          </a:prstGeom>
          <a:noFill/>
          <a:ln/>
        </p:spPr>
        <p:txBody>
          <a:bodyPr wrap="square" lIns="0" tIns="0" rIns="0" bIns="0" rtlCol="0" anchor="ctr"/>
          <a:lstStyle/>
          <a:p>
            <a:pPr indent="0" marL="0">
              <a:buNone/>
            </a:pPr>
            <a:r>
              <a:rPr lang="en-US" sz="1800" dirty="0">
                <a:solidFill>
                  <a:srgbClr val="9AA0A8"/>
                </a:solidFill>
                <a:latin typeface="Calibri" pitchFamily="34" charset="0"/>
                <a:ea typeface="Calibri" pitchFamily="34" charset="-122"/>
                <a:cs typeface="Calibri" pitchFamily="34" charset="-120"/>
              </a:rPr>
              <a:t>Héritage · abstraction · interfaces · polymorphisme · composition</a:t>
            </a:r>
            <a:endParaRPr lang="en-US" sz="1800" dirty="0"/>
          </a:p>
        </p:txBody>
      </p:sp>
      <p:sp>
        <p:nvSpPr>
          <p:cNvPr id="6" name="Text 4"/>
          <p:cNvSpPr txBox="1"/>
          <p:nvPr/>
        </p:nvSpPr>
        <p:spPr>
          <a:xfrm>
            <a:off x="640080" y="5486400"/>
            <a:ext cx="10911535" cy="365760"/>
          </a:xfrm>
          <a:prstGeom prst="rect">
            <a:avLst/>
          </a:prstGeom>
          <a:noFill/>
          <a:ln/>
        </p:spPr>
        <p:txBody>
          <a:bodyPr wrap="square" lIns="0" tIns="0" rIns="0" bIns="0" rtlCol="0" anchor="ctr"/>
          <a:lstStyle/>
          <a:p>
            <a:pPr indent="0" marL="0">
              <a:buNone/>
            </a:pPr>
            <a:r>
              <a:rPr lang="en-US" sz="1400" dirty="0">
                <a:solidFill>
                  <a:srgbClr val="9AA0A8"/>
                </a:solidFill>
                <a:latin typeface="Calibri" pitchFamily="34" charset="0"/>
                <a:ea typeface="Calibri" pitchFamily="34" charset="-122"/>
                <a:cs typeface="Calibri" pitchFamily="34" charset="-120"/>
              </a:rPr>
              <a:t>Ludwig Lebrun · 30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OÙ ON EN EST</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La semaine dernière, et aujourd'hui</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a:t>
            </a:r>
            <a:endParaRPr lang="en-US" sz="1000" dirty="0"/>
          </a:p>
        </p:txBody>
      </p:sp>
      <p:sp>
        <p:nvSpPr>
          <p:cNvPr id="8" name="Shape 5"/>
          <p:cNvSpPr/>
          <p:nvPr/>
        </p:nvSpPr>
        <p:spPr>
          <a:xfrm>
            <a:off x="640080" y="1783080"/>
            <a:ext cx="5303520" cy="3840480"/>
          </a:xfrm>
          <a:prstGeom prst="roundRect">
            <a:avLst>
              <a:gd name="adj" fmla="val 1905"/>
            </a:avLst>
          </a:prstGeom>
          <a:solidFill>
            <a:srgbClr val="F2F3F5"/>
          </a:solidFill>
          <a:ln w="12700">
            <a:solidFill>
              <a:srgbClr val="F2F3F5"/>
            </a:solidFill>
            <a:prstDash val="solid"/>
          </a:ln>
        </p:spPr>
      </p:sp>
      <p:sp>
        <p:nvSpPr>
          <p:cNvPr id="9" name="Text 6"/>
          <p:cNvSpPr txBox="1"/>
          <p:nvPr/>
        </p:nvSpPr>
        <p:spPr>
          <a:xfrm>
            <a:off x="960120" y="1965960"/>
            <a:ext cx="4572000" cy="457200"/>
          </a:xfrm>
          <a:prstGeom prst="rect">
            <a:avLst/>
          </a:prstGeom>
          <a:noFill/>
          <a:ln/>
        </p:spPr>
        <p:txBody>
          <a:bodyPr wrap="square" lIns="0" tIns="0" rIns="0" bIns="0" rtlCol="0" anchor="ctr"/>
          <a:lstStyle/>
          <a:p>
            <a:pPr indent="0" marL="0">
              <a:buNone/>
            </a:pPr>
            <a:r>
              <a:rPr lang="en-US" sz="2200" b="1" dirty="0">
                <a:solidFill>
                  <a:srgbClr val="16181D"/>
                </a:solidFill>
                <a:latin typeface="Arial" pitchFamily="34" charset="0"/>
                <a:ea typeface="Arial" pitchFamily="34" charset="-122"/>
                <a:cs typeface="Arial" pitchFamily="34" charset="-120"/>
              </a:rPr>
              <a:t>Déjà vu</a:t>
            </a:r>
            <a:endParaRPr lang="en-US" sz="2200" dirty="0"/>
          </a:p>
        </p:txBody>
      </p:sp>
      <p:sp>
        <p:nvSpPr>
          <p:cNvPr id="10" name="Text 7"/>
          <p:cNvSpPr txBox="1"/>
          <p:nvPr/>
        </p:nvSpPr>
        <p:spPr>
          <a:xfrm>
            <a:off x="960120" y="2560320"/>
            <a:ext cx="4754880" cy="292608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16181D"/>
                </a:solidFill>
                <a:latin typeface="Calibri" pitchFamily="34" charset="0"/>
                <a:ea typeface="Calibri" pitchFamily="34" charset="-122"/>
                <a:cs typeface="Calibri" pitchFamily="34" charset="-120"/>
              </a:rPr>
              <a:t>Classe et objet : le formulaire vierge et le formulaire rempli</a:t>
            </a:r>
            <a:endParaRPr lang="en-US" sz="1700" dirty="0"/>
          </a:p>
          <a:p>
            <a:pPr marL="228600" indent="-228600">
              <a:spcAft>
                <a:spcPts val="800"/>
              </a:spcAft>
              <a:buSzPct val="100000"/>
              <a:buChar char="•"/>
            </a:pPr>
            <a:r>
              <a:rPr lang="en-US" sz="1700" dirty="0">
                <a:solidFill>
                  <a:srgbClr val="16181D"/>
                </a:solidFill>
                <a:latin typeface="Calibri" pitchFamily="34" charset="0"/>
                <a:ea typeface="Calibri" pitchFamily="34" charset="-122"/>
                <a:cs typeface="Calibri" pitchFamily="34" charset="-120"/>
              </a:rPr>
              <a:t>Encapsulation : le guichet (+ public, - private)</a:t>
            </a:r>
            <a:endParaRPr lang="en-US" sz="1700" dirty="0"/>
          </a:p>
          <a:p>
            <a:pPr marL="228600" indent="-228600">
              <a:spcAft>
                <a:spcPts val="800"/>
              </a:spcAft>
              <a:buSzPct val="100000"/>
              <a:buChar char="•"/>
            </a:pPr>
            <a:r>
              <a:rPr lang="en-US" sz="1700" dirty="0">
                <a:solidFill>
                  <a:srgbClr val="16181D"/>
                </a:solidFill>
                <a:latin typeface="Calibri" pitchFamily="34" charset="0"/>
                <a:ea typeface="Calibri" pitchFamily="34" charset="-122"/>
                <a:cs typeface="Calibri" pitchFamily="34" charset="-120"/>
              </a:rPr>
              <a:t>Enum : des choix fermés</a:t>
            </a:r>
            <a:endParaRPr lang="en-US" sz="1700" dirty="0"/>
          </a:p>
          <a:p>
            <a:pPr marL="228600" indent="-228600">
              <a:spcAft>
                <a:spcPts val="800"/>
              </a:spcAft>
              <a:buSzPct val="100000"/>
              <a:buChar char="•"/>
            </a:pPr>
            <a:r>
              <a:rPr lang="en-US" sz="1700" dirty="0">
                <a:solidFill>
                  <a:srgbClr val="16181D"/>
                </a:solidFill>
                <a:latin typeface="Calibri" pitchFamily="34" charset="0"/>
                <a:ea typeface="Calibri" pitchFamily="34" charset="-122"/>
                <a:cs typeface="Calibri" pitchFamily="34" charset="-120"/>
              </a:rPr>
              <a:t>Règles métier dans l'objet</a:t>
            </a:r>
            <a:endParaRPr lang="en-US" sz="1700" dirty="0"/>
          </a:p>
          <a:p>
            <a:pPr marL="228600" indent="-228600">
              <a:spcAft>
                <a:spcPts val="800"/>
              </a:spcAft>
              <a:buSzPct val="100000"/>
              <a:buChar char="•"/>
            </a:pPr>
            <a:r>
              <a:rPr lang="en-US" sz="1700" dirty="0">
                <a:solidFill>
                  <a:srgbClr val="16181D"/>
                </a:solidFill>
                <a:latin typeface="Calibri" pitchFamily="34" charset="0"/>
                <a:ea typeface="Calibri" pitchFamily="34" charset="-122"/>
                <a:cs typeface="Calibri" pitchFamily="34" charset="-120"/>
              </a:rPr>
              <a:t>Lire un diagramme de classes simple</a:t>
            </a:r>
            <a:endParaRPr lang="en-US" sz="1700" dirty="0"/>
          </a:p>
        </p:txBody>
      </p:sp>
      <p:sp>
        <p:nvSpPr>
          <p:cNvPr id="11" name="Shape 8"/>
          <p:cNvSpPr/>
          <p:nvPr/>
        </p:nvSpPr>
        <p:spPr>
          <a:xfrm>
            <a:off x="6217920" y="1783080"/>
            <a:ext cx="5303520" cy="3840480"/>
          </a:xfrm>
          <a:prstGeom prst="roundRect">
            <a:avLst>
              <a:gd name="adj" fmla="val 1905"/>
            </a:avLst>
          </a:prstGeom>
          <a:solidFill>
            <a:srgbClr val="16181D"/>
          </a:solidFill>
          <a:ln w="12700">
            <a:solidFill>
              <a:srgbClr val="16181D"/>
            </a:solidFill>
            <a:prstDash val="solid"/>
          </a:ln>
        </p:spPr>
      </p:sp>
      <p:sp>
        <p:nvSpPr>
          <p:cNvPr id="12" name="Text 9"/>
          <p:cNvSpPr txBox="1"/>
          <p:nvPr/>
        </p:nvSpPr>
        <p:spPr>
          <a:xfrm>
            <a:off x="6537960" y="1965960"/>
            <a:ext cx="4572000" cy="457200"/>
          </a:xfrm>
          <a:prstGeom prst="rect">
            <a:avLst/>
          </a:prstGeom>
          <a:noFill/>
          <a:ln/>
        </p:spPr>
        <p:txBody>
          <a:bodyPr wrap="square" lIns="0" tIns="0" rIns="0" bIns="0" rtlCol="0" anchor="ctr"/>
          <a:lstStyle/>
          <a:p>
            <a:pPr indent="0" marL="0">
              <a:buNone/>
            </a:pPr>
            <a:r>
              <a:rPr lang="en-US" sz="2200" b="1" dirty="0">
                <a:solidFill>
                  <a:srgbClr val="E8590C"/>
                </a:solidFill>
                <a:latin typeface="Arial" pitchFamily="34" charset="0"/>
                <a:ea typeface="Arial" pitchFamily="34" charset="-122"/>
                <a:cs typeface="Arial" pitchFamily="34" charset="-120"/>
              </a:rPr>
              <a:t>Aujourd'hui</a:t>
            </a:r>
            <a:endParaRPr lang="en-US" sz="2200" dirty="0"/>
          </a:p>
        </p:txBody>
      </p:sp>
      <p:sp>
        <p:nvSpPr>
          <p:cNvPr id="13" name="Text 10"/>
          <p:cNvSpPr txBox="1"/>
          <p:nvPr/>
        </p:nvSpPr>
        <p:spPr>
          <a:xfrm>
            <a:off x="6537960" y="2560320"/>
            <a:ext cx="4754880" cy="292608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Héritage : « est un »</a:t>
            </a:r>
            <a:endParaRPr lang="en-US" sz="1700" dirty="0"/>
          </a:p>
          <a:p>
            <a:pPr marL="228600" indent="-2286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Abstraction : ce qui n'existe pas tout seul</a:t>
            </a:r>
            <a:endParaRPr lang="en-US" sz="1700" dirty="0"/>
          </a:p>
          <a:p>
            <a:pPr marL="228600" indent="-2286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Interfaces : un contrat</a:t>
            </a:r>
            <a:endParaRPr lang="en-US" sz="1700" dirty="0"/>
          </a:p>
          <a:p>
            <a:pPr marL="228600" indent="-2286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Polymorphisme : un appel, plusieurs comportements</a:t>
            </a:r>
            <a:endParaRPr lang="en-US" sz="1700" dirty="0"/>
          </a:p>
          <a:p>
            <a:pPr marL="228600" indent="-2286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Composition : « fait partie de »</a:t>
            </a:r>
            <a:endParaRPr lang="en-US" sz="1700" dirty="0"/>
          </a:p>
          <a:p>
            <a:pPr marL="228600" indent="-228600">
              <a:spcAft>
                <a:spcPts val="800"/>
              </a:spcAft>
              <a:buSzPct val="100000"/>
              <a:buChar char="•"/>
            </a:pPr>
            <a:r>
              <a:rPr lang="en-US" sz="1700" dirty="0">
                <a:solidFill>
                  <a:srgbClr val="FFFFFF"/>
                </a:solidFill>
                <a:latin typeface="Calibri" pitchFamily="34" charset="0"/>
                <a:ea typeface="Calibri" pitchFamily="34" charset="-122"/>
                <a:cs typeface="Calibri" pitchFamily="34" charset="-120"/>
              </a:rPr>
              <a:t>Le Livrable 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RETOUR SUR LA SÉANCE 1</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Les accesseurs : get pour lire, set pour écrire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a:t>
            </a:r>
            <a:endParaRPr lang="en-US" sz="1000" dirty="0"/>
          </a:p>
        </p:txBody>
      </p:sp>
      <p:sp>
        <p:nvSpPr>
          <p:cNvPr id="8" name="Text 5"/>
          <p:cNvSpPr txBox="1"/>
          <p:nvPr/>
        </p:nvSpPr>
        <p:spPr>
          <a:xfrm>
            <a:off x="640080" y="1691640"/>
            <a:ext cx="10911535" cy="457200"/>
          </a:xfrm>
          <a:prstGeom prst="rect">
            <a:avLst/>
          </a:prstGeom>
          <a:noFill/>
          <a:ln/>
        </p:spPr>
        <p:txBody>
          <a:bodyPr wrap="square" lIns="0" tIns="0" rIns="0" bIns="0" rtlCol="0" anchor="ctr"/>
          <a:lstStyle/>
          <a:p>
            <a:pPr indent="0" marL="0">
              <a:buNone/>
            </a:pPr>
            <a:r>
              <a:rPr lang="en-US" sz="1800" dirty="0">
                <a:solidFill>
                  <a:srgbClr val="5F6670"/>
                </a:solidFill>
                <a:latin typeface="Calibri" pitchFamily="34" charset="0"/>
                <a:ea typeface="Calibri" pitchFamily="34" charset="-122"/>
                <a:cs typeface="Calibri" pitchFamily="34" charset="-120"/>
              </a:rPr>
              <a:t>Une propriété = une case du formulaire, avec deux portes : get (lire) et set (écrire).</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11535" cy="914400"/>
        </p:xfrm>
        <a:graphic>
          <a:graphicData uri="http://schemas.openxmlformats.org/drawingml/2006/table">
            <a:tbl>
              <a:tblPr/>
              <a:tblGrid>
                <a:gridCol w="2788920"/>
                <a:gridCol w="1554480"/>
                <a:gridCol w="2103120"/>
                <a:gridCol w="2514600"/>
                <a:gridCol w="1947672"/>
              </a:tblGrid>
              <a:tr h="7315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On écrit</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Qui peut lire ?</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Qui peut écrire ?</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Exemple IncidentHub</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L'image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731520">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 get; set; }</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tout le monde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tout le monde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à éviter pour nos données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la porte grande ouverte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731520">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 get; private set; }</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tout le monde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la classe seule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Status : lu partout, changé par Close()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consulter son solde, seule la banque le modifie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r>
              <a:tr h="731520">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 get; }</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tout le monde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personne, sauf le constructeur</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Id, CreatedAt : fixés à la création</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le numéro gravé sur la carte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640080" y="5394960"/>
            <a:ext cx="10911535" cy="411480"/>
          </a:xfrm>
          <a:prstGeom prst="rect">
            <a:avLst/>
          </a:prstGeom>
          <a:noFill/>
          <a:ln/>
        </p:spPr>
        <p:txBody>
          <a:bodyPr wrap="square" lIns="0" tIns="0" rIns="0" bIns="0" rtlCol="0" anchor="ctr"/>
          <a:lstStyle/>
          <a:p>
            <a:pPr indent="0" marL="0">
              <a:buNone/>
            </a:pPr>
            <a:r>
              <a:rPr lang="en-US" sz="1600" b="1" dirty="0">
                <a:solidFill>
                  <a:srgbClr val="16181D"/>
                </a:solidFill>
                <a:latin typeface="Calibri" pitchFamily="34" charset="0"/>
                <a:ea typeface="Calibri" pitchFamily="34" charset="-122"/>
                <a:cs typeface="Calibri" pitchFamily="34" charset="-120"/>
              </a:rPr>
              <a:t>La ligne surlignée est celle qu'on utilise le plus pour protéger un objet.</a:t>
            </a:r>
            <a:endParaRPr lang="en-US" sz="1600" dirty="0"/>
          </a:p>
        </p:txBody>
      </p:sp>
      <p:sp>
        <p:nvSpPr>
          <p:cNvPr id="11" name="Text 7"/>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Propriétés (Guide de programmation C#)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RETOUR SUR LA SÉANCE 1</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Ce qui compile, et ce qui ne compile pas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4</a:t>
            </a:r>
            <a:endParaRPr lang="en-US" sz="1000" dirty="0"/>
          </a:p>
        </p:txBody>
      </p:sp>
      <p:sp>
        <p:nvSpPr>
          <p:cNvPr id="8" name="Shape 5"/>
          <p:cNvSpPr/>
          <p:nvPr/>
        </p:nvSpPr>
        <p:spPr>
          <a:xfrm>
            <a:off x="640080" y="1783080"/>
            <a:ext cx="4846320" cy="4114800"/>
          </a:xfrm>
          <a:prstGeom prst="roundRect">
            <a:avLst>
              <a:gd name="adj" fmla="val 1778"/>
            </a:avLst>
          </a:prstGeom>
          <a:solidFill>
            <a:srgbClr val="1E2127"/>
          </a:solidFill>
          <a:ln w="12700">
            <a:solidFill>
              <a:srgbClr val="1E2127"/>
            </a:solidFill>
            <a:prstDash val="solid"/>
          </a:ln>
        </p:spPr>
      </p:sp>
      <p:sp>
        <p:nvSpPr>
          <p:cNvPr id="9" name="Text 6"/>
          <p:cNvSpPr txBox="1"/>
          <p:nvPr/>
        </p:nvSpPr>
        <p:spPr>
          <a:xfrm>
            <a:off x="914400" y="2011680"/>
            <a:ext cx="4297680" cy="365760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public class Incident</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public Guid Id { get;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public IncidentStatus Status</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 get; private set;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public void Close()</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8B929C"/>
                </a:solidFill>
                <a:latin typeface="Consolas" pitchFamily="34" charset="0"/>
                <a:ea typeface="Consolas" pitchFamily="34" charset="-122"/>
                <a:cs typeface="Consolas" pitchFamily="34" charset="-120"/>
              </a:rPr>
              <a:t>        // vérifie la règle, puis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Status = IncidentStatus.Closed;</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a:t>
            </a:r>
            <a:endParaRPr lang="en-US" sz="1500" dirty="0"/>
          </a:p>
        </p:txBody>
      </p:sp>
      <p:sp>
        <p:nvSpPr>
          <p:cNvPr id="10" name="Shape 7"/>
          <p:cNvSpPr/>
          <p:nvPr/>
        </p:nvSpPr>
        <p:spPr>
          <a:xfrm>
            <a:off x="5760720" y="1783080"/>
            <a:ext cx="5760720" cy="896112"/>
          </a:xfrm>
          <a:prstGeom prst="roundRect">
            <a:avLst>
              <a:gd name="adj" fmla="val 8163"/>
            </a:avLst>
          </a:prstGeom>
          <a:solidFill>
            <a:srgbClr val="F2F3F5"/>
          </a:solidFill>
          <a:ln w="12700">
            <a:solidFill>
              <a:srgbClr val="F2F3F5"/>
            </a:solidFill>
            <a:prstDash val="solid"/>
          </a:ln>
        </p:spPr>
      </p:sp>
      <p:sp>
        <p:nvSpPr>
          <p:cNvPr id="11" name="Shape 8"/>
          <p:cNvSpPr/>
          <p:nvPr/>
        </p:nvSpPr>
        <p:spPr>
          <a:xfrm>
            <a:off x="5897880" y="2002536"/>
            <a:ext cx="457200" cy="457200"/>
          </a:xfrm>
          <a:prstGeom prst="ellipse">
            <a:avLst/>
          </a:prstGeom>
          <a:solidFill>
            <a:srgbClr val="2F9E44"/>
          </a:solidFill>
          <a:ln w="12700">
            <a:solidFill>
              <a:srgbClr val="2F9E44"/>
            </a:solidFill>
            <a:prstDash val="solid"/>
          </a:ln>
        </p:spPr>
      </p:sp>
      <p:sp>
        <p:nvSpPr>
          <p:cNvPr id="12" name="Text 9"/>
          <p:cNvSpPr txBox="1"/>
          <p:nvPr/>
        </p:nvSpPr>
        <p:spPr>
          <a:xfrm>
            <a:off x="5897880" y="200253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3" name="Text 10"/>
          <p:cNvSpPr txBox="1"/>
          <p:nvPr/>
        </p:nvSpPr>
        <p:spPr>
          <a:xfrm>
            <a:off x="6492240" y="1874520"/>
            <a:ext cx="4937760" cy="365760"/>
          </a:xfrm>
          <a:prstGeom prst="rect">
            <a:avLst/>
          </a:prstGeom>
          <a:noFill/>
          <a:ln/>
        </p:spPr>
        <p:txBody>
          <a:bodyPr wrap="square" lIns="0" tIns="0" rIns="0" bIns="0" rtlCol="0" anchor="ctr"/>
          <a:lstStyle/>
          <a:p>
            <a:pPr indent="0" marL="0">
              <a:buNone/>
            </a:pPr>
            <a:r>
              <a:rPr lang="en-US" sz="1300" dirty="0">
                <a:solidFill>
                  <a:srgbClr val="16181D"/>
                </a:solidFill>
                <a:latin typeface="Consolas" pitchFamily="34" charset="0"/>
                <a:ea typeface="Consolas" pitchFamily="34" charset="-122"/>
                <a:cs typeface="Consolas" pitchFamily="34" charset="-120"/>
              </a:rPr>
              <a:t>Console.WriteLine(incident.Status);</a:t>
            </a:r>
            <a:endParaRPr lang="en-US" sz="1300" dirty="0"/>
          </a:p>
        </p:txBody>
      </p:sp>
      <p:sp>
        <p:nvSpPr>
          <p:cNvPr id="14" name="Text 11"/>
          <p:cNvSpPr txBox="1"/>
          <p:nvPr/>
        </p:nvSpPr>
        <p:spPr>
          <a:xfrm>
            <a:off x="6492240" y="2240280"/>
            <a:ext cx="4937760" cy="365760"/>
          </a:xfrm>
          <a:prstGeom prst="rect">
            <a:avLst/>
          </a:prstGeom>
          <a:noFill/>
          <a:ln/>
        </p:spPr>
        <p:txBody>
          <a:bodyPr wrap="square" lIns="0" tIns="0" rIns="0" bIns="0" rtlCol="0" anchor="ctr"/>
          <a:lstStyle/>
          <a:p>
            <a:pPr indent="0" marL="0">
              <a:buNone/>
            </a:pPr>
            <a:r>
              <a:rPr lang="en-US" sz="1400" b="1" dirty="0">
                <a:solidFill>
                  <a:srgbClr val="2F9E44"/>
                </a:solidFill>
                <a:latin typeface="Calibri" pitchFamily="34" charset="0"/>
                <a:ea typeface="Calibri" pitchFamily="34" charset="-122"/>
                <a:cs typeface="Calibri" pitchFamily="34" charset="-120"/>
              </a:rPr>
              <a:t>lire : autorisé</a:t>
            </a:r>
            <a:endParaRPr lang="en-US" sz="1400" dirty="0"/>
          </a:p>
        </p:txBody>
      </p:sp>
      <p:sp>
        <p:nvSpPr>
          <p:cNvPr id="15" name="Shape 12"/>
          <p:cNvSpPr/>
          <p:nvPr/>
        </p:nvSpPr>
        <p:spPr>
          <a:xfrm>
            <a:off x="5760720" y="2807208"/>
            <a:ext cx="5760720" cy="896112"/>
          </a:xfrm>
          <a:prstGeom prst="roundRect">
            <a:avLst>
              <a:gd name="adj" fmla="val 8163"/>
            </a:avLst>
          </a:prstGeom>
          <a:solidFill>
            <a:srgbClr val="F2F3F5"/>
          </a:solidFill>
          <a:ln w="12700">
            <a:solidFill>
              <a:srgbClr val="F2F3F5"/>
            </a:solidFill>
            <a:prstDash val="solid"/>
          </a:ln>
        </p:spPr>
      </p:sp>
      <p:sp>
        <p:nvSpPr>
          <p:cNvPr id="16" name="Shape 13"/>
          <p:cNvSpPr/>
          <p:nvPr/>
        </p:nvSpPr>
        <p:spPr>
          <a:xfrm>
            <a:off x="5897880" y="3026664"/>
            <a:ext cx="457200" cy="457200"/>
          </a:xfrm>
          <a:prstGeom prst="ellipse">
            <a:avLst/>
          </a:prstGeom>
          <a:solidFill>
            <a:srgbClr val="C92A2A"/>
          </a:solidFill>
          <a:ln w="12700">
            <a:solidFill>
              <a:srgbClr val="C92A2A"/>
            </a:solidFill>
            <a:prstDash val="solid"/>
          </a:ln>
        </p:spPr>
      </p:sp>
      <p:sp>
        <p:nvSpPr>
          <p:cNvPr id="17" name="Text 14"/>
          <p:cNvSpPr txBox="1"/>
          <p:nvPr/>
        </p:nvSpPr>
        <p:spPr>
          <a:xfrm>
            <a:off x="5897880" y="302666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5"/>
          <p:cNvSpPr txBox="1"/>
          <p:nvPr/>
        </p:nvSpPr>
        <p:spPr>
          <a:xfrm>
            <a:off x="6492240" y="2898648"/>
            <a:ext cx="4937760" cy="365760"/>
          </a:xfrm>
          <a:prstGeom prst="rect">
            <a:avLst/>
          </a:prstGeom>
          <a:noFill/>
          <a:ln/>
        </p:spPr>
        <p:txBody>
          <a:bodyPr wrap="square" lIns="0" tIns="0" rIns="0" bIns="0" rtlCol="0" anchor="ctr"/>
          <a:lstStyle/>
          <a:p>
            <a:pPr indent="0" marL="0">
              <a:buNone/>
            </a:pPr>
            <a:r>
              <a:rPr lang="en-US" sz="1300" dirty="0">
                <a:solidFill>
                  <a:srgbClr val="16181D"/>
                </a:solidFill>
                <a:latin typeface="Consolas" pitchFamily="34" charset="0"/>
                <a:ea typeface="Consolas" pitchFamily="34" charset="-122"/>
                <a:cs typeface="Consolas" pitchFamily="34" charset="-120"/>
              </a:rPr>
              <a:t>incident.Status = IncidentStatus.Closed;</a:t>
            </a:r>
            <a:endParaRPr lang="en-US" sz="1300" dirty="0"/>
          </a:p>
        </p:txBody>
      </p:sp>
      <p:sp>
        <p:nvSpPr>
          <p:cNvPr id="19" name="Text 16"/>
          <p:cNvSpPr txBox="1"/>
          <p:nvPr/>
        </p:nvSpPr>
        <p:spPr>
          <a:xfrm>
            <a:off x="6492240" y="3264408"/>
            <a:ext cx="4937760" cy="365760"/>
          </a:xfrm>
          <a:prstGeom prst="rect">
            <a:avLst/>
          </a:prstGeom>
          <a:noFill/>
          <a:ln/>
        </p:spPr>
        <p:txBody>
          <a:bodyPr wrap="square" lIns="0" tIns="0" rIns="0" bIns="0" rtlCol="0" anchor="ctr"/>
          <a:lstStyle/>
          <a:p>
            <a:pPr indent="0" marL="0">
              <a:buNone/>
            </a:pPr>
            <a:r>
              <a:rPr lang="en-US" sz="1400" b="1" dirty="0">
                <a:solidFill>
                  <a:srgbClr val="C92A2A"/>
                </a:solidFill>
                <a:latin typeface="Calibri" pitchFamily="34" charset="0"/>
                <a:ea typeface="Calibri" pitchFamily="34" charset="-122"/>
                <a:cs typeface="Calibri" pitchFamily="34" charset="-120"/>
              </a:rPr>
              <a:t>écrire de l'extérieur : erreur CS0272</a:t>
            </a:r>
            <a:endParaRPr lang="en-US" sz="1400" dirty="0"/>
          </a:p>
        </p:txBody>
      </p:sp>
      <p:sp>
        <p:nvSpPr>
          <p:cNvPr id="20" name="Shape 17"/>
          <p:cNvSpPr/>
          <p:nvPr/>
        </p:nvSpPr>
        <p:spPr>
          <a:xfrm>
            <a:off x="5760720" y="3831336"/>
            <a:ext cx="5760720" cy="896112"/>
          </a:xfrm>
          <a:prstGeom prst="roundRect">
            <a:avLst>
              <a:gd name="adj" fmla="val 8163"/>
            </a:avLst>
          </a:prstGeom>
          <a:solidFill>
            <a:srgbClr val="F2F3F5"/>
          </a:solidFill>
          <a:ln w="12700">
            <a:solidFill>
              <a:srgbClr val="F2F3F5"/>
            </a:solidFill>
            <a:prstDash val="solid"/>
          </a:ln>
        </p:spPr>
      </p:sp>
      <p:sp>
        <p:nvSpPr>
          <p:cNvPr id="21" name="Shape 18"/>
          <p:cNvSpPr/>
          <p:nvPr/>
        </p:nvSpPr>
        <p:spPr>
          <a:xfrm>
            <a:off x="5897880" y="4050792"/>
            <a:ext cx="457200" cy="457200"/>
          </a:xfrm>
          <a:prstGeom prst="ellipse">
            <a:avLst/>
          </a:prstGeom>
          <a:solidFill>
            <a:srgbClr val="2F9E44"/>
          </a:solidFill>
          <a:ln w="12700">
            <a:solidFill>
              <a:srgbClr val="2F9E44"/>
            </a:solidFill>
            <a:prstDash val="solid"/>
          </a:ln>
        </p:spPr>
      </p:sp>
      <p:sp>
        <p:nvSpPr>
          <p:cNvPr id="22" name="Text 19"/>
          <p:cNvSpPr txBox="1"/>
          <p:nvPr/>
        </p:nvSpPr>
        <p:spPr>
          <a:xfrm>
            <a:off x="5897880" y="405079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23" name="Text 20"/>
          <p:cNvSpPr txBox="1"/>
          <p:nvPr/>
        </p:nvSpPr>
        <p:spPr>
          <a:xfrm>
            <a:off x="6492240" y="3922776"/>
            <a:ext cx="4937760" cy="365760"/>
          </a:xfrm>
          <a:prstGeom prst="rect">
            <a:avLst/>
          </a:prstGeom>
          <a:noFill/>
          <a:ln/>
        </p:spPr>
        <p:txBody>
          <a:bodyPr wrap="square" lIns="0" tIns="0" rIns="0" bIns="0" rtlCol="0" anchor="ctr"/>
          <a:lstStyle/>
          <a:p>
            <a:pPr indent="0" marL="0">
              <a:buNone/>
            </a:pPr>
            <a:r>
              <a:rPr lang="en-US" sz="1300" dirty="0">
                <a:solidFill>
                  <a:srgbClr val="16181D"/>
                </a:solidFill>
                <a:latin typeface="Consolas" pitchFamily="34" charset="0"/>
                <a:ea typeface="Consolas" pitchFamily="34" charset="-122"/>
                <a:cs typeface="Consolas" pitchFamily="34" charset="-120"/>
              </a:rPr>
              <a:t>incident.Close();</a:t>
            </a:r>
            <a:endParaRPr lang="en-US" sz="1300" dirty="0"/>
          </a:p>
        </p:txBody>
      </p:sp>
      <p:sp>
        <p:nvSpPr>
          <p:cNvPr id="24" name="Text 21"/>
          <p:cNvSpPr txBox="1"/>
          <p:nvPr/>
        </p:nvSpPr>
        <p:spPr>
          <a:xfrm>
            <a:off x="6492240" y="4288536"/>
            <a:ext cx="4937760" cy="365760"/>
          </a:xfrm>
          <a:prstGeom prst="rect">
            <a:avLst/>
          </a:prstGeom>
          <a:noFill/>
          <a:ln/>
        </p:spPr>
        <p:txBody>
          <a:bodyPr wrap="square" lIns="0" tIns="0" rIns="0" bIns="0" rtlCol="0" anchor="ctr"/>
          <a:lstStyle/>
          <a:p>
            <a:pPr indent="0" marL="0">
              <a:buNone/>
            </a:pPr>
            <a:r>
              <a:rPr lang="en-US" sz="1400" b="1" dirty="0">
                <a:solidFill>
                  <a:srgbClr val="2F9E44"/>
                </a:solidFill>
                <a:latin typeface="Calibri" pitchFamily="34" charset="0"/>
                <a:ea typeface="Calibri" pitchFamily="34" charset="-122"/>
                <a:cs typeface="Calibri" pitchFamily="34" charset="-120"/>
              </a:rPr>
              <a:t>passer par le guichet : autorisé</a:t>
            </a:r>
            <a:endParaRPr lang="en-US" sz="1400" dirty="0"/>
          </a:p>
        </p:txBody>
      </p:sp>
      <p:sp>
        <p:nvSpPr>
          <p:cNvPr id="25" name="Shape 22"/>
          <p:cNvSpPr/>
          <p:nvPr/>
        </p:nvSpPr>
        <p:spPr>
          <a:xfrm>
            <a:off x="5760720" y="4855464"/>
            <a:ext cx="5760720" cy="896112"/>
          </a:xfrm>
          <a:prstGeom prst="roundRect">
            <a:avLst>
              <a:gd name="adj" fmla="val 8163"/>
            </a:avLst>
          </a:prstGeom>
          <a:solidFill>
            <a:srgbClr val="F2F3F5"/>
          </a:solidFill>
          <a:ln w="12700">
            <a:solidFill>
              <a:srgbClr val="F2F3F5"/>
            </a:solidFill>
            <a:prstDash val="solid"/>
          </a:ln>
        </p:spPr>
      </p:sp>
      <p:sp>
        <p:nvSpPr>
          <p:cNvPr id="26" name="Shape 23"/>
          <p:cNvSpPr/>
          <p:nvPr/>
        </p:nvSpPr>
        <p:spPr>
          <a:xfrm>
            <a:off x="5897880" y="5074920"/>
            <a:ext cx="457200" cy="457200"/>
          </a:xfrm>
          <a:prstGeom prst="ellipse">
            <a:avLst/>
          </a:prstGeom>
          <a:solidFill>
            <a:srgbClr val="C92A2A"/>
          </a:solidFill>
          <a:ln w="12700">
            <a:solidFill>
              <a:srgbClr val="C92A2A"/>
            </a:solidFill>
            <a:prstDash val="solid"/>
          </a:ln>
        </p:spPr>
      </p:sp>
      <p:sp>
        <p:nvSpPr>
          <p:cNvPr id="27" name="Text 24"/>
          <p:cNvSpPr txBox="1"/>
          <p:nvPr/>
        </p:nvSpPr>
        <p:spPr>
          <a:xfrm>
            <a:off x="5897880" y="5074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28" name="Text 25"/>
          <p:cNvSpPr txBox="1"/>
          <p:nvPr/>
        </p:nvSpPr>
        <p:spPr>
          <a:xfrm>
            <a:off x="6492240" y="4946904"/>
            <a:ext cx="4937760" cy="365760"/>
          </a:xfrm>
          <a:prstGeom prst="rect">
            <a:avLst/>
          </a:prstGeom>
          <a:noFill/>
          <a:ln/>
        </p:spPr>
        <p:txBody>
          <a:bodyPr wrap="square" lIns="0" tIns="0" rIns="0" bIns="0" rtlCol="0" anchor="ctr"/>
          <a:lstStyle/>
          <a:p>
            <a:pPr indent="0" marL="0">
              <a:buNone/>
            </a:pPr>
            <a:r>
              <a:rPr lang="en-US" sz="1300" dirty="0">
                <a:solidFill>
                  <a:srgbClr val="16181D"/>
                </a:solidFill>
                <a:latin typeface="Consolas" pitchFamily="34" charset="0"/>
                <a:ea typeface="Consolas" pitchFamily="34" charset="-122"/>
                <a:cs typeface="Consolas" pitchFamily="34" charset="-120"/>
              </a:rPr>
              <a:t>incident.Id = Guid.NewGuid();</a:t>
            </a:r>
            <a:endParaRPr lang="en-US" sz="1300" dirty="0"/>
          </a:p>
        </p:txBody>
      </p:sp>
      <p:sp>
        <p:nvSpPr>
          <p:cNvPr id="29" name="Text 26"/>
          <p:cNvSpPr txBox="1"/>
          <p:nvPr/>
        </p:nvSpPr>
        <p:spPr>
          <a:xfrm>
            <a:off x="6492240" y="5312664"/>
            <a:ext cx="4937760" cy="365760"/>
          </a:xfrm>
          <a:prstGeom prst="rect">
            <a:avLst/>
          </a:prstGeom>
          <a:noFill/>
          <a:ln/>
        </p:spPr>
        <p:txBody>
          <a:bodyPr wrap="square" lIns="0" tIns="0" rIns="0" bIns="0" rtlCol="0" anchor="ctr"/>
          <a:lstStyle/>
          <a:p>
            <a:pPr indent="0" marL="0">
              <a:buNone/>
            </a:pPr>
            <a:r>
              <a:rPr lang="en-US" sz="1400" b="1" dirty="0">
                <a:solidFill>
                  <a:srgbClr val="C92A2A"/>
                </a:solidFill>
                <a:latin typeface="Calibri" pitchFamily="34" charset="0"/>
                <a:ea typeface="Calibri" pitchFamily="34" charset="-122"/>
                <a:cs typeface="Calibri" pitchFamily="34" charset="-120"/>
              </a:rPr>
              <a:t>lecture seule : erreur CS0200</a:t>
            </a:r>
            <a:endParaRPr lang="en-US" sz="1400" dirty="0"/>
          </a:p>
        </p:txBody>
      </p:sp>
      <p:sp>
        <p:nvSpPr>
          <p:cNvPr id="30" name="Text 27"/>
          <p:cNvSpPr txBox="1"/>
          <p:nvPr/>
        </p:nvSpPr>
        <p:spPr>
          <a:xfrm>
            <a:off x="5760720" y="5897880"/>
            <a:ext cx="5760720" cy="365760"/>
          </a:xfrm>
          <a:prstGeom prst="rect">
            <a:avLst/>
          </a:prstGeom>
          <a:noFill/>
          <a:ln/>
        </p:spPr>
        <p:txBody>
          <a:bodyPr wrap="square" lIns="0" tIns="0" rIns="0" bIns="0" rtlCol="0" anchor="ctr"/>
          <a:lstStyle/>
          <a:p>
            <a:pPr indent="0" marL="0">
              <a:buNone/>
            </a:pPr>
            <a:r>
              <a:rPr lang="en-US" sz="1400" i="1" dirty="0">
                <a:solidFill>
                  <a:srgbClr val="5F6670"/>
                </a:solidFill>
                <a:latin typeface="Calibri" pitchFamily="34" charset="0"/>
                <a:ea typeface="Calibri" pitchFamily="34" charset="-122"/>
                <a:cs typeface="Calibri" pitchFamily="34" charset="-120"/>
              </a:rPr>
              <a:t>Le compilateur fait respecter l'encapsulation, avant même l'exécution.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RETOUR SUR LA SÉANCE 1</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La même idée en Java et en Python</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5</a:t>
            </a:r>
            <a:endParaRPr lang="en-US" sz="1000" dirty="0"/>
          </a:p>
        </p:txBody>
      </p:sp>
      <p:sp>
        <p:nvSpPr>
          <p:cNvPr id="8" name="Text 5"/>
          <p:cNvSpPr txBox="1"/>
          <p:nvPr/>
        </p:nvSpPr>
        <p:spPr>
          <a:xfrm>
            <a:off x="640080" y="1737360"/>
            <a:ext cx="3474720" cy="457200"/>
          </a:xfrm>
          <a:prstGeom prst="rect">
            <a:avLst/>
          </a:prstGeom>
          <a:noFill/>
          <a:ln/>
        </p:spPr>
        <p:txBody>
          <a:bodyPr wrap="square" lIns="0" tIns="0" rIns="0" bIns="0" rtlCol="0" anchor="ctr"/>
          <a:lstStyle/>
          <a:p>
            <a:pPr indent="0" marL="0">
              <a:buNone/>
            </a:pPr>
            <a:r>
              <a:rPr lang="en-US" sz="2000" b="1" dirty="0">
                <a:solidFill>
                  <a:srgbClr val="16181D"/>
                </a:solidFill>
                <a:latin typeface="Arial" pitchFamily="34" charset="0"/>
                <a:ea typeface="Arial" pitchFamily="34" charset="-122"/>
                <a:cs typeface="Arial" pitchFamily="34" charset="-120"/>
              </a:rPr>
              <a:t>Java</a:t>
            </a:r>
            <a:endParaRPr lang="en-US" sz="2000" dirty="0"/>
          </a:p>
        </p:txBody>
      </p:sp>
      <p:sp>
        <p:nvSpPr>
          <p:cNvPr id="9" name="Shape 6"/>
          <p:cNvSpPr/>
          <p:nvPr/>
        </p:nvSpPr>
        <p:spPr>
          <a:xfrm>
            <a:off x="640080" y="2240280"/>
            <a:ext cx="3474720" cy="2834640"/>
          </a:xfrm>
          <a:prstGeom prst="roundRect">
            <a:avLst>
              <a:gd name="adj" fmla="val 2581"/>
            </a:avLst>
          </a:prstGeom>
          <a:solidFill>
            <a:srgbClr val="1E2127"/>
          </a:solidFill>
          <a:ln w="12700">
            <a:solidFill>
              <a:srgbClr val="1E2127"/>
            </a:solidFill>
            <a:prstDash val="solid"/>
          </a:ln>
        </p:spPr>
      </p:sp>
      <p:sp>
        <p:nvSpPr>
          <p:cNvPr id="10" name="Text 7"/>
          <p:cNvSpPr txBox="1"/>
          <p:nvPr/>
        </p:nvSpPr>
        <p:spPr>
          <a:xfrm>
            <a:off x="914400" y="2468880"/>
            <a:ext cx="2926080" cy="2377440"/>
          </a:xfrm>
          <a:prstGeom prst="rect">
            <a:avLst/>
          </a:prstGeom>
          <a:noFill/>
          <a:ln/>
        </p:spPr>
        <p:txBody>
          <a:bodyPr wrap="square" lIns="0" tIns="0" rIns="0" bIns="0" rtlCol="0" anchor="t"/>
          <a:lstStyle/>
          <a:p>
            <a:pPr indent="0" marL="0">
              <a:buNone/>
            </a:pPr>
            <a:r>
              <a:rPr lang="en-US" sz="1300" dirty="0">
                <a:solidFill>
                  <a:srgbClr val="E6E6E6"/>
                </a:solidFill>
                <a:latin typeface="Consolas" pitchFamily="34" charset="0"/>
                <a:ea typeface="Consolas" pitchFamily="34" charset="-122"/>
                <a:cs typeface="Consolas" pitchFamily="34" charset="-120"/>
              </a:rPr>
              <a:t>private Status status;</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public Status getStatus() {</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return status;</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8B929C"/>
                </a:solidFill>
                <a:latin typeface="Consolas" pitchFamily="34" charset="0"/>
                <a:ea typeface="Consolas" pitchFamily="34" charset="-122"/>
                <a:cs typeface="Consolas" pitchFamily="34" charset="-120"/>
              </a:rPr>
              <a:t>// pas de setStatus() public</a:t>
            </a:r>
            <a:endParaRPr lang="en-US" sz="1300" dirty="0"/>
          </a:p>
        </p:txBody>
      </p:sp>
      <p:sp>
        <p:nvSpPr>
          <p:cNvPr id="11" name="Text 8"/>
          <p:cNvSpPr txBox="1"/>
          <p:nvPr/>
        </p:nvSpPr>
        <p:spPr>
          <a:xfrm>
            <a:off x="4343400" y="1737360"/>
            <a:ext cx="3474720" cy="457200"/>
          </a:xfrm>
          <a:prstGeom prst="rect">
            <a:avLst/>
          </a:prstGeom>
          <a:noFill/>
          <a:ln/>
        </p:spPr>
        <p:txBody>
          <a:bodyPr wrap="square" lIns="0" tIns="0" rIns="0" bIns="0" rtlCol="0" anchor="ctr"/>
          <a:lstStyle/>
          <a:p>
            <a:pPr indent="0" marL="0">
              <a:buNone/>
            </a:pPr>
            <a:r>
              <a:rPr lang="en-US" sz="2000" b="1" dirty="0">
                <a:solidFill>
                  <a:srgbClr val="16181D"/>
                </a:solidFill>
                <a:latin typeface="Arial" pitchFamily="34" charset="0"/>
                <a:ea typeface="Arial" pitchFamily="34" charset="-122"/>
                <a:cs typeface="Arial" pitchFamily="34" charset="-120"/>
              </a:rPr>
              <a:t>Python</a:t>
            </a:r>
            <a:endParaRPr lang="en-US" sz="2000" dirty="0"/>
          </a:p>
        </p:txBody>
      </p:sp>
      <p:sp>
        <p:nvSpPr>
          <p:cNvPr id="12" name="Shape 9"/>
          <p:cNvSpPr/>
          <p:nvPr/>
        </p:nvSpPr>
        <p:spPr>
          <a:xfrm>
            <a:off x="4343400" y="2240280"/>
            <a:ext cx="3474720" cy="2834640"/>
          </a:xfrm>
          <a:prstGeom prst="roundRect">
            <a:avLst>
              <a:gd name="adj" fmla="val 2581"/>
            </a:avLst>
          </a:prstGeom>
          <a:solidFill>
            <a:srgbClr val="1E2127"/>
          </a:solidFill>
          <a:ln w="12700">
            <a:solidFill>
              <a:srgbClr val="1E2127"/>
            </a:solidFill>
            <a:prstDash val="solid"/>
          </a:ln>
        </p:spPr>
      </p:sp>
      <p:sp>
        <p:nvSpPr>
          <p:cNvPr id="13" name="Text 10"/>
          <p:cNvSpPr txBox="1"/>
          <p:nvPr/>
        </p:nvSpPr>
        <p:spPr>
          <a:xfrm>
            <a:off x="4617720" y="2468880"/>
            <a:ext cx="2926080" cy="2377440"/>
          </a:xfrm>
          <a:prstGeom prst="rect">
            <a:avLst/>
          </a:prstGeom>
          <a:noFill/>
          <a:ln/>
        </p:spPr>
        <p:txBody>
          <a:bodyPr wrap="square" lIns="0" tIns="0" rIns="0" bIns="0" rtlCol="0" anchor="t"/>
          <a:lstStyle/>
          <a:p>
            <a:pPr indent="0" marL="0">
              <a:buNone/>
            </a:pPr>
            <a:r>
              <a:rPr lang="en-US" sz="1300" dirty="0">
                <a:solidFill>
                  <a:srgbClr val="E6E6E6"/>
                </a:solidFill>
                <a:latin typeface="Consolas" pitchFamily="34" charset="0"/>
                <a:ea typeface="Consolas" pitchFamily="34" charset="-122"/>
                <a:cs typeface="Consolas" pitchFamily="34" charset="-120"/>
              </a:rPr>
              <a:t>class Incident:</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@property</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def status(self):</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return self._status</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8B929C"/>
                </a:solidFill>
                <a:latin typeface="Consolas" pitchFamily="34" charset="0"/>
                <a:ea typeface="Consolas" pitchFamily="34" charset="-122"/>
                <a:cs typeface="Consolas" pitchFamily="34" charset="-120"/>
              </a:rPr>
              <a:t># pas de setter : lecture seule</a:t>
            </a:r>
            <a:endParaRPr lang="en-US" sz="1300" dirty="0"/>
          </a:p>
        </p:txBody>
      </p:sp>
      <p:sp>
        <p:nvSpPr>
          <p:cNvPr id="14" name="Text 11"/>
          <p:cNvSpPr txBox="1"/>
          <p:nvPr/>
        </p:nvSpPr>
        <p:spPr>
          <a:xfrm>
            <a:off x="8046720" y="1737360"/>
            <a:ext cx="3474720" cy="457200"/>
          </a:xfrm>
          <a:prstGeom prst="rect">
            <a:avLst/>
          </a:prstGeom>
          <a:noFill/>
          <a:ln/>
        </p:spPr>
        <p:txBody>
          <a:bodyPr wrap="square" lIns="0" tIns="0" rIns="0" bIns="0" rtlCol="0" anchor="ctr"/>
          <a:lstStyle/>
          <a:p>
            <a:pPr indent="0" marL="0">
              <a:buNone/>
            </a:pPr>
            <a:r>
              <a:rPr lang="en-US" sz="2000" b="1" dirty="0">
                <a:solidFill>
                  <a:srgbClr val="E8590C"/>
                </a:solidFill>
                <a:latin typeface="Arial" pitchFamily="34" charset="0"/>
                <a:ea typeface="Arial" pitchFamily="34" charset="-122"/>
                <a:cs typeface="Arial" pitchFamily="34" charset="-120"/>
              </a:rPr>
              <a:t>C#</a:t>
            </a:r>
            <a:endParaRPr lang="en-US" sz="2000" dirty="0"/>
          </a:p>
        </p:txBody>
      </p:sp>
      <p:sp>
        <p:nvSpPr>
          <p:cNvPr id="15" name="Shape 12"/>
          <p:cNvSpPr/>
          <p:nvPr/>
        </p:nvSpPr>
        <p:spPr>
          <a:xfrm>
            <a:off x="8046720" y="2240280"/>
            <a:ext cx="3474720" cy="2834640"/>
          </a:xfrm>
          <a:prstGeom prst="roundRect">
            <a:avLst>
              <a:gd name="adj" fmla="val 2581"/>
            </a:avLst>
          </a:prstGeom>
          <a:solidFill>
            <a:srgbClr val="1E2127"/>
          </a:solidFill>
          <a:ln w="12700">
            <a:solidFill>
              <a:srgbClr val="1E2127"/>
            </a:solidFill>
            <a:prstDash val="solid"/>
          </a:ln>
        </p:spPr>
      </p:sp>
      <p:sp>
        <p:nvSpPr>
          <p:cNvPr id="16" name="Text 13"/>
          <p:cNvSpPr txBox="1"/>
          <p:nvPr/>
        </p:nvSpPr>
        <p:spPr>
          <a:xfrm>
            <a:off x="8321040" y="2468880"/>
            <a:ext cx="2926080" cy="2377440"/>
          </a:xfrm>
          <a:prstGeom prst="rect">
            <a:avLst/>
          </a:prstGeom>
          <a:noFill/>
          <a:ln/>
        </p:spPr>
        <p:txBody>
          <a:bodyPr wrap="square" lIns="0" tIns="0" rIns="0" bIns="0" rtlCol="0" anchor="t"/>
          <a:lstStyle/>
          <a:p>
            <a:pPr indent="0" marL="0">
              <a:buNone/>
            </a:pPr>
            <a:r>
              <a:rPr lang="en-US" sz="1300" dirty="0">
                <a:solidFill>
                  <a:srgbClr val="E6E6E6"/>
                </a:solidFill>
                <a:latin typeface="Consolas" pitchFamily="34" charset="0"/>
                <a:ea typeface="Consolas" pitchFamily="34" charset="-122"/>
                <a:cs typeface="Consolas" pitchFamily="34" charset="-120"/>
              </a:rPr>
              <a:t>public Status Status</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 get; private set; }</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E6E6E6"/>
                </a:solidFill>
                <a:latin typeface="Consolas" pitchFamily="34" charset="0"/>
                <a:ea typeface="Consolas" pitchFamily="34" charset="-122"/>
                <a:cs typeface="Consolas" pitchFamily="34" charset="-120"/>
              </a:rPr>
              <a:t> </a:t>
            </a:r>
            <a:endParaRPr lang="en-US" sz="1300" dirty="0"/>
          </a:p>
          <a:p>
            <a:pPr indent="0" marL="0">
              <a:buNone/>
            </a:pPr>
            <a:r>
              <a:rPr lang="en-US" sz="1300" dirty="0">
                <a:solidFill>
                  <a:srgbClr val="8B929C"/>
                </a:solidFill>
                <a:latin typeface="Consolas" pitchFamily="34" charset="0"/>
                <a:ea typeface="Consolas" pitchFamily="34" charset="-122"/>
                <a:cs typeface="Consolas" pitchFamily="34" charset="-120"/>
              </a:rPr>
              <a:t>// une ligne, même idée</a:t>
            </a:r>
            <a:endParaRPr lang="en-US" sz="1300" dirty="0"/>
          </a:p>
        </p:txBody>
      </p:sp>
      <p:sp>
        <p:nvSpPr>
          <p:cNvPr id="17" name="Text 14"/>
          <p:cNvSpPr txBox="1"/>
          <p:nvPr/>
        </p:nvSpPr>
        <p:spPr>
          <a:xfrm>
            <a:off x="640080" y="5349240"/>
            <a:ext cx="10911535" cy="45720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 Getter » et « setter » : les méthodes get et set de Java. C# les écrit en une ligne.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01</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L'héritage</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 Un analyste est un utilisateur »</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LE PROBLÈME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Trois rôles, trois fois le même code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7</a:t>
            </a:r>
            <a:endParaRPr lang="en-US" sz="1000" dirty="0"/>
          </a:p>
        </p:txBody>
      </p:sp>
      <p:sp>
        <p:nvSpPr>
          <p:cNvPr id="8" name="Shape 5"/>
          <p:cNvSpPr/>
          <p:nvPr/>
        </p:nvSpPr>
        <p:spPr>
          <a:xfrm>
            <a:off x="640080" y="1920240"/>
            <a:ext cx="2286000" cy="502920"/>
          </a:xfrm>
          <a:prstGeom prst="rect">
            <a:avLst/>
          </a:prstGeom>
          <a:solidFill>
            <a:srgbClr val="16181D"/>
          </a:solidFill>
          <a:ln w="12700">
            <a:solidFill>
              <a:srgbClr val="16181D"/>
            </a:solidFill>
            <a:prstDash val="solid"/>
          </a:ln>
        </p:spPr>
      </p:sp>
      <p:sp>
        <p:nvSpPr>
          <p:cNvPr id="9" name="Text 6"/>
          <p:cNvSpPr txBox="1"/>
          <p:nvPr/>
        </p:nvSpPr>
        <p:spPr>
          <a:xfrm>
            <a:off x="640080" y="1920240"/>
            <a:ext cx="228600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Reporter</a:t>
            </a:r>
            <a:endParaRPr lang="en-US" sz="1500" dirty="0"/>
          </a:p>
        </p:txBody>
      </p:sp>
      <p:sp>
        <p:nvSpPr>
          <p:cNvPr id="10" name="Shape 7"/>
          <p:cNvSpPr/>
          <p:nvPr/>
        </p:nvSpPr>
        <p:spPr>
          <a:xfrm>
            <a:off x="640080" y="2423160"/>
            <a:ext cx="2286000" cy="1188720"/>
          </a:xfrm>
          <a:prstGeom prst="rect">
            <a:avLst/>
          </a:prstGeom>
          <a:solidFill>
            <a:srgbClr val="FFFFFF"/>
          </a:solidFill>
          <a:ln w="19050">
            <a:solidFill>
              <a:srgbClr val="16181D"/>
            </a:solidFill>
            <a:prstDash val="solid"/>
          </a:ln>
        </p:spPr>
      </p:sp>
      <p:sp>
        <p:nvSpPr>
          <p:cNvPr id="11" name="Text 8"/>
          <p:cNvSpPr txBox="1"/>
          <p:nvPr/>
        </p:nvSpPr>
        <p:spPr>
          <a:xfrm>
            <a:off x="777240" y="2514600"/>
            <a:ext cx="2103120" cy="1005840"/>
          </a:xfrm>
          <a:prstGeom prst="rect">
            <a:avLst/>
          </a:prstGeom>
          <a:noFill/>
          <a:ln/>
        </p:spPr>
        <p:txBody>
          <a:bodyPr wrap="square" lIns="0" tIns="0" rIns="0" bIns="0" rtlCol="0" anchor="t"/>
          <a:lstStyle/>
          <a:p>
            <a:pPr indent="0" marL="0">
              <a:buNone/>
            </a:pPr>
            <a:r>
              <a:rPr lang="en-US" sz="1400" b="1" dirty="0">
                <a:solidFill>
                  <a:srgbClr val="C92A2A"/>
                </a:solidFill>
                <a:latin typeface="Consolas" pitchFamily="34" charset="0"/>
                <a:ea typeface="Consolas" pitchFamily="34" charset="-122"/>
                <a:cs typeface="Consolas" pitchFamily="34" charset="-120"/>
              </a:rPr>
              <a:t>- name : String</a:t>
            </a:r>
            <a:endParaRPr lang="en-US" sz="1400" dirty="0"/>
          </a:p>
          <a:p>
            <a:pPr indent="0" marL="0">
              <a:buNone/>
            </a:pPr>
            <a:r>
              <a:rPr lang="en-US" sz="1400" b="1" dirty="0">
                <a:solidFill>
                  <a:srgbClr val="C92A2A"/>
                </a:solidFill>
                <a:latin typeface="Consolas" pitchFamily="34" charset="0"/>
                <a:ea typeface="Consolas" pitchFamily="34" charset="-122"/>
                <a:cs typeface="Consolas" pitchFamily="34" charset="-120"/>
              </a:rPr>
              <a:t>- email : String</a:t>
            </a:r>
            <a:endParaRPr lang="en-US" sz="1400" dirty="0"/>
          </a:p>
          <a:p>
            <a:pPr indent="0" marL="0">
              <a:buNone/>
            </a:pPr>
            <a:r>
              <a:rPr lang="en-US" sz="1400" dirty="0">
                <a:solidFill>
                  <a:srgbClr val="16181D"/>
                </a:solidFill>
                <a:latin typeface="Consolas" pitchFamily="34" charset="0"/>
                <a:ea typeface="Consolas" pitchFamily="34" charset="-122"/>
                <a:cs typeface="Consolas" pitchFamily="34" charset="-120"/>
              </a:rPr>
              <a:t> </a:t>
            </a:r>
            <a:endParaRPr lang="en-US" sz="1400" dirty="0"/>
          </a:p>
        </p:txBody>
      </p:sp>
      <p:sp>
        <p:nvSpPr>
          <p:cNvPr id="12" name="Shape 9"/>
          <p:cNvSpPr/>
          <p:nvPr/>
        </p:nvSpPr>
        <p:spPr>
          <a:xfrm>
            <a:off x="3154680" y="1920240"/>
            <a:ext cx="2286000" cy="502920"/>
          </a:xfrm>
          <a:prstGeom prst="rect">
            <a:avLst/>
          </a:prstGeom>
          <a:solidFill>
            <a:srgbClr val="16181D"/>
          </a:solidFill>
          <a:ln w="12700">
            <a:solidFill>
              <a:srgbClr val="16181D"/>
            </a:solidFill>
            <a:prstDash val="solid"/>
          </a:ln>
        </p:spPr>
      </p:sp>
      <p:sp>
        <p:nvSpPr>
          <p:cNvPr id="13" name="Text 10"/>
          <p:cNvSpPr txBox="1"/>
          <p:nvPr/>
        </p:nvSpPr>
        <p:spPr>
          <a:xfrm>
            <a:off x="3154680" y="1920240"/>
            <a:ext cx="228600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Analyst</a:t>
            </a:r>
            <a:endParaRPr lang="en-US" sz="1500" dirty="0"/>
          </a:p>
        </p:txBody>
      </p:sp>
      <p:sp>
        <p:nvSpPr>
          <p:cNvPr id="14" name="Shape 11"/>
          <p:cNvSpPr/>
          <p:nvPr/>
        </p:nvSpPr>
        <p:spPr>
          <a:xfrm>
            <a:off x="3154680" y="2423160"/>
            <a:ext cx="2286000" cy="1188720"/>
          </a:xfrm>
          <a:prstGeom prst="rect">
            <a:avLst/>
          </a:prstGeom>
          <a:solidFill>
            <a:srgbClr val="FFFFFF"/>
          </a:solidFill>
          <a:ln w="19050">
            <a:solidFill>
              <a:srgbClr val="16181D"/>
            </a:solidFill>
            <a:prstDash val="solid"/>
          </a:ln>
        </p:spPr>
      </p:sp>
      <p:sp>
        <p:nvSpPr>
          <p:cNvPr id="15" name="Text 12"/>
          <p:cNvSpPr txBox="1"/>
          <p:nvPr/>
        </p:nvSpPr>
        <p:spPr>
          <a:xfrm>
            <a:off x="3291840" y="2514600"/>
            <a:ext cx="2103120" cy="1005840"/>
          </a:xfrm>
          <a:prstGeom prst="rect">
            <a:avLst/>
          </a:prstGeom>
          <a:noFill/>
          <a:ln/>
        </p:spPr>
        <p:txBody>
          <a:bodyPr wrap="square" lIns="0" tIns="0" rIns="0" bIns="0" rtlCol="0" anchor="t"/>
          <a:lstStyle/>
          <a:p>
            <a:pPr indent="0" marL="0">
              <a:buNone/>
            </a:pPr>
            <a:r>
              <a:rPr lang="en-US" sz="1400" b="1" dirty="0">
                <a:solidFill>
                  <a:srgbClr val="C92A2A"/>
                </a:solidFill>
                <a:latin typeface="Consolas" pitchFamily="34" charset="0"/>
                <a:ea typeface="Consolas" pitchFamily="34" charset="-122"/>
                <a:cs typeface="Consolas" pitchFamily="34" charset="-120"/>
              </a:rPr>
              <a:t>- name : String</a:t>
            </a:r>
            <a:endParaRPr lang="en-US" sz="1400" dirty="0"/>
          </a:p>
          <a:p>
            <a:pPr indent="0" marL="0">
              <a:buNone/>
            </a:pPr>
            <a:r>
              <a:rPr lang="en-US" sz="1400" b="1" dirty="0">
                <a:solidFill>
                  <a:srgbClr val="C92A2A"/>
                </a:solidFill>
                <a:latin typeface="Consolas" pitchFamily="34" charset="0"/>
                <a:ea typeface="Consolas" pitchFamily="34" charset="-122"/>
                <a:cs typeface="Consolas" pitchFamily="34" charset="-120"/>
              </a:rPr>
              <a:t>- email : String</a:t>
            </a:r>
            <a:endParaRPr lang="en-US" sz="1400" dirty="0"/>
          </a:p>
          <a:p>
            <a:pPr indent="0" marL="0">
              <a:buNone/>
            </a:pPr>
            <a:r>
              <a:rPr lang="en-US" sz="1400" dirty="0">
                <a:solidFill>
                  <a:srgbClr val="16181D"/>
                </a:solidFill>
                <a:latin typeface="Consolas" pitchFamily="34" charset="0"/>
                <a:ea typeface="Consolas" pitchFamily="34" charset="-122"/>
                <a:cs typeface="Consolas" pitchFamily="34" charset="-120"/>
              </a:rPr>
              <a:t>- team : String</a:t>
            </a:r>
            <a:endParaRPr lang="en-US" sz="1400" dirty="0"/>
          </a:p>
        </p:txBody>
      </p:sp>
      <p:sp>
        <p:nvSpPr>
          <p:cNvPr id="16" name="Shape 13"/>
          <p:cNvSpPr/>
          <p:nvPr/>
        </p:nvSpPr>
        <p:spPr>
          <a:xfrm>
            <a:off x="5669280" y="1920240"/>
            <a:ext cx="2286000" cy="502920"/>
          </a:xfrm>
          <a:prstGeom prst="rect">
            <a:avLst/>
          </a:prstGeom>
          <a:solidFill>
            <a:srgbClr val="16181D"/>
          </a:solidFill>
          <a:ln w="12700">
            <a:solidFill>
              <a:srgbClr val="16181D"/>
            </a:solidFill>
            <a:prstDash val="solid"/>
          </a:ln>
        </p:spPr>
      </p:sp>
      <p:sp>
        <p:nvSpPr>
          <p:cNvPr id="17" name="Text 14"/>
          <p:cNvSpPr txBox="1"/>
          <p:nvPr/>
        </p:nvSpPr>
        <p:spPr>
          <a:xfrm>
            <a:off x="5669280" y="1920240"/>
            <a:ext cx="228600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Manager</a:t>
            </a:r>
            <a:endParaRPr lang="en-US" sz="1500" dirty="0"/>
          </a:p>
        </p:txBody>
      </p:sp>
      <p:sp>
        <p:nvSpPr>
          <p:cNvPr id="18" name="Shape 15"/>
          <p:cNvSpPr/>
          <p:nvPr/>
        </p:nvSpPr>
        <p:spPr>
          <a:xfrm>
            <a:off x="5669280" y="2423160"/>
            <a:ext cx="2286000" cy="1188720"/>
          </a:xfrm>
          <a:prstGeom prst="rect">
            <a:avLst/>
          </a:prstGeom>
          <a:solidFill>
            <a:srgbClr val="FFFFFF"/>
          </a:solidFill>
          <a:ln w="19050">
            <a:solidFill>
              <a:srgbClr val="16181D"/>
            </a:solidFill>
            <a:prstDash val="solid"/>
          </a:ln>
        </p:spPr>
      </p:sp>
      <p:sp>
        <p:nvSpPr>
          <p:cNvPr id="19" name="Text 16"/>
          <p:cNvSpPr txBox="1"/>
          <p:nvPr/>
        </p:nvSpPr>
        <p:spPr>
          <a:xfrm>
            <a:off x="5806440" y="2514600"/>
            <a:ext cx="2103120" cy="1005840"/>
          </a:xfrm>
          <a:prstGeom prst="rect">
            <a:avLst/>
          </a:prstGeom>
          <a:noFill/>
          <a:ln/>
        </p:spPr>
        <p:txBody>
          <a:bodyPr wrap="square" lIns="0" tIns="0" rIns="0" bIns="0" rtlCol="0" anchor="t"/>
          <a:lstStyle/>
          <a:p>
            <a:pPr indent="0" marL="0">
              <a:buNone/>
            </a:pPr>
            <a:r>
              <a:rPr lang="en-US" sz="1400" b="1" dirty="0">
                <a:solidFill>
                  <a:srgbClr val="C92A2A"/>
                </a:solidFill>
                <a:latin typeface="Consolas" pitchFamily="34" charset="0"/>
                <a:ea typeface="Consolas" pitchFamily="34" charset="-122"/>
                <a:cs typeface="Consolas" pitchFamily="34" charset="-120"/>
              </a:rPr>
              <a:t>- name : String</a:t>
            </a:r>
            <a:endParaRPr lang="en-US" sz="1400" dirty="0"/>
          </a:p>
          <a:p>
            <a:pPr indent="0" marL="0">
              <a:buNone/>
            </a:pPr>
            <a:r>
              <a:rPr lang="en-US" sz="1400" b="1" dirty="0">
                <a:solidFill>
                  <a:srgbClr val="C92A2A"/>
                </a:solidFill>
                <a:latin typeface="Consolas" pitchFamily="34" charset="0"/>
                <a:ea typeface="Consolas" pitchFamily="34" charset="-122"/>
                <a:cs typeface="Consolas" pitchFamily="34" charset="-120"/>
              </a:rPr>
              <a:t>- email : String</a:t>
            </a:r>
            <a:endParaRPr lang="en-US" sz="1400" dirty="0"/>
          </a:p>
          <a:p>
            <a:pPr indent="0" marL="0">
              <a:buNone/>
            </a:pPr>
            <a:r>
              <a:rPr lang="en-US" sz="1400" dirty="0">
                <a:solidFill>
                  <a:srgbClr val="16181D"/>
                </a:solidFill>
                <a:latin typeface="Consolas" pitchFamily="34" charset="0"/>
                <a:ea typeface="Consolas" pitchFamily="34" charset="-122"/>
                <a:cs typeface="Consolas" pitchFamily="34" charset="-120"/>
              </a:rPr>
              <a:t> </a:t>
            </a:r>
            <a:endParaRPr lang="en-US" sz="1400" dirty="0"/>
          </a:p>
        </p:txBody>
      </p:sp>
      <p:sp>
        <p:nvSpPr>
          <p:cNvPr id="20" name="Text 17"/>
          <p:cNvSpPr txBox="1"/>
          <p:nvPr/>
        </p:nvSpPr>
        <p:spPr>
          <a:xfrm>
            <a:off x="640080" y="3840480"/>
            <a:ext cx="7315200" cy="457200"/>
          </a:xfrm>
          <a:prstGeom prst="rect">
            <a:avLst/>
          </a:prstGeom>
          <a:noFill/>
          <a:ln/>
        </p:spPr>
        <p:txBody>
          <a:bodyPr wrap="square" lIns="0" tIns="0" rIns="0" bIns="0" rtlCol="0" anchor="ctr"/>
          <a:lstStyle/>
          <a:p>
            <a:pPr indent="0" marL="0">
              <a:buNone/>
            </a:pPr>
            <a:r>
              <a:rPr lang="en-US" sz="1800" b="1" dirty="0">
                <a:solidFill>
                  <a:srgbClr val="C92A2A"/>
                </a:solidFill>
                <a:latin typeface="Calibri" pitchFamily="34" charset="0"/>
                <a:ea typeface="Calibri" pitchFamily="34" charset="-122"/>
                <a:cs typeface="Calibri" pitchFamily="34" charset="-120"/>
              </a:rPr>
              <a:t>Les mêmes attributs, copiés trois fois.</a:t>
            </a:r>
            <a:endParaRPr lang="en-US" sz="1800" dirty="0"/>
          </a:p>
        </p:txBody>
      </p:sp>
      <p:sp>
        <p:nvSpPr>
          <p:cNvPr id="21" name="Shape 18"/>
          <p:cNvSpPr/>
          <p:nvPr/>
        </p:nvSpPr>
        <p:spPr>
          <a:xfrm>
            <a:off x="8412480" y="1920240"/>
            <a:ext cx="3108960" cy="3566160"/>
          </a:xfrm>
          <a:prstGeom prst="roundRect">
            <a:avLst>
              <a:gd name="adj" fmla="val 2353"/>
            </a:avLst>
          </a:prstGeom>
          <a:solidFill>
            <a:srgbClr val="16181D"/>
          </a:solidFill>
          <a:ln w="12700">
            <a:solidFill>
              <a:srgbClr val="16181D"/>
            </a:solidFill>
            <a:prstDash val="solid"/>
          </a:ln>
        </p:spPr>
      </p:sp>
      <p:sp>
        <p:nvSpPr>
          <p:cNvPr id="22" name="Text 19"/>
          <p:cNvSpPr txBox="1"/>
          <p:nvPr/>
        </p:nvSpPr>
        <p:spPr>
          <a:xfrm>
            <a:off x="8641080" y="2103120"/>
            <a:ext cx="2697480" cy="3200400"/>
          </a:xfrm>
          <a:prstGeom prst="rect">
            <a:avLst/>
          </a:prstGeom>
          <a:noFill/>
          <a:ln/>
        </p:spPr>
        <p:txBody>
          <a:bodyPr wrap="square" lIns="0" tIns="0" rIns="0" bIns="0" rtlCol="0" anchor="t"/>
          <a:lstStyle/>
          <a:p>
            <a:pPr indent="0" marL="0">
              <a:buNone/>
            </a:pPr>
            <a:r>
              <a:rPr lang="en-US" sz="1800" b="1" dirty="0">
                <a:solidFill>
                  <a:srgbClr val="E8590C"/>
                </a:solidFill>
                <a:latin typeface="Calibri" pitchFamily="34" charset="0"/>
                <a:ea typeface="Calibri" pitchFamily="34" charset="-122"/>
                <a:cs typeface="Calibri" pitchFamily="34" charset="-120"/>
              </a:rPr>
              <a:t>Le jour où…</a:t>
            </a:r>
            <a:endParaRPr lang="en-US" sz="1800" dirty="0"/>
          </a:p>
          <a:p>
            <a:pPr indent="0" marL="0">
              <a:buNone/>
            </a:pPr>
            <a:endParaRPr lang="en-US" sz="1800" dirty="0"/>
          </a:p>
          <a:p>
            <a:pPr indent="0" marL="0">
              <a:buNone/>
            </a:pPr>
            <a:r>
              <a:rPr lang="en-US" sz="1600" dirty="0">
                <a:solidFill>
                  <a:srgbClr val="FFFFFF"/>
                </a:solidFill>
                <a:latin typeface="Calibri" pitchFamily="34" charset="0"/>
                <a:ea typeface="Calibri" pitchFamily="34" charset="-122"/>
                <a:cs typeface="Calibri" pitchFamily="34" charset="-120"/>
              </a:rPr>
              <a:t>… on ajoute un téléphone, il faut le faire trois fois. Et on en oublie une.</a:t>
            </a:r>
            <a:endParaRPr lang="en-US" sz="1800" dirty="0"/>
          </a:p>
          <a:p>
            <a:pPr indent="0" marL="0">
              <a:buNone/>
            </a:pPr>
            <a:endParaRPr lang="en-US" sz="1800" dirty="0"/>
          </a:p>
          <a:p>
            <a:pPr indent="0" marL="0">
              <a:buNone/>
            </a:pPr>
            <a:r>
              <a:rPr lang="en-US" sz="1600" dirty="0">
                <a:solidFill>
                  <a:srgbClr val="FFFFFF"/>
                </a:solidFill>
                <a:latin typeface="Calibri" pitchFamily="34" charset="0"/>
                <a:ea typeface="Calibri" pitchFamily="34" charset="-122"/>
                <a:cs typeface="Calibri" pitchFamily="34" charset="-120"/>
              </a:rPr>
              <a:t>Le copier-coller est un « code smell » : une odeur de code.</a:t>
            </a:r>
            <a:endParaRPr lang="en-US" sz="1800" dirty="0"/>
          </a:p>
        </p:txBody>
      </p:sp>
      <p:sp>
        <p:nvSpPr>
          <p:cNvPr id="23" name="Text 20"/>
          <p:cNvSpPr txBox="1"/>
          <p:nvPr/>
        </p:nvSpPr>
        <p:spPr>
          <a:xfrm>
            <a:off x="640080" y="4572000"/>
            <a:ext cx="7315200" cy="457200"/>
          </a:xfrm>
          <a:prstGeom prst="rect">
            <a:avLst/>
          </a:prstGeom>
          <a:noFill/>
          <a:ln/>
        </p:spPr>
        <p:txBody>
          <a:bodyPr wrap="square" lIns="0" tIns="0" rIns="0" bIns="0" rtlCol="0" anchor="ctr"/>
          <a:lstStyle/>
          <a:p>
            <a:pPr indent="0" marL="0">
              <a:buNone/>
            </a:pPr>
            <a:r>
              <a:rPr lang="en-US" sz="1800" dirty="0">
                <a:solidFill>
                  <a:srgbClr val="16181D"/>
                </a:solidFill>
                <a:latin typeface="Calibri" pitchFamily="34" charset="0"/>
                <a:ea typeface="Calibri" pitchFamily="34" charset="-122"/>
                <a:cs typeface="Calibri" pitchFamily="34" charset="-120"/>
              </a:rPr>
              <a:t>Dans le chat : que feriez-vous ?</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HÉRITAGE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Hériter : partir d'un modèle et le compléter</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8</a:t>
            </a:r>
            <a:endParaRPr lang="en-US" sz="1000" dirty="0"/>
          </a:p>
        </p:txBody>
      </p:sp>
      <p:pic>
        <p:nvPicPr>
          <p:cNvPr id="8" name="Image 0" descr="s2diag/heritage.png">    </p:cNvPr>
          <p:cNvPicPr>
            <a:picLocks noChangeAspect="1"/>
          </p:cNvPicPr>
          <p:nvPr/>
        </p:nvPicPr>
        <p:blipFill>
          <a:blip r:embed="rId1"/>
          <a:stretch>
            <a:fillRect/>
          </a:stretch>
        </p:blipFill>
        <p:spPr>
          <a:xfrm>
            <a:off x="640080" y="2084290"/>
            <a:ext cx="6217920" cy="3238059"/>
          </a:xfrm>
          <a:prstGeom prst="rect">
            <a:avLst/>
          </a:prstGeom>
        </p:spPr>
      </p:pic>
      <p:sp>
        <p:nvSpPr>
          <p:cNvPr id="9" name="Shape 5"/>
          <p:cNvSpPr/>
          <p:nvPr/>
        </p:nvSpPr>
        <p:spPr>
          <a:xfrm>
            <a:off x="7132320" y="1783080"/>
            <a:ext cx="4389120" cy="3931920"/>
          </a:xfrm>
          <a:prstGeom prst="roundRect">
            <a:avLst>
              <a:gd name="adj" fmla="val 1860"/>
            </a:avLst>
          </a:prstGeom>
          <a:solidFill>
            <a:srgbClr val="F2F3F5"/>
          </a:solidFill>
          <a:ln w="12700">
            <a:solidFill>
              <a:srgbClr val="F2F3F5"/>
            </a:solidFill>
            <a:prstDash val="solid"/>
          </a:ln>
        </p:spPr>
      </p:sp>
      <p:sp>
        <p:nvSpPr>
          <p:cNvPr id="10" name="Text 6"/>
          <p:cNvSpPr txBox="1"/>
          <p:nvPr/>
        </p:nvSpPr>
        <p:spPr>
          <a:xfrm>
            <a:off x="7360920" y="1965960"/>
            <a:ext cx="3931920" cy="3566160"/>
          </a:xfrm>
          <a:prstGeom prst="rect">
            <a:avLst/>
          </a:prstGeom>
          <a:noFill/>
          <a:ln/>
        </p:spPr>
        <p:txBody>
          <a:bodyPr wrap="square" lIns="0" tIns="0" rIns="0" bIns="0" rtlCol="0" anchor="t"/>
          <a:lstStyle/>
          <a:p>
            <a:pPr indent="0" marL="0">
              <a:buNone/>
            </a:pPr>
            <a:r>
              <a:rPr lang="en-US" sz="1800" b="1" dirty="0">
                <a:solidFill>
                  <a:srgbClr val="16181D"/>
                </a:solidFill>
                <a:latin typeface="Calibri" pitchFamily="34" charset="0"/>
                <a:ea typeface="Calibri" pitchFamily="34" charset="-122"/>
                <a:cs typeface="Calibri" pitchFamily="34" charset="-120"/>
              </a:rPr>
              <a:t>Le test du « est un »</a:t>
            </a:r>
            <a:endParaRPr lang="en-US" sz="1800" dirty="0"/>
          </a:p>
          <a:p>
            <a:pPr indent="0" marL="0">
              <a:buNone/>
            </a:pPr>
            <a:r>
              <a:rPr lang="en-US" sz="1600" dirty="0">
                <a:solidFill>
                  <a:srgbClr val="5F6670"/>
                </a:solidFill>
                <a:latin typeface="Calibri" pitchFamily="34" charset="0"/>
                <a:ea typeface="Calibri" pitchFamily="34" charset="-122"/>
                <a:cs typeface="Calibri" pitchFamily="34" charset="-120"/>
              </a:rPr>
              <a:t>
Un analyste est un utilisateur ? Oui.
Un responsable est un utilisateur ? Oui.
Un commentaire est un incident ? Non.
</a:t>
            </a:r>
            <a:endParaRPr lang="en-US" sz="1800" dirty="0"/>
          </a:p>
          <a:p>
            <a:pPr indent="0" marL="0">
              <a:buNone/>
            </a:pPr>
            <a:r>
              <a:rPr lang="en-US" sz="1800" b="1" dirty="0">
                <a:solidFill>
                  <a:srgbClr val="16181D"/>
                </a:solidFill>
                <a:latin typeface="Calibri" pitchFamily="34" charset="0"/>
                <a:ea typeface="Calibri" pitchFamily="34" charset="-122"/>
                <a:cs typeface="Calibri" pitchFamily="34" charset="-120"/>
              </a:rPr>
              <a:t>En UML</a:t>
            </a:r>
            <a:endParaRPr lang="en-US" sz="1800" dirty="0"/>
          </a:p>
          <a:p>
            <a:pPr indent="0" marL="0">
              <a:buNone/>
            </a:pPr>
            <a:r>
              <a:rPr lang="en-US" sz="1600" dirty="0">
                <a:solidFill>
                  <a:srgbClr val="5F6670"/>
                </a:solidFill>
                <a:latin typeface="Calibri" pitchFamily="34" charset="0"/>
                <a:ea typeface="Calibri" pitchFamily="34" charset="-122"/>
                <a:cs typeface="Calibri" pitchFamily="34" charset="-120"/>
              </a:rPr>
              <a:t>Un triangle vide qui pointe vers le parent.</a:t>
            </a:r>
            <a:endParaRPr lang="en-US" sz="1800" dirty="0"/>
          </a:p>
          <a:p>
            <a:pPr indent="0" marL="0">
              <a:buNone/>
            </a:pPr>
            <a:r>
              <a:rPr lang="en-US" sz="1600" dirty="0">
                <a:solidFill>
                  <a:srgbClr val="5F6670"/>
                </a:solidFill>
                <a:latin typeface="Calibri" pitchFamily="34" charset="0"/>
                <a:ea typeface="Calibri" pitchFamily="34" charset="-122"/>
                <a:cs typeface="Calibri" pitchFamily="34" charset="-120"/>
              </a:rPr>
              <a:t>En C# : class Analyst : User</a:t>
            </a:r>
            <a:endParaRPr lang="en-US" sz="1800" dirty="0"/>
          </a:p>
        </p:txBody>
      </p:sp>
      <p:sp>
        <p:nvSpPr>
          <p:cNvPr id="11" name="Text 7"/>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Diagramme généré avec PlantUML.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s02-etape1-heritage</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User devient la classe parente</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class Analyst : User : Analyst hérite de tout ce qu'a User</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base(name, email) : on appelle le constructeur du parent</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Incident.AssignTo(analyst) : seul un Analyst peut être assigné</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StartWork() refuse un incident sans analyste</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LA FAMILLE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protected : la clé de la maison familiale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914400"/>
        </p:xfrm>
        <a:graphic>
          <a:graphicData uri="http://schemas.openxmlformats.org/drawingml/2006/table">
            <a:tbl>
              <a:tblPr/>
              <a:tblGrid>
                <a:gridCol w="1463040"/>
                <a:gridCol w="1737360"/>
                <a:gridCol w="3657600"/>
                <a:gridCol w="4050792"/>
              </a:tblGrid>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UML</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Qui y a accès ?</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L'image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public</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tout le monde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 guichet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private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la classe seule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 coffre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protected</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la classe et ses héritières</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la clé de la maison familiale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internal</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 même projet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 badge de l'entreprise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souligné</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static</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la classe, pas chaque objet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 compteur de la banque, pas celui du client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italique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abstract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à compléter par les héritières</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on y vient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bl>
          </a:graphicData>
        </a:graphic>
      </p:graphicFrame>
      <p:sp>
        <p:nvSpPr>
          <p:cNvPr id="9" name="Text 5"/>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OMG, UML 2.5.1, chapitres 7 et 9 ; Microsoft Learn, « Modificateurs d'accès (C#)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ATTENTION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L'héritage n'est pas un copier-coller amélioré</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11</a:t>
            </a:r>
            <a:endParaRPr lang="en-US" sz="1000" dirty="0"/>
          </a:p>
        </p:txBody>
      </p:sp>
      <p:sp>
        <p:nvSpPr>
          <p:cNvPr id="8" name="Shape 5"/>
          <p:cNvSpPr/>
          <p:nvPr/>
        </p:nvSpPr>
        <p:spPr>
          <a:xfrm>
            <a:off x="640080" y="1783080"/>
            <a:ext cx="5303520" cy="3291840"/>
          </a:xfrm>
          <a:prstGeom prst="roundRect">
            <a:avLst>
              <a:gd name="adj" fmla="val 2222"/>
            </a:avLst>
          </a:prstGeom>
          <a:solidFill>
            <a:srgbClr val="F2F3F5"/>
          </a:solidFill>
          <a:ln w="12700">
            <a:solidFill>
              <a:srgbClr val="F2F3F5"/>
            </a:solidFill>
            <a:prstDash val="solid"/>
          </a:ln>
        </p:spPr>
      </p:sp>
      <p:sp>
        <p:nvSpPr>
          <p:cNvPr id="9" name="Text 6"/>
          <p:cNvSpPr txBox="1"/>
          <p:nvPr/>
        </p:nvSpPr>
        <p:spPr>
          <a:xfrm>
            <a:off x="960120" y="1965960"/>
            <a:ext cx="4754880" cy="2926080"/>
          </a:xfrm>
          <a:prstGeom prst="rect">
            <a:avLst/>
          </a:prstGeom>
          <a:noFill/>
          <a:ln/>
        </p:spPr>
        <p:txBody>
          <a:bodyPr wrap="square" lIns="0" tIns="0" rIns="0" bIns="0" rtlCol="0" anchor="t"/>
          <a:lstStyle/>
          <a:p>
            <a:pPr indent="0" marL="0">
              <a:buNone/>
            </a:pPr>
            <a:r>
              <a:rPr lang="en-US" sz="1900" b="1" dirty="0">
                <a:solidFill>
                  <a:srgbClr val="C92A2A"/>
                </a:solidFill>
                <a:latin typeface="Calibri" pitchFamily="34" charset="0"/>
                <a:ea typeface="Calibri" pitchFamily="34" charset="-122"/>
                <a:cs typeface="Calibri" pitchFamily="34" charset="-120"/>
              </a:rPr>
              <a:t>Mauvaise raison d'hériter</a:t>
            </a:r>
            <a:endParaRPr lang="en-US" sz="1900" dirty="0"/>
          </a:p>
          <a:p>
            <a:pPr indent="0" marL="0">
              <a:buNone/>
            </a:pPr>
            <a:endParaRPr lang="en-US" sz="1900" dirty="0"/>
          </a:p>
          <a:p>
            <a:pPr indent="0" marL="0">
              <a:buNone/>
            </a:pPr>
            <a:r>
              <a:rPr lang="en-US" sz="1700" dirty="0">
                <a:solidFill>
                  <a:srgbClr val="16181D"/>
                </a:solidFill>
                <a:latin typeface="Calibri" pitchFamily="34" charset="0"/>
                <a:ea typeface="Calibri" pitchFamily="34" charset="-122"/>
                <a:cs typeface="Calibri" pitchFamily="34" charset="-120"/>
              </a:rPr>
              <a:t>« Comment et Incident ont tous deux un texte et une date, donc Comment hérite d'Incident. »</a:t>
            </a:r>
            <a:endParaRPr lang="en-US" sz="1900" dirty="0"/>
          </a:p>
          <a:p>
            <a:pPr indent="0" marL="0">
              <a:buNone/>
            </a:pPr>
            <a:endParaRPr lang="en-US" sz="1900" dirty="0"/>
          </a:p>
          <a:p>
            <a:pPr indent="0" marL="0">
              <a:buNone/>
            </a:pPr>
            <a:r>
              <a:rPr lang="en-US" sz="1700" dirty="0">
                <a:solidFill>
                  <a:srgbClr val="16181D"/>
                </a:solidFill>
                <a:latin typeface="Calibri" pitchFamily="34" charset="0"/>
                <a:ea typeface="Calibri" pitchFamily="34" charset="-122"/>
                <a:cs typeface="Calibri" pitchFamily="34" charset="-120"/>
              </a:rPr>
              <a:t>Un commentaire n'est pas un incident.</a:t>
            </a:r>
            <a:endParaRPr lang="en-US" sz="1900" dirty="0"/>
          </a:p>
        </p:txBody>
      </p:sp>
      <p:sp>
        <p:nvSpPr>
          <p:cNvPr id="10" name="Shape 7"/>
          <p:cNvSpPr/>
          <p:nvPr/>
        </p:nvSpPr>
        <p:spPr>
          <a:xfrm>
            <a:off x="6217920" y="1783080"/>
            <a:ext cx="5303520" cy="3291840"/>
          </a:xfrm>
          <a:prstGeom prst="roundRect">
            <a:avLst>
              <a:gd name="adj" fmla="val 2222"/>
            </a:avLst>
          </a:prstGeom>
          <a:solidFill>
            <a:srgbClr val="16181D"/>
          </a:solidFill>
          <a:ln w="12700">
            <a:solidFill>
              <a:srgbClr val="16181D"/>
            </a:solidFill>
            <a:prstDash val="solid"/>
          </a:ln>
        </p:spPr>
      </p:sp>
      <p:sp>
        <p:nvSpPr>
          <p:cNvPr id="11" name="Text 8"/>
          <p:cNvSpPr txBox="1"/>
          <p:nvPr/>
        </p:nvSpPr>
        <p:spPr>
          <a:xfrm>
            <a:off x="6537960" y="1965960"/>
            <a:ext cx="4754880" cy="2926080"/>
          </a:xfrm>
          <a:prstGeom prst="rect">
            <a:avLst/>
          </a:prstGeom>
          <a:noFill/>
          <a:ln/>
        </p:spPr>
        <p:txBody>
          <a:bodyPr wrap="square" lIns="0" tIns="0" rIns="0" bIns="0" rtlCol="0" anchor="t"/>
          <a:lstStyle/>
          <a:p>
            <a:pPr indent="0" marL="0">
              <a:buNone/>
            </a:pPr>
            <a:r>
              <a:rPr lang="en-US" sz="1900" b="1" dirty="0">
                <a:solidFill>
                  <a:srgbClr val="E8590C"/>
                </a:solidFill>
                <a:latin typeface="Calibri" pitchFamily="34" charset="0"/>
                <a:ea typeface="Calibri" pitchFamily="34" charset="-122"/>
                <a:cs typeface="Calibri" pitchFamily="34" charset="-120"/>
              </a:rPr>
              <a:t>Le conseil depuis 1994</a:t>
            </a:r>
            <a:endParaRPr lang="en-US" sz="1900" dirty="0"/>
          </a:p>
          <a:p>
            <a:pPr indent="0" marL="0">
              <a:buNone/>
            </a:pPr>
            <a:endParaRPr lang="en-US" sz="1900" dirty="0"/>
          </a:p>
          <a:p>
            <a:pPr indent="0" marL="0">
              <a:buNone/>
            </a:pPr>
            <a:r>
              <a:rPr lang="en-US" sz="1700" dirty="0">
                <a:solidFill>
                  <a:srgbClr val="FFFFFF"/>
                </a:solidFill>
                <a:latin typeface="Calibri" pitchFamily="34" charset="0"/>
                <a:ea typeface="Calibri" pitchFamily="34" charset="-122"/>
                <a:cs typeface="Calibri" pitchFamily="34" charset="-120"/>
              </a:rPr>
              <a:t>« Préférez la composition d'objets à l'héritage de classes. »</a:t>
            </a:r>
            <a:endParaRPr lang="en-US" sz="1900" dirty="0"/>
          </a:p>
          <a:p>
            <a:pPr indent="0" marL="0">
              <a:buNone/>
            </a:pPr>
            <a:endParaRPr lang="en-US" sz="1900" dirty="0"/>
          </a:p>
          <a:p>
            <a:pPr indent="0" marL="0">
              <a:buNone/>
            </a:pPr>
            <a:r>
              <a:rPr lang="en-US" sz="1700" dirty="0">
                <a:solidFill>
                  <a:srgbClr val="FFFFFF"/>
                </a:solidFill>
                <a:latin typeface="Calibri" pitchFamily="34" charset="0"/>
                <a:ea typeface="Calibri" pitchFamily="34" charset="-122"/>
                <a:cs typeface="Calibri" pitchFamily="34" charset="-120"/>
              </a:rPr>
              <a:t>— Gamma, Helm, Johnson, Vlissides, Design Patterns</a:t>
            </a:r>
            <a:endParaRPr lang="en-US" sz="1900" dirty="0"/>
          </a:p>
        </p:txBody>
      </p:sp>
      <p:sp>
        <p:nvSpPr>
          <p:cNvPr id="12" name="Text 9"/>
          <p:cNvSpPr txBox="1"/>
          <p:nvPr/>
        </p:nvSpPr>
        <p:spPr>
          <a:xfrm>
            <a:off x="640080" y="5349240"/>
            <a:ext cx="10911535" cy="457200"/>
          </a:xfrm>
          <a:prstGeom prst="rect">
            <a:avLst/>
          </a:prstGeom>
          <a:noFill/>
          <a:ln/>
        </p:spPr>
        <p:txBody>
          <a:bodyPr wrap="square" lIns="0" tIns="0" rIns="0" bIns="0" rtlCol="0" anchor="ctr"/>
          <a:lstStyle/>
          <a:p>
            <a:pPr indent="0" marL="0">
              <a:buNone/>
            </a:pPr>
            <a:r>
              <a:rPr lang="en-US" sz="1900" b="1" dirty="0">
                <a:solidFill>
                  <a:srgbClr val="16181D"/>
                </a:solidFill>
                <a:latin typeface="Arial" pitchFamily="34" charset="0"/>
                <a:ea typeface="Arial" pitchFamily="34" charset="-122"/>
                <a:cs typeface="Arial" pitchFamily="34" charset="-120"/>
              </a:rPr>
              <a:t>Avant d'hériter, toujours se demander : « X est-il vraiment un Y ? »</a:t>
            </a:r>
            <a:endParaRPr lang="en-US" sz="1900" dirty="0"/>
          </a:p>
        </p:txBody>
      </p:sp>
      <p:sp>
        <p:nvSpPr>
          <p:cNvPr id="13" name="Text 10"/>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E. Gamma, R. Helm, R. Johnson, J. Vlissides, Design Patterns: Elements of Reusable Object-Oriented Software, Addison-Wesley, 1994.</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02</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L'abstraction</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Ce qui n'existe pas tout seul</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ABSTRACTION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Un « utilisateur » tout court, ça n'existe pas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13</a:t>
            </a:r>
            <a:endParaRPr lang="en-US" sz="1000" dirty="0"/>
          </a:p>
        </p:txBody>
      </p:sp>
      <p:sp>
        <p:nvSpPr>
          <p:cNvPr id="8" name="Shape 5"/>
          <p:cNvSpPr/>
          <p:nvPr/>
        </p:nvSpPr>
        <p:spPr>
          <a:xfrm>
            <a:off x="640080" y="1783080"/>
            <a:ext cx="5303520" cy="3840480"/>
          </a:xfrm>
          <a:prstGeom prst="roundRect">
            <a:avLst>
              <a:gd name="adj" fmla="val 1905"/>
            </a:avLst>
          </a:prstGeom>
          <a:solidFill>
            <a:srgbClr val="F2F3F5"/>
          </a:solidFill>
          <a:ln w="12700">
            <a:solidFill>
              <a:srgbClr val="F2F3F5"/>
            </a:solidFill>
            <a:prstDash val="solid"/>
          </a:ln>
        </p:spPr>
      </p:sp>
      <p:sp>
        <p:nvSpPr>
          <p:cNvPr id="9" name="Text 6"/>
          <p:cNvSpPr txBox="1"/>
          <p:nvPr/>
        </p:nvSpPr>
        <p:spPr>
          <a:xfrm>
            <a:off x="960120" y="1965960"/>
            <a:ext cx="4754880" cy="457200"/>
          </a:xfrm>
          <a:prstGeom prst="rect">
            <a:avLst/>
          </a:prstGeom>
          <a:noFill/>
          <a:ln/>
        </p:spPr>
        <p:txBody>
          <a:bodyPr wrap="square" lIns="0" tIns="0" rIns="0" bIns="0" rtlCol="0" anchor="ctr"/>
          <a:lstStyle/>
          <a:p>
            <a:pPr indent="0" marL="0">
              <a:buNone/>
            </a:pPr>
            <a:r>
              <a:rPr lang="en-US" sz="1900" b="1" dirty="0">
                <a:solidFill>
                  <a:srgbClr val="16181D"/>
                </a:solidFill>
                <a:latin typeface="Arial" pitchFamily="34" charset="0"/>
                <a:ea typeface="Arial" pitchFamily="34" charset="-122"/>
                <a:cs typeface="Arial" pitchFamily="34" charset="-120"/>
              </a:rPr>
              <a:t>L'image : le permis de conduire</a:t>
            </a:r>
            <a:endParaRPr lang="en-US" sz="1900" dirty="0"/>
          </a:p>
        </p:txBody>
      </p:sp>
      <p:sp>
        <p:nvSpPr>
          <p:cNvPr id="10" name="Text 7"/>
          <p:cNvSpPr txBox="1"/>
          <p:nvPr/>
        </p:nvSpPr>
        <p:spPr>
          <a:xfrm>
            <a:off x="960120" y="2606040"/>
            <a:ext cx="4754880" cy="2834640"/>
          </a:xfrm>
          <a:prstGeom prst="rect">
            <a:avLst/>
          </a:prstGeom>
          <a:noFill/>
          <a:ln/>
        </p:spPr>
        <p:txBody>
          <a:bodyPr wrap="square" lIns="0" tIns="0" rIns="0" bIns="0" rtlCol="0" anchor="t"/>
          <a:lstStyle/>
          <a:p>
            <a:pPr indent="0" marL="0">
              <a:buNone/>
            </a:pPr>
            <a:r>
              <a:rPr lang="en-US" sz="1700" dirty="0">
                <a:solidFill>
                  <a:srgbClr val="5F6670"/>
                </a:solidFill>
                <a:latin typeface="Calibri" pitchFamily="34" charset="0"/>
                <a:ea typeface="Calibri" pitchFamily="34" charset="-122"/>
                <a:cs typeface="Calibri" pitchFamily="34" charset="-120"/>
              </a:rPr>
              <a:t>On ne conduit jamais « un véhicule » en général.</a:t>
            </a:r>
            <a:endParaRPr lang="en-US" sz="1700" dirty="0"/>
          </a:p>
          <a:p>
            <a:pPr indent="0" marL="0">
              <a:buNone/>
            </a:pPr>
            <a:r>
              <a:rPr lang="en-US" sz="1700" dirty="0">
                <a:solidFill>
                  <a:srgbClr val="5F6670"/>
                </a:solidFill>
                <a:latin typeface="Calibri" pitchFamily="34" charset="0"/>
                <a:ea typeface="Calibri" pitchFamily="34" charset="-122"/>
                <a:cs typeface="Calibri" pitchFamily="34" charset="-120"/>
              </a:rPr>
              <a:t>On conduit une voiture, une moto, un camion.</a:t>
            </a:r>
            <a:endParaRPr lang="en-US" sz="1700" dirty="0"/>
          </a:p>
          <a:p>
            <a:pPr indent="0" marL="0">
              <a:buNone/>
            </a:pPr>
            <a:endParaRPr lang="en-US" sz="1700" dirty="0"/>
          </a:p>
          <a:p>
            <a:pPr indent="0" marL="0">
              <a:buNone/>
            </a:pPr>
            <a:r>
              <a:rPr lang="en-US" sz="1700" dirty="0">
                <a:solidFill>
                  <a:srgbClr val="5F6670"/>
                </a:solidFill>
                <a:latin typeface="Calibri" pitchFamily="34" charset="0"/>
                <a:ea typeface="Calibri" pitchFamily="34" charset="-122"/>
                <a:cs typeface="Calibri" pitchFamily="34" charset="-120"/>
              </a:rPr>
              <a:t>« Véhicule » est une idée commune : abstraite.</a:t>
            </a:r>
            <a:endParaRPr lang="en-US" sz="1700" dirty="0"/>
          </a:p>
        </p:txBody>
      </p:sp>
      <p:sp>
        <p:nvSpPr>
          <p:cNvPr id="11" name="Shape 8"/>
          <p:cNvSpPr/>
          <p:nvPr/>
        </p:nvSpPr>
        <p:spPr>
          <a:xfrm>
            <a:off x="6217920" y="1783080"/>
            <a:ext cx="5303520" cy="3840480"/>
          </a:xfrm>
          <a:prstGeom prst="roundRect">
            <a:avLst>
              <a:gd name="adj" fmla="val 1905"/>
            </a:avLst>
          </a:prstGeom>
          <a:solidFill>
            <a:srgbClr val="1E2127"/>
          </a:solidFill>
          <a:ln w="12700">
            <a:solidFill>
              <a:srgbClr val="1E2127"/>
            </a:solidFill>
            <a:prstDash val="solid"/>
          </a:ln>
        </p:spPr>
      </p:sp>
      <p:sp>
        <p:nvSpPr>
          <p:cNvPr id="12" name="Text 9"/>
          <p:cNvSpPr txBox="1"/>
          <p:nvPr/>
        </p:nvSpPr>
        <p:spPr>
          <a:xfrm>
            <a:off x="6492240" y="2011680"/>
            <a:ext cx="4754880" cy="338328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public abstract class User</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public string Name { get;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public abstract string RoleName();</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var u = new User(...);</a:t>
            </a:r>
            <a:endParaRPr lang="en-US" sz="1500" dirty="0"/>
          </a:p>
          <a:p>
            <a:pPr indent="0" marL="0">
              <a:buNone/>
            </a:pPr>
            <a:r>
              <a:rPr lang="en-US" sz="1500" b="1" dirty="0">
                <a:solidFill>
                  <a:srgbClr val="C92A2A"/>
                </a:solidFill>
                <a:latin typeface="Consolas" pitchFamily="34" charset="0"/>
                <a:ea typeface="Consolas" pitchFamily="34" charset="-122"/>
                <a:cs typeface="Consolas" pitchFamily="34" charset="-120"/>
              </a:rPr>
              <a:t>// erreur : on ne crée pas un User tout seul</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s02-etape2-abstraction</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User devient abstraite</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abstract class User : on ne peut plus écrire new User(...)</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RoleName() : chaque rôle doit donner son nom</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Describe() : écrite une fois dans User, utilise RoleName()</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03</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Les interfaces</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Un contrat : « je sais faire ça »</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LE BESOIN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Prévenir quand un incident change d'état</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16</a:t>
            </a:r>
            <a:endParaRPr lang="en-US" sz="1000" dirty="0"/>
          </a:p>
        </p:txBody>
      </p:sp>
      <p:sp>
        <p:nvSpPr>
          <p:cNvPr id="8" name="Text 5"/>
          <p:cNvSpPr txBox="1"/>
          <p:nvPr/>
        </p:nvSpPr>
        <p:spPr>
          <a:xfrm>
            <a:off x="640080" y="1783080"/>
            <a:ext cx="10911535" cy="548640"/>
          </a:xfrm>
          <a:prstGeom prst="rect">
            <a:avLst/>
          </a:prstGeom>
          <a:noFill/>
          <a:ln/>
        </p:spPr>
        <p:txBody>
          <a:bodyPr wrap="square" lIns="0" tIns="0" rIns="0" bIns="0" rtlCol="0" anchor="ctr"/>
          <a:lstStyle/>
          <a:p>
            <a:pPr indent="0" marL="0">
              <a:buNone/>
            </a:pPr>
            <a:r>
              <a:rPr lang="en-US" sz="1900" dirty="0">
                <a:solidFill>
                  <a:srgbClr val="5F6670"/>
                </a:solidFill>
                <a:latin typeface="Calibri" pitchFamily="34" charset="0"/>
                <a:ea typeface="Calibri" pitchFamily="34" charset="-122"/>
                <a:cs typeface="Calibri" pitchFamily="34" charset="-120"/>
              </a:rPr>
              <a:t>Aujourd'hui l'e-mail. Demain Teams. Après-demain un SMS pour les incidents critiques.</a:t>
            </a:r>
            <a:endParaRPr lang="en-US" sz="1900" dirty="0"/>
          </a:p>
        </p:txBody>
      </p:sp>
      <p:sp>
        <p:nvSpPr>
          <p:cNvPr id="9" name="Shape 6"/>
          <p:cNvSpPr/>
          <p:nvPr/>
        </p:nvSpPr>
        <p:spPr>
          <a:xfrm>
            <a:off x="640080" y="2651760"/>
            <a:ext cx="2560320" cy="1645920"/>
          </a:xfrm>
          <a:prstGeom prst="roundRect">
            <a:avLst>
              <a:gd name="adj" fmla="val 4444"/>
            </a:avLst>
          </a:prstGeom>
          <a:solidFill>
            <a:srgbClr val="F2F3F5"/>
          </a:solidFill>
          <a:ln w="12700">
            <a:solidFill>
              <a:srgbClr val="F2F3F5"/>
            </a:solidFill>
            <a:prstDash val="solid"/>
          </a:ln>
        </p:spPr>
      </p:sp>
      <p:sp>
        <p:nvSpPr>
          <p:cNvPr id="10" name="Text 7"/>
          <p:cNvSpPr txBox="1"/>
          <p:nvPr/>
        </p:nvSpPr>
        <p:spPr>
          <a:xfrm>
            <a:off x="640080" y="2834640"/>
            <a:ext cx="2560320" cy="731520"/>
          </a:xfrm>
          <a:prstGeom prst="rect">
            <a:avLst/>
          </a:prstGeom>
          <a:noFill/>
          <a:ln/>
        </p:spPr>
        <p:txBody>
          <a:bodyPr wrap="square" lIns="0" tIns="0" rIns="0" bIns="0" rtlCol="0" anchor="ctr"/>
          <a:lstStyle/>
          <a:p>
            <a:pPr algn="ctr" indent="0" marL="0">
              <a:buNone/>
            </a:pPr>
            <a:r>
              <a:rPr lang="en-US" sz="2600" b="1" dirty="0">
                <a:solidFill>
                  <a:srgbClr val="16181D"/>
                </a:solidFill>
                <a:latin typeface="Arial" pitchFamily="34" charset="0"/>
                <a:ea typeface="Arial" pitchFamily="34" charset="-122"/>
                <a:cs typeface="Arial" pitchFamily="34" charset="-120"/>
              </a:rPr>
              <a:t>E-mail</a:t>
            </a:r>
            <a:endParaRPr lang="en-US" sz="2600" dirty="0"/>
          </a:p>
        </p:txBody>
      </p:sp>
      <p:sp>
        <p:nvSpPr>
          <p:cNvPr id="11" name="Text 8"/>
          <p:cNvSpPr txBox="1"/>
          <p:nvPr/>
        </p:nvSpPr>
        <p:spPr>
          <a:xfrm>
            <a:off x="640080" y="3566160"/>
            <a:ext cx="2560320" cy="457200"/>
          </a:xfrm>
          <a:prstGeom prst="rect">
            <a:avLst/>
          </a:prstGeom>
          <a:noFill/>
          <a:ln/>
        </p:spPr>
        <p:txBody>
          <a:bodyPr wrap="square" lIns="0" tIns="0" rIns="0" bIns="0" rtlCol="0" anchor="ctr"/>
          <a:lstStyle/>
          <a:p>
            <a:pPr algn="ctr" indent="0" marL="0">
              <a:buNone/>
            </a:pPr>
            <a:r>
              <a:rPr lang="en-US" sz="1500" dirty="0">
                <a:solidFill>
                  <a:srgbClr val="5F6670"/>
                </a:solidFill>
                <a:latin typeface="Calibri" pitchFamily="34" charset="0"/>
                <a:ea typeface="Calibri" pitchFamily="34" charset="-122"/>
                <a:cs typeface="Calibri" pitchFamily="34" charset="-120"/>
              </a:rPr>
              <a:t>aujourd'hui</a:t>
            </a:r>
            <a:endParaRPr lang="en-US" sz="1500" dirty="0"/>
          </a:p>
        </p:txBody>
      </p:sp>
      <p:sp>
        <p:nvSpPr>
          <p:cNvPr id="12" name="Shape 9"/>
          <p:cNvSpPr/>
          <p:nvPr/>
        </p:nvSpPr>
        <p:spPr>
          <a:xfrm>
            <a:off x="3383280" y="2651760"/>
            <a:ext cx="2560320" cy="1645920"/>
          </a:xfrm>
          <a:prstGeom prst="roundRect">
            <a:avLst>
              <a:gd name="adj" fmla="val 4444"/>
            </a:avLst>
          </a:prstGeom>
          <a:solidFill>
            <a:srgbClr val="F2F3F5"/>
          </a:solidFill>
          <a:ln w="12700">
            <a:solidFill>
              <a:srgbClr val="F2F3F5"/>
            </a:solidFill>
            <a:prstDash val="solid"/>
          </a:ln>
        </p:spPr>
      </p:sp>
      <p:sp>
        <p:nvSpPr>
          <p:cNvPr id="13" name="Text 10"/>
          <p:cNvSpPr txBox="1"/>
          <p:nvPr/>
        </p:nvSpPr>
        <p:spPr>
          <a:xfrm>
            <a:off x="3383280" y="2834640"/>
            <a:ext cx="2560320" cy="731520"/>
          </a:xfrm>
          <a:prstGeom prst="rect">
            <a:avLst/>
          </a:prstGeom>
          <a:noFill/>
          <a:ln/>
        </p:spPr>
        <p:txBody>
          <a:bodyPr wrap="square" lIns="0" tIns="0" rIns="0" bIns="0" rtlCol="0" anchor="ctr"/>
          <a:lstStyle/>
          <a:p>
            <a:pPr algn="ctr" indent="0" marL="0">
              <a:buNone/>
            </a:pPr>
            <a:r>
              <a:rPr lang="en-US" sz="2600" b="1" dirty="0">
                <a:solidFill>
                  <a:srgbClr val="16181D"/>
                </a:solidFill>
                <a:latin typeface="Arial" pitchFamily="34" charset="0"/>
                <a:ea typeface="Arial" pitchFamily="34" charset="-122"/>
                <a:cs typeface="Arial" pitchFamily="34" charset="-120"/>
              </a:rPr>
              <a:t>Teams</a:t>
            </a:r>
            <a:endParaRPr lang="en-US" sz="2600" dirty="0"/>
          </a:p>
        </p:txBody>
      </p:sp>
      <p:sp>
        <p:nvSpPr>
          <p:cNvPr id="14" name="Text 11"/>
          <p:cNvSpPr txBox="1"/>
          <p:nvPr/>
        </p:nvSpPr>
        <p:spPr>
          <a:xfrm>
            <a:off x="3383280" y="3566160"/>
            <a:ext cx="2560320" cy="457200"/>
          </a:xfrm>
          <a:prstGeom prst="rect">
            <a:avLst/>
          </a:prstGeom>
          <a:noFill/>
          <a:ln/>
        </p:spPr>
        <p:txBody>
          <a:bodyPr wrap="square" lIns="0" tIns="0" rIns="0" bIns="0" rtlCol="0" anchor="ctr"/>
          <a:lstStyle/>
          <a:p>
            <a:pPr algn="ctr" indent="0" marL="0">
              <a:buNone/>
            </a:pPr>
            <a:r>
              <a:rPr lang="en-US" sz="1500" dirty="0">
                <a:solidFill>
                  <a:srgbClr val="5F6670"/>
                </a:solidFill>
                <a:latin typeface="Calibri" pitchFamily="34" charset="0"/>
                <a:ea typeface="Calibri" pitchFamily="34" charset="-122"/>
                <a:cs typeface="Calibri" pitchFamily="34" charset="-120"/>
              </a:rPr>
              <a:t>demain</a:t>
            </a:r>
            <a:endParaRPr lang="en-US" sz="1500" dirty="0"/>
          </a:p>
        </p:txBody>
      </p:sp>
      <p:sp>
        <p:nvSpPr>
          <p:cNvPr id="15" name="Shape 12"/>
          <p:cNvSpPr/>
          <p:nvPr/>
        </p:nvSpPr>
        <p:spPr>
          <a:xfrm>
            <a:off x="6126480" y="2651760"/>
            <a:ext cx="2560320" cy="1645920"/>
          </a:xfrm>
          <a:prstGeom prst="roundRect">
            <a:avLst>
              <a:gd name="adj" fmla="val 4444"/>
            </a:avLst>
          </a:prstGeom>
          <a:solidFill>
            <a:srgbClr val="F2F3F5"/>
          </a:solidFill>
          <a:ln w="12700">
            <a:solidFill>
              <a:srgbClr val="F2F3F5"/>
            </a:solidFill>
            <a:prstDash val="solid"/>
          </a:ln>
        </p:spPr>
      </p:sp>
      <p:sp>
        <p:nvSpPr>
          <p:cNvPr id="16" name="Text 13"/>
          <p:cNvSpPr txBox="1"/>
          <p:nvPr/>
        </p:nvSpPr>
        <p:spPr>
          <a:xfrm>
            <a:off x="6126480" y="2834640"/>
            <a:ext cx="2560320" cy="731520"/>
          </a:xfrm>
          <a:prstGeom prst="rect">
            <a:avLst/>
          </a:prstGeom>
          <a:noFill/>
          <a:ln/>
        </p:spPr>
        <p:txBody>
          <a:bodyPr wrap="square" lIns="0" tIns="0" rIns="0" bIns="0" rtlCol="0" anchor="ctr"/>
          <a:lstStyle/>
          <a:p>
            <a:pPr algn="ctr" indent="0" marL="0">
              <a:buNone/>
            </a:pPr>
            <a:r>
              <a:rPr lang="en-US" sz="2600" b="1" dirty="0">
                <a:solidFill>
                  <a:srgbClr val="16181D"/>
                </a:solidFill>
                <a:latin typeface="Arial" pitchFamily="34" charset="0"/>
                <a:ea typeface="Arial" pitchFamily="34" charset="-122"/>
                <a:cs typeface="Arial" pitchFamily="34" charset="-120"/>
              </a:rPr>
              <a:t>SMS</a:t>
            </a:r>
            <a:endParaRPr lang="en-US" sz="2600" dirty="0"/>
          </a:p>
        </p:txBody>
      </p:sp>
      <p:sp>
        <p:nvSpPr>
          <p:cNvPr id="17" name="Text 14"/>
          <p:cNvSpPr txBox="1"/>
          <p:nvPr/>
        </p:nvSpPr>
        <p:spPr>
          <a:xfrm>
            <a:off x="6126480" y="3566160"/>
            <a:ext cx="2560320" cy="457200"/>
          </a:xfrm>
          <a:prstGeom prst="rect">
            <a:avLst/>
          </a:prstGeom>
          <a:noFill/>
          <a:ln/>
        </p:spPr>
        <p:txBody>
          <a:bodyPr wrap="square" lIns="0" tIns="0" rIns="0" bIns="0" rtlCol="0" anchor="ctr"/>
          <a:lstStyle/>
          <a:p>
            <a:pPr algn="ctr" indent="0" marL="0">
              <a:buNone/>
            </a:pPr>
            <a:r>
              <a:rPr lang="en-US" sz="1500" dirty="0">
                <a:solidFill>
                  <a:srgbClr val="5F6670"/>
                </a:solidFill>
                <a:latin typeface="Calibri" pitchFamily="34" charset="0"/>
                <a:ea typeface="Calibri" pitchFamily="34" charset="-122"/>
                <a:cs typeface="Calibri" pitchFamily="34" charset="-120"/>
              </a:rPr>
              <a:t>pour les critiques</a:t>
            </a:r>
            <a:endParaRPr lang="en-US" sz="1500" dirty="0"/>
          </a:p>
        </p:txBody>
      </p:sp>
      <p:sp>
        <p:nvSpPr>
          <p:cNvPr id="18" name="Shape 15"/>
          <p:cNvSpPr/>
          <p:nvPr/>
        </p:nvSpPr>
        <p:spPr>
          <a:xfrm>
            <a:off x="8869680" y="2651760"/>
            <a:ext cx="2560320" cy="1645920"/>
          </a:xfrm>
          <a:prstGeom prst="roundRect">
            <a:avLst>
              <a:gd name="adj" fmla="val 4444"/>
            </a:avLst>
          </a:prstGeom>
          <a:solidFill>
            <a:srgbClr val="FFFFFF"/>
          </a:solidFill>
          <a:ln w="12700">
            <a:solidFill>
              <a:srgbClr val="FFFFFF"/>
            </a:solidFill>
            <a:prstDash val="solid"/>
          </a:ln>
        </p:spPr>
      </p:sp>
      <p:sp>
        <p:nvSpPr>
          <p:cNvPr id="19" name="Text 16"/>
          <p:cNvSpPr txBox="1"/>
          <p:nvPr/>
        </p:nvSpPr>
        <p:spPr>
          <a:xfrm>
            <a:off x="8869680" y="2834640"/>
            <a:ext cx="2560320" cy="731520"/>
          </a:xfrm>
          <a:prstGeom prst="rect">
            <a:avLst/>
          </a:prstGeom>
          <a:noFill/>
          <a:ln/>
        </p:spPr>
        <p:txBody>
          <a:bodyPr wrap="square" lIns="0" tIns="0" rIns="0" bIns="0" rtlCol="0" anchor="ctr"/>
          <a:lstStyle/>
          <a:p>
            <a:pPr algn="ctr" indent="0" marL="0">
              <a:buNone/>
            </a:pPr>
            <a:r>
              <a:rPr lang="en-US" sz="2600" b="1" dirty="0">
                <a:solidFill>
                  <a:srgbClr val="16181D"/>
                </a:solidFill>
                <a:latin typeface="Arial" pitchFamily="34" charset="0"/>
                <a:ea typeface="Arial" pitchFamily="34" charset="-122"/>
                <a:cs typeface="Arial" pitchFamily="34" charset="-120"/>
              </a:rPr>
              <a:t>…</a:t>
            </a:r>
            <a:endParaRPr lang="en-US" sz="2600" dirty="0"/>
          </a:p>
        </p:txBody>
      </p:sp>
      <p:sp>
        <p:nvSpPr>
          <p:cNvPr id="20" name="Text 17"/>
          <p:cNvSpPr txBox="1"/>
          <p:nvPr/>
        </p:nvSpPr>
        <p:spPr>
          <a:xfrm>
            <a:off x="8869680" y="3566160"/>
            <a:ext cx="2560320" cy="457200"/>
          </a:xfrm>
          <a:prstGeom prst="rect">
            <a:avLst/>
          </a:prstGeom>
          <a:noFill/>
          <a:ln/>
        </p:spPr>
        <p:txBody>
          <a:bodyPr wrap="square" lIns="0" tIns="0" rIns="0" bIns="0" rtlCol="0" anchor="ctr"/>
          <a:lstStyle/>
          <a:p>
            <a:pPr algn="ctr" indent="0" marL="0">
              <a:buNone/>
            </a:pPr>
            <a:r>
              <a:rPr lang="en-US" sz="1500" dirty="0">
                <a:solidFill>
                  <a:srgbClr val="5F6670"/>
                </a:solidFill>
                <a:latin typeface="Calibri" pitchFamily="34" charset="0"/>
                <a:ea typeface="Calibri" pitchFamily="34" charset="-122"/>
                <a:cs typeface="Calibri" pitchFamily="34" charset="-120"/>
              </a:rPr>
              <a:t>le prochain canal</a:t>
            </a:r>
            <a:endParaRPr lang="en-US" sz="1500" dirty="0"/>
          </a:p>
        </p:txBody>
      </p:sp>
      <p:sp>
        <p:nvSpPr>
          <p:cNvPr id="21" name="Shape 18"/>
          <p:cNvSpPr/>
          <p:nvPr/>
        </p:nvSpPr>
        <p:spPr>
          <a:xfrm>
            <a:off x="640080" y="4663440"/>
            <a:ext cx="10911535" cy="914400"/>
          </a:xfrm>
          <a:prstGeom prst="roundRect">
            <a:avLst>
              <a:gd name="adj" fmla="val 8000"/>
            </a:avLst>
          </a:prstGeom>
          <a:solidFill>
            <a:srgbClr val="16181D"/>
          </a:solidFill>
          <a:ln w="12700">
            <a:solidFill>
              <a:srgbClr val="16181D"/>
            </a:solidFill>
            <a:prstDash val="solid"/>
          </a:ln>
        </p:spPr>
      </p:sp>
      <p:sp>
        <p:nvSpPr>
          <p:cNvPr id="22" name="Text 19"/>
          <p:cNvSpPr txBox="1"/>
          <p:nvPr/>
        </p:nvSpPr>
        <p:spPr>
          <a:xfrm>
            <a:off x="960120" y="4663440"/>
            <a:ext cx="10271455" cy="9144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On veut qu'IncidentHub dise juste « prévenez », sans savoir comment.</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INTERFACE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L'interface, c'est la prise électrique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17</a:t>
            </a:r>
            <a:endParaRPr lang="en-US" sz="1000" dirty="0"/>
          </a:p>
        </p:txBody>
      </p:sp>
      <p:pic>
        <p:nvPicPr>
          <p:cNvPr id="8" name="Image 0" descr="s2diag/interface.png">    </p:cNvPr>
          <p:cNvPicPr>
            <a:picLocks noChangeAspect="1"/>
          </p:cNvPicPr>
          <p:nvPr/>
        </p:nvPicPr>
        <p:blipFill>
          <a:blip r:embed="rId1"/>
          <a:stretch>
            <a:fillRect/>
          </a:stretch>
        </p:blipFill>
        <p:spPr>
          <a:xfrm>
            <a:off x="640080" y="1883013"/>
            <a:ext cx="6766560" cy="2086133"/>
          </a:xfrm>
          <a:prstGeom prst="rect">
            <a:avLst/>
          </a:prstGeom>
        </p:spPr>
      </p:pic>
      <p:sp>
        <p:nvSpPr>
          <p:cNvPr id="9" name="Shape 5"/>
          <p:cNvSpPr/>
          <p:nvPr/>
        </p:nvSpPr>
        <p:spPr>
          <a:xfrm>
            <a:off x="640080" y="4343400"/>
            <a:ext cx="6766560" cy="1417320"/>
          </a:xfrm>
          <a:prstGeom prst="roundRect">
            <a:avLst>
              <a:gd name="adj" fmla="val 5161"/>
            </a:avLst>
          </a:prstGeom>
          <a:solidFill>
            <a:srgbClr val="F2F3F5"/>
          </a:solidFill>
          <a:ln w="12700">
            <a:solidFill>
              <a:srgbClr val="F2F3F5"/>
            </a:solidFill>
            <a:prstDash val="solid"/>
          </a:ln>
        </p:spPr>
      </p:sp>
      <p:sp>
        <p:nvSpPr>
          <p:cNvPr id="10" name="Text 6"/>
          <p:cNvSpPr txBox="1"/>
          <p:nvPr/>
        </p:nvSpPr>
        <p:spPr>
          <a:xfrm>
            <a:off x="914400" y="4389120"/>
            <a:ext cx="6217920" cy="1325880"/>
          </a:xfrm>
          <a:prstGeom prst="rect">
            <a:avLst/>
          </a:prstGeom>
          <a:noFill/>
          <a:ln/>
        </p:spPr>
        <p:txBody>
          <a:bodyPr wrap="square" lIns="0" tIns="0" rIns="0" bIns="0" rtlCol="0" anchor="ctr"/>
          <a:lstStyle/>
          <a:p>
            <a:pPr indent="0" marL="0">
              <a:buNone/>
            </a:pPr>
            <a:r>
              <a:rPr lang="en-US" sz="1600" b="1" dirty="0">
                <a:solidFill>
                  <a:srgbClr val="16181D"/>
                </a:solidFill>
                <a:latin typeface="Calibri" pitchFamily="34" charset="0"/>
                <a:ea typeface="Calibri" pitchFamily="34" charset="-122"/>
                <a:cs typeface="Calibri" pitchFamily="34" charset="-120"/>
              </a:rPr>
              <a:t>En UML : </a:t>
            </a:r>
            <a:pPr indent="0" marL="0">
              <a:buNone/>
            </a:pPr>
            <a:r>
              <a:rPr lang="en-US" sz="1600" dirty="0">
                <a:solidFill>
                  <a:srgbClr val="16181D"/>
                </a:solidFill>
                <a:latin typeface="Calibri" pitchFamily="34" charset="0"/>
                <a:ea typeface="Calibri" pitchFamily="34" charset="-122"/>
                <a:cs typeface="Calibri" pitchFamily="34" charset="-120"/>
              </a:rPr>
              <a:t>«interface», et une flèche pointillée à triangle vide (la réalisation). </a:t>
            </a:r>
            <a:pPr indent="0" marL="0">
              <a:buNone/>
            </a:pPr>
            <a:r>
              <a:rPr lang="en-US" sz="1600" b="1" dirty="0">
                <a:solidFill>
                  <a:srgbClr val="16181D"/>
                </a:solidFill>
                <a:latin typeface="Calibri" pitchFamily="34" charset="0"/>
                <a:ea typeface="Calibri" pitchFamily="34" charset="-122"/>
                <a:cs typeface="Calibri" pitchFamily="34" charset="-120"/>
              </a:rPr>
              <a:t>En C# : </a:t>
            </a:r>
            <a:pPr indent="0" marL="0">
              <a:buNone/>
            </a:pPr>
            <a:r>
              <a:rPr lang="en-US" sz="1600" dirty="0">
                <a:solidFill>
                  <a:srgbClr val="16181D"/>
                </a:solidFill>
                <a:latin typeface="Calibri" pitchFamily="34" charset="0"/>
                <a:ea typeface="Calibri" pitchFamily="34" charset="-122"/>
                <a:cs typeface="Calibri" pitchFamily="34" charset="-120"/>
              </a:rPr>
              <a:t>class EmailNotifier : INotifier</a:t>
            </a:r>
            <a:endParaRPr lang="en-US" sz="1600" dirty="0"/>
          </a:p>
        </p:txBody>
      </p:sp>
      <p:sp>
        <p:nvSpPr>
          <p:cNvPr id="11" name="Shape 7"/>
          <p:cNvSpPr/>
          <p:nvPr/>
        </p:nvSpPr>
        <p:spPr>
          <a:xfrm>
            <a:off x="7680960" y="1783080"/>
            <a:ext cx="3840480" cy="3977640"/>
          </a:xfrm>
          <a:prstGeom prst="roundRect">
            <a:avLst>
              <a:gd name="adj" fmla="val 1905"/>
            </a:avLst>
          </a:prstGeom>
          <a:solidFill>
            <a:srgbClr val="16181D"/>
          </a:solidFill>
          <a:ln w="12700">
            <a:solidFill>
              <a:srgbClr val="16181D"/>
            </a:solidFill>
            <a:prstDash val="solid"/>
          </a:ln>
        </p:spPr>
      </p:sp>
      <p:sp>
        <p:nvSpPr>
          <p:cNvPr id="12" name="Text 8"/>
          <p:cNvSpPr txBox="1"/>
          <p:nvPr/>
        </p:nvSpPr>
        <p:spPr>
          <a:xfrm>
            <a:off x="7909560" y="1965960"/>
            <a:ext cx="3383280" cy="3657600"/>
          </a:xfrm>
          <a:prstGeom prst="rect">
            <a:avLst/>
          </a:prstGeom>
          <a:noFill/>
          <a:ln/>
        </p:spPr>
        <p:txBody>
          <a:bodyPr wrap="square" lIns="0" tIns="0" rIns="0" bIns="0" rtlCol="0" anchor="t"/>
          <a:lstStyle/>
          <a:p>
            <a:pPr indent="0" marL="0">
              <a:buNone/>
            </a:pPr>
            <a:r>
              <a:rPr lang="en-US" sz="1900" b="1" dirty="0">
                <a:solidFill>
                  <a:srgbClr val="E8590C"/>
                </a:solidFill>
                <a:latin typeface="Calibri" pitchFamily="34" charset="0"/>
                <a:ea typeface="Calibri" pitchFamily="34" charset="-122"/>
                <a:cs typeface="Calibri" pitchFamily="34" charset="-120"/>
              </a:rPr>
              <a:t>La prise électrique</a:t>
            </a:r>
            <a:endParaRPr lang="en-US" sz="1900" dirty="0"/>
          </a:p>
          <a:p>
            <a:pPr indent="0" marL="0">
              <a:buNone/>
            </a:pPr>
            <a:endParaRPr lang="en-US" sz="1900" dirty="0"/>
          </a:p>
          <a:p>
            <a:pPr indent="0" marL="0">
              <a:buNone/>
            </a:pPr>
            <a:r>
              <a:rPr lang="en-US" sz="1600" dirty="0">
                <a:solidFill>
                  <a:srgbClr val="FFFFFF"/>
                </a:solidFill>
                <a:latin typeface="Calibri" pitchFamily="34" charset="0"/>
                <a:ea typeface="Calibri" pitchFamily="34" charset="-122"/>
                <a:cs typeface="Calibri" pitchFamily="34" charset="-120"/>
              </a:rPr>
              <a:t>Elle définit une norme. Lampe, chargeur ou grille-pain : tout ce qui respecte la norme s'y branche.</a:t>
            </a:r>
            <a:endParaRPr lang="en-US" sz="1900" dirty="0"/>
          </a:p>
          <a:p>
            <a:pPr indent="0" marL="0">
              <a:buNone/>
            </a:pPr>
            <a:endParaRPr lang="en-US" sz="1900" dirty="0"/>
          </a:p>
          <a:p>
            <a:pPr indent="0" marL="0">
              <a:buNone/>
            </a:pPr>
            <a:r>
              <a:rPr lang="en-US" sz="1600" dirty="0">
                <a:solidFill>
                  <a:srgbClr val="FFFFFF"/>
                </a:solidFill>
                <a:latin typeface="Calibri" pitchFamily="34" charset="0"/>
                <a:ea typeface="Calibri" pitchFamily="34" charset="-122"/>
                <a:cs typeface="Calibri" pitchFamily="34" charset="-120"/>
              </a:rPr>
              <a:t>La prise ne sait pas ce qu'on y branche. Elle n'en a pas besoin.</a:t>
            </a:r>
            <a:endParaRPr lang="en-US" sz="1900" dirty="0"/>
          </a:p>
        </p:txBody>
      </p:sp>
      <p:sp>
        <p:nvSpPr>
          <p:cNvPr id="13" name="Text 9"/>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Interfaces (C#) ». Diagramme généré avec PlantUML.</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COMPARER</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Classe abstraite ou interface ?</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18</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914400"/>
        </p:xfrm>
        <a:graphic>
          <a:graphicData uri="http://schemas.openxmlformats.org/drawingml/2006/table">
            <a:tbl>
              <a:tblPr/>
              <a:tblGrid>
                <a:gridCol w="2743200"/>
                <a:gridCol w="4078224"/>
                <a:gridCol w="4087368"/>
              </a:tblGrid>
              <a:tr h="640080">
                <a:tc>
                  <a:txBody>
                    <a:bodyPr/>
                    <a:lstStyle/>
                    <a:p>
                      <a:pPr indent="0" marL="0">
                        <a:buNone/>
                      </a:pP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Classe abstraite</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Interface</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640080">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La question</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 est un »</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 sait faire »</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640080">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Exemple</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Analyst est un User</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EmailNotifier sait notifier</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640080">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Code commun</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oui, déjà écrit</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non, un contrat</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640080">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Combien par classe ?</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un seul parent</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plusieurs possibles</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640080">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En UML</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nom en italique, triangle plein trait</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700" dirty="0">
                          <a:solidFill>
                            <a:srgbClr val="16181D"/>
                          </a:solidFill>
                          <a:latin typeface="Calibri" pitchFamily="34" charset="0"/>
                          <a:ea typeface="Calibri" pitchFamily="34" charset="-122"/>
                          <a:cs typeface="Calibri" pitchFamily="34" charset="-120"/>
                        </a:rPr>
                        <a:t>«interface», triangle pointillé</a:t>
                      </a:r>
                      <a:endParaRPr lang="en-US" sz="17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s02-etape3-interface</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Un contrat, deux implémentations</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interface INotifier : une seule méthode, Notify(...)</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EmailNotifier et TeamsNotifier signent le contrat</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Program.cs parle à des INotifier, sans savoir lesquels</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04</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Polymorphisme et composition</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Un appel, plusieurs comportements</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POLYMORPHISME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Même bouton, comportements différents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21</a:t>
            </a:r>
            <a:endParaRPr lang="en-US" sz="1000" dirty="0"/>
          </a:p>
        </p:txBody>
      </p:sp>
      <p:sp>
        <p:nvSpPr>
          <p:cNvPr id="8" name="Shape 5"/>
          <p:cNvSpPr/>
          <p:nvPr/>
        </p:nvSpPr>
        <p:spPr>
          <a:xfrm>
            <a:off x="640080" y="1783080"/>
            <a:ext cx="6035040" cy="3840480"/>
          </a:xfrm>
          <a:prstGeom prst="roundRect">
            <a:avLst>
              <a:gd name="adj" fmla="val 1905"/>
            </a:avLst>
          </a:prstGeom>
          <a:solidFill>
            <a:srgbClr val="1E2127"/>
          </a:solidFill>
          <a:ln w="12700">
            <a:solidFill>
              <a:srgbClr val="1E2127"/>
            </a:solidFill>
            <a:prstDash val="solid"/>
          </a:ln>
        </p:spPr>
      </p:sp>
      <p:sp>
        <p:nvSpPr>
          <p:cNvPr id="9" name="Text 6"/>
          <p:cNvSpPr txBox="1"/>
          <p:nvPr/>
        </p:nvSpPr>
        <p:spPr>
          <a:xfrm>
            <a:off x="914400" y="2011680"/>
            <a:ext cx="5486400" cy="3383280"/>
          </a:xfrm>
          <a:prstGeom prst="rect">
            <a:avLst/>
          </a:prstGeom>
          <a:noFill/>
          <a:ln/>
        </p:spPr>
        <p:txBody>
          <a:bodyPr wrap="square" lIns="0" tIns="0" rIns="0" bIns="0" rtlCol="0" anchor="t"/>
          <a:lstStyle/>
          <a:p>
            <a:pPr indent="0" marL="0">
              <a:buNone/>
            </a:pPr>
            <a:r>
              <a:rPr lang="en-US" sz="1600" dirty="0">
                <a:solidFill>
                  <a:srgbClr val="E6E6E6"/>
                </a:solidFill>
                <a:latin typeface="Consolas" pitchFamily="34" charset="0"/>
                <a:ea typeface="Consolas" pitchFamily="34" charset="-122"/>
                <a:cs typeface="Consolas" pitchFamily="34" charset="-120"/>
              </a:rPr>
              <a:t>foreach (User user in users)</a:t>
            </a:r>
            <a:endParaRPr lang="en-US" sz="1600" dirty="0"/>
          </a:p>
          <a:p>
            <a:pPr indent="0" marL="0">
              <a:buNone/>
            </a:pPr>
            <a:r>
              <a:rPr lang="en-US" sz="1600" dirty="0">
                <a:solidFill>
                  <a:srgbClr val="E6E6E6"/>
                </a:solidFill>
                <a:latin typeface="Consolas" pitchFamily="34" charset="0"/>
                <a:ea typeface="Consolas" pitchFamily="34" charset="-122"/>
                <a:cs typeface="Consolas" pitchFamily="34" charset="-120"/>
              </a:rPr>
              <a:t>{</a:t>
            </a:r>
            <a:endParaRPr lang="en-US" sz="1600" dirty="0"/>
          </a:p>
          <a:p>
            <a:pPr indent="0" marL="0">
              <a:buNone/>
            </a:pPr>
            <a:r>
              <a:rPr lang="en-US" sz="1600" dirty="0">
                <a:solidFill>
                  <a:srgbClr val="E6E6E6"/>
                </a:solidFill>
                <a:latin typeface="Consolas" pitchFamily="34" charset="0"/>
                <a:ea typeface="Consolas" pitchFamily="34" charset="-122"/>
                <a:cs typeface="Consolas" pitchFamily="34" charset="-120"/>
              </a:rPr>
              <a:t>    Console.WriteLine(user.Describe());</a:t>
            </a:r>
            <a:endParaRPr lang="en-US" sz="1600" dirty="0"/>
          </a:p>
          <a:p>
            <a:pPr indent="0" marL="0">
              <a:buNone/>
            </a:pPr>
            <a:r>
              <a:rPr lang="en-US" sz="1600" dirty="0">
                <a:solidFill>
                  <a:srgbClr val="E6E6E6"/>
                </a:solidFill>
                <a:latin typeface="Consolas" pitchFamily="34" charset="0"/>
                <a:ea typeface="Consolas" pitchFamily="34" charset="-122"/>
                <a:cs typeface="Consolas" pitchFamily="34" charset="-120"/>
              </a:rPr>
              <a:t>}</a:t>
            </a:r>
            <a:endParaRPr lang="en-US" sz="1600" dirty="0"/>
          </a:p>
          <a:p>
            <a:pPr indent="0" marL="0">
              <a:buNone/>
            </a:pPr>
            <a:r>
              <a:rPr lang="en-US" sz="1600" dirty="0">
                <a:solidFill>
                  <a:srgbClr val="E6E6E6"/>
                </a:solidFill>
                <a:latin typeface="Consolas" pitchFamily="34" charset="0"/>
                <a:ea typeface="Consolas" pitchFamily="34" charset="-122"/>
                <a:cs typeface="Consolas" pitchFamily="34" charset="-120"/>
              </a:rPr>
              <a:t> </a:t>
            </a:r>
            <a:endParaRPr lang="en-US" sz="1600" dirty="0"/>
          </a:p>
          <a:p>
            <a:pPr indent="0" marL="0">
              <a:buNone/>
            </a:pPr>
            <a:r>
              <a:rPr lang="en-US" sz="1600" dirty="0">
                <a:solidFill>
                  <a:srgbClr val="8B929C"/>
                </a:solidFill>
                <a:latin typeface="Consolas" pitchFamily="34" charset="0"/>
                <a:ea typeface="Consolas" pitchFamily="34" charset="-122"/>
                <a:cs typeface="Consolas" pitchFamily="34" charset="-120"/>
              </a:rPr>
              <a:t>// Sophie (déclarante)</a:t>
            </a:r>
            <a:endParaRPr lang="en-US" sz="1600" dirty="0"/>
          </a:p>
          <a:p>
            <a:pPr indent="0" marL="0">
              <a:buNone/>
            </a:pPr>
            <a:r>
              <a:rPr lang="en-US" sz="1600" dirty="0">
                <a:solidFill>
                  <a:srgbClr val="8B929C"/>
                </a:solidFill>
                <a:latin typeface="Consolas" pitchFamily="34" charset="0"/>
                <a:ea typeface="Consolas" pitchFamily="34" charset="-122"/>
                <a:cs typeface="Consolas" pitchFamily="34" charset="-120"/>
              </a:rPr>
              <a:t>// Karim (analyste, équipe SOC)</a:t>
            </a:r>
            <a:endParaRPr lang="en-US" sz="1600" dirty="0"/>
          </a:p>
          <a:p>
            <a:pPr indent="0" marL="0">
              <a:buNone/>
            </a:pPr>
            <a:r>
              <a:rPr lang="en-US" sz="1600" dirty="0">
                <a:solidFill>
                  <a:srgbClr val="8B929C"/>
                </a:solidFill>
                <a:latin typeface="Consolas" pitchFamily="34" charset="0"/>
                <a:ea typeface="Consolas" pitchFamily="34" charset="-122"/>
                <a:cs typeface="Consolas" pitchFamily="34" charset="-120"/>
              </a:rPr>
              <a:t>// Julie (responsable)</a:t>
            </a:r>
            <a:endParaRPr lang="en-US" sz="1600" dirty="0"/>
          </a:p>
        </p:txBody>
      </p:sp>
      <p:sp>
        <p:nvSpPr>
          <p:cNvPr id="10" name="Shape 7"/>
          <p:cNvSpPr/>
          <p:nvPr/>
        </p:nvSpPr>
        <p:spPr>
          <a:xfrm>
            <a:off x="6949440" y="1783080"/>
            <a:ext cx="4572000" cy="3840480"/>
          </a:xfrm>
          <a:prstGeom prst="roundRect">
            <a:avLst>
              <a:gd name="adj" fmla="val 1905"/>
            </a:avLst>
          </a:prstGeom>
          <a:solidFill>
            <a:srgbClr val="16181D"/>
          </a:solidFill>
          <a:ln w="12700">
            <a:solidFill>
              <a:srgbClr val="16181D"/>
            </a:solidFill>
            <a:prstDash val="solid"/>
          </a:ln>
        </p:spPr>
      </p:sp>
      <p:sp>
        <p:nvSpPr>
          <p:cNvPr id="11" name="Text 8"/>
          <p:cNvSpPr txBox="1"/>
          <p:nvPr/>
        </p:nvSpPr>
        <p:spPr>
          <a:xfrm>
            <a:off x="7178040" y="1965960"/>
            <a:ext cx="4114800" cy="3474720"/>
          </a:xfrm>
          <a:prstGeom prst="rect">
            <a:avLst/>
          </a:prstGeom>
          <a:noFill/>
          <a:ln/>
        </p:spPr>
        <p:txBody>
          <a:bodyPr wrap="square" lIns="0" tIns="0" rIns="0" bIns="0" rtlCol="0" anchor="t"/>
          <a:lstStyle/>
          <a:p>
            <a:pPr indent="0" marL="0">
              <a:buNone/>
            </a:pPr>
            <a:r>
              <a:rPr lang="en-US" sz="1900" b="1" dirty="0">
                <a:solidFill>
                  <a:srgbClr val="E8590C"/>
                </a:solidFill>
                <a:latin typeface="Calibri" pitchFamily="34" charset="0"/>
                <a:ea typeface="Calibri" pitchFamily="34" charset="-122"/>
                <a:cs typeface="Calibri" pitchFamily="34" charset="-120"/>
              </a:rPr>
              <a:t>Le bouton Imprimer</a:t>
            </a:r>
            <a:endParaRPr lang="en-US" sz="1900" dirty="0"/>
          </a:p>
          <a:p>
            <a:pPr indent="0" marL="0">
              <a:buNone/>
            </a:pPr>
            <a:r>
              <a:rPr lang="en-US" sz="1600" dirty="0">
                <a:solidFill>
                  <a:srgbClr val="FFFFFF"/>
                </a:solidFill>
                <a:latin typeface="Calibri" pitchFamily="34" charset="0"/>
                <a:ea typeface="Calibri" pitchFamily="34" charset="-122"/>
                <a:cs typeface="Calibri" pitchFamily="34" charset="-120"/>
              </a:rPr>
              <a:t>
Le même bouton. L'imprimante, le PDF ou l'e-mail : chacun fait son travail à sa façon.
</a:t>
            </a:r>
            <a:endParaRPr lang="en-US" sz="1900" dirty="0"/>
          </a:p>
          <a:p>
            <a:pPr indent="0" marL="0">
              <a:buNone/>
            </a:pPr>
            <a:r>
              <a:rPr lang="en-US" sz="1500" i="1" dirty="0">
                <a:solidFill>
                  <a:srgbClr val="C9CDD3"/>
                </a:solidFill>
                <a:latin typeface="Calibri" pitchFamily="34" charset="0"/>
                <a:ea typeface="Calibri" pitchFamily="34" charset="-122"/>
                <a:cs typeface="Calibri" pitchFamily="34" charset="-120"/>
              </a:rPr>
              <a:t>« Polymorphisme » : du grec, « plusieurs formes ».</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COMPOSITION ET AGRÉGATION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 Fait partie de » : deux intensités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22</a:t>
            </a:r>
            <a:endParaRPr lang="en-US" sz="1000" dirty="0"/>
          </a:p>
        </p:txBody>
      </p:sp>
      <p:pic>
        <p:nvPicPr>
          <p:cNvPr id="8" name="Image 0" descr="s2diag/compo.png">    </p:cNvPr>
          <p:cNvPicPr>
            <a:picLocks noChangeAspect="1"/>
          </p:cNvPicPr>
          <p:nvPr/>
        </p:nvPicPr>
        <p:blipFill>
          <a:blip r:embed="rId1"/>
          <a:stretch>
            <a:fillRect/>
          </a:stretch>
        </p:blipFill>
        <p:spPr>
          <a:xfrm>
            <a:off x="640080" y="1849196"/>
            <a:ext cx="6217920" cy="2519529"/>
          </a:xfrm>
          <a:prstGeom prst="rect">
            <a:avLst/>
          </a:prstGeom>
        </p:spPr>
      </p:pic>
      <p:sp>
        <p:nvSpPr>
          <p:cNvPr id="9" name="Shape 5"/>
          <p:cNvSpPr/>
          <p:nvPr/>
        </p:nvSpPr>
        <p:spPr>
          <a:xfrm>
            <a:off x="7132320" y="1783080"/>
            <a:ext cx="4389120" cy="1828800"/>
          </a:xfrm>
          <a:prstGeom prst="roundRect">
            <a:avLst>
              <a:gd name="adj" fmla="val 4000"/>
            </a:avLst>
          </a:prstGeom>
          <a:solidFill>
            <a:srgbClr val="16181D"/>
          </a:solidFill>
          <a:ln w="12700">
            <a:solidFill>
              <a:srgbClr val="16181D"/>
            </a:solidFill>
            <a:prstDash val="solid"/>
          </a:ln>
        </p:spPr>
      </p:sp>
      <p:sp>
        <p:nvSpPr>
          <p:cNvPr id="10" name="Text 6"/>
          <p:cNvSpPr txBox="1"/>
          <p:nvPr/>
        </p:nvSpPr>
        <p:spPr>
          <a:xfrm>
            <a:off x="7360920" y="1965960"/>
            <a:ext cx="3931920" cy="457200"/>
          </a:xfrm>
          <a:prstGeom prst="rect">
            <a:avLst/>
          </a:prstGeom>
          <a:noFill/>
          <a:ln/>
        </p:spPr>
        <p:txBody>
          <a:bodyPr wrap="square" lIns="0" tIns="0" rIns="0" bIns="0" rtlCol="0" anchor="ctr"/>
          <a:lstStyle/>
          <a:p>
            <a:pPr indent="0" marL="0">
              <a:buNone/>
            </a:pPr>
            <a:r>
              <a:rPr lang="en-US" sz="1900" b="1" dirty="0">
                <a:solidFill>
                  <a:srgbClr val="E8590C"/>
                </a:solidFill>
                <a:latin typeface="Arial" pitchFamily="34" charset="0"/>
                <a:ea typeface="Arial" pitchFamily="34" charset="-122"/>
                <a:cs typeface="Arial" pitchFamily="34" charset="-120"/>
              </a:rPr>
              <a:t>Composition ◆</a:t>
            </a:r>
            <a:endParaRPr lang="en-US" sz="1900" dirty="0"/>
          </a:p>
        </p:txBody>
      </p:sp>
      <p:sp>
        <p:nvSpPr>
          <p:cNvPr id="11" name="Text 7"/>
          <p:cNvSpPr txBox="1"/>
          <p:nvPr/>
        </p:nvSpPr>
        <p:spPr>
          <a:xfrm>
            <a:off x="7360920" y="2468880"/>
            <a:ext cx="3931920" cy="10058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La maison et ses pièces : on démolit la maison, les pièces disparaissent.</a:t>
            </a:r>
            <a:endParaRPr lang="en-US" sz="1600" dirty="0"/>
          </a:p>
        </p:txBody>
      </p:sp>
      <p:sp>
        <p:nvSpPr>
          <p:cNvPr id="12" name="Shape 8"/>
          <p:cNvSpPr/>
          <p:nvPr/>
        </p:nvSpPr>
        <p:spPr>
          <a:xfrm>
            <a:off x="7132320" y="3794760"/>
            <a:ext cx="4389120" cy="1828800"/>
          </a:xfrm>
          <a:prstGeom prst="roundRect">
            <a:avLst>
              <a:gd name="adj" fmla="val 4000"/>
            </a:avLst>
          </a:prstGeom>
          <a:solidFill>
            <a:srgbClr val="F2F3F5"/>
          </a:solidFill>
          <a:ln w="12700">
            <a:solidFill>
              <a:srgbClr val="F2F3F5"/>
            </a:solidFill>
            <a:prstDash val="solid"/>
          </a:ln>
        </p:spPr>
      </p:sp>
      <p:sp>
        <p:nvSpPr>
          <p:cNvPr id="13" name="Text 9"/>
          <p:cNvSpPr txBox="1"/>
          <p:nvPr/>
        </p:nvSpPr>
        <p:spPr>
          <a:xfrm>
            <a:off x="7360920" y="3977640"/>
            <a:ext cx="3931920" cy="457200"/>
          </a:xfrm>
          <a:prstGeom prst="rect">
            <a:avLst/>
          </a:prstGeom>
          <a:noFill/>
          <a:ln/>
        </p:spPr>
        <p:txBody>
          <a:bodyPr wrap="square" lIns="0" tIns="0" rIns="0" bIns="0" rtlCol="0" anchor="ctr"/>
          <a:lstStyle/>
          <a:p>
            <a:pPr indent="0" marL="0">
              <a:buNone/>
            </a:pPr>
            <a:r>
              <a:rPr lang="en-US" sz="1900" b="1" dirty="0">
                <a:solidFill>
                  <a:srgbClr val="16181D"/>
                </a:solidFill>
                <a:latin typeface="Arial" pitchFamily="34" charset="0"/>
                <a:ea typeface="Arial" pitchFamily="34" charset="-122"/>
                <a:cs typeface="Arial" pitchFamily="34" charset="-120"/>
              </a:rPr>
              <a:t>Agrégation ◇</a:t>
            </a:r>
            <a:endParaRPr lang="en-US" sz="1900" dirty="0"/>
          </a:p>
        </p:txBody>
      </p:sp>
      <p:sp>
        <p:nvSpPr>
          <p:cNvPr id="14" name="Text 10"/>
          <p:cNvSpPr txBox="1"/>
          <p:nvPr/>
        </p:nvSpPr>
        <p:spPr>
          <a:xfrm>
            <a:off x="7360920" y="4480560"/>
            <a:ext cx="3931920" cy="1005840"/>
          </a:xfrm>
          <a:prstGeom prst="rect">
            <a:avLst/>
          </a:prstGeom>
          <a:noFill/>
          <a:ln/>
        </p:spPr>
        <p:txBody>
          <a:bodyPr wrap="square" lIns="0" tIns="0" rIns="0" bIns="0" rtlCol="0" anchor="t"/>
          <a:lstStyle/>
          <a:p>
            <a:pPr indent="0" marL="0">
              <a:buNone/>
            </a:pPr>
            <a:r>
              <a:rPr lang="en-US" sz="1600" dirty="0">
                <a:solidFill>
                  <a:srgbClr val="5F6670"/>
                </a:solidFill>
                <a:latin typeface="Calibri" pitchFamily="34" charset="0"/>
                <a:ea typeface="Calibri" pitchFamily="34" charset="-122"/>
                <a:cs typeface="Calibri" pitchFamily="34" charset="-120"/>
              </a:rPr>
              <a:t>L'équipe et ses joueurs : l'équipe est dissoute, les joueurs restent.</a:t>
            </a:r>
            <a:endParaRPr lang="en-US" sz="1600" dirty="0"/>
          </a:p>
        </p:txBody>
      </p:sp>
      <p:sp>
        <p:nvSpPr>
          <p:cNvPr id="15" name="Text 11"/>
          <p:cNvSpPr txBox="1"/>
          <p:nvPr/>
        </p:nvSpPr>
        <p:spPr>
          <a:xfrm>
            <a:off x="640080" y="4754880"/>
            <a:ext cx="6217920" cy="457200"/>
          </a:xfrm>
          <a:prstGeom prst="rect">
            <a:avLst/>
          </a:prstGeom>
          <a:noFill/>
          <a:ln/>
        </p:spPr>
        <p:txBody>
          <a:bodyPr wrap="square" lIns="0" tIns="0" rIns="0" bIns="0" rtlCol="0" anchor="ctr"/>
          <a:lstStyle/>
          <a:p>
            <a:pPr indent="0" marL="0">
              <a:buNone/>
            </a:pPr>
            <a:r>
              <a:rPr lang="en-US" sz="1900" b="1" dirty="0">
                <a:solidFill>
                  <a:srgbClr val="16181D"/>
                </a:solidFill>
                <a:latin typeface="Arial" pitchFamily="34" charset="0"/>
                <a:ea typeface="Arial" pitchFamily="34" charset="-122"/>
                <a:cs typeface="Arial" pitchFamily="34" charset="-120"/>
              </a:rPr>
              <a:t>La question : la partie survit-elle au tout ?</a:t>
            </a:r>
            <a:endParaRPr lang="en-US" sz="1900" dirty="0"/>
          </a:p>
        </p:txBody>
      </p:sp>
      <p:sp>
        <p:nvSpPr>
          <p:cNvPr id="16" name="Text 12"/>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OMG, UML 2.5.1, chapitre 11 (Associations, AggregationKind). Diagramme généré avec PlantUML.</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s02-etape4-polymorphisme-composition</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Tout assembler</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Une List&lt;User&gt; et un seul appel à Describe() : le polymorphisme</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Une List&lt;INotifier&gt; : chaque canal notifie à sa façon</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Incident.AddComment(...) : les commentaires font partie de l'incident</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IReadOnlyList&lt;Comment&gt; : on lit la liste, on ne la modifie pas de l'extérieur</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05</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L'UML complet</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Les six relations et le modèle d'IncidentHub</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UML · RELATIONS</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Six façons de relier deux classes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25</a:t>
            </a:r>
            <a:endParaRPr lang="en-US" sz="1000" dirty="0"/>
          </a:p>
        </p:txBody>
      </p:sp>
      <p:pic>
        <p:nvPicPr>
          <p:cNvPr id="8" name="Image 0" descr="s2diag/relations.png">    </p:cNvPr>
          <p:cNvPicPr>
            <a:picLocks noChangeAspect="1"/>
          </p:cNvPicPr>
          <p:nvPr/>
        </p:nvPicPr>
        <p:blipFill>
          <a:blip r:embed="rId1"/>
          <a:stretch>
            <a:fillRect/>
          </a:stretch>
        </p:blipFill>
        <p:spPr>
          <a:xfrm>
            <a:off x="640080" y="2251169"/>
            <a:ext cx="6675120" cy="2995742"/>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98080" y="1783080"/>
          <a:ext cx="4050792" cy="914400"/>
        </p:xfrm>
        <a:graphic>
          <a:graphicData uri="http://schemas.openxmlformats.org/drawingml/2006/table">
            <a:tbl>
              <a:tblPr/>
              <a:tblGrid>
                <a:gridCol w="1417320"/>
                <a:gridCol w="1463040"/>
                <a:gridCol w="1170432"/>
              </a:tblGrid>
              <a:tr h="51206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Relation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Symbole</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Association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trait ——&gt;</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a un lien avec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Composition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losange plein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meurt avec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Agrégation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losange vide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survit sans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Héritage</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triangle vide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est un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Réalisation</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pointillé +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implémente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12064">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Dépendance</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pointillé - - &gt;</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00" dirty="0">
                          <a:solidFill>
                            <a:srgbClr val="16181D"/>
                          </a:solidFill>
                          <a:latin typeface="Calibri" pitchFamily="34" charset="0"/>
                          <a:ea typeface="Calibri" pitchFamily="34" charset="-122"/>
                          <a:cs typeface="Calibri" pitchFamily="34" charset="-120"/>
                        </a:rPr>
                        <a:t>utilise ?</a:t>
                      </a:r>
                      <a:endParaRPr lang="en-US" sz="13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bl>
          </a:graphicData>
        </a:graphic>
      </p:graphicFrame>
      <p:sp>
        <p:nvSpPr>
          <p:cNvPr id="10" name="Text 5"/>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OMG, UML 2.5.1, chapitres 7, 9 et 11. Diagramme généré avec PlantUML.</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UML · INCIDENTHUB</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 modèle d'IncidentHub après la séance 2</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26</a:t>
            </a:r>
            <a:endParaRPr lang="en-US" sz="1000" dirty="0"/>
          </a:p>
        </p:txBody>
      </p:sp>
      <p:pic>
        <p:nvPicPr>
          <p:cNvPr id="8" name="Image 0" descr="s2diag/modele-s2.png">    </p:cNvPr>
          <p:cNvPicPr>
            <a:picLocks noChangeAspect="1"/>
          </p:cNvPicPr>
          <p:nvPr/>
        </p:nvPicPr>
        <p:blipFill>
          <a:blip r:embed="rId1"/>
          <a:stretch>
            <a:fillRect/>
          </a:stretch>
        </p:blipFill>
        <p:spPr>
          <a:xfrm>
            <a:off x="1580987" y="1645920"/>
            <a:ext cx="5982025" cy="4343400"/>
          </a:xfrm>
          <a:prstGeom prst="rect">
            <a:avLst/>
          </a:prstGeom>
        </p:spPr>
      </p:pic>
      <p:sp>
        <p:nvSpPr>
          <p:cNvPr id="9" name="Shape 5"/>
          <p:cNvSpPr/>
          <p:nvPr/>
        </p:nvSpPr>
        <p:spPr>
          <a:xfrm>
            <a:off x="8686800" y="1783080"/>
            <a:ext cx="2834640" cy="4023360"/>
          </a:xfrm>
          <a:prstGeom prst="roundRect">
            <a:avLst>
              <a:gd name="adj" fmla="val 2581"/>
            </a:avLst>
          </a:prstGeom>
          <a:solidFill>
            <a:srgbClr val="F2F3F5"/>
          </a:solidFill>
          <a:ln w="12700">
            <a:solidFill>
              <a:srgbClr val="F2F3F5"/>
            </a:solidFill>
            <a:prstDash val="solid"/>
          </a:ln>
        </p:spPr>
      </p:sp>
      <p:sp>
        <p:nvSpPr>
          <p:cNvPr id="10" name="Text 6"/>
          <p:cNvSpPr txBox="1"/>
          <p:nvPr/>
        </p:nvSpPr>
        <p:spPr>
          <a:xfrm>
            <a:off x="8869680" y="1965960"/>
            <a:ext cx="2514600" cy="3657600"/>
          </a:xfrm>
          <a:prstGeom prst="rect">
            <a:avLst/>
          </a:prstGeom>
          <a:noFill/>
          <a:ln/>
        </p:spPr>
        <p:txBody>
          <a:bodyPr wrap="square" lIns="0" tIns="0" rIns="0" bIns="0" rtlCol="0" anchor="t"/>
          <a:lstStyle/>
          <a:p>
            <a:pPr indent="0" marL="0">
              <a:buNone/>
            </a:pPr>
            <a:r>
              <a:rPr lang="en-US" sz="1700" b="1" dirty="0">
                <a:solidFill>
                  <a:srgbClr val="E8590C"/>
                </a:solidFill>
                <a:latin typeface="Calibri" pitchFamily="34" charset="0"/>
                <a:ea typeface="Calibri" pitchFamily="34" charset="-122"/>
                <a:cs typeface="Calibri" pitchFamily="34" charset="-120"/>
              </a:rPr>
              <a:t>Ce qu'on lit</a:t>
            </a:r>
            <a:endParaRPr lang="en-US" sz="1700" dirty="0"/>
          </a:p>
          <a:p>
            <a:pPr indent="0" marL="0">
              <a:buNone/>
            </a:pPr>
            <a:r>
              <a:rPr lang="en-US" sz="1500" dirty="0">
                <a:solidFill>
                  <a:srgbClr val="16181D"/>
                </a:solidFill>
                <a:latin typeface="Calibri" pitchFamily="34" charset="0"/>
                <a:ea typeface="Calibri" pitchFamily="34" charset="-122"/>
                <a:cs typeface="Calibri" pitchFamily="34" charset="-120"/>
              </a:rPr>
              <a:t>User abstraite (italique)
3 rôles par héritage
1 interface, 1 réalisation
Composition avec Comment
Multiplicités partout
1 règle OCL (pre)
</a:t>
            </a:r>
            <a:endParaRPr lang="en-US" sz="1700" dirty="0"/>
          </a:p>
          <a:p>
            <a:pPr indent="0" marL="0">
              <a:buNone/>
            </a:pPr>
            <a:endParaRPr lang="en-US" sz="1700" dirty="0"/>
          </a:p>
          <a:p>
            <a:pPr indent="0" marL="0">
              <a:buNone/>
            </a:pPr>
            <a:r>
              <a:rPr lang="en-US" sz="1500" b="1" dirty="0">
                <a:solidFill>
                  <a:srgbClr val="16181D"/>
                </a:solidFill>
                <a:latin typeface="Calibri" pitchFamily="34" charset="0"/>
                <a:ea typeface="Calibri" pitchFamily="34" charset="-122"/>
                <a:cs typeface="Calibri" pitchFamily="34" charset="-120"/>
              </a:rPr>
              <a:t>C'est le modèle du Livrable 1.</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UML · CAS D'UTILISATION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Qui fait quoi avec IncidentHub ?</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27</a:t>
            </a:r>
            <a:endParaRPr lang="en-US" sz="1000" dirty="0"/>
          </a:p>
        </p:txBody>
      </p:sp>
      <p:pic>
        <p:nvPicPr>
          <p:cNvPr id="8" name="Image 0" descr="diag/usecase.png">    </p:cNvPr>
          <p:cNvPicPr>
            <a:picLocks noChangeAspect="1"/>
          </p:cNvPicPr>
          <p:nvPr/>
        </p:nvPicPr>
        <p:blipFill>
          <a:blip r:embed="rId1"/>
          <a:stretch>
            <a:fillRect/>
          </a:stretch>
        </p:blipFill>
        <p:spPr>
          <a:xfrm>
            <a:off x="640080" y="1839243"/>
            <a:ext cx="7498080" cy="3270954"/>
          </a:xfrm>
          <a:prstGeom prst="rect">
            <a:avLst/>
          </a:prstGeom>
        </p:spPr>
      </p:pic>
      <p:sp>
        <p:nvSpPr>
          <p:cNvPr id="9" name="Shape 5"/>
          <p:cNvSpPr/>
          <p:nvPr/>
        </p:nvSpPr>
        <p:spPr>
          <a:xfrm>
            <a:off x="8321040" y="1783080"/>
            <a:ext cx="3200400" cy="3474720"/>
          </a:xfrm>
          <a:prstGeom prst="roundRect">
            <a:avLst>
              <a:gd name="adj" fmla="val 2286"/>
            </a:avLst>
          </a:prstGeom>
          <a:solidFill>
            <a:srgbClr val="16181D"/>
          </a:solidFill>
          <a:ln w="12700">
            <a:solidFill>
              <a:srgbClr val="16181D"/>
            </a:solidFill>
            <a:prstDash val="solid"/>
          </a:ln>
        </p:spPr>
      </p:sp>
      <p:sp>
        <p:nvSpPr>
          <p:cNvPr id="10" name="Text 6"/>
          <p:cNvSpPr txBox="1"/>
          <p:nvPr/>
        </p:nvSpPr>
        <p:spPr>
          <a:xfrm>
            <a:off x="8549640" y="1965960"/>
            <a:ext cx="2743200" cy="3108960"/>
          </a:xfrm>
          <a:prstGeom prst="rect">
            <a:avLst/>
          </a:prstGeom>
          <a:noFill/>
          <a:ln/>
        </p:spPr>
        <p:txBody>
          <a:bodyPr wrap="square" lIns="0" tIns="0" rIns="0" bIns="0" rtlCol="0" anchor="t"/>
          <a:lstStyle/>
          <a:p>
            <a:pPr indent="0" marL="0">
              <a:buNone/>
            </a:pPr>
            <a:r>
              <a:rPr lang="en-US" sz="1700" b="1" dirty="0">
                <a:solidFill>
                  <a:srgbClr val="E8590C"/>
                </a:solidFill>
                <a:latin typeface="Calibri" pitchFamily="34" charset="0"/>
                <a:ea typeface="Calibri" pitchFamily="34" charset="-122"/>
                <a:cs typeface="Calibri" pitchFamily="34" charset="-120"/>
              </a:rPr>
              <a:t>«include»</a:t>
            </a:r>
            <a:endParaRPr lang="en-US" sz="1700" dirty="0"/>
          </a:p>
          <a:p>
            <a:pPr indent="0" marL="0">
              <a:buNone/>
            </a:pPr>
            <a:r>
              <a:rPr lang="en-US" sz="1500" dirty="0">
                <a:solidFill>
                  <a:srgbClr val="FFFFFF"/>
                </a:solidFill>
                <a:latin typeface="Calibri" pitchFamily="34" charset="0"/>
                <a:ea typeface="Calibri" pitchFamily="34" charset="-122"/>
                <a:cs typeface="Calibri" pitchFamily="34" charset="-120"/>
              </a:rPr>
              <a:t>toujours inclus : signaler suppose de s'authentifier
</a:t>
            </a:r>
            <a:endParaRPr lang="en-US" sz="1700" dirty="0"/>
          </a:p>
          <a:p>
            <a:pPr indent="0" marL="0">
              <a:buNone/>
            </a:pPr>
            <a:r>
              <a:rPr lang="en-US" sz="1700" b="1" dirty="0">
                <a:solidFill>
                  <a:srgbClr val="E8590C"/>
                </a:solidFill>
                <a:latin typeface="Calibri" pitchFamily="34" charset="0"/>
                <a:ea typeface="Calibri" pitchFamily="34" charset="-122"/>
                <a:cs typeface="Calibri" pitchFamily="34" charset="-120"/>
              </a:rPr>
              <a:t>«extend»</a:t>
            </a:r>
            <a:endParaRPr lang="en-US" sz="1700" dirty="0"/>
          </a:p>
          <a:p>
            <a:pPr indent="0" marL="0">
              <a:buNone/>
            </a:pPr>
            <a:r>
              <a:rPr lang="en-US" sz="1500" dirty="0">
                <a:solidFill>
                  <a:srgbClr val="FFFFFF"/>
                </a:solidFill>
                <a:latin typeface="Calibri" pitchFamily="34" charset="0"/>
                <a:ea typeface="Calibri" pitchFamily="34" charset="-122"/>
                <a:cs typeface="Calibri" pitchFamily="34" charset="-120"/>
              </a:rPr>
              <a:t>possible en plus : on peut joindre une preuve</a:t>
            </a:r>
            <a:endParaRPr lang="en-US" sz="1700" dirty="0"/>
          </a:p>
        </p:txBody>
      </p:sp>
      <p:sp>
        <p:nvSpPr>
          <p:cNvPr id="11" name="Text 7"/>
          <p:cNvSpPr txBox="1"/>
          <p:nvPr/>
        </p:nvSpPr>
        <p:spPr>
          <a:xfrm>
            <a:off x="640080" y="5486400"/>
            <a:ext cx="10911535" cy="411480"/>
          </a:xfrm>
          <a:prstGeom prst="rect">
            <a:avLst/>
          </a:prstGeom>
          <a:noFill/>
          <a:ln/>
        </p:spPr>
        <p:txBody>
          <a:bodyPr wrap="square" lIns="0" tIns="0" rIns="0" bIns="0" rtlCol="0" anchor="ctr"/>
          <a:lstStyle/>
          <a:p>
            <a:pPr indent="0" marL="0">
              <a:buNone/>
            </a:pPr>
            <a:r>
              <a:rPr lang="en-US" sz="1600" b="1" dirty="0">
                <a:solidFill>
                  <a:srgbClr val="16181D"/>
                </a:solidFill>
                <a:latin typeface="Calibri" pitchFamily="34" charset="0"/>
                <a:ea typeface="Calibri" pitchFamily="34" charset="-122"/>
                <a:cs typeface="Calibri" pitchFamily="34" charset="-120"/>
              </a:rPr>
              <a:t>Souvent le premier dessin avec un client : il fixe le périmètre avant tout code.</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UML · ACTIVITÉS</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 diagramme d'activités : le déroulement pas à pas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28</a:t>
            </a:r>
            <a:endParaRPr lang="en-US" sz="1000" dirty="0"/>
          </a:p>
        </p:txBody>
      </p:sp>
      <p:pic>
        <p:nvPicPr>
          <p:cNvPr id="8" name="Image 0" descr="s2diag/activite.png">    </p:cNvPr>
          <p:cNvPicPr>
            <a:picLocks noChangeAspect="1"/>
          </p:cNvPicPr>
          <p:nvPr/>
        </p:nvPicPr>
        <p:blipFill>
          <a:blip r:embed="rId1"/>
          <a:stretch>
            <a:fillRect/>
          </a:stretch>
        </p:blipFill>
        <p:spPr>
          <a:xfrm>
            <a:off x="894276" y="1645920"/>
            <a:ext cx="6166729" cy="4343400"/>
          </a:xfrm>
          <a:prstGeom prst="rect">
            <a:avLst/>
          </a:prstGeom>
        </p:spPr>
      </p:pic>
      <p:sp>
        <p:nvSpPr>
          <p:cNvPr id="9" name="Shape 5"/>
          <p:cNvSpPr/>
          <p:nvPr/>
        </p:nvSpPr>
        <p:spPr>
          <a:xfrm>
            <a:off x="7589520" y="1737360"/>
            <a:ext cx="3931920" cy="2788920"/>
          </a:xfrm>
          <a:prstGeom prst="roundRect">
            <a:avLst>
              <a:gd name="adj" fmla="val 2623"/>
            </a:avLst>
          </a:prstGeom>
          <a:solidFill>
            <a:srgbClr val="F2F3F5"/>
          </a:solidFill>
          <a:ln w="12700">
            <a:solidFill>
              <a:srgbClr val="F2F3F5"/>
            </a:solidFill>
            <a:prstDash val="solid"/>
          </a:ln>
        </p:spPr>
      </p:sp>
      <p:sp>
        <p:nvSpPr>
          <p:cNvPr id="10" name="Text 6"/>
          <p:cNvSpPr txBox="1"/>
          <p:nvPr/>
        </p:nvSpPr>
        <p:spPr>
          <a:xfrm>
            <a:off x="7772400" y="1874520"/>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a:t>
            </a:r>
            <a:endParaRPr lang="en-US" sz="1600" dirty="0"/>
          </a:p>
        </p:txBody>
      </p:sp>
      <p:sp>
        <p:nvSpPr>
          <p:cNvPr id="11" name="Text 7"/>
          <p:cNvSpPr txBox="1"/>
          <p:nvPr/>
        </p:nvSpPr>
        <p:spPr>
          <a:xfrm>
            <a:off x="8366760" y="1874520"/>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début</a:t>
            </a:r>
            <a:endParaRPr lang="en-US" sz="1400" dirty="0"/>
          </a:p>
        </p:txBody>
      </p:sp>
      <p:sp>
        <p:nvSpPr>
          <p:cNvPr id="12" name="Text 8"/>
          <p:cNvSpPr txBox="1"/>
          <p:nvPr/>
        </p:nvSpPr>
        <p:spPr>
          <a:xfrm>
            <a:off x="7772400" y="2304288"/>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a:t>
            </a:r>
            <a:endParaRPr lang="en-US" sz="1600" dirty="0"/>
          </a:p>
        </p:txBody>
      </p:sp>
      <p:sp>
        <p:nvSpPr>
          <p:cNvPr id="13" name="Text 9"/>
          <p:cNvSpPr txBox="1"/>
          <p:nvPr/>
        </p:nvSpPr>
        <p:spPr>
          <a:xfrm>
            <a:off x="8366760" y="2304288"/>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action (rectangle arrondi)</a:t>
            </a:r>
            <a:endParaRPr lang="en-US" sz="1400" dirty="0"/>
          </a:p>
        </p:txBody>
      </p:sp>
      <p:sp>
        <p:nvSpPr>
          <p:cNvPr id="14" name="Text 10"/>
          <p:cNvSpPr txBox="1"/>
          <p:nvPr/>
        </p:nvSpPr>
        <p:spPr>
          <a:xfrm>
            <a:off x="7772400" y="2734056"/>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a:t>
            </a:r>
            <a:endParaRPr lang="en-US" sz="1600" dirty="0"/>
          </a:p>
        </p:txBody>
      </p:sp>
      <p:sp>
        <p:nvSpPr>
          <p:cNvPr id="15" name="Text 11"/>
          <p:cNvSpPr txBox="1"/>
          <p:nvPr/>
        </p:nvSpPr>
        <p:spPr>
          <a:xfrm>
            <a:off x="8366760" y="2734056"/>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décision, ou fusion des chemins</a:t>
            </a:r>
            <a:endParaRPr lang="en-US" sz="1400" dirty="0"/>
          </a:p>
        </p:txBody>
      </p:sp>
      <p:sp>
        <p:nvSpPr>
          <p:cNvPr id="16" name="Text 12"/>
          <p:cNvSpPr txBox="1"/>
          <p:nvPr/>
        </p:nvSpPr>
        <p:spPr>
          <a:xfrm>
            <a:off x="7772400" y="3163824"/>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a:t>
            </a:r>
            <a:endParaRPr lang="en-US" sz="1600" dirty="0"/>
          </a:p>
        </p:txBody>
      </p:sp>
      <p:sp>
        <p:nvSpPr>
          <p:cNvPr id="17" name="Text 13"/>
          <p:cNvSpPr txBox="1"/>
          <p:nvPr/>
        </p:nvSpPr>
        <p:spPr>
          <a:xfrm>
            <a:off x="8366760" y="3163824"/>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barre épaisse : en parallèle</a:t>
            </a:r>
            <a:endParaRPr lang="en-US" sz="1400" dirty="0"/>
          </a:p>
        </p:txBody>
      </p:sp>
      <p:sp>
        <p:nvSpPr>
          <p:cNvPr id="18" name="Text 14"/>
          <p:cNvSpPr txBox="1"/>
          <p:nvPr/>
        </p:nvSpPr>
        <p:spPr>
          <a:xfrm>
            <a:off x="7772400" y="3593592"/>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a:t>
            </a:r>
            <a:endParaRPr lang="en-US" sz="1600" dirty="0"/>
          </a:p>
        </p:txBody>
      </p:sp>
      <p:sp>
        <p:nvSpPr>
          <p:cNvPr id="19" name="Text 15"/>
          <p:cNvSpPr txBox="1"/>
          <p:nvPr/>
        </p:nvSpPr>
        <p:spPr>
          <a:xfrm>
            <a:off x="8366760" y="3593592"/>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fin</a:t>
            </a:r>
            <a:endParaRPr lang="en-US" sz="1400" dirty="0"/>
          </a:p>
        </p:txBody>
      </p:sp>
      <p:sp>
        <p:nvSpPr>
          <p:cNvPr id="20" name="Text 16"/>
          <p:cNvSpPr txBox="1"/>
          <p:nvPr/>
        </p:nvSpPr>
        <p:spPr>
          <a:xfrm>
            <a:off x="7772400" y="4023360"/>
            <a:ext cx="548640" cy="384048"/>
          </a:xfrm>
          <a:prstGeom prst="rect">
            <a:avLst/>
          </a:prstGeom>
          <a:noFill/>
          <a:ln/>
        </p:spPr>
        <p:txBody>
          <a:bodyPr wrap="square" lIns="0" tIns="0" rIns="0" bIns="0" rtlCol="0" anchor="ctr"/>
          <a:lstStyle/>
          <a:p>
            <a:pPr algn="ctr" indent="0" marL="0">
              <a:buNone/>
            </a:pPr>
            <a:r>
              <a:rPr lang="en-US" sz="1600" b="1" dirty="0">
                <a:solidFill>
                  <a:srgbClr val="E8590C"/>
                </a:solidFill>
                <a:latin typeface="Arial" pitchFamily="34" charset="0"/>
                <a:ea typeface="Arial" pitchFamily="34" charset="-122"/>
                <a:cs typeface="Arial" pitchFamily="34" charset="-120"/>
              </a:rPr>
              <a:t>| |</a:t>
            </a:r>
            <a:endParaRPr lang="en-US" sz="1600" dirty="0"/>
          </a:p>
        </p:txBody>
      </p:sp>
      <p:sp>
        <p:nvSpPr>
          <p:cNvPr id="21" name="Text 17"/>
          <p:cNvSpPr txBox="1"/>
          <p:nvPr/>
        </p:nvSpPr>
        <p:spPr>
          <a:xfrm>
            <a:off x="8366760" y="4023360"/>
            <a:ext cx="3063240" cy="384048"/>
          </a:xfrm>
          <a:prstGeom prst="rect">
            <a:avLst/>
          </a:prstGeom>
          <a:noFill/>
          <a:ln/>
        </p:spPr>
        <p:txBody>
          <a:bodyPr wrap="square" lIns="0" tIns="0" rIns="0" bIns="0" rtlCol="0" anchor="ctr"/>
          <a:lstStyle/>
          <a:p>
            <a:pPr indent="0" marL="0">
              <a:buNone/>
            </a:pPr>
            <a:r>
              <a:rPr lang="en-US" sz="1400" dirty="0">
                <a:solidFill>
                  <a:srgbClr val="16181D"/>
                </a:solidFill>
                <a:latin typeface="Calibri" pitchFamily="34" charset="0"/>
                <a:ea typeface="Calibri" pitchFamily="34" charset="-122"/>
                <a:cs typeface="Calibri" pitchFamily="34" charset="-120"/>
              </a:rPr>
              <a:t>couloirs : qui fait quoi</a:t>
            </a:r>
            <a:endParaRPr lang="en-US" sz="1400" dirty="0"/>
          </a:p>
        </p:txBody>
      </p:sp>
      <p:sp>
        <p:nvSpPr>
          <p:cNvPr id="22" name="Shape 18"/>
          <p:cNvSpPr/>
          <p:nvPr/>
        </p:nvSpPr>
        <p:spPr>
          <a:xfrm>
            <a:off x="7589520" y="4663440"/>
            <a:ext cx="3931920" cy="1280160"/>
          </a:xfrm>
          <a:prstGeom prst="roundRect">
            <a:avLst>
              <a:gd name="adj" fmla="val 5714"/>
            </a:avLst>
          </a:prstGeom>
          <a:solidFill>
            <a:srgbClr val="16181D"/>
          </a:solidFill>
          <a:ln w="12700">
            <a:solidFill>
              <a:srgbClr val="16181D"/>
            </a:solidFill>
            <a:prstDash val="solid"/>
          </a:ln>
        </p:spPr>
      </p:sp>
      <p:sp>
        <p:nvSpPr>
          <p:cNvPr id="23" name="Text 19"/>
          <p:cNvSpPr txBox="1"/>
          <p:nvPr/>
        </p:nvSpPr>
        <p:spPr>
          <a:xfrm>
            <a:off x="7772400" y="4709160"/>
            <a:ext cx="3611880" cy="1188720"/>
          </a:xfrm>
          <a:prstGeom prst="rect">
            <a:avLst/>
          </a:prstGeom>
          <a:noFill/>
          <a:ln/>
        </p:spPr>
        <p:txBody>
          <a:bodyPr wrap="square" lIns="0" tIns="0" rIns="0" bIns="0" rtlCol="0" anchor="ctr"/>
          <a:lstStyle/>
          <a:p>
            <a:pPr indent="0" marL="0">
              <a:buNone/>
            </a:pPr>
            <a:r>
              <a:rPr lang="en-US" sz="1350" b="1" dirty="0">
                <a:solidFill>
                  <a:srgbClr val="E8590C"/>
                </a:solidFill>
                <a:latin typeface="Calibri" pitchFamily="34" charset="0"/>
                <a:ea typeface="Calibri" pitchFamily="34" charset="-122"/>
                <a:cs typeface="Calibri" pitchFamily="34" charset="-120"/>
              </a:rPr>
              <a:t>Activités ou BPMN ?  </a:t>
            </a:r>
            <a:pPr indent="0" marL="0">
              <a:buNone/>
            </a:pPr>
            <a:r>
              <a:rPr lang="en-US" sz="1350" dirty="0">
                <a:solidFill>
                  <a:srgbClr val="FFFFFF"/>
                </a:solidFill>
                <a:latin typeface="Calibri" pitchFamily="34" charset="0"/>
                <a:ea typeface="Calibri" pitchFamily="34" charset="-122"/>
                <a:cs typeface="Calibri" pitchFamily="34" charset="-120"/>
              </a:rPr>
              <a:t>Même idée. Activités pour l'équipe de développement, BPMN pour le métier et les moteurs de workflow.</a:t>
            </a:r>
            <a:endParaRPr lang="en-US" sz="1350" dirty="0"/>
          </a:p>
        </p:txBody>
      </p:sp>
      <p:sp>
        <p:nvSpPr>
          <p:cNvPr id="24" name="Text 20"/>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OMG, UML 2.5.1, chapitres 15-16 (Activities). Diagramme généré avec PlantUML.</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06</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L'IA dessine le modèle</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Qu'est-ce qui est faux ?</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PROMPT</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La demande naïve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30</a:t>
            </a:r>
            <a:endParaRPr lang="en-US" sz="1000" dirty="0"/>
          </a:p>
        </p:txBody>
      </p:sp>
      <p:sp>
        <p:nvSpPr>
          <p:cNvPr id="8" name="Shape 5"/>
          <p:cNvSpPr/>
          <p:nvPr/>
        </p:nvSpPr>
        <p:spPr>
          <a:xfrm>
            <a:off x="640080" y="1828800"/>
            <a:ext cx="10911535" cy="1645920"/>
          </a:xfrm>
          <a:prstGeom prst="roundRect">
            <a:avLst>
              <a:gd name="adj" fmla="val 4444"/>
            </a:avLst>
          </a:prstGeom>
          <a:solidFill>
            <a:srgbClr val="16181D"/>
          </a:solidFill>
          <a:ln w="12700">
            <a:solidFill>
              <a:srgbClr val="16181D"/>
            </a:solidFill>
            <a:prstDash val="solid"/>
          </a:ln>
        </p:spPr>
      </p:sp>
      <p:sp>
        <p:nvSpPr>
          <p:cNvPr id="9" name="Text 6"/>
          <p:cNvSpPr txBox="1"/>
          <p:nvPr/>
        </p:nvSpPr>
        <p:spPr>
          <a:xfrm>
            <a:off x="1097280" y="1828800"/>
            <a:ext cx="9997135" cy="1645920"/>
          </a:xfrm>
          <a:prstGeom prst="rect">
            <a:avLst/>
          </a:prstGeom>
          <a:noFill/>
          <a:ln/>
        </p:spPr>
        <p:txBody>
          <a:bodyPr wrap="square" lIns="0" tIns="0" rIns="0" bIns="0" rtlCol="0" anchor="ctr"/>
          <a:lstStyle/>
          <a:p>
            <a:pPr indent="0" marL="0">
              <a:buNone/>
            </a:pPr>
            <a:r>
              <a:rPr lang="en-US" sz="1900" dirty="0">
                <a:solidFill>
                  <a:srgbClr val="FFFFFF"/>
                </a:solidFill>
                <a:latin typeface="Consolas" pitchFamily="34" charset="0"/>
                <a:ea typeface="Consolas" pitchFamily="34" charset="-122"/>
                <a:cs typeface="Consolas" pitchFamily="34" charset="-120"/>
              </a:rPr>
              <a:t>Génère un diagramme de classes Mermaid pour IncidentHub, une application de signalement d'incidents cyber, avec des déclarants, des analystes, des responsables et des commentaires.</a:t>
            </a:r>
            <a:endParaRPr lang="en-US" sz="1900" dirty="0"/>
          </a:p>
        </p:txBody>
      </p:sp>
      <p:sp>
        <p:nvSpPr>
          <p:cNvPr id="10" name="Text 7"/>
          <p:cNvSpPr txBox="1"/>
          <p:nvPr/>
        </p:nvSpPr>
        <p:spPr>
          <a:xfrm>
            <a:off x="640080" y="3931920"/>
            <a:ext cx="10911535" cy="457200"/>
          </a:xfrm>
          <a:prstGeom prst="rect">
            <a:avLst/>
          </a:prstGeom>
          <a:noFill/>
          <a:ln/>
        </p:spPr>
        <p:txBody>
          <a:bodyPr wrap="square" lIns="0" tIns="0" rIns="0" bIns="0" rtlCol="0" anchor="ctr"/>
          <a:lstStyle/>
          <a:p>
            <a:pPr indent="0" marL="0">
              <a:buNone/>
            </a:pPr>
            <a:r>
              <a:rPr lang="en-US" sz="1600" b="1" dirty="0">
                <a:solidFill>
                  <a:srgbClr val="E8590C"/>
                </a:solidFill>
                <a:latin typeface="Consolas" pitchFamily="34" charset="0"/>
                <a:ea typeface="Consolas" pitchFamily="34" charset="-122"/>
                <a:cs typeface="Consolas" pitchFamily="34" charset="-120"/>
              </a:rPr>
              <a:t>RIDER  ·  git checkout demo/s02-ia-diagramme  ·  docs/modele-genere-par-ia.md</a:t>
            </a:r>
            <a:endParaRPr lang="en-US" sz="1600" dirty="0"/>
          </a:p>
        </p:txBody>
      </p:sp>
      <p:sp>
        <p:nvSpPr>
          <p:cNvPr id="11" name="Text 8"/>
          <p:cNvSpPr txBox="1"/>
          <p:nvPr/>
        </p:nvSpPr>
        <p:spPr>
          <a:xfrm>
            <a:off x="640080" y="4663440"/>
            <a:ext cx="10911535" cy="457200"/>
          </a:xfrm>
          <a:prstGeom prst="rect">
            <a:avLst/>
          </a:prstGeom>
          <a:noFill/>
          <a:ln/>
        </p:spPr>
        <p:txBody>
          <a:bodyPr wrap="square" lIns="0" tIns="0" rIns="0" bIns="0" rtlCol="0" anchor="ctr"/>
          <a:lstStyle/>
          <a:p>
            <a:pPr indent="0" marL="0">
              <a:buNone/>
            </a:pPr>
            <a:r>
              <a:rPr lang="en-US" sz="1800" i="1" dirty="0">
                <a:solidFill>
                  <a:srgbClr val="5F6670"/>
                </a:solidFill>
                <a:latin typeface="Calibri" pitchFamily="34" charset="0"/>
                <a:ea typeface="Calibri" pitchFamily="34" charset="-122"/>
                <a:cs typeface="Calibri" pitchFamily="34" charset="-120"/>
              </a:rPr>
              <a:t>Indice : appliquez le test du « est un », et regardez les symboles + et -.</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PARTICIPATION · 3 MINUTES</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Combien de problèmes voyez-vous ?</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31</a:t>
            </a:r>
            <a:endParaRPr lang="en-US" sz="1000" dirty="0"/>
          </a:p>
        </p:txBody>
      </p:sp>
      <p:sp>
        <p:nvSpPr>
          <p:cNvPr id="8" name="Shape 5"/>
          <p:cNvSpPr/>
          <p:nvPr/>
        </p:nvSpPr>
        <p:spPr>
          <a:xfrm>
            <a:off x="640080" y="2103120"/>
            <a:ext cx="3474720" cy="2194560"/>
          </a:xfrm>
          <a:prstGeom prst="roundRect">
            <a:avLst>
              <a:gd name="adj" fmla="val 3333"/>
            </a:avLst>
          </a:prstGeom>
          <a:solidFill>
            <a:srgbClr val="F2F3F5"/>
          </a:solidFill>
          <a:ln w="12700">
            <a:solidFill>
              <a:srgbClr val="F2F3F5"/>
            </a:solidFill>
            <a:prstDash val="solid"/>
          </a:ln>
        </p:spPr>
      </p:sp>
      <p:sp>
        <p:nvSpPr>
          <p:cNvPr id="9" name="Text 6"/>
          <p:cNvSpPr txBox="1"/>
          <p:nvPr/>
        </p:nvSpPr>
        <p:spPr>
          <a:xfrm>
            <a:off x="640080" y="2286000"/>
            <a:ext cx="3474720"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10" name="Text 7"/>
          <p:cNvSpPr txBox="1"/>
          <p:nvPr/>
        </p:nvSpPr>
        <p:spPr>
          <a:xfrm>
            <a:off x="640080" y="3383280"/>
            <a:ext cx="3474720" cy="640080"/>
          </a:xfrm>
          <a:prstGeom prst="rect">
            <a:avLst/>
          </a:prstGeom>
          <a:noFill/>
          <a:ln/>
        </p:spPr>
        <p:txBody>
          <a:bodyPr wrap="square" lIns="0" tIns="0" rIns="0" bIns="0" rtlCol="0" anchor="ctr"/>
          <a:lstStyle/>
          <a:p>
            <a:pPr algn="ctr" indent="0" marL="0">
              <a:buNone/>
            </a:pPr>
            <a:r>
              <a:rPr lang="en-US" sz="2400" b="1" dirty="0">
                <a:solidFill>
                  <a:srgbClr val="16181D"/>
                </a:solidFill>
                <a:latin typeface="Arial" pitchFamily="34" charset="0"/>
                <a:ea typeface="Arial" pitchFamily="34" charset="-122"/>
                <a:cs typeface="Arial" pitchFamily="34" charset="-120"/>
              </a:rPr>
              <a:t>1 ou 2</a:t>
            </a:r>
            <a:endParaRPr lang="en-US" sz="2400" dirty="0"/>
          </a:p>
        </p:txBody>
      </p:sp>
      <p:sp>
        <p:nvSpPr>
          <p:cNvPr id="11" name="Shape 8"/>
          <p:cNvSpPr/>
          <p:nvPr/>
        </p:nvSpPr>
        <p:spPr>
          <a:xfrm>
            <a:off x="4343400" y="2103120"/>
            <a:ext cx="3474720" cy="2194560"/>
          </a:xfrm>
          <a:prstGeom prst="roundRect">
            <a:avLst>
              <a:gd name="adj" fmla="val 3333"/>
            </a:avLst>
          </a:prstGeom>
          <a:solidFill>
            <a:srgbClr val="F2F3F5"/>
          </a:solidFill>
          <a:ln w="12700">
            <a:solidFill>
              <a:srgbClr val="F2F3F5"/>
            </a:solidFill>
            <a:prstDash val="solid"/>
          </a:ln>
        </p:spPr>
      </p:sp>
      <p:sp>
        <p:nvSpPr>
          <p:cNvPr id="12" name="Text 9"/>
          <p:cNvSpPr txBox="1"/>
          <p:nvPr/>
        </p:nvSpPr>
        <p:spPr>
          <a:xfrm>
            <a:off x="4343400" y="2286000"/>
            <a:ext cx="3474720"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13" name="Text 10"/>
          <p:cNvSpPr txBox="1"/>
          <p:nvPr/>
        </p:nvSpPr>
        <p:spPr>
          <a:xfrm>
            <a:off x="4343400" y="3383280"/>
            <a:ext cx="3474720" cy="640080"/>
          </a:xfrm>
          <a:prstGeom prst="rect">
            <a:avLst/>
          </a:prstGeom>
          <a:noFill/>
          <a:ln/>
        </p:spPr>
        <p:txBody>
          <a:bodyPr wrap="square" lIns="0" tIns="0" rIns="0" bIns="0" rtlCol="0" anchor="ctr"/>
          <a:lstStyle/>
          <a:p>
            <a:pPr algn="ctr" indent="0" marL="0">
              <a:buNone/>
            </a:pPr>
            <a:r>
              <a:rPr lang="en-US" sz="2400" b="1" dirty="0">
                <a:solidFill>
                  <a:srgbClr val="16181D"/>
                </a:solidFill>
                <a:latin typeface="Arial" pitchFamily="34" charset="0"/>
                <a:ea typeface="Arial" pitchFamily="34" charset="-122"/>
                <a:cs typeface="Arial" pitchFamily="34" charset="-120"/>
              </a:rPr>
              <a:t>3 ou 4</a:t>
            </a:r>
            <a:endParaRPr lang="en-US" sz="2400" dirty="0"/>
          </a:p>
        </p:txBody>
      </p:sp>
      <p:sp>
        <p:nvSpPr>
          <p:cNvPr id="14" name="Shape 11"/>
          <p:cNvSpPr/>
          <p:nvPr/>
        </p:nvSpPr>
        <p:spPr>
          <a:xfrm>
            <a:off x="8046720" y="2103120"/>
            <a:ext cx="3474720" cy="2194560"/>
          </a:xfrm>
          <a:prstGeom prst="roundRect">
            <a:avLst>
              <a:gd name="adj" fmla="val 3333"/>
            </a:avLst>
          </a:prstGeom>
          <a:solidFill>
            <a:srgbClr val="F2F3F5"/>
          </a:solidFill>
          <a:ln w="12700">
            <a:solidFill>
              <a:srgbClr val="F2F3F5"/>
            </a:solidFill>
            <a:prstDash val="solid"/>
          </a:ln>
        </p:spPr>
      </p:sp>
      <p:sp>
        <p:nvSpPr>
          <p:cNvPr id="15" name="Text 12"/>
          <p:cNvSpPr txBox="1"/>
          <p:nvPr/>
        </p:nvSpPr>
        <p:spPr>
          <a:xfrm>
            <a:off x="8046720" y="2286000"/>
            <a:ext cx="3474720" cy="1005840"/>
          </a:xfrm>
          <a:prstGeom prst="rect">
            <a:avLst/>
          </a:prstGeom>
          <a:noFill/>
          <a:ln/>
        </p:spPr>
        <p:txBody>
          <a:bodyPr wrap="square" lIns="0" tIns="0" rIns="0" bIns="0" rtlCol="0" anchor="ctr"/>
          <a:lstStyle/>
          <a:p>
            <a:pPr algn="ctr" indent="0" marL="0">
              <a:buNone/>
            </a:pPr>
            <a:r>
              <a:rPr lang="en-US" sz="4800" dirty="0">
                <a:solidFill>
                  <a:srgbClr val="000000"/>
                </a:solidFill>
              </a:rPr>
              <a:t>😮</a:t>
            </a:r>
            <a:endParaRPr lang="en-US" sz="4800" dirty="0"/>
          </a:p>
        </p:txBody>
      </p:sp>
      <p:sp>
        <p:nvSpPr>
          <p:cNvPr id="16" name="Text 13"/>
          <p:cNvSpPr txBox="1"/>
          <p:nvPr/>
        </p:nvSpPr>
        <p:spPr>
          <a:xfrm>
            <a:off x="8046720" y="3383280"/>
            <a:ext cx="3474720" cy="640080"/>
          </a:xfrm>
          <a:prstGeom prst="rect">
            <a:avLst/>
          </a:prstGeom>
          <a:noFill/>
          <a:ln/>
        </p:spPr>
        <p:txBody>
          <a:bodyPr wrap="square" lIns="0" tIns="0" rIns="0" bIns="0" rtlCol="0" anchor="ctr"/>
          <a:lstStyle/>
          <a:p>
            <a:pPr algn="ctr" indent="0" marL="0">
              <a:buNone/>
            </a:pPr>
            <a:r>
              <a:rPr lang="en-US" sz="2400" b="1" dirty="0">
                <a:solidFill>
                  <a:srgbClr val="16181D"/>
                </a:solidFill>
                <a:latin typeface="Arial" pitchFamily="34" charset="0"/>
                <a:ea typeface="Arial" pitchFamily="34" charset="-122"/>
                <a:cs typeface="Arial" pitchFamily="34" charset="-120"/>
              </a:rPr>
              <a:t>5 et plus</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CORRECTION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Ce que l'IA a mal modélisé</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32</a:t>
            </a:r>
            <a:endParaRPr lang="en-US" sz="1000" dirty="0"/>
          </a:p>
        </p:txBody>
      </p:sp>
      <p:sp>
        <p:nvSpPr>
          <p:cNvPr id="8" name="Text 5"/>
          <p:cNvSpPr txBox="1"/>
          <p:nvPr/>
        </p:nvSpPr>
        <p:spPr>
          <a:xfrm>
            <a:off x="640080" y="1783080"/>
            <a:ext cx="548640" cy="640080"/>
          </a:xfrm>
          <a:prstGeom prst="rect">
            <a:avLst/>
          </a:prstGeom>
          <a:noFill/>
          <a:ln/>
        </p:spPr>
        <p:txBody>
          <a:bodyPr wrap="square" lIns="0" tIns="0" rIns="0" bIns="0" rtlCol="0" anchor="ctr"/>
          <a:lstStyle/>
          <a:p>
            <a:pPr indent="0" marL="0">
              <a:buNone/>
            </a:pPr>
            <a:r>
              <a:rPr lang="en-US" sz="2400" b="1" dirty="0">
                <a:solidFill>
                  <a:srgbClr val="E8590C"/>
                </a:solidFill>
                <a:latin typeface="Arial" pitchFamily="34" charset="0"/>
                <a:ea typeface="Arial" pitchFamily="34" charset="-122"/>
                <a:cs typeface="Arial" pitchFamily="34" charset="-120"/>
              </a:rPr>
              <a:t>1</a:t>
            </a:r>
            <a:endParaRPr lang="en-US" sz="2400" dirty="0"/>
          </a:p>
        </p:txBody>
      </p:sp>
      <p:sp>
        <p:nvSpPr>
          <p:cNvPr id="9" name="Text 6"/>
          <p:cNvSpPr txBox="1"/>
          <p:nvPr/>
        </p:nvSpPr>
        <p:spPr>
          <a:xfrm>
            <a:off x="1280160" y="1783080"/>
            <a:ext cx="5120640" cy="64008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Manager hérite d'Analyst, qui hérite de Reporter</a:t>
            </a:r>
            <a:endParaRPr lang="en-US" sz="1700" dirty="0"/>
          </a:p>
        </p:txBody>
      </p:sp>
      <p:sp>
        <p:nvSpPr>
          <p:cNvPr id="10" name="Text 7"/>
          <p:cNvSpPr txBox="1"/>
          <p:nvPr/>
        </p:nvSpPr>
        <p:spPr>
          <a:xfrm>
            <a:off x="6583680" y="1783080"/>
            <a:ext cx="4937760" cy="640080"/>
          </a:xfrm>
          <a:prstGeom prst="rect">
            <a:avLst/>
          </a:prstGeom>
          <a:noFill/>
          <a:ln/>
        </p:spPr>
        <p:txBody>
          <a:bodyPr wrap="square" lIns="0" tIns="0" rIns="0" bIns="0" rtlCol="0" anchor="ctr"/>
          <a:lstStyle/>
          <a:p>
            <a:pPr indent="0" marL="0">
              <a:buNone/>
            </a:pPr>
            <a:r>
              <a:rPr lang="en-US" sz="1600" dirty="0">
                <a:solidFill>
                  <a:srgbClr val="5F6670"/>
                </a:solidFill>
                <a:latin typeface="Calibri" pitchFamily="34" charset="0"/>
                <a:ea typeface="Calibri" pitchFamily="34" charset="-122"/>
                <a:cs typeface="Calibri" pitchFamily="34" charset="-120"/>
              </a:rPr>
              <a:t>Test du « est un » : un responsable n'est pas un analyste</a:t>
            </a:r>
            <a:endParaRPr lang="en-US" sz="1600" dirty="0"/>
          </a:p>
        </p:txBody>
      </p:sp>
      <p:sp>
        <p:nvSpPr>
          <p:cNvPr id="11" name="Shape 8"/>
          <p:cNvSpPr/>
          <p:nvPr/>
        </p:nvSpPr>
        <p:spPr>
          <a:xfrm>
            <a:off x="640080" y="2496312"/>
            <a:ext cx="10911535" cy="0"/>
          </a:xfrm>
          <a:prstGeom prst="line">
            <a:avLst/>
          </a:prstGeom>
          <a:noFill/>
          <a:ln w="12700">
            <a:solidFill>
              <a:srgbClr val="D9DCE1"/>
            </a:solidFill>
            <a:prstDash val="solid"/>
          </a:ln>
        </p:spPr>
      </p:sp>
      <p:sp>
        <p:nvSpPr>
          <p:cNvPr id="12" name="Text 9"/>
          <p:cNvSpPr txBox="1"/>
          <p:nvPr/>
        </p:nvSpPr>
        <p:spPr>
          <a:xfrm>
            <a:off x="640080" y="2560320"/>
            <a:ext cx="548640" cy="640080"/>
          </a:xfrm>
          <a:prstGeom prst="rect">
            <a:avLst/>
          </a:prstGeom>
          <a:noFill/>
          <a:ln/>
        </p:spPr>
        <p:txBody>
          <a:bodyPr wrap="square" lIns="0" tIns="0" rIns="0" bIns="0" rtlCol="0" anchor="ctr"/>
          <a:lstStyle/>
          <a:p>
            <a:pPr indent="0" marL="0">
              <a:buNone/>
            </a:pPr>
            <a:r>
              <a:rPr lang="en-US" sz="2400" b="1" dirty="0">
                <a:solidFill>
                  <a:srgbClr val="E8590C"/>
                </a:solidFill>
                <a:latin typeface="Arial" pitchFamily="34" charset="0"/>
                <a:ea typeface="Arial" pitchFamily="34" charset="-122"/>
                <a:cs typeface="Arial" pitchFamily="34" charset="-120"/>
              </a:rPr>
              <a:t>2</a:t>
            </a:r>
            <a:endParaRPr lang="en-US" sz="2400" dirty="0"/>
          </a:p>
        </p:txBody>
      </p:sp>
      <p:sp>
        <p:nvSpPr>
          <p:cNvPr id="13" name="Text 10"/>
          <p:cNvSpPr txBox="1"/>
          <p:nvPr/>
        </p:nvSpPr>
        <p:spPr>
          <a:xfrm>
            <a:off x="1280160" y="2560320"/>
            <a:ext cx="5120640" cy="64008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Comment hérite d'Incident</a:t>
            </a:r>
            <a:endParaRPr lang="en-US" sz="1700" dirty="0"/>
          </a:p>
        </p:txBody>
      </p:sp>
      <p:sp>
        <p:nvSpPr>
          <p:cNvPr id="14" name="Text 11"/>
          <p:cNvSpPr txBox="1"/>
          <p:nvPr/>
        </p:nvSpPr>
        <p:spPr>
          <a:xfrm>
            <a:off x="6583680" y="2560320"/>
            <a:ext cx="4937760" cy="640080"/>
          </a:xfrm>
          <a:prstGeom prst="rect">
            <a:avLst/>
          </a:prstGeom>
          <a:noFill/>
          <a:ln/>
        </p:spPr>
        <p:txBody>
          <a:bodyPr wrap="square" lIns="0" tIns="0" rIns="0" bIns="0" rtlCol="0" anchor="ctr"/>
          <a:lstStyle/>
          <a:p>
            <a:pPr indent="0" marL="0">
              <a:buNone/>
            </a:pPr>
            <a:r>
              <a:rPr lang="en-US" sz="1600" dirty="0">
                <a:solidFill>
                  <a:srgbClr val="5F6670"/>
                </a:solidFill>
                <a:latin typeface="Calibri" pitchFamily="34" charset="0"/>
                <a:ea typeface="Calibri" pitchFamily="34" charset="-122"/>
                <a:cs typeface="Calibri" pitchFamily="34" charset="-120"/>
              </a:rPr>
              <a:t>Un commentaire fait partie d'un incident : composition</a:t>
            </a:r>
            <a:endParaRPr lang="en-US" sz="1600" dirty="0"/>
          </a:p>
        </p:txBody>
      </p:sp>
      <p:sp>
        <p:nvSpPr>
          <p:cNvPr id="15" name="Shape 12"/>
          <p:cNvSpPr/>
          <p:nvPr/>
        </p:nvSpPr>
        <p:spPr>
          <a:xfrm>
            <a:off x="640080" y="3273552"/>
            <a:ext cx="10911535" cy="0"/>
          </a:xfrm>
          <a:prstGeom prst="line">
            <a:avLst/>
          </a:prstGeom>
          <a:noFill/>
          <a:ln w="12700">
            <a:solidFill>
              <a:srgbClr val="D9DCE1"/>
            </a:solidFill>
            <a:prstDash val="solid"/>
          </a:ln>
        </p:spPr>
      </p:sp>
      <p:sp>
        <p:nvSpPr>
          <p:cNvPr id="16" name="Text 13"/>
          <p:cNvSpPr txBox="1"/>
          <p:nvPr/>
        </p:nvSpPr>
        <p:spPr>
          <a:xfrm>
            <a:off x="640080" y="3337560"/>
            <a:ext cx="548640" cy="640080"/>
          </a:xfrm>
          <a:prstGeom prst="rect">
            <a:avLst/>
          </a:prstGeom>
          <a:noFill/>
          <a:ln/>
        </p:spPr>
        <p:txBody>
          <a:bodyPr wrap="square" lIns="0" tIns="0" rIns="0" bIns="0" rtlCol="0" anchor="ctr"/>
          <a:lstStyle/>
          <a:p>
            <a:pPr indent="0" marL="0">
              <a:buNone/>
            </a:pPr>
            <a:r>
              <a:rPr lang="en-US" sz="2400" b="1" dirty="0">
                <a:solidFill>
                  <a:srgbClr val="E8590C"/>
                </a:solidFill>
                <a:latin typeface="Arial" pitchFamily="34" charset="0"/>
                <a:ea typeface="Arial" pitchFamily="34" charset="-122"/>
                <a:cs typeface="Arial" pitchFamily="34" charset="-120"/>
              </a:rPr>
              <a:t>3</a:t>
            </a:r>
            <a:endParaRPr lang="en-US" sz="2400" dirty="0"/>
          </a:p>
        </p:txBody>
      </p:sp>
      <p:sp>
        <p:nvSpPr>
          <p:cNvPr id="17" name="Text 14"/>
          <p:cNvSpPr txBox="1"/>
          <p:nvPr/>
        </p:nvSpPr>
        <p:spPr>
          <a:xfrm>
            <a:off x="1280160" y="3337560"/>
            <a:ext cx="5120640" cy="64008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Tout est public (+)</a:t>
            </a:r>
            <a:endParaRPr lang="en-US" sz="1700" dirty="0"/>
          </a:p>
        </p:txBody>
      </p:sp>
      <p:sp>
        <p:nvSpPr>
          <p:cNvPr id="18" name="Text 15"/>
          <p:cNvSpPr txBox="1"/>
          <p:nvPr/>
        </p:nvSpPr>
        <p:spPr>
          <a:xfrm>
            <a:off x="6583680" y="3337560"/>
            <a:ext cx="4937760" cy="640080"/>
          </a:xfrm>
          <a:prstGeom prst="rect">
            <a:avLst/>
          </a:prstGeom>
          <a:noFill/>
          <a:ln/>
        </p:spPr>
        <p:txBody>
          <a:bodyPr wrap="square" lIns="0" tIns="0" rIns="0" bIns="0" rtlCol="0" anchor="ctr"/>
          <a:lstStyle/>
          <a:p>
            <a:pPr indent="0" marL="0">
              <a:buNone/>
            </a:pPr>
            <a:r>
              <a:rPr lang="en-US" sz="1600" dirty="0">
                <a:solidFill>
                  <a:srgbClr val="5F6670"/>
                </a:solidFill>
                <a:latin typeface="Calibri" pitchFamily="34" charset="0"/>
                <a:ea typeface="Calibri" pitchFamily="34" charset="-122"/>
                <a:cs typeface="Calibri" pitchFamily="34" charset="-120"/>
              </a:rPr>
              <a:t>Encapsulation : le guichet et le coffre</a:t>
            </a:r>
            <a:endParaRPr lang="en-US" sz="1600" dirty="0"/>
          </a:p>
        </p:txBody>
      </p:sp>
      <p:sp>
        <p:nvSpPr>
          <p:cNvPr id="19" name="Shape 16"/>
          <p:cNvSpPr/>
          <p:nvPr/>
        </p:nvSpPr>
        <p:spPr>
          <a:xfrm>
            <a:off x="640080" y="4050792"/>
            <a:ext cx="10911535" cy="0"/>
          </a:xfrm>
          <a:prstGeom prst="line">
            <a:avLst/>
          </a:prstGeom>
          <a:noFill/>
          <a:ln w="12700">
            <a:solidFill>
              <a:srgbClr val="D9DCE1"/>
            </a:solidFill>
            <a:prstDash val="solid"/>
          </a:ln>
        </p:spPr>
      </p:sp>
      <p:sp>
        <p:nvSpPr>
          <p:cNvPr id="20" name="Text 17"/>
          <p:cNvSpPr txBox="1"/>
          <p:nvPr/>
        </p:nvSpPr>
        <p:spPr>
          <a:xfrm>
            <a:off x="640080" y="4114800"/>
            <a:ext cx="548640" cy="640080"/>
          </a:xfrm>
          <a:prstGeom prst="rect">
            <a:avLst/>
          </a:prstGeom>
          <a:noFill/>
          <a:ln/>
        </p:spPr>
        <p:txBody>
          <a:bodyPr wrap="square" lIns="0" tIns="0" rIns="0" bIns="0" rtlCol="0" anchor="ctr"/>
          <a:lstStyle/>
          <a:p>
            <a:pPr indent="0" marL="0">
              <a:buNone/>
            </a:pPr>
            <a:r>
              <a:rPr lang="en-US" sz="2400" b="1" dirty="0">
                <a:solidFill>
                  <a:srgbClr val="E8590C"/>
                </a:solidFill>
                <a:latin typeface="Arial" pitchFamily="34" charset="0"/>
                <a:ea typeface="Arial" pitchFamily="34" charset="-122"/>
                <a:cs typeface="Arial" pitchFamily="34" charset="-120"/>
              </a:rPr>
              <a:t>4</a:t>
            </a:r>
            <a:endParaRPr lang="en-US" sz="2400" dirty="0"/>
          </a:p>
        </p:txBody>
      </p:sp>
      <p:sp>
        <p:nvSpPr>
          <p:cNvPr id="21" name="Text 18"/>
          <p:cNvSpPr txBox="1"/>
          <p:nvPr/>
        </p:nvSpPr>
        <p:spPr>
          <a:xfrm>
            <a:off x="1280160" y="4114800"/>
            <a:ext cx="5120640" cy="64008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Aucune multiplicité</a:t>
            </a:r>
            <a:endParaRPr lang="en-US" sz="1700" dirty="0"/>
          </a:p>
        </p:txBody>
      </p:sp>
      <p:sp>
        <p:nvSpPr>
          <p:cNvPr id="22" name="Text 19"/>
          <p:cNvSpPr txBox="1"/>
          <p:nvPr/>
        </p:nvSpPr>
        <p:spPr>
          <a:xfrm>
            <a:off x="6583680" y="4114800"/>
            <a:ext cx="4937760" cy="640080"/>
          </a:xfrm>
          <a:prstGeom prst="rect">
            <a:avLst/>
          </a:prstGeom>
          <a:noFill/>
          <a:ln/>
        </p:spPr>
        <p:txBody>
          <a:bodyPr wrap="square" lIns="0" tIns="0" rIns="0" bIns="0" rtlCol="0" anchor="ctr"/>
          <a:lstStyle/>
          <a:p>
            <a:pPr indent="0" marL="0">
              <a:buNone/>
            </a:pPr>
            <a:r>
              <a:rPr lang="en-US" sz="1600" dirty="0">
                <a:solidFill>
                  <a:srgbClr val="5F6670"/>
                </a:solidFill>
                <a:latin typeface="Calibri" pitchFamily="34" charset="0"/>
                <a:ea typeface="Calibri" pitchFamily="34" charset="-122"/>
                <a:cs typeface="Calibri" pitchFamily="34" charset="-120"/>
              </a:rPr>
              <a:t>Combien ? Les règles métier disparaissent</a:t>
            </a:r>
            <a:endParaRPr lang="en-US" sz="1600" dirty="0"/>
          </a:p>
        </p:txBody>
      </p:sp>
      <p:sp>
        <p:nvSpPr>
          <p:cNvPr id="23" name="Shape 20"/>
          <p:cNvSpPr/>
          <p:nvPr/>
        </p:nvSpPr>
        <p:spPr>
          <a:xfrm>
            <a:off x="640080" y="4828032"/>
            <a:ext cx="10911535" cy="0"/>
          </a:xfrm>
          <a:prstGeom prst="line">
            <a:avLst/>
          </a:prstGeom>
          <a:noFill/>
          <a:ln w="12700">
            <a:solidFill>
              <a:srgbClr val="D9DCE1"/>
            </a:solidFill>
            <a:prstDash val="solid"/>
          </a:ln>
        </p:spPr>
      </p:sp>
      <p:sp>
        <p:nvSpPr>
          <p:cNvPr id="24" name="Text 21"/>
          <p:cNvSpPr txBox="1"/>
          <p:nvPr/>
        </p:nvSpPr>
        <p:spPr>
          <a:xfrm>
            <a:off x="640080" y="4892040"/>
            <a:ext cx="548640" cy="640080"/>
          </a:xfrm>
          <a:prstGeom prst="rect">
            <a:avLst/>
          </a:prstGeom>
          <a:noFill/>
          <a:ln/>
        </p:spPr>
        <p:txBody>
          <a:bodyPr wrap="square" lIns="0" tIns="0" rIns="0" bIns="0" rtlCol="0" anchor="ctr"/>
          <a:lstStyle/>
          <a:p>
            <a:pPr indent="0" marL="0">
              <a:buNone/>
            </a:pPr>
            <a:r>
              <a:rPr lang="en-US" sz="2400" b="1" dirty="0">
                <a:solidFill>
                  <a:srgbClr val="E8590C"/>
                </a:solidFill>
                <a:latin typeface="Arial" pitchFamily="34" charset="0"/>
                <a:ea typeface="Arial" pitchFamily="34" charset="-122"/>
                <a:cs typeface="Arial" pitchFamily="34" charset="-120"/>
              </a:rPr>
              <a:t>5</a:t>
            </a:r>
            <a:endParaRPr lang="en-US" sz="2400" dirty="0"/>
          </a:p>
        </p:txBody>
      </p:sp>
      <p:sp>
        <p:nvSpPr>
          <p:cNvPr id="25" name="Text 22"/>
          <p:cNvSpPr txBox="1"/>
          <p:nvPr/>
        </p:nvSpPr>
        <p:spPr>
          <a:xfrm>
            <a:off x="1280160" y="4892040"/>
            <a:ext cx="5120640" cy="64008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Status en String</a:t>
            </a:r>
            <a:endParaRPr lang="en-US" sz="1700" dirty="0"/>
          </a:p>
        </p:txBody>
      </p:sp>
      <p:sp>
        <p:nvSpPr>
          <p:cNvPr id="26" name="Text 23"/>
          <p:cNvSpPr txBox="1"/>
          <p:nvPr/>
        </p:nvSpPr>
        <p:spPr>
          <a:xfrm>
            <a:off x="6583680" y="4892040"/>
            <a:ext cx="4937760" cy="640080"/>
          </a:xfrm>
          <a:prstGeom prst="rect">
            <a:avLst/>
          </a:prstGeom>
          <a:noFill/>
          <a:ln/>
        </p:spPr>
        <p:txBody>
          <a:bodyPr wrap="square" lIns="0" tIns="0" rIns="0" bIns="0" rtlCol="0" anchor="ctr"/>
          <a:lstStyle/>
          <a:p>
            <a:pPr indent="0" marL="0">
              <a:buNone/>
            </a:pPr>
            <a:r>
              <a:rPr lang="en-US" sz="1600" dirty="0">
                <a:solidFill>
                  <a:srgbClr val="5F6670"/>
                </a:solidFill>
                <a:latin typeface="Calibri" pitchFamily="34" charset="0"/>
                <a:ea typeface="Calibri" pitchFamily="34" charset="-122"/>
                <a:cs typeface="Calibri" pitchFamily="34" charset="-120"/>
              </a:rPr>
              <a:t>Un enum : des choix fermés</a:t>
            </a:r>
            <a:endParaRPr lang="en-US" sz="1600" dirty="0"/>
          </a:p>
        </p:txBody>
      </p:sp>
      <p:sp>
        <p:nvSpPr>
          <p:cNvPr id="27" name="Shape 24"/>
          <p:cNvSpPr/>
          <p:nvPr/>
        </p:nvSpPr>
        <p:spPr>
          <a:xfrm>
            <a:off x="640080" y="5605272"/>
            <a:ext cx="10911535" cy="0"/>
          </a:xfrm>
          <a:prstGeom prst="line">
            <a:avLst/>
          </a:prstGeom>
          <a:noFill/>
          <a:ln w="12700">
            <a:solidFill>
              <a:srgbClr val="D9DCE1"/>
            </a:solidFill>
            <a:prstDash val="solid"/>
          </a:ln>
        </p:spPr>
      </p:sp>
      <p:sp>
        <p:nvSpPr>
          <p:cNvPr id="28" name="Text 25"/>
          <p:cNvSpPr txBox="1"/>
          <p:nvPr/>
        </p:nvSpPr>
        <p:spPr>
          <a:xfrm>
            <a:off x="640080" y="5760720"/>
            <a:ext cx="10911535" cy="365760"/>
          </a:xfrm>
          <a:prstGeom prst="rect">
            <a:avLst/>
          </a:prstGeom>
          <a:noFill/>
          <a:ln/>
        </p:spPr>
        <p:txBody>
          <a:bodyPr wrap="square" lIns="0" tIns="0" rIns="0" bIns="0" rtlCol="0" anchor="ctr"/>
          <a:lstStyle/>
          <a:p>
            <a:pPr indent="0" marL="0">
              <a:buNone/>
            </a:pPr>
            <a:r>
              <a:rPr lang="en-US" sz="1600" b="1" dirty="0">
                <a:solidFill>
                  <a:srgbClr val="16181D"/>
                </a:solidFill>
                <a:latin typeface="Calibri" pitchFamily="34" charset="0"/>
                <a:ea typeface="Calibri" pitchFamily="34" charset="-122"/>
                <a:cs typeface="Calibri" pitchFamily="34" charset="-120"/>
              </a:rPr>
              <a:t>L'IA relie tout par héritage. C'est à vous de poser la question « est-ce vraiment un… ? »</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POUR ALLER PLUS LOIN · APPROFONDIR</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Et si Sophie devient analyste ?</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33</a:t>
            </a:r>
            <a:endParaRPr lang="en-US" sz="1000" dirty="0"/>
          </a:p>
        </p:txBody>
      </p:sp>
      <p:sp>
        <p:nvSpPr>
          <p:cNvPr id="8" name="Shape 5"/>
          <p:cNvSpPr/>
          <p:nvPr/>
        </p:nvSpPr>
        <p:spPr>
          <a:xfrm>
            <a:off x="640080" y="1783080"/>
            <a:ext cx="5303520" cy="3383280"/>
          </a:xfrm>
          <a:prstGeom prst="roundRect">
            <a:avLst>
              <a:gd name="adj" fmla="val 2162"/>
            </a:avLst>
          </a:prstGeom>
          <a:solidFill>
            <a:srgbClr val="F2F3F5"/>
          </a:solidFill>
          <a:ln w="12700">
            <a:solidFill>
              <a:srgbClr val="F2F3F5"/>
            </a:solidFill>
            <a:prstDash val="solid"/>
          </a:ln>
        </p:spPr>
      </p:sp>
      <p:sp>
        <p:nvSpPr>
          <p:cNvPr id="9" name="Text 6"/>
          <p:cNvSpPr txBox="1"/>
          <p:nvPr/>
        </p:nvSpPr>
        <p:spPr>
          <a:xfrm>
            <a:off x="960120" y="1965960"/>
            <a:ext cx="4754880" cy="3017520"/>
          </a:xfrm>
          <a:prstGeom prst="rect">
            <a:avLst/>
          </a:prstGeom>
          <a:noFill/>
          <a:ln/>
        </p:spPr>
        <p:txBody>
          <a:bodyPr wrap="square" lIns="0" tIns="0" rIns="0" bIns="0" rtlCol="0" anchor="t"/>
          <a:lstStyle/>
          <a:p>
            <a:pPr indent="0" marL="0">
              <a:buNone/>
            </a:pPr>
            <a:r>
              <a:rPr lang="en-US" sz="1900" b="1" dirty="0">
                <a:solidFill>
                  <a:srgbClr val="16181D"/>
                </a:solidFill>
                <a:latin typeface="Calibri" pitchFamily="34" charset="0"/>
                <a:ea typeface="Calibri" pitchFamily="34" charset="-122"/>
                <a:cs typeface="Calibri" pitchFamily="34" charset="-120"/>
              </a:rPr>
              <a:t>Avec l'héritage</a:t>
            </a:r>
            <a:endParaRPr lang="en-US" sz="1900" dirty="0"/>
          </a:p>
          <a:p>
            <a:pPr indent="0" marL="0">
              <a:buNone/>
            </a:pPr>
            <a:endParaRPr lang="en-US" sz="1900" dirty="0"/>
          </a:p>
          <a:p>
            <a:pPr indent="0" marL="0">
              <a:buNone/>
            </a:pPr>
            <a:r>
              <a:rPr lang="en-US" sz="1600" dirty="0">
                <a:solidFill>
                  <a:srgbClr val="5F6670"/>
                </a:solidFill>
                <a:latin typeface="Calibri" pitchFamily="34" charset="0"/>
                <a:ea typeface="Calibri" pitchFamily="34" charset="-122"/>
                <a:cs typeface="Calibri" pitchFamily="34" charset="-120"/>
              </a:rPr>
              <a:t>Sophie est créée comme Reporter. Un objet ne change pas de classe : pour qu'elle devienne analyste, il faut recréer l'objet.</a:t>
            </a:r>
            <a:endParaRPr lang="en-US" sz="1900" dirty="0"/>
          </a:p>
        </p:txBody>
      </p:sp>
      <p:sp>
        <p:nvSpPr>
          <p:cNvPr id="10" name="Shape 7"/>
          <p:cNvSpPr/>
          <p:nvPr/>
        </p:nvSpPr>
        <p:spPr>
          <a:xfrm>
            <a:off x="6217920" y="1783080"/>
            <a:ext cx="5303520" cy="3383280"/>
          </a:xfrm>
          <a:prstGeom prst="roundRect">
            <a:avLst>
              <a:gd name="adj" fmla="val 2162"/>
            </a:avLst>
          </a:prstGeom>
          <a:solidFill>
            <a:srgbClr val="16181D"/>
          </a:solidFill>
          <a:ln w="12700">
            <a:solidFill>
              <a:srgbClr val="16181D"/>
            </a:solidFill>
            <a:prstDash val="solid"/>
          </a:ln>
        </p:spPr>
      </p:sp>
      <p:sp>
        <p:nvSpPr>
          <p:cNvPr id="11" name="Text 8"/>
          <p:cNvSpPr txBox="1"/>
          <p:nvPr/>
        </p:nvSpPr>
        <p:spPr>
          <a:xfrm>
            <a:off x="6537960" y="1965960"/>
            <a:ext cx="4754880" cy="3017520"/>
          </a:xfrm>
          <a:prstGeom prst="rect">
            <a:avLst/>
          </a:prstGeom>
          <a:noFill/>
          <a:ln/>
        </p:spPr>
        <p:txBody>
          <a:bodyPr wrap="square" lIns="0" tIns="0" rIns="0" bIns="0" rtlCol="0" anchor="t"/>
          <a:lstStyle/>
          <a:p>
            <a:pPr indent="0" marL="0">
              <a:buNone/>
            </a:pPr>
            <a:r>
              <a:rPr lang="en-US" sz="1900" b="1" dirty="0">
                <a:solidFill>
                  <a:srgbClr val="E8590C"/>
                </a:solidFill>
                <a:latin typeface="Calibri" pitchFamily="34" charset="0"/>
                <a:ea typeface="Calibri" pitchFamily="34" charset="-122"/>
                <a:cs typeface="Calibri" pitchFamily="34" charset="-120"/>
              </a:rPr>
              <a:t>Avec un rôle</a:t>
            </a:r>
            <a:endParaRPr lang="en-US" sz="1900" dirty="0"/>
          </a:p>
          <a:p>
            <a:pPr indent="0" marL="0">
              <a:buNone/>
            </a:pPr>
            <a:endParaRPr lang="en-US" sz="1900" dirty="0"/>
          </a:p>
          <a:p>
            <a:pPr indent="0" marL="0">
              <a:buNone/>
            </a:pPr>
            <a:r>
              <a:rPr lang="en-US" sz="1600" dirty="0">
                <a:solidFill>
                  <a:srgbClr val="FFFFFF"/>
                </a:solidFill>
                <a:latin typeface="Calibri" pitchFamily="34" charset="0"/>
                <a:ea typeface="Calibri" pitchFamily="34" charset="-122"/>
                <a:cs typeface="Calibri" pitchFamily="34" charset="-120"/>
              </a:rPr>
              <a:t>Un seul User, avec un rôle (ou une liste de rôles). Sophie change de rôle, l'objet reste le même.</a:t>
            </a:r>
            <a:endParaRPr lang="en-US" sz="1900" dirty="0"/>
          </a:p>
          <a:p>
            <a:pPr indent="0" marL="0">
              <a:buNone/>
            </a:pPr>
            <a:endParaRPr lang="en-US" sz="1900" dirty="0"/>
          </a:p>
          <a:p>
            <a:pPr indent="0" marL="0">
              <a:buNone/>
            </a:pPr>
            <a:r>
              <a:rPr lang="en-US" sz="1600" dirty="0">
                <a:solidFill>
                  <a:srgbClr val="FFFFFF"/>
                </a:solidFill>
                <a:latin typeface="Calibri" pitchFamily="34" charset="0"/>
                <a:ea typeface="Calibri" pitchFamily="34" charset="-122"/>
                <a:cs typeface="Calibri" pitchFamily="34" charset="-120"/>
              </a:rPr>
              <a:t>C'est ce que font Keycloak et la plupart des systèmes réels (Q2).</a:t>
            </a:r>
            <a:endParaRPr lang="en-US" sz="1900" dirty="0"/>
          </a:p>
        </p:txBody>
      </p:sp>
      <p:sp>
        <p:nvSpPr>
          <p:cNvPr id="12" name="Text 9"/>
          <p:cNvSpPr txBox="1"/>
          <p:nvPr/>
        </p:nvSpPr>
        <p:spPr>
          <a:xfrm>
            <a:off x="640080" y="5440680"/>
            <a:ext cx="10911535" cy="457200"/>
          </a:xfrm>
          <a:prstGeom prst="rect">
            <a:avLst/>
          </a:prstGeom>
          <a:noFill/>
          <a:ln/>
        </p:spPr>
        <p:txBody>
          <a:bodyPr wrap="square" lIns="0" tIns="0" rIns="0" bIns="0" rtlCol="0" anchor="ctr"/>
          <a:lstStyle/>
          <a:p>
            <a:pPr indent="0" marL="0">
              <a:buNone/>
            </a:pPr>
            <a:r>
              <a:rPr lang="en-US" sz="1800" b="1" dirty="0">
                <a:solidFill>
                  <a:srgbClr val="16181D"/>
                </a:solidFill>
                <a:latin typeface="Arial" pitchFamily="34" charset="0"/>
                <a:ea typeface="Arial" pitchFamily="34" charset="-122"/>
                <a:cs typeface="Arial" pitchFamily="34" charset="-120"/>
              </a:rPr>
              <a:t>Pas de modèle parfait : des compromis. Pour le Livrable 1, on garde l'héritage.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07</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Le Livrable 1</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Le domaine IncidentHub</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LIVRABLE 1</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Ce que vous rendez</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35</a:t>
            </a:r>
            <a:endParaRPr lang="en-US" sz="1000" dirty="0"/>
          </a:p>
        </p:txBody>
      </p:sp>
      <p:sp>
        <p:nvSpPr>
          <p:cNvPr id="8" name="Shape 5"/>
          <p:cNvSpPr/>
          <p:nvPr/>
        </p:nvSpPr>
        <p:spPr>
          <a:xfrm>
            <a:off x="640080" y="1783080"/>
            <a:ext cx="3474720" cy="4023360"/>
          </a:xfrm>
          <a:prstGeom prst="roundRect">
            <a:avLst>
              <a:gd name="adj" fmla="val 2105"/>
            </a:avLst>
          </a:prstGeom>
          <a:solidFill>
            <a:srgbClr val="F2F3F5"/>
          </a:solidFill>
          <a:ln w="12700">
            <a:solidFill>
              <a:srgbClr val="F2F3F5"/>
            </a:solidFill>
            <a:prstDash val="solid"/>
          </a:ln>
        </p:spPr>
      </p:sp>
      <p:sp>
        <p:nvSpPr>
          <p:cNvPr id="9" name="Text 6"/>
          <p:cNvSpPr txBox="1"/>
          <p:nvPr/>
        </p:nvSpPr>
        <p:spPr>
          <a:xfrm>
            <a:off x="914400" y="1920240"/>
            <a:ext cx="2926080" cy="457200"/>
          </a:xfrm>
          <a:prstGeom prst="rect">
            <a:avLst/>
          </a:prstGeom>
          <a:noFill/>
          <a:ln/>
        </p:spPr>
        <p:txBody>
          <a:bodyPr wrap="square" lIns="0" tIns="0" rIns="0" bIns="0" rtlCol="0" anchor="ctr"/>
          <a:lstStyle/>
          <a:p>
            <a:pPr indent="0" marL="0">
              <a:buNone/>
            </a:pPr>
            <a:r>
              <a:rPr lang="en-US" sz="2000" b="1" dirty="0">
                <a:solidFill>
                  <a:srgbClr val="16181D"/>
                </a:solidFill>
                <a:latin typeface="Arial" pitchFamily="34" charset="0"/>
                <a:ea typeface="Arial" pitchFamily="34" charset="-122"/>
                <a:cs typeface="Arial" pitchFamily="34" charset="-120"/>
              </a:rPr>
              <a:t>Le code</a:t>
            </a:r>
            <a:endParaRPr lang="en-US" sz="2000" dirty="0"/>
          </a:p>
        </p:txBody>
      </p:sp>
      <p:sp>
        <p:nvSpPr>
          <p:cNvPr id="10" name="Text 7"/>
          <p:cNvSpPr txBox="1"/>
          <p:nvPr/>
        </p:nvSpPr>
        <p:spPr>
          <a:xfrm>
            <a:off x="914400" y="2514600"/>
            <a:ext cx="3017520" cy="3200400"/>
          </a:xfrm>
          <a:prstGeom prst="rect">
            <a:avLst/>
          </a:prstGeom>
          <a:noFill/>
          <a:ln/>
        </p:spPr>
        <p:txBody>
          <a:bodyPr wrap="square" lIns="0" tIns="0" rIns="0" bIns="0" rtlCol="0" anchor="t"/>
          <a:lstStyle/>
          <a:p>
            <a:pPr marL="228600" indent="-228600">
              <a:spcAft>
                <a:spcPts val="800"/>
              </a:spcAft>
              <a:buSzPct val="100000"/>
              <a:buChar char="•"/>
            </a:pPr>
            <a:r>
              <a:rPr lang="en-US" sz="1450" dirty="0">
                <a:solidFill>
                  <a:srgbClr val="16181D"/>
                </a:solidFill>
                <a:latin typeface="Calibri" pitchFamily="34" charset="0"/>
                <a:ea typeface="Calibri" pitchFamily="34" charset="-122"/>
                <a:cs typeface="Calibri" pitchFamily="34" charset="-120"/>
              </a:rPr>
              <a:t>Incident et ses règles (S1)</a:t>
            </a:r>
            <a:endParaRPr lang="en-US" sz="1450" dirty="0"/>
          </a:p>
          <a:p>
            <a:pPr marL="228600" indent="-228600">
              <a:spcAft>
                <a:spcPts val="800"/>
              </a:spcAft>
              <a:buSzPct val="100000"/>
              <a:buChar char="•"/>
            </a:pPr>
            <a:r>
              <a:rPr lang="en-US" sz="1450" dirty="0">
                <a:solidFill>
                  <a:srgbClr val="16181D"/>
                </a:solidFill>
                <a:latin typeface="Calibri" pitchFamily="34" charset="0"/>
                <a:ea typeface="Calibri" pitchFamily="34" charset="-122"/>
                <a:cs typeface="Calibri" pitchFamily="34" charset="-120"/>
              </a:rPr>
              <a:t>User abstraite, Reporter, Analyst, Manager</a:t>
            </a:r>
            <a:endParaRPr lang="en-US" sz="1450" dirty="0"/>
          </a:p>
          <a:p>
            <a:pPr marL="228600" indent="-228600">
              <a:spcAft>
                <a:spcPts val="800"/>
              </a:spcAft>
              <a:buSzPct val="100000"/>
              <a:buChar char="•"/>
            </a:pPr>
            <a:r>
              <a:rPr lang="en-US" sz="1450" dirty="0">
                <a:solidFill>
                  <a:srgbClr val="16181D"/>
                </a:solidFill>
                <a:latin typeface="Calibri" pitchFamily="34" charset="0"/>
                <a:ea typeface="Calibri" pitchFamily="34" charset="-122"/>
                <a:cs typeface="Calibri" pitchFamily="34" charset="-120"/>
              </a:rPr>
              <a:t>Comment en composition</a:t>
            </a:r>
            <a:endParaRPr lang="en-US" sz="1450" dirty="0"/>
          </a:p>
          <a:p>
            <a:pPr marL="228600" indent="-228600">
              <a:spcAft>
                <a:spcPts val="800"/>
              </a:spcAft>
              <a:buSzPct val="100000"/>
              <a:buChar char="•"/>
            </a:pPr>
            <a:r>
              <a:rPr lang="en-US" sz="1450" dirty="0">
                <a:solidFill>
                  <a:srgbClr val="16181D"/>
                </a:solidFill>
                <a:latin typeface="Calibri" pitchFamily="34" charset="0"/>
                <a:ea typeface="Calibri" pitchFamily="34" charset="-122"/>
                <a:cs typeface="Calibri" pitchFamily="34" charset="-120"/>
              </a:rPr>
              <a:t>INotifier et une implémentation</a:t>
            </a:r>
            <a:endParaRPr lang="en-US" sz="1450" dirty="0"/>
          </a:p>
          <a:p>
            <a:pPr marL="228600" indent="-228600">
              <a:spcAft>
                <a:spcPts val="800"/>
              </a:spcAft>
              <a:buSzPct val="100000"/>
              <a:buChar char="•"/>
            </a:pPr>
            <a:r>
              <a:rPr lang="en-US" sz="1450" dirty="0">
                <a:solidFill>
                  <a:srgbClr val="16181D"/>
                </a:solidFill>
                <a:latin typeface="Calibri" pitchFamily="34" charset="0"/>
                <a:ea typeface="Calibri" pitchFamily="34" charset="-122"/>
                <a:cs typeface="Calibri" pitchFamily="34" charset="-120"/>
              </a:rPr>
              <a:t>Program.cs : un scénario complet et un cas refusé</a:t>
            </a:r>
            <a:endParaRPr lang="en-US" sz="1450" dirty="0"/>
          </a:p>
        </p:txBody>
      </p:sp>
      <p:sp>
        <p:nvSpPr>
          <p:cNvPr id="11" name="Shape 8"/>
          <p:cNvSpPr/>
          <p:nvPr/>
        </p:nvSpPr>
        <p:spPr>
          <a:xfrm>
            <a:off x="4343400" y="1783080"/>
            <a:ext cx="3474720" cy="4023360"/>
          </a:xfrm>
          <a:prstGeom prst="roundRect">
            <a:avLst>
              <a:gd name="adj" fmla="val 2105"/>
            </a:avLst>
          </a:prstGeom>
          <a:solidFill>
            <a:srgbClr val="F2F3F5"/>
          </a:solidFill>
          <a:ln w="12700">
            <a:solidFill>
              <a:srgbClr val="F2F3F5"/>
            </a:solidFill>
            <a:prstDash val="solid"/>
          </a:ln>
        </p:spPr>
      </p:sp>
      <p:sp>
        <p:nvSpPr>
          <p:cNvPr id="12" name="Text 9"/>
          <p:cNvSpPr txBox="1"/>
          <p:nvPr/>
        </p:nvSpPr>
        <p:spPr>
          <a:xfrm>
            <a:off x="4617720" y="1920240"/>
            <a:ext cx="2926080" cy="457200"/>
          </a:xfrm>
          <a:prstGeom prst="rect">
            <a:avLst/>
          </a:prstGeom>
          <a:noFill/>
          <a:ln/>
        </p:spPr>
        <p:txBody>
          <a:bodyPr wrap="square" lIns="0" tIns="0" rIns="0" bIns="0" rtlCol="0" anchor="ctr"/>
          <a:lstStyle/>
          <a:p>
            <a:pPr indent="0" marL="0">
              <a:buNone/>
            </a:pPr>
            <a:r>
              <a:rPr lang="en-US" sz="2000" b="1" dirty="0">
                <a:solidFill>
                  <a:srgbClr val="16181D"/>
                </a:solidFill>
                <a:latin typeface="Arial" pitchFamily="34" charset="0"/>
                <a:ea typeface="Arial" pitchFamily="34" charset="-122"/>
                <a:cs typeface="Arial" pitchFamily="34" charset="-120"/>
              </a:rPr>
              <a:t>La documentation</a:t>
            </a:r>
            <a:endParaRPr lang="en-US" sz="2000" dirty="0"/>
          </a:p>
        </p:txBody>
      </p:sp>
      <p:sp>
        <p:nvSpPr>
          <p:cNvPr id="13" name="Text 10"/>
          <p:cNvSpPr txBox="1"/>
          <p:nvPr/>
        </p:nvSpPr>
        <p:spPr>
          <a:xfrm>
            <a:off x="4617720" y="2514600"/>
            <a:ext cx="3017520" cy="3200400"/>
          </a:xfrm>
          <a:prstGeom prst="rect">
            <a:avLst/>
          </a:prstGeom>
          <a:noFill/>
          <a:ln/>
        </p:spPr>
        <p:txBody>
          <a:bodyPr wrap="square" lIns="0" tIns="0" rIns="0" bIns="0" rtlCol="0" anchor="t"/>
          <a:lstStyle/>
          <a:p>
            <a:pPr marL="228600" indent="-228600">
              <a:spcAft>
                <a:spcPts val="800"/>
              </a:spcAft>
              <a:buSzPct val="100000"/>
              <a:buChar char="•"/>
            </a:pPr>
            <a:r>
              <a:rPr lang="en-US" sz="1450" dirty="0">
                <a:solidFill>
                  <a:srgbClr val="16181D"/>
                </a:solidFill>
                <a:latin typeface="Calibri" pitchFamily="34" charset="0"/>
                <a:ea typeface="Calibri" pitchFamily="34" charset="-122"/>
                <a:cs typeface="Calibri" pitchFamily="34" charset="-120"/>
              </a:rPr>
              <a:t>docs/modele.md : le diagramme de classes Mermaid, cohérent avec le code</a:t>
            </a:r>
            <a:endParaRPr lang="en-US" sz="1450" dirty="0"/>
          </a:p>
          <a:p>
            <a:pPr marL="228600" indent="-228600">
              <a:spcAft>
                <a:spcPts val="800"/>
              </a:spcAft>
              <a:buSzPct val="100000"/>
              <a:buChar char="•"/>
            </a:pPr>
            <a:r>
              <a:rPr lang="en-US" sz="1450" dirty="0">
                <a:solidFill>
                  <a:srgbClr val="16181D"/>
                </a:solidFill>
                <a:latin typeface="Calibri" pitchFamily="34" charset="0"/>
                <a:ea typeface="Calibri" pitchFamily="34" charset="-122"/>
                <a:cs typeface="Calibri" pitchFamily="34" charset="-120"/>
              </a:rPr>
              <a:t>AI-LOG.md : vos usages de l'IA</a:t>
            </a:r>
            <a:endParaRPr lang="en-US" sz="1450" dirty="0"/>
          </a:p>
        </p:txBody>
      </p:sp>
      <p:sp>
        <p:nvSpPr>
          <p:cNvPr id="14" name="Shape 11"/>
          <p:cNvSpPr/>
          <p:nvPr/>
        </p:nvSpPr>
        <p:spPr>
          <a:xfrm>
            <a:off x="8046720" y="1783080"/>
            <a:ext cx="3474720" cy="4023360"/>
          </a:xfrm>
          <a:prstGeom prst="roundRect">
            <a:avLst>
              <a:gd name="adj" fmla="val 2105"/>
            </a:avLst>
          </a:prstGeom>
          <a:solidFill>
            <a:srgbClr val="16181D"/>
          </a:solidFill>
          <a:ln w="12700">
            <a:solidFill>
              <a:srgbClr val="16181D"/>
            </a:solidFill>
            <a:prstDash val="solid"/>
          </a:ln>
        </p:spPr>
      </p:sp>
      <p:sp>
        <p:nvSpPr>
          <p:cNvPr id="15" name="Text 12"/>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2000" b="1" dirty="0">
                <a:solidFill>
                  <a:srgbClr val="E8590C"/>
                </a:solidFill>
                <a:latin typeface="Arial" pitchFamily="34" charset="0"/>
                <a:ea typeface="Arial" pitchFamily="34" charset="-122"/>
                <a:cs typeface="Arial" pitchFamily="34" charset="-120"/>
              </a:rPr>
              <a:t>Les règles</a:t>
            </a:r>
            <a:endParaRPr lang="en-US" sz="2000" dirty="0"/>
          </a:p>
        </p:txBody>
      </p:sp>
      <p:sp>
        <p:nvSpPr>
          <p:cNvPr id="16" name="Text 13"/>
          <p:cNvSpPr txBox="1"/>
          <p:nvPr/>
        </p:nvSpPr>
        <p:spPr>
          <a:xfrm>
            <a:off x="8321040" y="2514600"/>
            <a:ext cx="3017520" cy="3200400"/>
          </a:xfrm>
          <a:prstGeom prst="rect">
            <a:avLst/>
          </a:prstGeom>
          <a:noFill/>
          <a:ln/>
        </p:spPr>
        <p:txBody>
          <a:bodyPr wrap="square" lIns="0" tIns="0" rIns="0" bIns="0" rtlCol="0" anchor="t"/>
          <a:lstStyle/>
          <a:p>
            <a:pPr marL="228600" indent="-228600">
              <a:spcAft>
                <a:spcPts val="800"/>
              </a:spcAft>
              <a:buSzPct val="100000"/>
              <a:buChar char="•"/>
            </a:pPr>
            <a:r>
              <a:rPr lang="en-US" sz="1450" dirty="0">
                <a:solidFill>
                  <a:srgbClr val="FFFFFF"/>
                </a:solidFill>
                <a:latin typeface="Calibri" pitchFamily="34" charset="0"/>
                <a:ea typeface="Calibri" pitchFamily="34" charset="-122"/>
                <a:cs typeface="Calibri" pitchFamily="34" charset="-120"/>
              </a:rPr>
              <a:t>Couleur orange : IA autorisée, AI-LOG.md obligatoire</a:t>
            </a:r>
            <a:endParaRPr lang="en-US" sz="1450" dirty="0"/>
          </a:p>
          <a:p>
            <a:pPr marL="228600" indent="-228600">
              <a:spcAft>
                <a:spcPts val="800"/>
              </a:spcAft>
              <a:buSzPct val="100000"/>
              <a:buChar char="•"/>
            </a:pPr>
            <a:r>
              <a:rPr lang="en-US" sz="1450" dirty="0">
                <a:solidFill>
                  <a:srgbClr val="FFFFFF"/>
                </a:solidFill>
                <a:latin typeface="Calibri" pitchFamily="34" charset="0"/>
                <a:ea typeface="Calibri" pitchFamily="34" charset="-122"/>
                <a:cs typeface="Calibri" pitchFamily="34" charset="-120"/>
              </a:rPr>
              <a:t>Aucune donnée personnelle réelle</a:t>
            </a:r>
            <a:endParaRPr lang="en-US" sz="1450" dirty="0"/>
          </a:p>
          <a:p>
            <a:pPr marL="228600" indent="-228600">
              <a:spcAft>
                <a:spcPts val="800"/>
              </a:spcAft>
              <a:buSzPct val="100000"/>
              <a:buChar char="•"/>
            </a:pPr>
            <a:r>
              <a:rPr lang="en-US" sz="1450" dirty="0">
                <a:solidFill>
                  <a:srgbClr val="FFFFFF"/>
                </a:solidFill>
                <a:latin typeface="Calibri" pitchFamily="34" charset="0"/>
                <a:ea typeface="Calibri" pitchFamily="34" charset="-122"/>
                <a:cs typeface="Calibri" pitchFamily="34" charset="-120"/>
              </a:rPr>
              <a:t>Remise : lien du dépôt Git via Forms</a:t>
            </a:r>
            <a:endParaRPr lang="en-US" sz="1450" dirty="0"/>
          </a:p>
          <a:p>
            <a:pPr marL="228600" indent="-228600">
              <a:spcAft>
                <a:spcPts val="800"/>
              </a:spcAft>
              <a:buSzPct val="100000"/>
              <a:buChar char="•"/>
            </a:pPr>
            <a:r>
              <a:rPr lang="en-US" sz="1450" dirty="0">
                <a:solidFill>
                  <a:srgbClr val="FFFFFF"/>
                </a:solidFill>
                <a:latin typeface="Calibri" pitchFamily="34" charset="0"/>
                <a:ea typeface="Calibri" pitchFamily="34" charset="-122"/>
                <a:cs typeface="Calibri" pitchFamily="34" charset="-120"/>
              </a:rPr>
              <a:t>Date : [DATE À FIXER]</a:t>
            </a:r>
            <a:endParaRPr lang="en-US" sz="14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LIVRABLE 1</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Deux parcours, les mêmes tests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36</a:t>
            </a:r>
            <a:endParaRPr lang="en-US" sz="1000" dirty="0"/>
          </a:p>
        </p:txBody>
      </p:sp>
      <p:sp>
        <p:nvSpPr>
          <p:cNvPr id="8" name="Shape 5"/>
          <p:cNvSpPr/>
          <p:nvPr/>
        </p:nvSpPr>
        <p:spPr>
          <a:xfrm>
            <a:off x="640080" y="1783080"/>
            <a:ext cx="5303520" cy="3017520"/>
          </a:xfrm>
          <a:prstGeom prst="roundRect">
            <a:avLst>
              <a:gd name="adj" fmla="val 2424"/>
            </a:avLst>
          </a:prstGeom>
          <a:solidFill>
            <a:srgbClr val="F2F3F5"/>
          </a:solidFill>
          <a:ln w="12700">
            <a:solidFill>
              <a:srgbClr val="F2F3F5"/>
            </a:solidFill>
            <a:prstDash val="solid"/>
          </a:ln>
        </p:spPr>
      </p:sp>
      <p:sp>
        <p:nvSpPr>
          <p:cNvPr id="9" name="Shape 6"/>
          <p:cNvSpPr/>
          <p:nvPr/>
        </p:nvSpPr>
        <p:spPr>
          <a:xfrm>
            <a:off x="960120" y="2011680"/>
            <a:ext cx="320040" cy="320040"/>
          </a:xfrm>
          <a:prstGeom prst="ellipse">
            <a:avLst/>
          </a:prstGeom>
          <a:solidFill>
            <a:srgbClr val="2F9E44"/>
          </a:solidFill>
          <a:ln w="12700">
            <a:solidFill>
              <a:srgbClr val="2F9E44"/>
            </a:solidFill>
            <a:prstDash val="solid"/>
          </a:ln>
        </p:spPr>
      </p:sp>
      <p:sp>
        <p:nvSpPr>
          <p:cNvPr id="10" name="Text 7"/>
          <p:cNvSpPr txBox="1"/>
          <p:nvPr/>
        </p:nvSpPr>
        <p:spPr>
          <a:xfrm>
            <a:off x="1417320" y="1938528"/>
            <a:ext cx="4114800" cy="457200"/>
          </a:xfrm>
          <a:prstGeom prst="rect">
            <a:avLst/>
          </a:prstGeom>
          <a:noFill/>
          <a:ln/>
        </p:spPr>
        <p:txBody>
          <a:bodyPr wrap="square" lIns="0" tIns="0" rIns="0" bIns="0" rtlCol="0" anchor="ctr"/>
          <a:lstStyle/>
          <a:p>
            <a:pPr indent="0" marL="0">
              <a:buNone/>
            </a:pPr>
            <a:r>
              <a:rPr lang="en-US" sz="2200" b="1" dirty="0">
                <a:solidFill>
                  <a:srgbClr val="16181D"/>
                </a:solidFill>
                <a:latin typeface="Arial" pitchFamily="34" charset="0"/>
                <a:ea typeface="Arial" pitchFamily="34" charset="-122"/>
                <a:cs typeface="Arial" pitchFamily="34" charset="-120"/>
              </a:rPr>
              <a:t>Apprendre</a:t>
            </a:r>
            <a:endParaRPr lang="en-US" sz="2200" dirty="0"/>
          </a:p>
        </p:txBody>
      </p:sp>
      <p:sp>
        <p:nvSpPr>
          <p:cNvPr id="11" name="Text 8"/>
          <p:cNvSpPr txBox="1"/>
          <p:nvPr/>
        </p:nvSpPr>
        <p:spPr>
          <a:xfrm>
            <a:off x="960120" y="2560320"/>
            <a:ext cx="4663440" cy="21945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6181D"/>
                </a:solidFill>
                <a:latin typeface="Calibri" pitchFamily="34" charset="0"/>
                <a:ea typeface="Calibri" pitchFamily="34" charset="-122"/>
                <a:cs typeface="Calibri" pitchFamily="34" charset="-120"/>
              </a:rPr>
              <a:t>Vous partez du template</a:t>
            </a:r>
            <a:endParaRPr lang="en-US" sz="1600" dirty="0"/>
          </a:p>
          <a:p>
            <a:pPr marL="228600" indent="-228600">
              <a:spcAft>
                <a:spcPts val="800"/>
              </a:spcAft>
              <a:buSzPct val="100000"/>
              <a:buChar char="•"/>
            </a:pPr>
            <a:r>
              <a:rPr lang="en-US" sz="1600" dirty="0">
                <a:solidFill>
                  <a:srgbClr val="16181D"/>
                </a:solidFill>
                <a:latin typeface="Calibri" pitchFamily="34" charset="0"/>
                <a:ea typeface="Calibri" pitchFamily="34" charset="-122"/>
                <a:cs typeface="Calibri" pitchFamily="34" charset="-120"/>
              </a:rPr>
              <a:t>Des TODO numérotés vous guident, étape par étape</a:t>
            </a:r>
            <a:endParaRPr lang="en-US" sz="1600" dirty="0"/>
          </a:p>
          <a:p>
            <a:pPr marL="228600" indent="-228600">
              <a:spcAft>
                <a:spcPts val="800"/>
              </a:spcAft>
              <a:buSzPct val="100000"/>
              <a:buChar char="•"/>
            </a:pPr>
            <a:r>
              <a:rPr lang="en-US" sz="1600" dirty="0">
                <a:solidFill>
                  <a:srgbClr val="16181D"/>
                </a:solidFill>
                <a:latin typeface="Calibri" pitchFamily="34" charset="0"/>
                <a:ea typeface="Calibri" pitchFamily="34" charset="-122"/>
                <a:cs typeface="Calibri" pitchFamily="34" charset="-120"/>
              </a:rPr>
              <a:t>Les tests passent au vert au fur et à mesure</a:t>
            </a:r>
            <a:endParaRPr lang="en-US" sz="1600" dirty="0"/>
          </a:p>
        </p:txBody>
      </p:sp>
      <p:sp>
        <p:nvSpPr>
          <p:cNvPr id="12" name="Shape 9"/>
          <p:cNvSpPr/>
          <p:nvPr/>
        </p:nvSpPr>
        <p:spPr>
          <a:xfrm>
            <a:off x="6217920" y="1783080"/>
            <a:ext cx="5303520" cy="3017520"/>
          </a:xfrm>
          <a:prstGeom prst="roundRect">
            <a:avLst>
              <a:gd name="adj" fmla="val 2424"/>
            </a:avLst>
          </a:prstGeom>
          <a:solidFill>
            <a:srgbClr val="F2F3F5"/>
          </a:solidFill>
          <a:ln w="12700">
            <a:solidFill>
              <a:srgbClr val="F2F3F5"/>
            </a:solidFill>
            <a:prstDash val="solid"/>
          </a:ln>
        </p:spPr>
      </p:sp>
      <p:sp>
        <p:nvSpPr>
          <p:cNvPr id="13" name="Shape 10"/>
          <p:cNvSpPr/>
          <p:nvPr/>
        </p:nvSpPr>
        <p:spPr>
          <a:xfrm>
            <a:off x="6537960" y="2011680"/>
            <a:ext cx="320040" cy="320040"/>
          </a:xfrm>
          <a:prstGeom prst="ellipse">
            <a:avLst/>
          </a:prstGeom>
          <a:solidFill>
            <a:srgbClr val="1C63B7"/>
          </a:solidFill>
          <a:ln w="12700">
            <a:solidFill>
              <a:srgbClr val="1C63B7"/>
            </a:solidFill>
            <a:prstDash val="solid"/>
          </a:ln>
        </p:spPr>
      </p:sp>
      <p:sp>
        <p:nvSpPr>
          <p:cNvPr id="14" name="Text 11"/>
          <p:cNvSpPr txBox="1"/>
          <p:nvPr/>
        </p:nvSpPr>
        <p:spPr>
          <a:xfrm>
            <a:off x="6995160" y="1938528"/>
            <a:ext cx="4114800" cy="457200"/>
          </a:xfrm>
          <a:prstGeom prst="rect">
            <a:avLst/>
          </a:prstGeom>
          <a:noFill/>
          <a:ln/>
        </p:spPr>
        <p:txBody>
          <a:bodyPr wrap="square" lIns="0" tIns="0" rIns="0" bIns="0" rtlCol="0" anchor="ctr"/>
          <a:lstStyle/>
          <a:p>
            <a:pPr indent="0" marL="0">
              <a:buNone/>
            </a:pPr>
            <a:r>
              <a:rPr lang="en-US" sz="2200" b="1" dirty="0">
                <a:solidFill>
                  <a:srgbClr val="16181D"/>
                </a:solidFill>
                <a:latin typeface="Arial" pitchFamily="34" charset="0"/>
                <a:ea typeface="Arial" pitchFamily="34" charset="-122"/>
                <a:cs typeface="Arial" pitchFamily="34" charset="-120"/>
              </a:rPr>
              <a:t>Approfondir</a:t>
            </a:r>
            <a:endParaRPr lang="en-US" sz="2200" dirty="0"/>
          </a:p>
        </p:txBody>
      </p:sp>
      <p:sp>
        <p:nvSpPr>
          <p:cNvPr id="15" name="Text 12"/>
          <p:cNvSpPr txBox="1"/>
          <p:nvPr/>
        </p:nvSpPr>
        <p:spPr>
          <a:xfrm>
            <a:off x="6537960" y="2560320"/>
            <a:ext cx="4663440" cy="21945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6181D"/>
                </a:solidFill>
                <a:latin typeface="Calibri" pitchFamily="34" charset="0"/>
                <a:ea typeface="Calibri" pitchFamily="34" charset="-122"/>
                <a:cs typeface="Calibri" pitchFamily="34" charset="-120"/>
              </a:rPr>
              <a:t>Vous partez de zéro</a:t>
            </a:r>
            <a:endParaRPr lang="en-US" sz="1600" dirty="0"/>
          </a:p>
          <a:p>
            <a:pPr marL="228600" indent="-228600">
              <a:spcAft>
                <a:spcPts val="800"/>
              </a:spcAft>
              <a:buSzPct val="100000"/>
              <a:buChar char="•"/>
            </a:pPr>
            <a:r>
              <a:rPr lang="en-US" sz="1600" dirty="0">
                <a:solidFill>
                  <a:srgbClr val="16181D"/>
                </a:solidFill>
                <a:latin typeface="Calibri" pitchFamily="34" charset="0"/>
                <a:ea typeface="Calibri" pitchFamily="34" charset="-122"/>
                <a:cs typeface="Calibri" pitchFamily="34" charset="-120"/>
              </a:rPr>
              <a:t>Les mêmes tests doivent passer</a:t>
            </a:r>
            <a:endParaRPr lang="en-US" sz="1600" dirty="0"/>
          </a:p>
          <a:p>
            <a:pPr marL="228600" indent="-228600">
              <a:spcAft>
                <a:spcPts val="800"/>
              </a:spcAft>
              <a:buSzPct val="100000"/>
              <a:buChar char="•"/>
            </a:pPr>
            <a:r>
              <a:rPr lang="en-US" sz="1600" dirty="0">
                <a:solidFill>
                  <a:srgbClr val="16181D"/>
                </a:solidFill>
                <a:latin typeface="Calibri" pitchFamily="34" charset="0"/>
                <a:ea typeface="Calibri" pitchFamily="34" charset="-122"/>
                <a:cs typeface="Calibri" pitchFamily="34" charset="-120"/>
              </a:rPr>
              <a:t>Une extension au choix : historique des changements d'état, filtres LINQ, ou notification dans un fichier</a:t>
            </a:r>
            <a:endParaRPr lang="en-US" sz="1600" dirty="0"/>
          </a:p>
        </p:txBody>
      </p:sp>
      <p:sp>
        <p:nvSpPr>
          <p:cNvPr id="16" name="Shape 13"/>
          <p:cNvSpPr/>
          <p:nvPr/>
        </p:nvSpPr>
        <p:spPr>
          <a:xfrm>
            <a:off x="640080" y="5029200"/>
            <a:ext cx="5486400" cy="868680"/>
          </a:xfrm>
          <a:prstGeom prst="roundRect">
            <a:avLst>
              <a:gd name="adj" fmla="val 8421"/>
            </a:avLst>
          </a:prstGeom>
          <a:solidFill>
            <a:srgbClr val="1E2127"/>
          </a:solidFill>
          <a:ln w="12700">
            <a:solidFill>
              <a:srgbClr val="1E2127"/>
            </a:solidFill>
            <a:prstDash val="solid"/>
          </a:ln>
        </p:spPr>
      </p:sp>
      <p:sp>
        <p:nvSpPr>
          <p:cNvPr id="17" name="Text 14"/>
          <p:cNvSpPr txBox="1"/>
          <p:nvPr/>
        </p:nvSpPr>
        <p:spPr>
          <a:xfrm>
            <a:off x="914400" y="5257800"/>
            <a:ext cx="4937760" cy="41148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 dotnet test</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Réussi ! : 23 réussi(s), 0 échec(s)</a:t>
            </a:r>
            <a:endParaRPr lang="en-US" sz="1500" dirty="0"/>
          </a:p>
        </p:txBody>
      </p:sp>
      <p:sp>
        <p:nvSpPr>
          <p:cNvPr id="18" name="Text 15"/>
          <p:cNvSpPr txBox="1"/>
          <p:nvPr/>
        </p:nvSpPr>
        <p:spPr>
          <a:xfrm>
            <a:off x="6400800" y="5029200"/>
            <a:ext cx="5120640" cy="868680"/>
          </a:xfrm>
          <a:prstGeom prst="rect">
            <a:avLst/>
          </a:prstGeom>
          <a:noFill/>
          <a:ln/>
        </p:spPr>
        <p:txBody>
          <a:bodyPr wrap="square" lIns="0" tIns="0" rIns="0" bIns="0"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Vert sur votre poste = socle validé avant même de rendre.</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LIVRABLE 1</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Comment c'est évalué</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914400"/>
        </p:xfrm>
        <a:graphic>
          <a:graphicData uri="http://schemas.openxmlformats.org/drawingml/2006/table">
            <a:tbl>
              <a:tblPr/>
              <a:tblGrid>
                <a:gridCol w="8412480"/>
                <a:gridCol w="2496312"/>
              </a:tblGrid>
              <a:tr h="4572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Critère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Vérifié par</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457200">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La solution compile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automatique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457200">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Les tests fournis passent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automatique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457200">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User est abstraite, 3 rôles héritent de User</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automatique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457200">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Les règles de l'incident sont respectées (titre, transitions, assignation)</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automatique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457200">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Les commentaires sont en composition, en lecture seule de l'extérieur</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automatique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457200">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docs/modele.md existe et correspond au code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relecture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457200">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AI-LOG.md renseigné (problème, correction, appris)</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relecture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640080" y="5623560"/>
            <a:ext cx="10911535" cy="365760"/>
          </a:xfrm>
          <a:prstGeom prst="rect">
            <a:avLst/>
          </a:prstGeom>
          <a:noFill/>
          <a:ln/>
        </p:spPr>
        <p:txBody>
          <a:bodyPr wrap="square" lIns="0" tIns="0" rIns="0" bIns="0" rtlCol="0" anchor="ctr"/>
          <a:lstStyle/>
          <a:p>
            <a:pPr indent="0" marL="0">
              <a:buNone/>
            </a:pPr>
            <a:r>
              <a:rPr lang="en-US" sz="1500" b="1" dirty="0">
                <a:solidFill>
                  <a:srgbClr val="16181D"/>
                </a:solidFill>
                <a:latin typeface="Calibri" pitchFamily="34" charset="0"/>
                <a:ea typeface="Calibri" pitchFamily="34" charset="-122"/>
                <a:cs typeface="Calibri" pitchFamily="34" charset="-120"/>
              </a:rPr>
              <a:t>Le livrable compte pour 2 points sur 20. Les QCM contiendront des questions sur ce code.</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À RETENIR</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Les 4 piliers de la POO, avec leurs images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38</a:t>
            </a:r>
            <a:endParaRPr lang="en-US" sz="1000" dirty="0"/>
          </a:p>
        </p:txBody>
      </p:sp>
      <p:sp>
        <p:nvSpPr>
          <p:cNvPr id="8" name="Shape 5"/>
          <p:cNvSpPr/>
          <p:nvPr/>
        </p:nvSpPr>
        <p:spPr>
          <a:xfrm>
            <a:off x="640080" y="1920240"/>
            <a:ext cx="2560320" cy="2926080"/>
          </a:xfrm>
          <a:prstGeom prst="roundRect">
            <a:avLst>
              <a:gd name="adj" fmla="val 2857"/>
            </a:avLst>
          </a:prstGeom>
          <a:solidFill>
            <a:srgbClr val="16181D"/>
          </a:solidFill>
          <a:ln w="12700">
            <a:solidFill>
              <a:srgbClr val="16181D"/>
            </a:solidFill>
            <a:prstDash val="solid"/>
          </a:ln>
        </p:spPr>
      </p:sp>
      <p:sp>
        <p:nvSpPr>
          <p:cNvPr id="9" name="Text 6"/>
          <p:cNvSpPr txBox="1"/>
          <p:nvPr/>
        </p:nvSpPr>
        <p:spPr>
          <a:xfrm>
            <a:off x="868680" y="2148840"/>
            <a:ext cx="2194560" cy="54864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Encapsulation</a:t>
            </a:r>
            <a:endParaRPr lang="en-US" sz="1900" dirty="0"/>
          </a:p>
        </p:txBody>
      </p:sp>
      <p:sp>
        <p:nvSpPr>
          <p:cNvPr id="10" name="Text 7"/>
          <p:cNvSpPr txBox="1"/>
          <p:nvPr/>
        </p:nvSpPr>
        <p:spPr>
          <a:xfrm>
            <a:off x="868680" y="2788920"/>
            <a:ext cx="2148840" cy="1371600"/>
          </a:xfrm>
          <a:prstGeom prst="rect">
            <a:avLst/>
          </a:prstGeom>
          <a:noFill/>
          <a:ln/>
        </p:spPr>
        <p:txBody>
          <a:bodyPr wrap="square" lIns="0" tIns="0" rIns="0" bIns="0" rtlCol="0" anchor="t"/>
          <a:lstStyle/>
          <a:p>
            <a:pPr indent="0" marL="0">
              <a:buNone/>
            </a:pPr>
            <a:r>
              <a:rPr lang="en-US" sz="1700" dirty="0">
                <a:solidFill>
                  <a:srgbClr val="C9CDD3"/>
                </a:solidFill>
                <a:latin typeface="Calibri" pitchFamily="34" charset="0"/>
                <a:ea typeface="Calibri" pitchFamily="34" charset="-122"/>
                <a:cs typeface="Calibri" pitchFamily="34" charset="-120"/>
              </a:rPr>
              <a:t>Le guichet et le coffre</a:t>
            </a:r>
            <a:endParaRPr lang="en-US" sz="1700" dirty="0"/>
          </a:p>
        </p:txBody>
      </p:sp>
      <p:sp>
        <p:nvSpPr>
          <p:cNvPr id="11" name="Text 8"/>
          <p:cNvSpPr txBox="1"/>
          <p:nvPr/>
        </p:nvSpPr>
        <p:spPr>
          <a:xfrm>
            <a:off x="868680" y="4297680"/>
            <a:ext cx="2194560" cy="365760"/>
          </a:xfrm>
          <a:prstGeom prst="rect">
            <a:avLst/>
          </a:prstGeom>
          <a:noFill/>
          <a:ln/>
        </p:spPr>
        <p:txBody>
          <a:bodyPr wrap="square" lIns="0" tIns="0" rIns="0" bIns="0" rtlCol="0" anchor="ctr"/>
          <a:lstStyle/>
          <a:p>
            <a:pPr indent="0" marL="0">
              <a:buNone/>
            </a:pPr>
            <a:r>
              <a:rPr lang="en-US" sz="1400" b="1" dirty="0">
                <a:solidFill>
                  <a:srgbClr val="E8590C"/>
                </a:solidFill>
                <a:latin typeface="Calibri" pitchFamily="34" charset="0"/>
                <a:ea typeface="Calibri" pitchFamily="34" charset="-122"/>
                <a:cs typeface="Calibri" pitchFamily="34" charset="-120"/>
              </a:rPr>
              <a:t>S1</a:t>
            </a:r>
            <a:endParaRPr lang="en-US" sz="1400" dirty="0"/>
          </a:p>
        </p:txBody>
      </p:sp>
      <p:sp>
        <p:nvSpPr>
          <p:cNvPr id="12" name="Shape 9"/>
          <p:cNvSpPr/>
          <p:nvPr/>
        </p:nvSpPr>
        <p:spPr>
          <a:xfrm>
            <a:off x="3383280" y="1920240"/>
            <a:ext cx="2560320" cy="2926080"/>
          </a:xfrm>
          <a:prstGeom prst="roundRect">
            <a:avLst>
              <a:gd name="adj" fmla="val 2857"/>
            </a:avLst>
          </a:prstGeom>
          <a:solidFill>
            <a:srgbClr val="16181D"/>
          </a:solidFill>
          <a:ln w="12700">
            <a:solidFill>
              <a:srgbClr val="16181D"/>
            </a:solidFill>
            <a:prstDash val="solid"/>
          </a:ln>
        </p:spPr>
      </p:sp>
      <p:sp>
        <p:nvSpPr>
          <p:cNvPr id="13" name="Text 10"/>
          <p:cNvSpPr txBox="1"/>
          <p:nvPr/>
        </p:nvSpPr>
        <p:spPr>
          <a:xfrm>
            <a:off x="3611880" y="2148840"/>
            <a:ext cx="2194560" cy="54864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Héritage</a:t>
            </a:r>
            <a:endParaRPr lang="en-US" sz="1900" dirty="0"/>
          </a:p>
        </p:txBody>
      </p:sp>
      <p:sp>
        <p:nvSpPr>
          <p:cNvPr id="14" name="Text 11"/>
          <p:cNvSpPr txBox="1"/>
          <p:nvPr/>
        </p:nvSpPr>
        <p:spPr>
          <a:xfrm>
            <a:off x="3611880" y="2788920"/>
            <a:ext cx="2148840" cy="1371600"/>
          </a:xfrm>
          <a:prstGeom prst="rect">
            <a:avLst/>
          </a:prstGeom>
          <a:noFill/>
          <a:ln/>
        </p:spPr>
        <p:txBody>
          <a:bodyPr wrap="square" lIns="0" tIns="0" rIns="0" bIns="0" rtlCol="0" anchor="t"/>
          <a:lstStyle/>
          <a:p>
            <a:pPr indent="0" marL="0">
              <a:buNone/>
            </a:pPr>
            <a:r>
              <a:rPr lang="en-US" sz="1700" dirty="0">
                <a:solidFill>
                  <a:srgbClr val="C9CDD3"/>
                </a:solidFill>
                <a:latin typeface="Calibri" pitchFamily="34" charset="0"/>
                <a:ea typeface="Calibri" pitchFamily="34" charset="-122"/>
                <a:cs typeface="Calibri" pitchFamily="34" charset="-120"/>
              </a:rPr>
              <a:t>Un analyste est un utilisateur</a:t>
            </a:r>
            <a:endParaRPr lang="en-US" sz="1700" dirty="0"/>
          </a:p>
        </p:txBody>
      </p:sp>
      <p:sp>
        <p:nvSpPr>
          <p:cNvPr id="15" name="Text 12"/>
          <p:cNvSpPr txBox="1"/>
          <p:nvPr/>
        </p:nvSpPr>
        <p:spPr>
          <a:xfrm>
            <a:off x="3611880" y="4297680"/>
            <a:ext cx="2194560" cy="365760"/>
          </a:xfrm>
          <a:prstGeom prst="rect">
            <a:avLst/>
          </a:prstGeom>
          <a:noFill/>
          <a:ln/>
        </p:spPr>
        <p:txBody>
          <a:bodyPr wrap="square" lIns="0" tIns="0" rIns="0" bIns="0" rtlCol="0" anchor="ctr"/>
          <a:lstStyle/>
          <a:p>
            <a:pPr indent="0" marL="0">
              <a:buNone/>
            </a:pPr>
            <a:r>
              <a:rPr lang="en-US" sz="1400" b="1" dirty="0">
                <a:solidFill>
                  <a:srgbClr val="E8590C"/>
                </a:solidFill>
                <a:latin typeface="Calibri" pitchFamily="34" charset="0"/>
                <a:ea typeface="Calibri" pitchFamily="34" charset="-122"/>
                <a:cs typeface="Calibri" pitchFamily="34" charset="-120"/>
              </a:rPr>
              <a:t>S2</a:t>
            </a:r>
            <a:endParaRPr lang="en-US" sz="1400" dirty="0"/>
          </a:p>
        </p:txBody>
      </p:sp>
      <p:sp>
        <p:nvSpPr>
          <p:cNvPr id="16" name="Shape 13"/>
          <p:cNvSpPr/>
          <p:nvPr/>
        </p:nvSpPr>
        <p:spPr>
          <a:xfrm>
            <a:off x="6126480" y="1920240"/>
            <a:ext cx="2560320" cy="2926080"/>
          </a:xfrm>
          <a:prstGeom prst="roundRect">
            <a:avLst>
              <a:gd name="adj" fmla="val 2857"/>
            </a:avLst>
          </a:prstGeom>
          <a:solidFill>
            <a:srgbClr val="16181D"/>
          </a:solidFill>
          <a:ln w="12700">
            <a:solidFill>
              <a:srgbClr val="16181D"/>
            </a:solidFill>
            <a:prstDash val="solid"/>
          </a:ln>
        </p:spPr>
      </p:sp>
      <p:sp>
        <p:nvSpPr>
          <p:cNvPr id="17" name="Text 14"/>
          <p:cNvSpPr txBox="1"/>
          <p:nvPr/>
        </p:nvSpPr>
        <p:spPr>
          <a:xfrm>
            <a:off x="6355080" y="2148840"/>
            <a:ext cx="2194560" cy="54864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Abstraction</a:t>
            </a:r>
            <a:endParaRPr lang="en-US" sz="1900" dirty="0"/>
          </a:p>
        </p:txBody>
      </p:sp>
      <p:sp>
        <p:nvSpPr>
          <p:cNvPr id="18" name="Text 15"/>
          <p:cNvSpPr txBox="1"/>
          <p:nvPr/>
        </p:nvSpPr>
        <p:spPr>
          <a:xfrm>
            <a:off x="6355080" y="2788920"/>
            <a:ext cx="2148840" cy="1371600"/>
          </a:xfrm>
          <a:prstGeom prst="rect">
            <a:avLst/>
          </a:prstGeom>
          <a:noFill/>
          <a:ln/>
        </p:spPr>
        <p:txBody>
          <a:bodyPr wrap="square" lIns="0" tIns="0" rIns="0" bIns="0" rtlCol="0" anchor="t"/>
          <a:lstStyle/>
          <a:p>
            <a:pPr indent="0" marL="0">
              <a:buNone/>
            </a:pPr>
            <a:r>
              <a:rPr lang="en-US" sz="1700" dirty="0">
                <a:solidFill>
                  <a:srgbClr val="C9CDD3"/>
                </a:solidFill>
                <a:latin typeface="Calibri" pitchFamily="34" charset="0"/>
                <a:ea typeface="Calibri" pitchFamily="34" charset="-122"/>
                <a:cs typeface="Calibri" pitchFamily="34" charset="-120"/>
              </a:rPr>
              <a:t>On conduit une voiture, pas « un véhicule »</a:t>
            </a:r>
            <a:endParaRPr lang="en-US" sz="1700" dirty="0"/>
          </a:p>
        </p:txBody>
      </p:sp>
      <p:sp>
        <p:nvSpPr>
          <p:cNvPr id="19" name="Text 16"/>
          <p:cNvSpPr txBox="1"/>
          <p:nvPr/>
        </p:nvSpPr>
        <p:spPr>
          <a:xfrm>
            <a:off x="6355080" y="4297680"/>
            <a:ext cx="2194560" cy="365760"/>
          </a:xfrm>
          <a:prstGeom prst="rect">
            <a:avLst/>
          </a:prstGeom>
          <a:noFill/>
          <a:ln/>
        </p:spPr>
        <p:txBody>
          <a:bodyPr wrap="square" lIns="0" tIns="0" rIns="0" bIns="0" rtlCol="0" anchor="ctr"/>
          <a:lstStyle/>
          <a:p>
            <a:pPr indent="0" marL="0">
              <a:buNone/>
            </a:pPr>
            <a:r>
              <a:rPr lang="en-US" sz="1400" b="1" dirty="0">
                <a:solidFill>
                  <a:srgbClr val="E8590C"/>
                </a:solidFill>
                <a:latin typeface="Calibri" pitchFamily="34" charset="0"/>
                <a:ea typeface="Calibri" pitchFamily="34" charset="-122"/>
                <a:cs typeface="Calibri" pitchFamily="34" charset="-120"/>
              </a:rPr>
              <a:t>S2</a:t>
            </a:r>
            <a:endParaRPr lang="en-US" sz="1400" dirty="0"/>
          </a:p>
        </p:txBody>
      </p:sp>
      <p:sp>
        <p:nvSpPr>
          <p:cNvPr id="20" name="Shape 17"/>
          <p:cNvSpPr/>
          <p:nvPr/>
        </p:nvSpPr>
        <p:spPr>
          <a:xfrm>
            <a:off x="8869680" y="1920240"/>
            <a:ext cx="2560320" cy="2926080"/>
          </a:xfrm>
          <a:prstGeom prst="roundRect">
            <a:avLst>
              <a:gd name="adj" fmla="val 2857"/>
            </a:avLst>
          </a:prstGeom>
          <a:solidFill>
            <a:srgbClr val="16181D"/>
          </a:solidFill>
          <a:ln w="12700">
            <a:solidFill>
              <a:srgbClr val="16181D"/>
            </a:solidFill>
            <a:prstDash val="solid"/>
          </a:ln>
        </p:spPr>
      </p:sp>
      <p:sp>
        <p:nvSpPr>
          <p:cNvPr id="21" name="Text 18"/>
          <p:cNvSpPr txBox="1"/>
          <p:nvPr/>
        </p:nvSpPr>
        <p:spPr>
          <a:xfrm>
            <a:off x="9098280" y="2148840"/>
            <a:ext cx="2194560" cy="54864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Polymorphisme</a:t>
            </a:r>
            <a:endParaRPr lang="en-US" sz="1900" dirty="0"/>
          </a:p>
        </p:txBody>
      </p:sp>
      <p:sp>
        <p:nvSpPr>
          <p:cNvPr id="22" name="Text 19"/>
          <p:cNvSpPr txBox="1"/>
          <p:nvPr/>
        </p:nvSpPr>
        <p:spPr>
          <a:xfrm>
            <a:off x="9098280" y="2788920"/>
            <a:ext cx="2148840" cy="1371600"/>
          </a:xfrm>
          <a:prstGeom prst="rect">
            <a:avLst/>
          </a:prstGeom>
          <a:noFill/>
          <a:ln/>
        </p:spPr>
        <p:txBody>
          <a:bodyPr wrap="square" lIns="0" tIns="0" rIns="0" bIns="0" rtlCol="0" anchor="t"/>
          <a:lstStyle/>
          <a:p>
            <a:pPr indent="0" marL="0">
              <a:buNone/>
            </a:pPr>
            <a:r>
              <a:rPr lang="en-US" sz="1700" dirty="0">
                <a:solidFill>
                  <a:srgbClr val="C9CDD3"/>
                </a:solidFill>
                <a:latin typeface="Calibri" pitchFamily="34" charset="0"/>
                <a:ea typeface="Calibri" pitchFamily="34" charset="-122"/>
                <a:cs typeface="Calibri" pitchFamily="34" charset="-120"/>
              </a:rPr>
              <a:t>Le bouton Imprimer</a:t>
            </a:r>
            <a:endParaRPr lang="en-US" sz="1700" dirty="0"/>
          </a:p>
        </p:txBody>
      </p:sp>
      <p:sp>
        <p:nvSpPr>
          <p:cNvPr id="23" name="Text 20"/>
          <p:cNvSpPr txBox="1"/>
          <p:nvPr/>
        </p:nvSpPr>
        <p:spPr>
          <a:xfrm>
            <a:off x="9098280" y="4297680"/>
            <a:ext cx="2194560" cy="365760"/>
          </a:xfrm>
          <a:prstGeom prst="rect">
            <a:avLst/>
          </a:prstGeom>
          <a:noFill/>
          <a:ln/>
        </p:spPr>
        <p:txBody>
          <a:bodyPr wrap="square" lIns="0" tIns="0" rIns="0" bIns="0" rtlCol="0" anchor="ctr"/>
          <a:lstStyle/>
          <a:p>
            <a:pPr indent="0" marL="0">
              <a:buNone/>
            </a:pPr>
            <a:r>
              <a:rPr lang="en-US" sz="1400" b="1" dirty="0">
                <a:solidFill>
                  <a:srgbClr val="E8590C"/>
                </a:solidFill>
                <a:latin typeface="Calibri" pitchFamily="34" charset="0"/>
                <a:ea typeface="Calibri" pitchFamily="34" charset="-122"/>
                <a:cs typeface="Calibri" pitchFamily="34" charset="-120"/>
              </a:rPr>
              <a:t>S2</a:t>
            </a:r>
            <a:endParaRPr lang="en-US" sz="1400" dirty="0"/>
          </a:p>
        </p:txBody>
      </p:sp>
      <p:sp>
        <p:nvSpPr>
          <p:cNvPr id="24" name="Text 21"/>
          <p:cNvSpPr txBox="1"/>
          <p:nvPr/>
        </p:nvSpPr>
        <p:spPr>
          <a:xfrm>
            <a:off x="640080" y="5212080"/>
            <a:ext cx="10911535" cy="457200"/>
          </a:xfrm>
          <a:prstGeom prst="rect">
            <a:avLst/>
          </a:prstGeom>
          <a:noFill/>
          <a:ln/>
        </p:spPr>
        <p:txBody>
          <a:bodyPr wrap="square" lIns="0" tIns="0" rIns="0" bIns="0" rtlCol="0" anchor="ctr"/>
          <a:lstStyle/>
          <a:p>
            <a:pPr indent="0" marL="0">
              <a:buNone/>
            </a:pPr>
            <a:r>
              <a:rPr lang="en-US" sz="1800" b="1" dirty="0">
                <a:solidFill>
                  <a:srgbClr val="16181D"/>
                </a:solidFill>
                <a:latin typeface="Calibri" pitchFamily="34" charset="0"/>
                <a:ea typeface="Calibri" pitchFamily="34" charset="-122"/>
                <a:cs typeface="Calibri" pitchFamily="34" charset="-120"/>
              </a:rPr>
              <a:t>Et deux relations à ne pas confondre : hériter (« est un ») et composer (« fait partie de »).</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CLÔTURE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Check-in et QCM de la séance 2 · 5 minutes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S2</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39</a:t>
            </a:r>
            <a:endParaRPr lang="en-US" sz="1000" dirty="0"/>
          </a:p>
        </p:txBody>
      </p:sp>
      <p:sp>
        <p:nvSpPr>
          <p:cNvPr id="8" name="Text 5"/>
          <p:cNvSpPr txBox="1"/>
          <p:nvPr/>
        </p:nvSpPr>
        <p:spPr>
          <a:xfrm>
            <a:off x="640080" y="1920240"/>
            <a:ext cx="10911535" cy="731520"/>
          </a:xfrm>
          <a:prstGeom prst="rect">
            <a:avLst/>
          </a:prstGeom>
          <a:noFill/>
          <a:ln/>
        </p:spPr>
        <p:txBody>
          <a:bodyPr wrap="square" lIns="0" tIns="0" rIns="0" bIns="0" rtlCol="0" anchor="ctr"/>
          <a:lstStyle/>
          <a:p>
            <a:pPr indent="0" marL="0">
              <a:buNone/>
            </a:pPr>
            <a:r>
              <a:rPr lang="en-US" sz="3000" b="1" dirty="0">
                <a:solidFill>
                  <a:srgbClr val="E8590C"/>
                </a:solidFill>
                <a:latin typeface="Arial" pitchFamily="34" charset="0"/>
                <a:ea typeface="Arial" pitchFamily="34" charset="-122"/>
                <a:cs typeface="Arial" pitchFamily="34" charset="-120"/>
              </a:rPr>
              <a:t>Lien dans le chat.</a:t>
            </a:r>
            <a:endParaRPr lang="en-US" sz="3000" dirty="0"/>
          </a:p>
        </p:txBody>
      </p:sp>
      <p:sp>
        <p:nvSpPr>
          <p:cNvPr id="9" name="Text 6"/>
          <p:cNvSpPr txBox="1"/>
          <p:nvPr/>
        </p:nvSpPr>
        <p:spPr>
          <a:xfrm>
            <a:off x="640080" y="2926080"/>
            <a:ext cx="7315200" cy="2377440"/>
          </a:xfrm>
          <a:prstGeom prst="rect">
            <a:avLst/>
          </a:prstGeom>
          <a:noFill/>
          <a:ln/>
        </p:spPr>
        <p:txBody>
          <a:bodyPr wrap="square" lIns="0" tIns="0" rIns="0" bIns="0" rtlCol="0" anchor="t"/>
          <a:lstStyle/>
          <a:p>
            <a:pPr marL="228600" indent="-228600">
              <a:spcAft>
                <a:spcPts val="800"/>
              </a:spcAft>
              <a:buSzPct val="100000"/>
              <a:buChar char="•"/>
            </a:pPr>
            <a:r>
              <a:rPr lang="en-US" sz="2200" dirty="0">
                <a:solidFill>
                  <a:srgbClr val="16181D"/>
                </a:solidFill>
                <a:latin typeface="Calibri" pitchFamily="34" charset="0"/>
                <a:ea typeface="Calibri" pitchFamily="34" charset="-122"/>
                <a:cs typeface="Calibri" pitchFamily="34" charset="-120"/>
              </a:rPr>
              <a:t>Votre présence du jour</a:t>
            </a:r>
            <a:endParaRPr lang="en-US" sz="2200" dirty="0"/>
          </a:p>
          <a:p>
            <a:pPr marL="228600" indent="-228600">
              <a:spcAft>
                <a:spcPts val="800"/>
              </a:spcAft>
              <a:buSzPct val="100000"/>
              <a:buChar char="•"/>
            </a:pPr>
            <a:r>
              <a:rPr lang="en-US" sz="2200" dirty="0">
                <a:solidFill>
                  <a:srgbClr val="16181D"/>
                </a:solidFill>
                <a:latin typeface="Calibri" pitchFamily="34" charset="0"/>
                <a:ea typeface="Calibri" pitchFamily="34" charset="-122"/>
                <a:cs typeface="Calibri" pitchFamily="34" charset="-120"/>
              </a:rPr>
              <a:t>6 questions sur la séance</a:t>
            </a:r>
            <a:endParaRPr lang="en-US" sz="2200" dirty="0"/>
          </a:p>
          <a:p>
            <a:pPr marL="228600" indent="-228600">
              <a:spcAft>
                <a:spcPts val="800"/>
              </a:spcAft>
              <a:buSzPct val="100000"/>
              <a:buChar char="•"/>
            </a:pPr>
            <a:r>
              <a:rPr lang="en-US" sz="2200" dirty="0">
                <a:solidFill>
                  <a:srgbClr val="16181D"/>
                </a:solidFill>
                <a:latin typeface="Calibri" pitchFamily="34" charset="0"/>
                <a:ea typeface="Calibri" pitchFamily="34" charset="-122"/>
                <a:cs typeface="Calibri" pitchFamily="34" charset="-120"/>
              </a:rPr>
              <a:t>Cette fois, ça compte</a:t>
            </a:r>
            <a:endParaRPr lang="en-US" sz="2200" dirty="0"/>
          </a:p>
          <a:p>
            <a:pPr marL="228600" indent="-228600">
              <a:spcAft>
                <a:spcPts val="800"/>
              </a:spcAft>
              <a:buSzPct val="100000"/>
              <a:buChar char="•"/>
            </a:pPr>
            <a:r>
              <a:rPr lang="en-US" sz="2200" dirty="0">
                <a:solidFill>
                  <a:srgbClr val="16181D"/>
                </a:solidFill>
                <a:latin typeface="Calibri" pitchFamily="34" charset="0"/>
                <a:ea typeface="Calibri" pitchFamily="34" charset="-122"/>
                <a:cs typeface="Calibri" pitchFamily="34" charset="-120"/>
              </a:rPr>
              <a:t>Couleur rouge : sans IA</a:t>
            </a:r>
            <a:endParaRPr lang="en-US" sz="2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6181D"/>
        </a:solidFill>
      </p:bgPr>
    </p:bg>
    <p:spTree>
      <p:nvGrpSpPr>
        <p:cNvPr id="1" name=""/>
        <p:cNvGrpSpPr/>
        <p:nvPr/>
      </p:nvGrpSpPr>
      <p:grpSpPr>
        <a:xfrm>
          <a:off x="0" y="0"/>
          <a:ext cx="0" cy="0"/>
          <a:chOff x="0" y="0"/>
          <a:chExt cx="0" cy="0"/>
        </a:xfrm>
      </p:grpSpPr>
      <p:sp>
        <p:nvSpPr>
          <p:cNvPr id="2" name="Shape 0"/>
          <p:cNvSpPr/>
          <p:nvPr/>
        </p:nvSpPr>
        <p:spPr>
          <a:xfrm>
            <a:off x="640080" y="2286000"/>
            <a:ext cx="274320" cy="274320"/>
          </a:xfrm>
          <a:prstGeom prst="rect">
            <a:avLst/>
          </a:prstGeom>
          <a:solidFill>
            <a:srgbClr val="E8590C"/>
          </a:solidFill>
          <a:ln w="12700">
            <a:solidFill>
              <a:srgbClr val="E8590C"/>
            </a:solidFill>
            <a:prstDash val="solid"/>
          </a:ln>
        </p:spPr>
      </p:sp>
      <p:sp>
        <p:nvSpPr>
          <p:cNvPr id="3" name="Text 1"/>
          <p:cNvSpPr txBox="1"/>
          <p:nvPr/>
        </p:nvSpPr>
        <p:spPr>
          <a:xfrm>
            <a:off x="640080" y="2743200"/>
            <a:ext cx="10911535"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Merci. À mercredi prochain.</a:t>
            </a:r>
            <a:endParaRPr lang="en-US" sz="4400" dirty="0"/>
          </a:p>
        </p:txBody>
      </p:sp>
      <p:sp>
        <p:nvSpPr>
          <p:cNvPr id="4" name="Text 2"/>
          <p:cNvSpPr txBox="1"/>
          <p:nvPr/>
        </p:nvSpPr>
        <p:spPr>
          <a:xfrm>
            <a:off x="640080" y="3749040"/>
            <a:ext cx="10911535" cy="54864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Séance 3 · Travailler en équipe : Git Flow, Conventional Commits, pull requests, code review, Scrum</a:t>
            </a:r>
            <a:endParaRPr lang="en-US" sz="2000" dirty="0"/>
          </a:p>
        </p:txBody>
      </p:sp>
      <p:sp>
        <p:nvSpPr>
          <p:cNvPr id="5" name="Text 3"/>
          <p:cNvSpPr txBox="1"/>
          <p:nvPr/>
        </p:nvSpPr>
        <p:spPr>
          <a:xfrm>
            <a:off x="640080" y="5303520"/>
            <a:ext cx="10911535" cy="365760"/>
          </a:xfrm>
          <a:prstGeom prst="rect">
            <a:avLst/>
          </a:prstGeom>
          <a:noFill/>
          <a:ln/>
        </p:spPr>
        <p:txBody>
          <a:bodyPr wrap="square" lIns="0" tIns="0" rIns="0" bIns="0" rtlCol="0" anchor="ctr"/>
          <a:lstStyle/>
          <a:p>
            <a:pPr indent="0" marL="0">
              <a:buNone/>
            </a:pPr>
            <a:r>
              <a:rPr lang="en-US" sz="1400" dirty="0">
                <a:solidFill>
                  <a:srgbClr val="9AA0A8"/>
                </a:solidFill>
                <a:latin typeface="Calibri" pitchFamily="34" charset="0"/>
                <a:ea typeface="Calibri" pitchFamily="34" charset="-122"/>
                <a:cs typeface="Calibri" pitchFamily="34" charset="-120"/>
              </a:rPr>
              <a:t>Pour ceux qui n'ont jamais utilisé Git (18 d'entre vous) : on commencera par les bases.</a:t>
            </a:r>
            <a:endParaRPr lang="en-US" sz="14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40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Complément Application — Séance 2</dc:title>
  <dc:subject>PptxGenJS Presentation</dc:subject>
  <dc:creator>Ludwig Lebrun</dc:creator>
  <cp:lastModifiedBy>Ludwig Lebrun</cp:lastModifiedBy>
  <cp:revision>1</cp:revision>
  <dcterms:created xsi:type="dcterms:W3CDTF">2026-09-30T15:58:30Z</dcterms:created>
  <dcterms:modified xsi:type="dcterms:W3CDTF">2026-09-30T15:58:30Z</dcterms:modified>
</cp:coreProperties>
</file>