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notesMasterIdLst>
    <p:notesMasterId r:id="rId4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Accueil. Annoncer le programme : aujourd'hui, on apprend à travailler à plusieurs sur le même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3 min] Raconter. En 2017, un sous-traitant de Toyota publie par erreur une partie du code source de T-Connect (l'application connectée des voitures) sur un dépôt GitHub public. Dans ce code : une clé d'accès à une base de données clients. Personne ne s'en aperçoit pendant près de cinq ans. En septembre 2022, des chercheurs la découvrent : 296 019 clients exposés (adresses e-mail et numéros clients). Toyota désactive la clé et rend le dépôt privé. Question au chat : supprimer le fichier du dépôt aurait-il suffi ? (Réponse dans deux slides : non, Git garde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[0:04 – 3 min] GitGuardian analyse chaque année les commits publics sur GitHub. En 2025 : 29 millions de nouveaux secrets (mots de passe, clés d'API, jetons), un record, en hausse de 34 %. Deux chiffres pour nous : les commits faits avec l'aide d'une IA laissent fuiter des secrets deux fois plus souvent que les autres (3,2 % contre 1,5 %). Et 64 % des secrets valides repérés en 2022 étaient encore utilisables en janvier 2026. Leçon : un secret publié doit être considéré comme volé, et changé.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Bloc de 30 minutes. 18 d'entre vous n'ont jamais utilisé Git : on part de zéro.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 3 min] Tout le monde connaît ce fichier. Sans outil, on garde des copies, on ne sait plus laquelle est la bonne, et à deux sur le même fichier on écrase le travail de l'autre. Un gestionnaire de versions répond à trois besoins : garder l'historique (revenir en arrière), savoir qui a changé quoi et pourquoi, travailler à plusieurs sans s'écraser. Git est aujourd'hui le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 2 min] En 2005, les développeurs du noyau Linux perdent l'accès gratuit à BitKeeper, l'outil qu'ils utilisaient. Linus Torvalds écrit Git en quelques semaines, avec trois objectifs : rapide, distribué (chaque développeur a tout l'historique), et fiable (chaque version a une empreinte unique, le hash, qu'on ne peut pas falsifier sans que ça se voie). En 2008 naît GitHub, une plateforme pour héberger des dépôts Git et collaborer. GitLab, Bitbucket et Forgejo font la même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[0:12 – 4 min] Les trois zones de Git, avec l'image du colis. Le répertoire de travail : votre bureau, où vous modifiez les fichiers. git add : vous mettez dans le carton ce que vous voulez envoyer (la zone de préparation, ou index). git commit : vous fermez le carton et vous collez une étiquette qui dit ce qu'il contient (le message de commit) ; le colis est rangé dans votre historique local. git push : vous l'envoyez à la poste, c'est-à-dire au dépôt distant (GitHub). git pull fait le chemin inverse : vous récupérez les colis des autres.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3 min] Pas besoin d'en connaître plus pour commencer. Rider et VS Code font tout ça avec des boutons ; mais connaître les commandes permet de comprendre ce que font les boutons, et de s'en sortir quand ça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 – 4 min] Faire le clone en direct (ou montrer le clone préparé). Lire le graphe. Montrer que les tags utilisés en S1 et S2 sont simplement des étiquettes posées sur des commits. Les étudiants peuvent faire le même clone chez eux.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[0:23 – 3 min] Image : le brouillon. Vous voulez essayer quelque chose sans abîmer la copie propre : vous travaillez sur un brouillon, et quand c'est bon, vous recopiez au propre. Une branche, c'est ce brouillon. main (la branche principale) reste stable ; chaque fonctionnalité se fait sur sa propre branche, puis est fusionnée (merge). Le conflit : deux personnes ont modifié la même ligne différemment ; Git ne devine pas, il vous demande de choisir.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[0:26 – 3 min] Réponse à la question du début. Supprimer le fichier crée un nouveau commit où le fichier n'existe plus, mais tous les commits précédents le contiennent toujours : n'importe qui peut remonter l'historique. Les deux bons réflexes : 1) ne jamais mettre de secret dans le code (fichier de configuration local exclu par .gitignore, user-secrets en .NET, coffre-fort de secrets : on le verra au Q2) ; 2) si un secret a été publié, le changer immédiatement (révoquer la clé, changer le mot de passe), puis seulement nettoyer l'historique.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 Bloc de 12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[0:29 – 5 min] Proposé en 2010 par Vincent Driessen, Git Flow est devenu un modèle très répandu. Deux branches permanentes : main (ce qui est en production, chaque version porte un tag) et develop (ce qui sera dans la prochaine version). Des branches temporaires : feature/… pour chaque fonctionnalité, partant de develop et y revenant ; release/… pour préparer une version ; hotfix/… pour corriger en urgence la production, partant de main et revenant dans main et develop. Lire le graphe de gauche à droite.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 – 4 min] En 2020, Vincent Driessen a ajouté une note à son article : pour les applications livrées en continu (la plupart des applications web), il recommande un modèle plus simple, comme GitHub Flow. Git Flow reste utile pour les logiciels livrés en versions numérotées, avec plusieurs versions maintenues en parallèle. GitHub Flow : une seule branche permanente, main ; chaque changement sur une branche courte ; une pull request ; on fusionne. Message : un modèle de branches se choisit selon la façon dont on livre. Dans ce cours : GitHub Flow pour les livrables, et Git Flow pour savoir le reconnaître en 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Bloc de 15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2 min] Lire l'historique de gauche à voix haute. Impossible de savoir ce qui a changé, ni pourquoi. Dans six mois, quand il faudra retrouver quel commit a cassé la clôture des incidents, cet historique ne servira à rien. À droite, l'historique réel de notre dépôt de démo : on comprend tout de suite ce que fait chaque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 4 min] Conventional Commits est une convention publique (version 1.0.0), inspirée des règles de commit du projet Angular. Un message commence par un type, éventuellement une portée entre parenthèses (la partie du code concernée), puis deux-points et une description courte à l'impératif présent ou à l'infinitif, en français dans notre cas. Les types les plus courants sont dans le tableau. Un point d'exclamation (feat!) ou une ligne BREAKING CHANGE signale un changement qui casse la compatibilité. Lire les deux exemples.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 – 3 min] Trois bénéfices. 1) Lire l'historique d'un coup d'œil, retrouver un bug. 2) Générer automatiquement les notes de version (changelog) : tous les feat dans « Nouveautés », tous les fix dans « Corrections ». 3) Calculer le numéro de version (Semantic Versioning, MAJEUR.MINEUR.CORRECTIF) : un fix augmente le correctif (1.1.0 → 1.1.1), un feat augmente le mineur (1.1.0 → 1.2.0), un changement cassant augmente le majeur (1.1.0 → 2.0.0). Pour le Livrable 1, le format des messages est vérifié automatiquement.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[0:47 – 4 min] Rider, VS Code et GitHub proposent de générer le message de commit avec l'IA. C'est pratique, à trois conditions. 1) Relire : l'IA décrit ce qu'elle voit dans le diff, pas pourquoi vous l'avez fait ; elle se trompe souvent de type (fix au lieu de feat). 2) Un commit = un changement : si l'IA doit écrire « et », « et », « et », le commit est trop gros. 3) Relire le diff avant de valider : c'est là que passent les secrets. Rappel GitGuardian : deux fois plus de fuites dans les commits assistés par IA. Démo possible : demander un message pour le diff de la branche demo/s03-pr-a-relire et voir si l'IA remarque le mot de passe.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 – 10 min] Pendant la pause : ouvrir la pull request de la branche demo/s03-pr-a-relire sur la forge du cours (Forgejo, voir deroule.md) et préparer les salles de sous-groupe.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 Bloc de 12 minutes, puis atelier de 25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 – 3 min] Une pull request (PR, ou merge request sur GitLab) : je propose de fusionner ma branche dans main. Elle montre le diff (ce qui change, ligne par ligne), permet de commenter chaque ligne, de lancer des vérifications automatiques, et de discuter avant d'accepter. Personne ne pousse directement sur main : on passe par une PR, relue par au moins une autre personne. C'est le principe des quatre yeux, très utilisé en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 – 3 min] Une étude menée chez Google (Sadowski et al., 2018) sur des milliers de relectures montre que la code review sert d'abord à partager la connaissance et à garder un code lisible et cohérent, puis à trouver des erreurs. Pour nous, il y a une raison de plus : c'est la dernière occasion de voir un secret, une faille ou une règle métier oubliée avant la production. Le ton compte : on relit le code, pas la personne. On pose des questions plutôt qu'on n'affirme.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[1:07 – 3 min] Une grille simple, qui reprend tout ce qu'on a vu. Elle servira pour l'atelier, et pour relire votre propre code avant chaque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 – 25 min] Atelier en salles de sous-groupe (4 à 6 personnes, un tuteur par salle si possible). Kévin, un collègue fictif, propose une pull request. Chaque salle relit le diff sur la forge du cours (Forgejo) avec la grille, et laisse ses commentaires sur les lignes concernées (compte sur la forge nécessaire ; sinon, noter dans le chat de la salle). 15 minutes de relecture, puis 10 minutes de mise en commun : chaque salle donne un problème trouvé, sans répéter les autres. Défauts à trouver (ne pas les donner) : 1) mot de passe SMTP en dur dans EmailNotifier ; 2) le log DEBUG qui l'affiche ; 3) Title repassé en public set ; 4) Reopen() rouvre un incident clôturé sans vérifier la règle ; 5) Program.cs met un titre vide sans être refusé ; 6) messages de commit « wip », « fix », « ça marche ». Rappel : le mot de passe est fictif.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 – 3 min] Faire le lien avec chaque partie du cours. Le plus grave : le mot de passe, en dur ET affiché dans les logs. Ensuite, Reopen() contourne la règle métier ; c'est exactement ce que l'encapsulation et les transitions contrôlées devaient empêcher. Décision de relecture : « changements demandés », pas de 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 Bloc de 20 minutes. 32 d'entre vous n'ont jamais travaillé en Scrum, 7 le pratiquent : leur demander un témoignage rapide.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 – 3 min] Image : commander une maison, ne rien voir pendant deux ans, et découvrir à la livraison que la cuisine est au mauvais endroit. C'est l'effet tunnel des grands projets en cascade (on spécifie tout, on développe tout, on livre tout à la fin). L'agilité propose l'inverse : livrer souvent de petits morceaux utilisables, montrer, corriger le tir. Le Manifeste agile (2001) en pose les valeurs ; Scrum, créé par Ken Schwaber et Jeff Sutherland (présenté en 1995), en est le cadre le plus utilisé. Le Scrum Guide officiel fait 13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[1:41 – 5 min] Parcourir les trois colonnes. Responsabilités : le Product Owner décide ce qui a le plus de valeur (il ordonne le backlog) ; le Scrum Master aide l'équipe à appliquer Scrum et lève les obstacles ; les Developers construisent (tous ceux qui produisent : développeurs, testeurs, analystes). Événements : le Sprint (2 à 4 semaines) contient tout le reste ; le Sprint Planning choisit quoi faire ; le Daily Scrum, 15 minutes chaque jour ; la Sprint Review montre le résultat ; la Rétrospective améliore la façon de travailler. Artefacts : le Product Backlog (tout ce qu'on voudrait faire, ordonné), le Sprint Backlog (ce qu'on fait ce sprint), l'Increment (ce qui est terminé et utilisable).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[1:46 – 4 min] Une user story décrit un besoin du point de vue de l'utilisateur, en une phrase, avec des critères d'acceptation qui disent quand c'est terminé. Le format « En tant que… je veux… afin de… » est né en 2001 chez Connextra. Le « afin de » est le plus important : c'est la raison, la valeur. Les critères d'acceptation ressemblent beaucoup à nos règles métier : ce sont eux qui deviendront des tests en S8. Faire lire les trois exemples d'IncidentHub.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3 min] Le tableau (kanban) rend le travail visible. Chaque carte est une user story ; elle avance de colonne en colonne. La colonne « En revue » correspond à la pull request : rien n'est « Terminé » sans relecture. Forgejo (la forge du cours), GitHub et GitLab proposent ce tableau directement à côté du code ; Jira est très utilisé en 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Bloc de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 – 4 min] Présenter l'énoncé (ENONCE.md, dans Teams). Tout le contenu a été vu en S1 et S2 ; la partie Git a été vue aujourd'hui. Couleur orange : IA autorisée, AI-LOG.md obligatoire. Le diagramme docs/modele.md doit correspondre au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[1:57 – 3 min] Apprendre : le template, avec des TODO numérotés ; après chaque étape, on lance le programme et on fait un commit. Approfondir : une solution vide, en respectant le même contrat (noms des classes et des méthodes), et une extension au choix. La vérification est faite automatiquement à la correction : il n'y a rien de plus à lancer de votre côté (les tests seront vus en séance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 3 min] Grille binaire : chaque critère est respecté ou non. La plupart sont vérifiés automatiquement ; l'AI-LOG, la cohérence du diagramme et l'extension Approfondir sont relus. Le livrable compte pour 2 points sur 20. Les QCM contiendront aussi des questions sur 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[2:03 – 2 min] Récapituler en quatre réflexes, avec les images de la séance.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 – 6 min] Coller le lien Forms. Couleur rouge : sans IA. Le check-in de présence est dans le même formulaire.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 Fin. Exporter le QCM S4 et le check-in. Fermer la pull request de démo sans la fusionner.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Shape 0"/>
          <p:cNvSpPr/>
          <p:nvPr/>
        </p:nvSpPr>
        <p:spPr>
          <a:xfrm>
            <a:off x="640080" y="1737360"/>
            <a:ext cx="274320" cy="274320"/>
          </a:xfrm>
          <a:prstGeom prst="rect">
            <a:avLst/>
          </a:prstGeom>
          <a:solidFill>
            <a:srgbClr val="E8590C"/>
          </a:solidFill>
          <a:ln w="12700">
            <a:solidFill>
              <a:srgbClr val="E8590C"/>
            </a:solidFill>
            <a:prstDash val="solid"/>
          </a:ln>
        </p:spPr>
      </p:sp>
      <p:sp>
        <p:nvSpPr>
          <p:cNvPr id="3" name="Text 1"/>
          <p:cNvSpPr txBox="1"/>
          <p:nvPr/>
        </p:nvSpPr>
        <p:spPr>
          <a:xfrm>
            <a:off x="640080" y="2194560"/>
            <a:ext cx="10911535" cy="1097280"/>
          </a:xfrm>
          <a:prstGeom prst="rect">
            <a:avLst/>
          </a:prstGeom>
          <a:noFill/>
          <a:ln/>
        </p:spPr>
        <p:txBody>
          <a:bodyPr wrap="square" lIns="0" tIns="0" rIns="0" bIns="0" rtlCol="0" anchor="ctr"/>
          <a:lstStyle/>
          <a:p>
            <a:pPr indent="0" marL="0">
              <a:buNone/>
            </a:pPr>
            <a:r>
              <a:rPr lang="en-US" sz="5400" b="1" dirty="0">
                <a:solidFill>
                  <a:srgbClr val="FFFFFF"/>
                </a:solidFill>
                <a:latin typeface="Arial" pitchFamily="34" charset="0"/>
                <a:ea typeface="Arial" pitchFamily="34" charset="-122"/>
                <a:cs typeface="Arial" pitchFamily="34" charset="-120"/>
              </a:rPr>
              <a:t>Complément Application</a:t>
            </a:r>
            <a:endParaRPr lang="en-US" sz="5400" dirty="0"/>
          </a:p>
        </p:txBody>
      </p:sp>
      <p:sp>
        <p:nvSpPr>
          <p:cNvPr id="4" name="Text 2"/>
          <p:cNvSpPr txBox="1"/>
          <p:nvPr/>
        </p:nvSpPr>
        <p:spPr>
          <a:xfrm>
            <a:off x="640080" y="3291840"/>
            <a:ext cx="10911535" cy="640080"/>
          </a:xfrm>
          <a:prstGeom prst="rect">
            <a:avLst/>
          </a:prstGeom>
          <a:noFill/>
          <a:ln/>
        </p:spPr>
        <p:txBody>
          <a:bodyPr wrap="square" lIns="0" tIns="0" rIns="0" bIns="0" rtlCol="0" anchor="ctr"/>
          <a:lstStyle/>
          <a:p>
            <a:pPr indent="0" marL="0">
              <a:buNone/>
            </a:pPr>
            <a:r>
              <a:rPr lang="en-US" sz="2600" dirty="0">
                <a:solidFill>
                  <a:srgbClr val="C9CDD3"/>
                </a:solidFill>
                <a:latin typeface="Calibri" pitchFamily="34" charset="0"/>
                <a:ea typeface="Calibri" pitchFamily="34" charset="-122"/>
                <a:cs typeface="Calibri" pitchFamily="34" charset="-120"/>
              </a:rPr>
              <a:t>Séance 4 · Travailler en équipe</a:t>
            </a:r>
            <a:endParaRPr lang="en-US" sz="2600" dirty="0"/>
          </a:p>
        </p:txBody>
      </p:sp>
      <p:sp>
        <p:nvSpPr>
          <p:cNvPr id="5" name="Text 3"/>
          <p:cNvSpPr txBox="1"/>
          <p:nvPr/>
        </p:nvSpPr>
        <p:spPr>
          <a:xfrm>
            <a:off x="640080" y="3931920"/>
            <a:ext cx="10911535" cy="548640"/>
          </a:xfrm>
          <a:prstGeom prst="rect">
            <a:avLst/>
          </a:prstGeom>
          <a:noFill/>
          <a:ln/>
        </p:spPr>
        <p:txBody>
          <a:bodyPr wrap="square" lIns="0" tIns="0" rIns="0" bIns="0" rtlCol="0" anchor="ctr"/>
          <a:lstStyle/>
          <a:p>
            <a:pPr indent="0" marL="0">
              <a:buNone/>
            </a:pPr>
            <a:r>
              <a:rPr lang="en-US" sz="1800" dirty="0">
                <a:solidFill>
                  <a:srgbClr val="9AA0A8"/>
                </a:solidFill>
                <a:latin typeface="Calibri" pitchFamily="34" charset="0"/>
                <a:ea typeface="Calibri" pitchFamily="34" charset="-122"/>
                <a:cs typeface="Calibri" pitchFamily="34" charset="-120"/>
              </a:rPr>
              <a:t>Git · Git Flow · Conventional Commits · pull requests · code review · Scrum</a:t>
            </a:r>
            <a:endParaRPr lang="en-US" sz="1800" dirty="0"/>
          </a:p>
        </p:txBody>
      </p:sp>
      <p:sp>
        <p:nvSpPr>
          <p:cNvPr id="6" name="Text 4"/>
          <p:cNvSpPr txBox="1"/>
          <p:nvPr/>
        </p:nvSpPr>
        <p:spPr>
          <a:xfrm>
            <a:off x="640080" y="5486400"/>
            <a:ext cx="10911535" cy="365760"/>
          </a:xfrm>
          <a:prstGeom prst="rect">
            <a:avLst/>
          </a:prstGeom>
          <a:noFill/>
          <a:ln/>
        </p:spPr>
        <p:txBody>
          <a:bodyPr wrap="square" lIns="0" tIns="0" rIns="0" bIns="0" rtlCol="0" anchor="ctr"/>
          <a:lstStyle/>
          <a:p>
            <a:pPr indent="0" marL="0">
              <a:buNone/>
            </a:pPr>
            <a:r>
              <a:rPr lang="en-US" sz="1400" dirty="0">
                <a:solidFill>
                  <a:srgbClr val="9AA0A8"/>
                </a:solidFill>
                <a:latin typeface="Calibri" pitchFamily="34" charset="0"/>
                <a:ea typeface="Calibri" pitchFamily="34" charset="-122"/>
                <a:cs typeface="Calibri" pitchFamily="34" charset="-120"/>
              </a:rPr>
              <a:t>Ludwig Lebrun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indent="0" marL="0">
              <a:buNone/>
            </a:pPr>
            <a:r>
              <a:rPr lang="en-US" sz="1800" b="1" spc="300" kern="0" dirty="0">
                <a:solidFill>
                  <a:srgbClr val="E8590C"/>
                </a:solidFill>
                <a:latin typeface="Calibri" pitchFamily="34" charset="0"/>
                <a:ea typeface="Calibri" pitchFamily="34" charset="-122"/>
                <a:cs typeface="Calibri" pitchFamily="34" charset="-120"/>
              </a:rPr>
              <a:t>Décembre 2017</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S4</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2</a:t>
            </a:r>
            <a:endParaRPr lang="en-US" sz="1000" dirty="0"/>
          </a:p>
        </p:txBody>
      </p:sp>
      <p:sp>
        <p:nvSpPr>
          <p:cNvPr id="6" name="Text 3"/>
          <p:cNvSpPr txBox="1"/>
          <p:nvPr/>
        </p:nvSpPr>
        <p:spPr>
          <a:xfrm>
            <a:off x="640080" y="1645920"/>
            <a:ext cx="10911535" cy="914400"/>
          </a:xfrm>
          <a:prstGeom prst="rect">
            <a:avLst/>
          </a:prstGeom>
          <a:noFill/>
          <a:ln/>
        </p:spPr>
        <p:txBody>
          <a:bodyPr wrap="square" lIns="0" tIns="0" rIns="0" bIns="0" rtlCol="0" anchor="ctr"/>
          <a:lstStyle/>
          <a:p>
            <a:pPr indent="0" marL="0">
              <a:buNone/>
            </a:pPr>
            <a:r>
              <a:rPr lang="en-US" sz="3600" b="1" dirty="0">
                <a:solidFill>
                  <a:srgbClr val="FFFFFF"/>
                </a:solidFill>
                <a:latin typeface="Arial" pitchFamily="34" charset="0"/>
                <a:ea typeface="Arial" pitchFamily="34" charset="-122"/>
                <a:cs typeface="Arial" pitchFamily="34" charset="-120"/>
              </a:rPr>
              <a:t>Une clé d'accès oubliée sur GitHub, cinq ans</a:t>
            </a:r>
            <a:endParaRPr lang="en-US" sz="3600" dirty="0"/>
          </a:p>
        </p:txBody>
      </p:sp>
      <p:sp>
        <p:nvSpPr>
          <p:cNvPr id="7" name="Shape 4"/>
          <p:cNvSpPr/>
          <p:nvPr/>
        </p:nvSpPr>
        <p:spPr>
          <a:xfrm>
            <a:off x="640080" y="2834640"/>
            <a:ext cx="2560320" cy="2377440"/>
          </a:xfrm>
          <a:prstGeom prst="roundRect">
            <a:avLst>
              <a:gd name="adj" fmla="val 3077"/>
            </a:avLst>
          </a:prstGeom>
          <a:solidFill>
            <a:srgbClr val="2A2D34"/>
          </a:solidFill>
          <a:ln w="12700">
            <a:solidFill>
              <a:srgbClr val="2A2D34"/>
            </a:solidFill>
            <a:prstDash val="solid"/>
          </a:ln>
        </p:spPr>
      </p:sp>
      <p:sp>
        <p:nvSpPr>
          <p:cNvPr id="8" name="Text 5"/>
          <p:cNvSpPr txBox="1"/>
          <p:nvPr/>
        </p:nvSpPr>
        <p:spPr>
          <a:xfrm>
            <a:off x="868680" y="2971800"/>
            <a:ext cx="219456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Déc. 2017</a:t>
            </a:r>
            <a:endParaRPr lang="en-US" sz="1900" dirty="0"/>
          </a:p>
        </p:txBody>
      </p:sp>
      <p:sp>
        <p:nvSpPr>
          <p:cNvPr id="9" name="Text 6"/>
          <p:cNvSpPr txBox="1"/>
          <p:nvPr/>
        </p:nvSpPr>
        <p:spPr>
          <a:xfrm>
            <a:off x="868680" y="3474720"/>
            <a:ext cx="2148840" cy="16459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Un sous-traitant de Toyota publie du code de T-Connect sur un dépôt GitHub public, avec une clé d'accès à une base clients.</a:t>
            </a:r>
            <a:endParaRPr lang="en-US" sz="1450" dirty="0"/>
          </a:p>
        </p:txBody>
      </p:sp>
      <p:sp>
        <p:nvSpPr>
          <p:cNvPr id="10" name="Shape 7"/>
          <p:cNvSpPr/>
          <p:nvPr/>
        </p:nvSpPr>
        <p:spPr>
          <a:xfrm>
            <a:off x="3383280" y="2834640"/>
            <a:ext cx="2560320" cy="2377440"/>
          </a:xfrm>
          <a:prstGeom prst="roundRect">
            <a:avLst>
              <a:gd name="adj" fmla="val 3077"/>
            </a:avLst>
          </a:prstGeom>
          <a:solidFill>
            <a:srgbClr val="2A2D34"/>
          </a:solidFill>
          <a:ln w="12700">
            <a:solidFill>
              <a:srgbClr val="2A2D34"/>
            </a:solidFill>
            <a:prstDash val="solid"/>
          </a:ln>
        </p:spPr>
      </p:sp>
      <p:sp>
        <p:nvSpPr>
          <p:cNvPr id="11" name="Text 8"/>
          <p:cNvSpPr txBox="1"/>
          <p:nvPr/>
        </p:nvSpPr>
        <p:spPr>
          <a:xfrm>
            <a:off x="3611880" y="2971800"/>
            <a:ext cx="219456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2017-2022</a:t>
            </a:r>
            <a:endParaRPr lang="en-US" sz="1900" dirty="0"/>
          </a:p>
        </p:txBody>
      </p:sp>
      <p:sp>
        <p:nvSpPr>
          <p:cNvPr id="12" name="Text 9"/>
          <p:cNvSpPr txBox="1"/>
          <p:nvPr/>
        </p:nvSpPr>
        <p:spPr>
          <a:xfrm>
            <a:off x="3611880" y="3474720"/>
            <a:ext cx="2148840" cy="16459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Le dépôt reste public. Personne ne remarque la clé.</a:t>
            </a:r>
            <a:endParaRPr lang="en-US" sz="1450" dirty="0"/>
          </a:p>
        </p:txBody>
      </p:sp>
      <p:sp>
        <p:nvSpPr>
          <p:cNvPr id="13" name="Shape 10"/>
          <p:cNvSpPr/>
          <p:nvPr/>
        </p:nvSpPr>
        <p:spPr>
          <a:xfrm>
            <a:off x="6126480" y="2834640"/>
            <a:ext cx="2560320" cy="2377440"/>
          </a:xfrm>
          <a:prstGeom prst="roundRect">
            <a:avLst>
              <a:gd name="adj" fmla="val 3077"/>
            </a:avLst>
          </a:prstGeom>
          <a:solidFill>
            <a:srgbClr val="2A2D34"/>
          </a:solidFill>
          <a:ln w="12700">
            <a:solidFill>
              <a:srgbClr val="2A2D34"/>
            </a:solidFill>
            <a:prstDash val="solid"/>
          </a:ln>
        </p:spPr>
      </p:sp>
      <p:sp>
        <p:nvSpPr>
          <p:cNvPr id="14" name="Text 11"/>
          <p:cNvSpPr txBox="1"/>
          <p:nvPr/>
        </p:nvSpPr>
        <p:spPr>
          <a:xfrm>
            <a:off x="6355080" y="2971800"/>
            <a:ext cx="219456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Sept. 2022</a:t>
            </a:r>
            <a:endParaRPr lang="en-US" sz="1900" dirty="0"/>
          </a:p>
        </p:txBody>
      </p:sp>
      <p:sp>
        <p:nvSpPr>
          <p:cNvPr id="15" name="Text 12"/>
          <p:cNvSpPr txBox="1"/>
          <p:nvPr/>
        </p:nvSpPr>
        <p:spPr>
          <a:xfrm>
            <a:off x="6355080" y="3474720"/>
            <a:ext cx="2148840" cy="16459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Découverte. Clé désactivée, dépôt rendu privé.</a:t>
            </a:r>
            <a:endParaRPr lang="en-US" sz="1450" dirty="0"/>
          </a:p>
        </p:txBody>
      </p:sp>
      <p:sp>
        <p:nvSpPr>
          <p:cNvPr id="16" name="Shape 13"/>
          <p:cNvSpPr/>
          <p:nvPr/>
        </p:nvSpPr>
        <p:spPr>
          <a:xfrm>
            <a:off x="8869680" y="2834640"/>
            <a:ext cx="2560320" cy="2377440"/>
          </a:xfrm>
          <a:prstGeom prst="roundRect">
            <a:avLst>
              <a:gd name="adj" fmla="val 3077"/>
            </a:avLst>
          </a:prstGeom>
          <a:solidFill>
            <a:srgbClr val="2A2D34"/>
          </a:solidFill>
          <a:ln w="12700">
            <a:solidFill>
              <a:srgbClr val="2A2D34"/>
            </a:solidFill>
            <a:prstDash val="solid"/>
          </a:ln>
        </p:spPr>
      </p:sp>
      <p:sp>
        <p:nvSpPr>
          <p:cNvPr id="17" name="Text 14"/>
          <p:cNvSpPr txBox="1"/>
          <p:nvPr/>
        </p:nvSpPr>
        <p:spPr>
          <a:xfrm>
            <a:off x="9098280" y="2971800"/>
            <a:ext cx="219456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Oct. 2022</a:t>
            </a:r>
            <a:endParaRPr lang="en-US" sz="1900" dirty="0"/>
          </a:p>
        </p:txBody>
      </p:sp>
      <p:sp>
        <p:nvSpPr>
          <p:cNvPr id="18" name="Text 15"/>
          <p:cNvSpPr txBox="1"/>
          <p:nvPr/>
        </p:nvSpPr>
        <p:spPr>
          <a:xfrm>
            <a:off x="9098280" y="3474720"/>
            <a:ext cx="2148840" cy="1645920"/>
          </a:xfrm>
          <a:prstGeom prst="rect">
            <a:avLst/>
          </a:prstGeom>
          <a:noFill/>
          <a:ln/>
        </p:spPr>
        <p:txBody>
          <a:bodyPr wrap="square" lIns="0" tIns="0" rIns="0" bIns="0" rtlCol="0" anchor="t"/>
          <a:lstStyle/>
          <a:p>
            <a:pPr indent="0" marL="0">
              <a:buNone/>
            </a:pPr>
            <a:r>
              <a:rPr lang="en-US" sz="1450" dirty="0">
                <a:solidFill>
                  <a:srgbClr val="FFFFFF"/>
                </a:solidFill>
                <a:latin typeface="Calibri" pitchFamily="34" charset="0"/>
                <a:ea typeface="Calibri" pitchFamily="34" charset="-122"/>
                <a:cs typeface="Calibri" pitchFamily="34" charset="-120"/>
              </a:rPr>
              <a:t>Toyota annonce 296 019 clients exposés (e-mails, numéros clients).</a:t>
            </a:r>
            <a:endParaRPr lang="en-US" sz="1450" dirty="0"/>
          </a:p>
        </p:txBody>
      </p:sp>
      <p:sp>
        <p:nvSpPr>
          <p:cNvPr id="19" name="Text 1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9AA0A8"/>
                </a:solidFill>
                <a:latin typeface="Calibri" pitchFamily="34" charset="0"/>
                <a:ea typeface="Calibri" pitchFamily="34" charset="-122"/>
                <a:cs typeface="Calibri" pitchFamily="34" charset="-120"/>
              </a:rPr>
              <a:t>Source : The Register, 11/10/2022 ; GitGuardian, « Toyota accidentally exposed a secret key publicly on GitHub for five years » (2022).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ET CE N'EST PAS RARE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29 millions de secrets publiés sur GitHub en 2025</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640080" y="1828800"/>
            <a:ext cx="3474720" cy="2743200"/>
          </a:xfrm>
          <a:prstGeom prst="roundRect">
            <a:avLst>
              <a:gd name="adj" fmla="val 2667"/>
            </a:avLst>
          </a:prstGeom>
          <a:solidFill>
            <a:srgbClr val="F2F3F5"/>
          </a:solidFill>
          <a:ln w="12700">
            <a:solidFill>
              <a:srgbClr val="F2F3F5"/>
            </a:solidFill>
            <a:prstDash val="solid"/>
          </a:ln>
        </p:spPr>
      </p:sp>
      <p:sp>
        <p:nvSpPr>
          <p:cNvPr id="9" name="Text 6"/>
          <p:cNvSpPr txBox="1"/>
          <p:nvPr/>
        </p:nvSpPr>
        <p:spPr>
          <a:xfrm>
            <a:off x="914400" y="1965960"/>
            <a:ext cx="2926080" cy="1097280"/>
          </a:xfrm>
          <a:prstGeom prst="rect">
            <a:avLst/>
          </a:prstGeom>
          <a:noFill/>
          <a:ln/>
        </p:spPr>
        <p:txBody>
          <a:bodyPr wrap="square" lIns="0" tIns="0" rIns="0" bIns="0" rtlCol="0" anchor="ctr"/>
          <a:lstStyle/>
          <a:p>
            <a:pPr indent="0" marL="0">
              <a:buNone/>
            </a:pPr>
            <a:r>
              <a:rPr lang="en-US" sz="5600" b="1" dirty="0">
                <a:solidFill>
                  <a:srgbClr val="16181D"/>
                </a:solidFill>
                <a:latin typeface="Arial" pitchFamily="34" charset="0"/>
                <a:ea typeface="Arial" pitchFamily="34" charset="-122"/>
                <a:cs typeface="Arial" pitchFamily="34" charset="-120"/>
              </a:rPr>
              <a:t>29 M</a:t>
            </a:r>
            <a:endParaRPr lang="en-US" sz="5600" dirty="0"/>
          </a:p>
        </p:txBody>
      </p:sp>
      <p:sp>
        <p:nvSpPr>
          <p:cNvPr id="10" name="Text 7"/>
          <p:cNvSpPr txBox="1"/>
          <p:nvPr/>
        </p:nvSpPr>
        <p:spPr>
          <a:xfrm>
            <a:off x="914400" y="3108960"/>
            <a:ext cx="2926080" cy="1280160"/>
          </a:xfrm>
          <a:prstGeom prst="rect">
            <a:avLst/>
          </a:prstGeom>
          <a:noFill/>
          <a:ln/>
        </p:spPr>
        <p:txBody>
          <a:bodyPr wrap="square" lIns="0" tIns="0" rIns="0" bIns="0" rtlCol="0" anchor="t"/>
          <a:lstStyle/>
          <a:p>
            <a:pPr indent="0" marL="0">
              <a:buNone/>
            </a:pPr>
            <a:r>
              <a:rPr lang="en-US" sz="1600" dirty="0">
                <a:solidFill>
                  <a:srgbClr val="16181D"/>
                </a:solidFill>
                <a:latin typeface="Calibri" pitchFamily="34" charset="0"/>
                <a:ea typeface="Calibri" pitchFamily="34" charset="-122"/>
                <a:cs typeface="Calibri" pitchFamily="34" charset="-120"/>
              </a:rPr>
              <a:t>secrets publiés sur GitHub en 2025 (+34 %)</a:t>
            </a:r>
            <a:endParaRPr lang="en-US" sz="1600" dirty="0"/>
          </a:p>
        </p:txBody>
      </p:sp>
      <p:sp>
        <p:nvSpPr>
          <p:cNvPr id="11" name="Shape 8"/>
          <p:cNvSpPr/>
          <p:nvPr/>
        </p:nvSpPr>
        <p:spPr>
          <a:xfrm>
            <a:off x="4343400" y="1828800"/>
            <a:ext cx="3474720" cy="2743200"/>
          </a:xfrm>
          <a:prstGeom prst="roundRect">
            <a:avLst>
              <a:gd name="adj" fmla="val 2667"/>
            </a:avLst>
          </a:prstGeom>
          <a:solidFill>
            <a:srgbClr val="16181D"/>
          </a:solidFill>
          <a:ln w="12700">
            <a:solidFill>
              <a:srgbClr val="16181D"/>
            </a:solidFill>
            <a:prstDash val="solid"/>
          </a:ln>
        </p:spPr>
      </p:sp>
      <p:sp>
        <p:nvSpPr>
          <p:cNvPr id="12" name="Text 9"/>
          <p:cNvSpPr txBox="1"/>
          <p:nvPr/>
        </p:nvSpPr>
        <p:spPr>
          <a:xfrm>
            <a:off x="4617720" y="1965960"/>
            <a:ext cx="2926080" cy="1097280"/>
          </a:xfrm>
          <a:prstGeom prst="rect">
            <a:avLst/>
          </a:prstGeom>
          <a:noFill/>
          <a:ln/>
        </p:spPr>
        <p:txBody>
          <a:bodyPr wrap="square" lIns="0" tIns="0" rIns="0" bIns="0" rtlCol="0" anchor="ctr"/>
          <a:lstStyle/>
          <a:p>
            <a:pPr indent="0" marL="0">
              <a:buNone/>
            </a:pPr>
            <a:r>
              <a:rPr lang="en-US" sz="5600" b="1" dirty="0">
                <a:solidFill>
                  <a:srgbClr val="E8590C"/>
                </a:solidFill>
                <a:latin typeface="Arial" pitchFamily="34" charset="0"/>
                <a:ea typeface="Arial" pitchFamily="34" charset="-122"/>
                <a:cs typeface="Arial" pitchFamily="34" charset="-120"/>
              </a:rPr>
              <a:t>× 2</a:t>
            </a:r>
            <a:endParaRPr lang="en-US" sz="5600" dirty="0"/>
          </a:p>
        </p:txBody>
      </p:sp>
      <p:sp>
        <p:nvSpPr>
          <p:cNvPr id="13" name="Text 10"/>
          <p:cNvSpPr txBox="1"/>
          <p:nvPr/>
        </p:nvSpPr>
        <p:spPr>
          <a:xfrm>
            <a:off x="4617720" y="3108960"/>
            <a:ext cx="2926080" cy="12801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plus de fuites dans les commits assistés par IA (3,2 % contre 1,5 %)</a:t>
            </a:r>
            <a:endParaRPr lang="en-US" sz="1600" dirty="0"/>
          </a:p>
        </p:txBody>
      </p:sp>
      <p:sp>
        <p:nvSpPr>
          <p:cNvPr id="14" name="Shape 11"/>
          <p:cNvSpPr/>
          <p:nvPr/>
        </p:nvSpPr>
        <p:spPr>
          <a:xfrm>
            <a:off x="8046720" y="1828800"/>
            <a:ext cx="3474720" cy="2743200"/>
          </a:xfrm>
          <a:prstGeom prst="roundRect">
            <a:avLst>
              <a:gd name="adj" fmla="val 2667"/>
            </a:avLst>
          </a:prstGeom>
          <a:solidFill>
            <a:srgbClr val="F2F3F5"/>
          </a:solidFill>
          <a:ln w="12700">
            <a:solidFill>
              <a:srgbClr val="F2F3F5"/>
            </a:solidFill>
            <a:prstDash val="solid"/>
          </a:ln>
        </p:spPr>
      </p:sp>
      <p:sp>
        <p:nvSpPr>
          <p:cNvPr id="15" name="Text 12"/>
          <p:cNvSpPr txBox="1"/>
          <p:nvPr/>
        </p:nvSpPr>
        <p:spPr>
          <a:xfrm>
            <a:off x="8321040" y="1965960"/>
            <a:ext cx="2926080" cy="1097280"/>
          </a:xfrm>
          <a:prstGeom prst="rect">
            <a:avLst/>
          </a:prstGeom>
          <a:noFill/>
          <a:ln/>
        </p:spPr>
        <p:txBody>
          <a:bodyPr wrap="square" lIns="0" tIns="0" rIns="0" bIns="0" rtlCol="0" anchor="ctr"/>
          <a:lstStyle/>
          <a:p>
            <a:pPr indent="0" marL="0">
              <a:buNone/>
            </a:pPr>
            <a:r>
              <a:rPr lang="en-US" sz="5600" b="1" dirty="0">
                <a:solidFill>
                  <a:srgbClr val="16181D"/>
                </a:solidFill>
                <a:latin typeface="Arial" pitchFamily="34" charset="0"/>
                <a:ea typeface="Arial" pitchFamily="34" charset="-122"/>
                <a:cs typeface="Arial" pitchFamily="34" charset="-120"/>
              </a:rPr>
              <a:t>64 %</a:t>
            </a:r>
            <a:endParaRPr lang="en-US" sz="5600" dirty="0"/>
          </a:p>
        </p:txBody>
      </p:sp>
      <p:sp>
        <p:nvSpPr>
          <p:cNvPr id="16" name="Text 13"/>
          <p:cNvSpPr txBox="1"/>
          <p:nvPr/>
        </p:nvSpPr>
        <p:spPr>
          <a:xfrm>
            <a:off x="8321040" y="3108960"/>
            <a:ext cx="2926080" cy="1280160"/>
          </a:xfrm>
          <a:prstGeom prst="rect">
            <a:avLst/>
          </a:prstGeom>
          <a:noFill/>
          <a:ln/>
        </p:spPr>
        <p:txBody>
          <a:bodyPr wrap="square" lIns="0" tIns="0" rIns="0" bIns="0" rtlCol="0" anchor="t"/>
          <a:lstStyle/>
          <a:p>
            <a:pPr indent="0" marL="0">
              <a:buNone/>
            </a:pPr>
            <a:r>
              <a:rPr lang="en-US" sz="1600" dirty="0">
                <a:solidFill>
                  <a:srgbClr val="16181D"/>
                </a:solidFill>
                <a:latin typeface="Calibri" pitchFamily="34" charset="0"/>
                <a:ea typeface="Calibri" pitchFamily="34" charset="-122"/>
                <a:cs typeface="Calibri" pitchFamily="34" charset="-120"/>
              </a:rPr>
              <a:t>des secrets valides de 2022 encore utilisables en 2026</a:t>
            </a:r>
            <a:endParaRPr lang="en-US" sz="1600" dirty="0"/>
          </a:p>
        </p:txBody>
      </p:sp>
      <p:sp>
        <p:nvSpPr>
          <p:cNvPr id="17" name="Shape 14"/>
          <p:cNvSpPr/>
          <p:nvPr/>
        </p:nvSpPr>
        <p:spPr>
          <a:xfrm>
            <a:off x="640080" y="4892040"/>
            <a:ext cx="10911535" cy="822960"/>
          </a:xfrm>
          <a:prstGeom prst="roundRect">
            <a:avLst>
              <a:gd name="adj" fmla="val 8889"/>
            </a:avLst>
          </a:prstGeom>
          <a:solidFill>
            <a:srgbClr val="16181D"/>
          </a:solidFill>
          <a:ln w="12700">
            <a:solidFill>
              <a:srgbClr val="16181D"/>
            </a:solidFill>
            <a:prstDash val="solid"/>
          </a:ln>
        </p:spPr>
      </p:sp>
      <p:sp>
        <p:nvSpPr>
          <p:cNvPr id="18" name="Text 15"/>
          <p:cNvSpPr txBox="1"/>
          <p:nvPr/>
        </p:nvSpPr>
        <p:spPr>
          <a:xfrm>
            <a:off x="914400" y="4892040"/>
            <a:ext cx="10362895" cy="8229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Un secret publié est un secret volé : on ne le cache pas, on le change.</a:t>
            </a:r>
            <a:endParaRPr lang="en-US" sz="1800" dirty="0"/>
          </a:p>
        </p:txBody>
      </p:sp>
      <p:sp>
        <p:nvSpPr>
          <p:cNvPr id="19" name="Text 1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GitGuardian, « The State of Secrets Sprawl 2026 » (mars 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01</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Git, les bases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Une machine à remonter le temps, pour toute une équipe</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POURQUOI</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Rapport_final_v3_DEF_vraiment_final.docx</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640080" y="1828800"/>
            <a:ext cx="5303520" cy="3566160"/>
          </a:xfrm>
          <a:prstGeom prst="roundRect">
            <a:avLst>
              <a:gd name="adj" fmla="val 2051"/>
            </a:avLst>
          </a:prstGeom>
          <a:solidFill>
            <a:srgbClr val="F2F3F5"/>
          </a:solidFill>
          <a:ln w="12700">
            <a:solidFill>
              <a:srgbClr val="F2F3F5"/>
            </a:solidFill>
            <a:prstDash val="solid"/>
          </a:ln>
        </p:spPr>
      </p:sp>
      <p:sp>
        <p:nvSpPr>
          <p:cNvPr id="9" name="Text 6"/>
          <p:cNvSpPr txBox="1"/>
          <p:nvPr/>
        </p:nvSpPr>
        <p:spPr>
          <a:xfrm>
            <a:off x="960120" y="2011680"/>
            <a:ext cx="4754880" cy="411480"/>
          </a:xfrm>
          <a:prstGeom prst="rect">
            <a:avLst/>
          </a:prstGeom>
          <a:noFill/>
          <a:ln/>
        </p:spPr>
        <p:txBody>
          <a:bodyPr wrap="square" lIns="0" tIns="0" rIns="0" bIns="0" rtlCol="0" anchor="ctr"/>
          <a:lstStyle/>
          <a:p>
            <a:pPr indent="0" marL="0">
              <a:buNone/>
            </a:pPr>
            <a:r>
              <a:rPr lang="en-US" sz="1400" dirty="0">
                <a:solidFill>
                  <a:srgbClr val="5F6670"/>
                </a:solidFill>
                <a:latin typeface="Consolas" pitchFamily="34" charset="0"/>
                <a:ea typeface="Consolas" pitchFamily="34" charset="-122"/>
                <a:cs typeface="Consolas" pitchFamily="34" charset="-120"/>
              </a:rPr>
              <a:t>Rapport.docx</a:t>
            </a:r>
            <a:endParaRPr lang="en-US" sz="1400" dirty="0"/>
          </a:p>
        </p:txBody>
      </p:sp>
      <p:sp>
        <p:nvSpPr>
          <p:cNvPr id="10" name="Text 7"/>
          <p:cNvSpPr txBox="1"/>
          <p:nvPr/>
        </p:nvSpPr>
        <p:spPr>
          <a:xfrm>
            <a:off x="960120" y="2514600"/>
            <a:ext cx="4754880" cy="411480"/>
          </a:xfrm>
          <a:prstGeom prst="rect">
            <a:avLst/>
          </a:prstGeom>
          <a:noFill/>
          <a:ln/>
        </p:spPr>
        <p:txBody>
          <a:bodyPr wrap="square" lIns="0" tIns="0" rIns="0" bIns="0" rtlCol="0" anchor="ctr"/>
          <a:lstStyle/>
          <a:p>
            <a:pPr indent="0" marL="0">
              <a:buNone/>
            </a:pPr>
            <a:r>
              <a:rPr lang="en-US" sz="1400" dirty="0">
                <a:solidFill>
                  <a:srgbClr val="5F6670"/>
                </a:solidFill>
                <a:latin typeface="Consolas" pitchFamily="34" charset="0"/>
                <a:ea typeface="Consolas" pitchFamily="34" charset="-122"/>
                <a:cs typeface="Consolas" pitchFamily="34" charset="-120"/>
              </a:rPr>
              <a:t>Rapport_v2.docx</a:t>
            </a:r>
            <a:endParaRPr lang="en-US" sz="1400" dirty="0"/>
          </a:p>
        </p:txBody>
      </p:sp>
      <p:sp>
        <p:nvSpPr>
          <p:cNvPr id="11" name="Text 8"/>
          <p:cNvSpPr txBox="1"/>
          <p:nvPr/>
        </p:nvSpPr>
        <p:spPr>
          <a:xfrm>
            <a:off x="960120" y="3017520"/>
            <a:ext cx="4754880" cy="411480"/>
          </a:xfrm>
          <a:prstGeom prst="rect">
            <a:avLst/>
          </a:prstGeom>
          <a:noFill/>
          <a:ln/>
        </p:spPr>
        <p:txBody>
          <a:bodyPr wrap="square" lIns="0" tIns="0" rIns="0" bIns="0" rtlCol="0" anchor="ctr"/>
          <a:lstStyle/>
          <a:p>
            <a:pPr indent="0" marL="0">
              <a:buNone/>
            </a:pPr>
            <a:r>
              <a:rPr lang="en-US" sz="1400" dirty="0">
                <a:solidFill>
                  <a:srgbClr val="5F6670"/>
                </a:solidFill>
                <a:latin typeface="Consolas" pitchFamily="34" charset="0"/>
                <a:ea typeface="Consolas" pitchFamily="34" charset="-122"/>
                <a:cs typeface="Consolas" pitchFamily="34" charset="-120"/>
              </a:rPr>
              <a:t>Rapport_v3_DEF.docx</a:t>
            </a:r>
            <a:endParaRPr lang="en-US" sz="1400" dirty="0"/>
          </a:p>
        </p:txBody>
      </p:sp>
      <p:sp>
        <p:nvSpPr>
          <p:cNvPr id="12" name="Text 9"/>
          <p:cNvSpPr txBox="1"/>
          <p:nvPr/>
        </p:nvSpPr>
        <p:spPr>
          <a:xfrm>
            <a:off x="960120" y="3520440"/>
            <a:ext cx="4754880" cy="411480"/>
          </a:xfrm>
          <a:prstGeom prst="rect">
            <a:avLst/>
          </a:prstGeom>
          <a:noFill/>
          <a:ln/>
        </p:spPr>
        <p:txBody>
          <a:bodyPr wrap="square" lIns="0" tIns="0" rIns="0" bIns="0" rtlCol="0" anchor="ctr"/>
          <a:lstStyle/>
          <a:p>
            <a:pPr indent="0" marL="0">
              <a:buNone/>
            </a:pPr>
            <a:r>
              <a:rPr lang="en-US" sz="1400" dirty="0">
                <a:solidFill>
                  <a:srgbClr val="5F6670"/>
                </a:solidFill>
                <a:latin typeface="Consolas" pitchFamily="34" charset="0"/>
                <a:ea typeface="Consolas" pitchFamily="34" charset="-122"/>
                <a:cs typeface="Consolas" pitchFamily="34" charset="-120"/>
              </a:rPr>
              <a:t>Rapport_v3_DEF_vraiment.docx</a:t>
            </a:r>
            <a:endParaRPr lang="en-US" sz="1400" dirty="0"/>
          </a:p>
        </p:txBody>
      </p:sp>
      <p:sp>
        <p:nvSpPr>
          <p:cNvPr id="13" name="Text 10"/>
          <p:cNvSpPr txBox="1"/>
          <p:nvPr/>
        </p:nvSpPr>
        <p:spPr>
          <a:xfrm>
            <a:off x="960120" y="4023360"/>
            <a:ext cx="4754880" cy="411480"/>
          </a:xfrm>
          <a:prstGeom prst="rect">
            <a:avLst/>
          </a:prstGeom>
          <a:noFill/>
          <a:ln/>
        </p:spPr>
        <p:txBody>
          <a:bodyPr wrap="square" lIns="0" tIns="0" rIns="0" bIns="0" rtlCol="0" anchor="ctr"/>
          <a:lstStyle/>
          <a:p>
            <a:pPr indent="0" marL="0">
              <a:buNone/>
            </a:pPr>
            <a:r>
              <a:rPr lang="en-US" sz="1400" dirty="0">
                <a:solidFill>
                  <a:srgbClr val="5F6670"/>
                </a:solidFill>
                <a:latin typeface="Consolas" pitchFamily="34" charset="0"/>
                <a:ea typeface="Consolas" pitchFamily="34" charset="-122"/>
                <a:cs typeface="Consolas" pitchFamily="34" charset="-120"/>
              </a:rPr>
              <a:t>Rapport_v3_DEF_vraiment_final.docx</a:t>
            </a:r>
            <a:endParaRPr lang="en-US" sz="1400" dirty="0"/>
          </a:p>
        </p:txBody>
      </p:sp>
      <p:sp>
        <p:nvSpPr>
          <p:cNvPr id="14" name="Text 11"/>
          <p:cNvSpPr txBox="1"/>
          <p:nvPr/>
        </p:nvSpPr>
        <p:spPr>
          <a:xfrm>
            <a:off x="960120" y="4526280"/>
            <a:ext cx="4754880" cy="411480"/>
          </a:xfrm>
          <a:prstGeom prst="rect">
            <a:avLst/>
          </a:prstGeom>
          <a:noFill/>
          <a:ln/>
        </p:spPr>
        <p:txBody>
          <a:bodyPr wrap="square" lIns="0" tIns="0" rIns="0" bIns="0" rtlCol="0" anchor="ctr"/>
          <a:lstStyle/>
          <a:p>
            <a:pPr indent="0" marL="0">
              <a:buNone/>
            </a:pPr>
            <a:r>
              <a:rPr lang="en-US" sz="1400" dirty="0">
                <a:solidFill>
                  <a:srgbClr val="C92A2A"/>
                </a:solidFill>
                <a:latin typeface="Consolas" pitchFamily="34" charset="0"/>
                <a:ea typeface="Consolas" pitchFamily="34" charset="-122"/>
                <a:cs typeface="Consolas" pitchFamily="34" charset="-120"/>
              </a:rPr>
              <a:t>Rapport_v3_DEF_vraiment_final (1).docx</a:t>
            </a:r>
            <a:endParaRPr lang="en-US" sz="1400" dirty="0"/>
          </a:p>
        </p:txBody>
      </p:sp>
      <p:sp>
        <p:nvSpPr>
          <p:cNvPr id="15" name="Shape 12"/>
          <p:cNvSpPr/>
          <p:nvPr/>
        </p:nvSpPr>
        <p:spPr>
          <a:xfrm>
            <a:off x="6217920" y="1828800"/>
            <a:ext cx="5303520" cy="3566160"/>
          </a:xfrm>
          <a:prstGeom prst="roundRect">
            <a:avLst>
              <a:gd name="adj" fmla="val 2051"/>
            </a:avLst>
          </a:prstGeom>
          <a:solidFill>
            <a:srgbClr val="16181D"/>
          </a:solidFill>
          <a:ln w="12700">
            <a:solidFill>
              <a:srgbClr val="16181D"/>
            </a:solidFill>
            <a:prstDash val="solid"/>
          </a:ln>
        </p:spPr>
      </p:sp>
      <p:sp>
        <p:nvSpPr>
          <p:cNvPr id="16" name="Text 13"/>
          <p:cNvSpPr txBox="1"/>
          <p:nvPr/>
        </p:nvSpPr>
        <p:spPr>
          <a:xfrm>
            <a:off x="6537960" y="2011680"/>
            <a:ext cx="4572000" cy="45720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Ce que Git apporte</a:t>
            </a:r>
            <a:endParaRPr lang="en-US" sz="2000" dirty="0"/>
          </a:p>
        </p:txBody>
      </p:sp>
      <p:sp>
        <p:nvSpPr>
          <p:cNvPr id="17" name="Text 14"/>
          <p:cNvSpPr txBox="1"/>
          <p:nvPr/>
        </p:nvSpPr>
        <p:spPr>
          <a:xfrm>
            <a:off x="6537960" y="2651760"/>
            <a:ext cx="4754880" cy="2560320"/>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L'historique : revenir à n'importe quelle version</a:t>
            </a:r>
            <a:endParaRPr lang="en-US" sz="1800" dirty="0"/>
          </a:p>
          <a:p>
            <a:pPr marL="228600" indent="-2286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La traçabilité : qui a changé quoi, quand et pourquoi</a:t>
            </a:r>
            <a:endParaRPr lang="en-US" sz="1800" dirty="0"/>
          </a:p>
          <a:p>
            <a:pPr marL="228600" indent="-228600">
              <a:spcAft>
                <a:spcPts val="800"/>
              </a:spcAft>
              <a:buSzPct val="100000"/>
              <a:buChar char="•"/>
            </a:pPr>
            <a:r>
              <a:rPr lang="en-US" sz="1800" dirty="0">
                <a:solidFill>
                  <a:srgbClr val="FFFFFF"/>
                </a:solidFill>
                <a:latin typeface="Calibri" pitchFamily="34" charset="0"/>
                <a:ea typeface="Calibri" pitchFamily="34" charset="-122"/>
                <a:cs typeface="Calibri" pitchFamily="34" charset="-120"/>
              </a:rPr>
              <a:t>Le travail à plusieurs, sans s'écraser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HISTOIRE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Git, né en 2005 pour le noyau Linux</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640080" y="1828800"/>
            <a:ext cx="3474720" cy="2194560"/>
          </a:xfrm>
          <a:prstGeom prst="roundRect">
            <a:avLst>
              <a:gd name="adj" fmla="val 3333"/>
            </a:avLst>
          </a:prstGeom>
          <a:solidFill>
            <a:srgbClr val="F2F3F5"/>
          </a:solidFill>
          <a:ln w="12700">
            <a:solidFill>
              <a:srgbClr val="F2F3F5"/>
            </a:solidFill>
            <a:prstDash val="solid"/>
          </a:ln>
        </p:spPr>
      </p:sp>
      <p:sp>
        <p:nvSpPr>
          <p:cNvPr id="9" name="Text 6"/>
          <p:cNvSpPr txBox="1"/>
          <p:nvPr/>
        </p:nvSpPr>
        <p:spPr>
          <a:xfrm>
            <a:off x="914400" y="1965960"/>
            <a:ext cx="2926080" cy="73152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2005</a:t>
            </a:r>
            <a:endParaRPr lang="en-US" sz="3200" dirty="0"/>
          </a:p>
        </p:txBody>
      </p:sp>
      <p:sp>
        <p:nvSpPr>
          <p:cNvPr id="10" name="Text 7"/>
          <p:cNvSpPr txBox="1"/>
          <p:nvPr/>
        </p:nvSpPr>
        <p:spPr>
          <a:xfrm>
            <a:off x="914400" y="2743200"/>
            <a:ext cx="2926080" cy="1097280"/>
          </a:xfrm>
          <a:prstGeom prst="rect">
            <a:avLst/>
          </a:prstGeom>
          <a:noFill/>
          <a:ln/>
        </p:spPr>
        <p:txBody>
          <a:bodyPr wrap="square" lIns="0" tIns="0" rIns="0" bIns="0" rtlCol="0" anchor="t"/>
          <a:lstStyle/>
          <a:p>
            <a:pPr indent="0" marL="0">
              <a:buNone/>
            </a:pPr>
            <a:r>
              <a:rPr lang="en-US" sz="1700" dirty="0">
                <a:solidFill>
                  <a:srgbClr val="16181D"/>
                </a:solidFill>
                <a:latin typeface="Calibri" pitchFamily="34" charset="0"/>
                <a:ea typeface="Calibri" pitchFamily="34" charset="-122"/>
                <a:cs typeface="Calibri" pitchFamily="34" charset="-120"/>
              </a:rPr>
              <a:t>Linus Torvalds crée Git pour le noyau Linux</a:t>
            </a:r>
            <a:endParaRPr lang="en-US" sz="1700" dirty="0"/>
          </a:p>
        </p:txBody>
      </p:sp>
      <p:sp>
        <p:nvSpPr>
          <p:cNvPr id="11" name="Shape 8"/>
          <p:cNvSpPr/>
          <p:nvPr/>
        </p:nvSpPr>
        <p:spPr>
          <a:xfrm>
            <a:off x="4343400" y="1828800"/>
            <a:ext cx="3474720" cy="2194560"/>
          </a:xfrm>
          <a:prstGeom prst="roundRect">
            <a:avLst>
              <a:gd name="adj" fmla="val 3333"/>
            </a:avLst>
          </a:prstGeom>
          <a:solidFill>
            <a:srgbClr val="F2F3F5"/>
          </a:solidFill>
          <a:ln w="12700">
            <a:solidFill>
              <a:srgbClr val="F2F3F5"/>
            </a:solidFill>
            <a:prstDash val="solid"/>
          </a:ln>
        </p:spPr>
      </p:sp>
      <p:sp>
        <p:nvSpPr>
          <p:cNvPr id="12" name="Text 9"/>
          <p:cNvSpPr txBox="1"/>
          <p:nvPr/>
        </p:nvSpPr>
        <p:spPr>
          <a:xfrm>
            <a:off x="4617720" y="1965960"/>
            <a:ext cx="2926080" cy="73152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2008</a:t>
            </a:r>
            <a:endParaRPr lang="en-US" sz="3200" dirty="0"/>
          </a:p>
        </p:txBody>
      </p:sp>
      <p:sp>
        <p:nvSpPr>
          <p:cNvPr id="13" name="Text 10"/>
          <p:cNvSpPr txBox="1"/>
          <p:nvPr/>
        </p:nvSpPr>
        <p:spPr>
          <a:xfrm>
            <a:off x="4617720" y="2743200"/>
            <a:ext cx="2926080" cy="1097280"/>
          </a:xfrm>
          <a:prstGeom prst="rect">
            <a:avLst/>
          </a:prstGeom>
          <a:noFill/>
          <a:ln/>
        </p:spPr>
        <p:txBody>
          <a:bodyPr wrap="square" lIns="0" tIns="0" rIns="0" bIns="0" rtlCol="0" anchor="t"/>
          <a:lstStyle/>
          <a:p>
            <a:pPr indent="0" marL="0">
              <a:buNone/>
            </a:pPr>
            <a:r>
              <a:rPr lang="en-US" sz="1700" dirty="0">
                <a:solidFill>
                  <a:srgbClr val="16181D"/>
                </a:solidFill>
                <a:latin typeface="Calibri" pitchFamily="34" charset="0"/>
                <a:ea typeface="Calibri" pitchFamily="34" charset="-122"/>
                <a:cs typeface="Calibri" pitchFamily="34" charset="-120"/>
              </a:rPr>
              <a:t>Lancement de GitHub : héberger et partager des dépôts</a:t>
            </a:r>
            <a:endParaRPr lang="en-US" sz="1700" dirty="0"/>
          </a:p>
        </p:txBody>
      </p:sp>
      <p:sp>
        <p:nvSpPr>
          <p:cNvPr id="14" name="Shape 11"/>
          <p:cNvSpPr/>
          <p:nvPr/>
        </p:nvSpPr>
        <p:spPr>
          <a:xfrm>
            <a:off x="8046720" y="1828800"/>
            <a:ext cx="3474720" cy="2194560"/>
          </a:xfrm>
          <a:prstGeom prst="roundRect">
            <a:avLst>
              <a:gd name="adj" fmla="val 3333"/>
            </a:avLst>
          </a:prstGeom>
          <a:solidFill>
            <a:srgbClr val="16181D"/>
          </a:solidFill>
          <a:ln w="12700">
            <a:solidFill>
              <a:srgbClr val="16181D"/>
            </a:solidFill>
            <a:prstDash val="solid"/>
          </a:ln>
        </p:spPr>
      </p:sp>
      <p:sp>
        <p:nvSpPr>
          <p:cNvPr id="15" name="Text 12"/>
          <p:cNvSpPr txBox="1"/>
          <p:nvPr/>
        </p:nvSpPr>
        <p:spPr>
          <a:xfrm>
            <a:off x="8321040" y="1965960"/>
            <a:ext cx="2926080" cy="73152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Aujourd'hui</a:t>
            </a:r>
            <a:endParaRPr lang="en-US" sz="3200" dirty="0"/>
          </a:p>
        </p:txBody>
      </p:sp>
      <p:sp>
        <p:nvSpPr>
          <p:cNvPr id="16" name="Text 13"/>
          <p:cNvSpPr txBox="1"/>
          <p:nvPr/>
        </p:nvSpPr>
        <p:spPr>
          <a:xfrm>
            <a:off x="8321040" y="2743200"/>
            <a:ext cx="2926080" cy="109728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Le standard : GitHub, GitLab, Bitbucket, Forgejo</a:t>
            </a:r>
            <a:endParaRPr lang="en-US" sz="1700" dirty="0"/>
          </a:p>
        </p:txBody>
      </p:sp>
      <p:sp>
        <p:nvSpPr>
          <p:cNvPr id="17" name="Text 14"/>
          <p:cNvSpPr txBox="1"/>
          <p:nvPr/>
        </p:nvSpPr>
        <p:spPr>
          <a:xfrm>
            <a:off x="640080" y="4389120"/>
            <a:ext cx="10911535" cy="91440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Distribué : </a:t>
            </a:r>
            <a:pPr indent="0" marL="0">
              <a:buNone/>
            </a:pPr>
            <a:r>
              <a:rPr lang="en-US" sz="1700" dirty="0">
                <a:solidFill>
                  <a:srgbClr val="16181D"/>
                </a:solidFill>
                <a:latin typeface="Calibri" pitchFamily="34" charset="0"/>
                <a:ea typeface="Calibri" pitchFamily="34" charset="-122"/>
                <a:cs typeface="Calibri" pitchFamily="34" charset="-120"/>
              </a:rPr>
              <a:t>chaque développeur a une copie complète de l'historique. </a:t>
            </a:r>
            <a:pPr indent="0" marL="0">
              <a:buNone/>
            </a:pPr>
            <a:r>
              <a:rPr lang="en-US" sz="1700" b="1" dirty="0">
                <a:solidFill>
                  <a:srgbClr val="16181D"/>
                </a:solidFill>
                <a:latin typeface="Calibri" pitchFamily="34" charset="0"/>
                <a:ea typeface="Calibri" pitchFamily="34" charset="-122"/>
                <a:cs typeface="Calibri" pitchFamily="34" charset="-120"/>
              </a:rPr>
              <a:t>Fiable : </a:t>
            </a:r>
            <a:pPr indent="0" marL="0">
              <a:buNone/>
            </a:pPr>
            <a:r>
              <a:rPr lang="en-US" sz="1700" dirty="0">
                <a:solidFill>
                  <a:srgbClr val="16181D"/>
                </a:solidFill>
                <a:latin typeface="Calibri" pitchFamily="34" charset="0"/>
                <a:ea typeface="Calibri" pitchFamily="34" charset="-122"/>
                <a:cs typeface="Calibri" pitchFamily="34" charset="-120"/>
              </a:rPr>
              <a:t>chaque version a une empreinte unique (le hash), impossible à modifier sans que ça se voie.</a:t>
            </a:r>
            <a:endParaRPr lang="en-US" sz="1700" dirty="0"/>
          </a:p>
        </p:txBody>
      </p:sp>
      <p:sp>
        <p:nvSpPr>
          <p:cNvPr id="18" name="Text 15"/>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git-scm.com, « A Short History of Git » (Pro Git, S. Chacon et B. Straub).</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PRINCIPE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Préparer un colis : add, commit, push</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640080" y="1920240"/>
            <a:ext cx="2514600" cy="2651760"/>
          </a:xfrm>
          <a:prstGeom prst="roundRect">
            <a:avLst>
              <a:gd name="adj" fmla="val 2909"/>
            </a:avLst>
          </a:prstGeom>
          <a:solidFill>
            <a:srgbClr val="F2F3F5"/>
          </a:solidFill>
          <a:ln w="12700">
            <a:solidFill>
              <a:srgbClr val="F2F3F5"/>
            </a:solidFill>
            <a:prstDash val="solid"/>
          </a:ln>
        </p:spPr>
      </p:sp>
      <p:sp>
        <p:nvSpPr>
          <p:cNvPr id="9" name="Text 6"/>
          <p:cNvSpPr txBox="1"/>
          <p:nvPr/>
        </p:nvSpPr>
        <p:spPr>
          <a:xfrm>
            <a:off x="822960" y="2057400"/>
            <a:ext cx="2148840" cy="685800"/>
          </a:xfrm>
          <a:prstGeom prst="rect">
            <a:avLst/>
          </a:prstGeom>
          <a:noFill/>
          <a:ln/>
        </p:spPr>
        <p:txBody>
          <a:bodyPr wrap="square" lIns="0" tIns="0" rIns="0" bIns="0" rtlCol="0" anchor="t"/>
          <a:lstStyle/>
          <a:p>
            <a:pPr indent="0" marL="0">
              <a:buNone/>
            </a:pPr>
            <a:r>
              <a:rPr lang="en-US" sz="1700" b="1" dirty="0">
                <a:solidFill>
                  <a:srgbClr val="16181D"/>
                </a:solidFill>
                <a:latin typeface="Arial" pitchFamily="34" charset="0"/>
                <a:ea typeface="Arial" pitchFamily="34" charset="-122"/>
                <a:cs typeface="Arial" pitchFamily="34" charset="-120"/>
              </a:rPr>
              <a:t>Répertoire de travail</a:t>
            </a:r>
            <a:endParaRPr lang="en-US" sz="1700" dirty="0"/>
          </a:p>
        </p:txBody>
      </p:sp>
      <p:sp>
        <p:nvSpPr>
          <p:cNvPr id="10" name="Text 7"/>
          <p:cNvSpPr txBox="1"/>
          <p:nvPr/>
        </p:nvSpPr>
        <p:spPr>
          <a:xfrm>
            <a:off x="822960" y="2788920"/>
            <a:ext cx="2148840" cy="548640"/>
          </a:xfrm>
          <a:prstGeom prst="rect">
            <a:avLst/>
          </a:prstGeom>
          <a:noFill/>
          <a:ln/>
        </p:spPr>
        <p:txBody>
          <a:bodyPr wrap="square" lIns="0" tIns="0" rIns="0" bIns="0" rtlCol="0" anchor="t"/>
          <a:lstStyle/>
          <a:p>
            <a:pPr indent="0" marL="0">
              <a:buNone/>
            </a:pPr>
            <a:r>
              <a:rPr lang="en-US" sz="1500" i="1" dirty="0">
                <a:solidFill>
                  <a:srgbClr val="E8590C"/>
                </a:solidFill>
                <a:latin typeface="Calibri" pitchFamily="34" charset="0"/>
                <a:ea typeface="Calibri" pitchFamily="34" charset="-122"/>
                <a:cs typeface="Calibri" pitchFamily="34" charset="-120"/>
              </a:rPr>
              <a:t>le bureau</a:t>
            </a:r>
            <a:endParaRPr lang="en-US" sz="1500" dirty="0"/>
          </a:p>
        </p:txBody>
      </p:sp>
      <p:sp>
        <p:nvSpPr>
          <p:cNvPr id="11" name="Text 8"/>
          <p:cNvSpPr txBox="1"/>
          <p:nvPr/>
        </p:nvSpPr>
        <p:spPr>
          <a:xfrm>
            <a:off x="822960" y="3429000"/>
            <a:ext cx="2148840" cy="1005840"/>
          </a:xfrm>
          <a:prstGeom prst="rect">
            <a:avLst/>
          </a:prstGeom>
          <a:noFill/>
          <a:ln/>
        </p:spPr>
        <p:txBody>
          <a:bodyPr wrap="square" lIns="0" tIns="0" rIns="0" bIns="0" rtlCol="0" anchor="t"/>
          <a:lstStyle/>
          <a:p>
            <a:pPr indent="0" marL="0">
              <a:buNone/>
            </a:pPr>
            <a:r>
              <a:rPr lang="en-US" sz="1300" dirty="0">
                <a:solidFill>
                  <a:srgbClr val="5F6670"/>
                </a:solidFill>
                <a:latin typeface="Consolas" pitchFamily="34" charset="0"/>
                <a:ea typeface="Consolas" pitchFamily="34" charset="-122"/>
                <a:cs typeface="Consolas" pitchFamily="34" charset="-120"/>
              </a:rPr>
              <a:t>vous modifiez les fichiers</a:t>
            </a:r>
            <a:endParaRPr lang="en-US" sz="1300" dirty="0"/>
          </a:p>
        </p:txBody>
      </p:sp>
      <p:sp>
        <p:nvSpPr>
          <p:cNvPr id="12" name="Text 9"/>
          <p:cNvSpPr txBox="1"/>
          <p:nvPr/>
        </p:nvSpPr>
        <p:spPr>
          <a:xfrm>
            <a:off x="3154680" y="2926080"/>
            <a:ext cx="274320" cy="548640"/>
          </a:xfrm>
          <a:prstGeom prst="rect">
            <a:avLst/>
          </a:prstGeom>
          <a:noFill/>
          <a:ln/>
        </p:spPr>
        <p:txBody>
          <a:bodyPr wrap="square" lIns="0" tIns="0" rIns="0" bIns="0" rtlCol="0" anchor="ctr"/>
          <a:lstStyle/>
          <a:p>
            <a:pPr algn="ctr" indent="0" marL="0">
              <a:buNone/>
            </a:pPr>
            <a:r>
              <a:rPr lang="en-US" sz="2400" dirty="0">
                <a:solidFill>
                  <a:srgbClr val="E8590C"/>
                </a:solidFill>
                <a:latin typeface="Arial" pitchFamily="34" charset="0"/>
                <a:ea typeface="Arial" pitchFamily="34" charset="-122"/>
                <a:cs typeface="Arial" pitchFamily="34" charset="-120"/>
              </a:rPr>
              <a:t>→</a:t>
            </a:r>
            <a:endParaRPr lang="en-US" sz="2400" dirty="0"/>
          </a:p>
        </p:txBody>
      </p:sp>
      <p:sp>
        <p:nvSpPr>
          <p:cNvPr id="13" name="Shape 10"/>
          <p:cNvSpPr/>
          <p:nvPr/>
        </p:nvSpPr>
        <p:spPr>
          <a:xfrm>
            <a:off x="3429000" y="1920240"/>
            <a:ext cx="2514600" cy="2651760"/>
          </a:xfrm>
          <a:prstGeom prst="roundRect">
            <a:avLst>
              <a:gd name="adj" fmla="val 2909"/>
            </a:avLst>
          </a:prstGeom>
          <a:solidFill>
            <a:srgbClr val="F2F3F5"/>
          </a:solidFill>
          <a:ln w="12700">
            <a:solidFill>
              <a:srgbClr val="F2F3F5"/>
            </a:solidFill>
            <a:prstDash val="solid"/>
          </a:ln>
        </p:spPr>
      </p:sp>
      <p:sp>
        <p:nvSpPr>
          <p:cNvPr id="14" name="Text 11"/>
          <p:cNvSpPr txBox="1"/>
          <p:nvPr/>
        </p:nvSpPr>
        <p:spPr>
          <a:xfrm>
            <a:off x="3611880" y="2057400"/>
            <a:ext cx="2148840" cy="685800"/>
          </a:xfrm>
          <a:prstGeom prst="rect">
            <a:avLst/>
          </a:prstGeom>
          <a:noFill/>
          <a:ln/>
        </p:spPr>
        <p:txBody>
          <a:bodyPr wrap="square" lIns="0" tIns="0" rIns="0" bIns="0" rtlCol="0" anchor="t"/>
          <a:lstStyle/>
          <a:p>
            <a:pPr indent="0" marL="0">
              <a:buNone/>
            </a:pPr>
            <a:r>
              <a:rPr lang="en-US" sz="1700" b="1" dirty="0">
                <a:solidFill>
                  <a:srgbClr val="16181D"/>
                </a:solidFill>
                <a:latin typeface="Arial" pitchFamily="34" charset="0"/>
                <a:ea typeface="Arial" pitchFamily="34" charset="-122"/>
                <a:cs typeface="Arial" pitchFamily="34" charset="-120"/>
              </a:rPr>
              <a:t>Zone de préparation</a:t>
            </a:r>
            <a:endParaRPr lang="en-US" sz="1700" dirty="0"/>
          </a:p>
        </p:txBody>
      </p:sp>
      <p:sp>
        <p:nvSpPr>
          <p:cNvPr id="15" name="Text 12"/>
          <p:cNvSpPr txBox="1"/>
          <p:nvPr/>
        </p:nvSpPr>
        <p:spPr>
          <a:xfrm>
            <a:off x="3611880" y="2788920"/>
            <a:ext cx="2148840" cy="548640"/>
          </a:xfrm>
          <a:prstGeom prst="rect">
            <a:avLst/>
          </a:prstGeom>
          <a:noFill/>
          <a:ln/>
        </p:spPr>
        <p:txBody>
          <a:bodyPr wrap="square" lIns="0" tIns="0" rIns="0" bIns="0" rtlCol="0" anchor="t"/>
          <a:lstStyle/>
          <a:p>
            <a:pPr indent="0" marL="0">
              <a:buNone/>
            </a:pPr>
            <a:r>
              <a:rPr lang="en-US" sz="1500" i="1" dirty="0">
                <a:solidFill>
                  <a:srgbClr val="E8590C"/>
                </a:solidFill>
                <a:latin typeface="Calibri" pitchFamily="34" charset="0"/>
                <a:ea typeface="Calibri" pitchFamily="34" charset="-122"/>
                <a:cs typeface="Calibri" pitchFamily="34" charset="-120"/>
              </a:rPr>
              <a:t>le carton ouvert</a:t>
            </a:r>
            <a:endParaRPr lang="en-US" sz="1500" dirty="0"/>
          </a:p>
        </p:txBody>
      </p:sp>
      <p:sp>
        <p:nvSpPr>
          <p:cNvPr id="16" name="Text 13"/>
          <p:cNvSpPr txBox="1"/>
          <p:nvPr/>
        </p:nvSpPr>
        <p:spPr>
          <a:xfrm>
            <a:off x="3611880" y="3429000"/>
            <a:ext cx="2148840" cy="1005840"/>
          </a:xfrm>
          <a:prstGeom prst="rect">
            <a:avLst/>
          </a:prstGeom>
          <a:noFill/>
          <a:ln/>
        </p:spPr>
        <p:txBody>
          <a:bodyPr wrap="square" lIns="0" tIns="0" rIns="0" bIns="0" rtlCol="0" anchor="t"/>
          <a:lstStyle/>
          <a:p>
            <a:pPr indent="0" marL="0">
              <a:buNone/>
            </a:pPr>
            <a:r>
              <a:rPr lang="en-US" sz="1300" dirty="0">
                <a:solidFill>
                  <a:srgbClr val="5F6670"/>
                </a:solidFill>
                <a:latin typeface="Consolas" pitchFamily="34" charset="0"/>
                <a:ea typeface="Consolas" pitchFamily="34" charset="-122"/>
                <a:cs typeface="Consolas" pitchFamily="34" charset="-120"/>
              </a:rPr>
              <a:t>git add : ce qu'on envoie</a:t>
            </a:r>
            <a:endParaRPr lang="en-US" sz="1300" dirty="0"/>
          </a:p>
        </p:txBody>
      </p:sp>
      <p:sp>
        <p:nvSpPr>
          <p:cNvPr id="17" name="Text 14"/>
          <p:cNvSpPr txBox="1"/>
          <p:nvPr/>
        </p:nvSpPr>
        <p:spPr>
          <a:xfrm>
            <a:off x="5943600" y="2926080"/>
            <a:ext cx="274320" cy="548640"/>
          </a:xfrm>
          <a:prstGeom prst="rect">
            <a:avLst/>
          </a:prstGeom>
          <a:noFill/>
          <a:ln/>
        </p:spPr>
        <p:txBody>
          <a:bodyPr wrap="square" lIns="0" tIns="0" rIns="0" bIns="0" rtlCol="0" anchor="ctr"/>
          <a:lstStyle/>
          <a:p>
            <a:pPr algn="ctr" indent="0" marL="0">
              <a:buNone/>
            </a:pPr>
            <a:r>
              <a:rPr lang="en-US" sz="2400" dirty="0">
                <a:solidFill>
                  <a:srgbClr val="E8590C"/>
                </a:solidFill>
                <a:latin typeface="Arial" pitchFamily="34" charset="0"/>
                <a:ea typeface="Arial" pitchFamily="34" charset="-122"/>
                <a:cs typeface="Arial" pitchFamily="34" charset="-120"/>
              </a:rPr>
              <a:t>→</a:t>
            </a:r>
            <a:endParaRPr lang="en-US" sz="2400" dirty="0"/>
          </a:p>
        </p:txBody>
      </p:sp>
      <p:sp>
        <p:nvSpPr>
          <p:cNvPr id="18" name="Shape 15"/>
          <p:cNvSpPr/>
          <p:nvPr/>
        </p:nvSpPr>
        <p:spPr>
          <a:xfrm>
            <a:off x="6217920" y="1920240"/>
            <a:ext cx="2514600" cy="2651760"/>
          </a:xfrm>
          <a:prstGeom prst="roundRect">
            <a:avLst>
              <a:gd name="adj" fmla="val 2909"/>
            </a:avLst>
          </a:prstGeom>
          <a:solidFill>
            <a:srgbClr val="F2F3F5"/>
          </a:solidFill>
          <a:ln w="12700">
            <a:solidFill>
              <a:srgbClr val="F2F3F5"/>
            </a:solidFill>
            <a:prstDash val="solid"/>
          </a:ln>
        </p:spPr>
      </p:sp>
      <p:sp>
        <p:nvSpPr>
          <p:cNvPr id="19" name="Text 16"/>
          <p:cNvSpPr txBox="1"/>
          <p:nvPr/>
        </p:nvSpPr>
        <p:spPr>
          <a:xfrm>
            <a:off x="6400800" y="2057400"/>
            <a:ext cx="2148840" cy="685800"/>
          </a:xfrm>
          <a:prstGeom prst="rect">
            <a:avLst/>
          </a:prstGeom>
          <a:noFill/>
          <a:ln/>
        </p:spPr>
        <p:txBody>
          <a:bodyPr wrap="square" lIns="0" tIns="0" rIns="0" bIns="0" rtlCol="0" anchor="t"/>
          <a:lstStyle/>
          <a:p>
            <a:pPr indent="0" marL="0">
              <a:buNone/>
            </a:pPr>
            <a:r>
              <a:rPr lang="en-US" sz="1700" b="1" dirty="0">
                <a:solidFill>
                  <a:srgbClr val="16181D"/>
                </a:solidFill>
                <a:latin typeface="Arial" pitchFamily="34" charset="0"/>
                <a:ea typeface="Arial" pitchFamily="34" charset="-122"/>
                <a:cs typeface="Arial" pitchFamily="34" charset="-120"/>
              </a:rPr>
              <a:t>Dépôt local</a:t>
            </a:r>
            <a:endParaRPr lang="en-US" sz="1700" dirty="0"/>
          </a:p>
        </p:txBody>
      </p:sp>
      <p:sp>
        <p:nvSpPr>
          <p:cNvPr id="20" name="Text 17"/>
          <p:cNvSpPr txBox="1"/>
          <p:nvPr/>
        </p:nvSpPr>
        <p:spPr>
          <a:xfrm>
            <a:off x="6400800" y="2788920"/>
            <a:ext cx="2148840" cy="548640"/>
          </a:xfrm>
          <a:prstGeom prst="rect">
            <a:avLst/>
          </a:prstGeom>
          <a:noFill/>
          <a:ln/>
        </p:spPr>
        <p:txBody>
          <a:bodyPr wrap="square" lIns="0" tIns="0" rIns="0" bIns="0" rtlCol="0" anchor="t"/>
          <a:lstStyle/>
          <a:p>
            <a:pPr indent="0" marL="0">
              <a:buNone/>
            </a:pPr>
            <a:r>
              <a:rPr lang="en-US" sz="1500" i="1" dirty="0">
                <a:solidFill>
                  <a:srgbClr val="E8590C"/>
                </a:solidFill>
                <a:latin typeface="Calibri" pitchFamily="34" charset="0"/>
                <a:ea typeface="Calibri" pitchFamily="34" charset="-122"/>
                <a:cs typeface="Calibri" pitchFamily="34" charset="-120"/>
              </a:rPr>
              <a:t>le colis fermé et étiqueté</a:t>
            </a:r>
            <a:endParaRPr lang="en-US" sz="1500" dirty="0"/>
          </a:p>
        </p:txBody>
      </p:sp>
      <p:sp>
        <p:nvSpPr>
          <p:cNvPr id="21" name="Text 18"/>
          <p:cNvSpPr txBox="1"/>
          <p:nvPr/>
        </p:nvSpPr>
        <p:spPr>
          <a:xfrm>
            <a:off x="6400800" y="3429000"/>
            <a:ext cx="2148840" cy="1005840"/>
          </a:xfrm>
          <a:prstGeom prst="rect">
            <a:avLst/>
          </a:prstGeom>
          <a:noFill/>
          <a:ln/>
        </p:spPr>
        <p:txBody>
          <a:bodyPr wrap="square" lIns="0" tIns="0" rIns="0" bIns="0" rtlCol="0" anchor="t"/>
          <a:lstStyle/>
          <a:p>
            <a:pPr indent="0" marL="0">
              <a:buNone/>
            </a:pPr>
            <a:r>
              <a:rPr lang="en-US" sz="1300" dirty="0">
                <a:solidFill>
                  <a:srgbClr val="5F6670"/>
                </a:solidFill>
                <a:latin typeface="Consolas" pitchFamily="34" charset="0"/>
                <a:ea typeface="Consolas" pitchFamily="34" charset="-122"/>
                <a:cs typeface="Consolas" pitchFamily="34" charset="-120"/>
              </a:rPr>
              <a:t>git commit -m "…"</a:t>
            </a:r>
            <a:endParaRPr lang="en-US" sz="1300" dirty="0"/>
          </a:p>
        </p:txBody>
      </p:sp>
      <p:sp>
        <p:nvSpPr>
          <p:cNvPr id="22" name="Text 19"/>
          <p:cNvSpPr txBox="1"/>
          <p:nvPr/>
        </p:nvSpPr>
        <p:spPr>
          <a:xfrm>
            <a:off x="8732520" y="2926080"/>
            <a:ext cx="274320" cy="548640"/>
          </a:xfrm>
          <a:prstGeom prst="rect">
            <a:avLst/>
          </a:prstGeom>
          <a:noFill/>
          <a:ln/>
        </p:spPr>
        <p:txBody>
          <a:bodyPr wrap="square" lIns="0" tIns="0" rIns="0" bIns="0" rtlCol="0" anchor="ctr"/>
          <a:lstStyle/>
          <a:p>
            <a:pPr algn="ctr" indent="0" marL="0">
              <a:buNone/>
            </a:pPr>
            <a:r>
              <a:rPr lang="en-US" sz="2400" dirty="0">
                <a:solidFill>
                  <a:srgbClr val="E8590C"/>
                </a:solidFill>
                <a:latin typeface="Arial" pitchFamily="34" charset="0"/>
                <a:ea typeface="Arial" pitchFamily="34" charset="-122"/>
                <a:cs typeface="Arial" pitchFamily="34" charset="-120"/>
              </a:rPr>
              <a:t>→</a:t>
            </a:r>
            <a:endParaRPr lang="en-US" sz="2400" dirty="0"/>
          </a:p>
        </p:txBody>
      </p:sp>
      <p:sp>
        <p:nvSpPr>
          <p:cNvPr id="23" name="Shape 20"/>
          <p:cNvSpPr/>
          <p:nvPr/>
        </p:nvSpPr>
        <p:spPr>
          <a:xfrm>
            <a:off x="9006840" y="1920240"/>
            <a:ext cx="2514600" cy="2651760"/>
          </a:xfrm>
          <a:prstGeom prst="roundRect">
            <a:avLst>
              <a:gd name="adj" fmla="val 2909"/>
            </a:avLst>
          </a:prstGeom>
          <a:solidFill>
            <a:srgbClr val="16181D"/>
          </a:solidFill>
          <a:ln w="12700">
            <a:solidFill>
              <a:srgbClr val="16181D"/>
            </a:solidFill>
            <a:prstDash val="solid"/>
          </a:ln>
        </p:spPr>
      </p:sp>
      <p:sp>
        <p:nvSpPr>
          <p:cNvPr id="24" name="Text 21"/>
          <p:cNvSpPr txBox="1"/>
          <p:nvPr/>
        </p:nvSpPr>
        <p:spPr>
          <a:xfrm>
            <a:off x="9189720" y="2057400"/>
            <a:ext cx="2148840" cy="68580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Dépôt distant</a:t>
            </a:r>
            <a:endParaRPr lang="en-US" sz="1700" dirty="0"/>
          </a:p>
        </p:txBody>
      </p:sp>
      <p:sp>
        <p:nvSpPr>
          <p:cNvPr id="25" name="Text 22"/>
          <p:cNvSpPr txBox="1"/>
          <p:nvPr/>
        </p:nvSpPr>
        <p:spPr>
          <a:xfrm>
            <a:off x="9189720" y="2788920"/>
            <a:ext cx="2148840" cy="548640"/>
          </a:xfrm>
          <a:prstGeom prst="rect">
            <a:avLst/>
          </a:prstGeom>
          <a:noFill/>
          <a:ln/>
        </p:spPr>
        <p:txBody>
          <a:bodyPr wrap="square" lIns="0" tIns="0" rIns="0" bIns="0" rtlCol="0" anchor="t"/>
          <a:lstStyle/>
          <a:p>
            <a:pPr indent="0" marL="0">
              <a:buNone/>
            </a:pPr>
            <a:r>
              <a:rPr lang="en-US" sz="1500" i="1" dirty="0">
                <a:solidFill>
                  <a:srgbClr val="E8590C"/>
                </a:solidFill>
                <a:latin typeface="Calibri" pitchFamily="34" charset="0"/>
                <a:ea typeface="Calibri" pitchFamily="34" charset="-122"/>
                <a:cs typeface="Calibri" pitchFamily="34" charset="-120"/>
              </a:rPr>
              <a:t>la poste (GitHub)</a:t>
            </a:r>
            <a:endParaRPr lang="en-US" sz="1500" dirty="0"/>
          </a:p>
        </p:txBody>
      </p:sp>
      <p:sp>
        <p:nvSpPr>
          <p:cNvPr id="26" name="Text 23"/>
          <p:cNvSpPr txBox="1"/>
          <p:nvPr/>
        </p:nvSpPr>
        <p:spPr>
          <a:xfrm>
            <a:off x="9189720" y="3429000"/>
            <a:ext cx="2148840" cy="1005840"/>
          </a:xfrm>
          <a:prstGeom prst="rect">
            <a:avLst/>
          </a:prstGeom>
          <a:noFill/>
          <a:ln/>
        </p:spPr>
        <p:txBody>
          <a:bodyPr wrap="square" lIns="0" tIns="0" rIns="0" bIns="0" rtlCol="0" anchor="t"/>
          <a:lstStyle/>
          <a:p>
            <a:pPr indent="0" marL="0">
              <a:buNone/>
            </a:pPr>
            <a:r>
              <a:rPr lang="en-US" sz="1300" dirty="0">
                <a:solidFill>
                  <a:srgbClr val="C9CDD3"/>
                </a:solidFill>
                <a:latin typeface="Consolas" pitchFamily="34" charset="0"/>
                <a:ea typeface="Consolas" pitchFamily="34" charset="-122"/>
                <a:cs typeface="Consolas" pitchFamily="34" charset="-120"/>
              </a:rPr>
              <a:t>git push / git pull</a:t>
            </a:r>
            <a:endParaRPr lang="en-US" sz="1300" dirty="0"/>
          </a:p>
        </p:txBody>
      </p:sp>
      <p:sp>
        <p:nvSpPr>
          <p:cNvPr id="27" name="Text 24"/>
          <p:cNvSpPr txBox="1"/>
          <p:nvPr/>
        </p:nvSpPr>
        <p:spPr>
          <a:xfrm>
            <a:off x="640080" y="4937760"/>
            <a:ext cx="10911535" cy="457200"/>
          </a:xfrm>
          <a:prstGeom prst="rect">
            <a:avLst/>
          </a:prstGeom>
          <a:noFill/>
          <a:ln/>
        </p:spPr>
        <p:txBody>
          <a:bodyPr wrap="square" lIns="0" tIns="0" rIns="0" bIns="0" rtlCol="0" anchor="ctr"/>
          <a:lstStyle/>
          <a:p>
            <a:pPr indent="0" marL="0">
              <a:buNone/>
            </a:pPr>
            <a:r>
              <a:rPr lang="en-US" sz="1800" b="1" dirty="0">
                <a:solidFill>
                  <a:srgbClr val="16181D"/>
                </a:solidFill>
                <a:latin typeface="Calibri" pitchFamily="34" charset="0"/>
                <a:ea typeface="Calibri" pitchFamily="34" charset="-122"/>
                <a:cs typeface="Calibri" pitchFamily="34" charset="-120"/>
              </a:rPr>
              <a:t>Le message de commit, c'est l'étiquette du colis : ce qu'il contient, et pourquoi.</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COMMANDES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Les commandes du quotidien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4023360"/>
                <a:gridCol w="6885432"/>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Commande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Ce qu'elle fait</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clone &lt;url&gt;</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copie un dépôt distant sur votre poste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status</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montre ce qui a changé</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add &lt;fichier&gt;</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met un fichier dans le carton</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commit -m "…"</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ferme le carton avec son étiquette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log --oneline</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affiche l'historique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push / git pull</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envoie / récupère les commits</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switch -c &lt;branche&gt;</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crée une branche et s'y place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600" dirty="0">
                          <a:solidFill>
                            <a:srgbClr val="16181D"/>
                          </a:solidFill>
                          <a:latin typeface="Consolas" pitchFamily="34" charset="0"/>
                          <a:ea typeface="Consolas" pitchFamily="34" charset="-122"/>
                          <a:cs typeface="Consolas" pitchFamily="34" charset="-120"/>
                        </a:rPr>
                        <a:t>git merge &lt;branche&gt;</a:t>
                      </a:r>
                      <a:endParaRPr lang="en-US" sz="16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600" dirty="0">
                          <a:solidFill>
                            <a:srgbClr val="16181D"/>
                          </a:solidFill>
                          <a:latin typeface="Calibri" pitchFamily="34" charset="0"/>
                          <a:ea typeface="Calibri" pitchFamily="34" charset="-122"/>
                          <a:cs typeface="Calibri" pitchFamily="34" charset="-120"/>
                        </a:rPr>
                        <a:t>fusionne une branche dans la branche actuelle</a:t>
                      </a:r>
                      <a:endParaRPr lang="en-US" sz="16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9" name="Text 5"/>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git-scm.com/docs.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1463040"/>
            <a:ext cx="3657600" cy="457200"/>
          </a:xfrm>
          <a:prstGeom prst="rect">
            <a:avLst/>
          </a:prstGeom>
          <a:noFill/>
          <a:ln/>
        </p:spPr>
        <p:txBody>
          <a:bodyPr wrap="square" lIns="0" tIns="0" rIns="0" bIns="0" rtlCol="0" anchor="ctr"/>
          <a:lstStyle/>
          <a:p>
            <a:pPr indent="0" marL="0">
              <a:buNone/>
            </a:pPr>
            <a:r>
              <a:rPr lang="en-US" sz="1600" b="1" spc="400" kern="0" dirty="0">
                <a:solidFill>
                  <a:srgbClr val="E8590C"/>
                </a:solidFill>
                <a:latin typeface="Calibri" pitchFamily="34" charset="0"/>
                <a:ea typeface="Calibri" pitchFamily="34" charset="-122"/>
                <a:cs typeface="Calibri" pitchFamily="34" charset="-120"/>
              </a:rPr>
              <a:t>TERMINAL</a:t>
            </a:r>
            <a:endParaRPr lang="en-US" sz="1600" dirty="0"/>
          </a:p>
        </p:txBody>
      </p:sp>
      <p:sp>
        <p:nvSpPr>
          <p:cNvPr id="3" name="Shape 1"/>
          <p:cNvSpPr/>
          <p:nvPr/>
        </p:nvSpPr>
        <p:spPr>
          <a:xfrm>
            <a:off x="640080" y="2011680"/>
            <a:ext cx="10911535" cy="1517904"/>
          </a:xfrm>
          <a:prstGeom prst="roundRect">
            <a:avLst>
              <a:gd name="adj" fmla="val 4819"/>
            </a:avLst>
          </a:prstGeom>
          <a:solidFill>
            <a:srgbClr val="1E2127"/>
          </a:solidFill>
          <a:ln w="12700">
            <a:solidFill>
              <a:srgbClr val="1E2127"/>
            </a:solidFill>
            <a:prstDash val="solid"/>
          </a:ln>
        </p:spPr>
      </p:sp>
      <p:sp>
        <p:nvSpPr>
          <p:cNvPr id="4" name="Text 2"/>
          <p:cNvSpPr txBox="1"/>
          <p:nvPr/>
        </p:nvSpPr>
        <p:spPr>
          <a:xfrm>
            <a:off x="1005840" y="2194560"/>
            <a:ext cx="10180015" cy="1152144"/>
          </a:xfrm>
          <a:prstGeom prst="rect">
            <a:avLst/>
          </a:prstGeom>
          <a:noFill/>
          <a:ln/>
        </p:spPr>
        <p:txBody>
          <a:bodyPr wrap="square" lIns="0" tIns="0" rIns="0" bIns="0" rtlCol="0" anchor="t"/>
          <a:lstStyle/>
          <a:p>
            <a:pPr indent="0" marL="0">
              <a:buNone/>
            </a:pPr>
            <a:r>
              <a:rPr lang="en-US" sz="2000" dirty="0">
                <a:solidFill>
                  <a:srgbClr val="E6E6E6"/>
                </a:solidFill>
                <a:latin typeface="Consolas" pitchFamily="34" charset="0"/>
                <a:ea typeface="Consolas" pitchFamily="34" charset="-122"/>
                <a:cs typeface="Consolas" pitchFamily="34" charset="-120"/>
              </a:rPr>
              <a:t>git clone https://github.com/lle-condorcet/condorcet-2027.git</a:t>
            </a:r>
            <a:endParaRPr lang="en-US" sz="2000" dirty="0"/>
          </a:p>
          <a:p>
            <a:pPr indent="0" marL="0">
              <a:buNone/>
            </a:pPr>
            <a:r>
              <a:rPr lang="en-US" sz="2000" dirty="0">
                <a:solidFill>
                  <a:srgbClr val="E6E6E6"/>
                </a:solidFill>
                <a:latin typeface="Consolas" pitchFamily="34" charset="0"/>
                <a:ea typeface="Consolas" pitchFamily="34" charset="-122"/>
                <a:cs typeface="Consolas" pitchFamily="34" charset="-120"/>
              </a:rPr>
              <a:t>cd condorcet-2027</a:t>
            </a:r>
            <a:endParaRPr lang="en-US" sz="2000" dirty="0"/>
          </a:p>
          <a:p>
            <a:pPr indent="0" marL="0">
              <a:buNone/>
            </a:pPr>
            <a:r>
              <a:rPr lang="en-US" sz="2000" dirty="0">
                <a:solidFill>
                  <a:srgbClr val="E6E6E6"/>
                </a:solidFill>
                <a:latin typeface="Consolas" pitchFamily="34" charset="0"/>
                <a:ea typeface="Consolas" pitchFamily="34" charset="-122"/>
                <a:cs typeface="Consolas" pitchFamily="34" charset="-120"/>
              </a:rPr>
              <a:t>git log --oneline --graph --all</a:t>
            </a:r>
            <a:endParaRPr lang="en-US" sz="2000" dirty="0"/>
          </a:p>
        </p:txBody>
      </p:sp>
      <p:sp>
        <p:nvSpPr>
          <p:cNvPr id="5" name="Text 3"/>
          <p:cNvSpPr txBox="1"/>
          <p:nvPr/>
        </p:nvSpPr>
        <p:spPr>
          <a:xfrm>
            <a:off x="640080" y="3803904"/>
            <a:ext cx="10911535" cy="548640"/>
          </a:xfrm>
          <a:prstGeom prst="rect">
            <a:avLst/>
          </a:prstGeom>
          <a:noFill/>
          <a:ln/>
        </p:spPr>
        <p:txBody>
          <a:bodyPr wrap="square" lIns="0" tIns="0" rIns="0" bIns="0" rtlCol="0" anchor="t"/>
          <a:lstStyle/>
          <a:p>
            <a:pPr indent="0" marL="0">
              <a:buNone/>
            </a:pPr>
            <a:r>
              <a:rPr lang="en-US" sz="2200" b="1" dirty="0">
                <a:solidFill>
                  <a:srgbClr val="16181D"/>
                </a:solidFill>
                <a:latin typeface="Arial" pitchFamily="34" charset="0"/>
                <a:ea typeface="Arial" pitchFamily="34" charset="-122"/>
                <a:cs typeface="Arial" pitchFamily="34" charset="-120"/>
              </a:rPr>
              <a:t>Le dépôt de démo du cours, son historique</a:t>
            </a:r>
            <a:endParaRPr lang="en-US" sz="2200" dirty="0"/>
          </a:p>
        </p:txBody>
      </p:sp>
      <p:sp>
        <p:nvSpPr>
          <p:cNvPr id="6" name="Text 4"/>
          <p:cNvSpPr txBox="1"/>
          <p:nvPr/>
        </p:nvSpPr>
        <p:spPr>
          <a:xfrm>
            <a:off x="640080" y="4443984"/>
            <a:ext cx="4572000" cy="365760"/>
          </a:xfrm>
          <a:prstGeom prst="rect">
            <a:avLst/>
          </a:prstGeom>
          <a:noFill/>
          <a:ln/>
        </p:spPr>
        <p:txBody>
          <a:bodyPr wrap="square" lIns="0" tIns="0" rIns="0" bIns="0" rtlCol="0" anchor="ctr"/>
          <a:lstStyle/>
          <a:p>
            <a:pPr indent="0" marL="0">
              <a:buNone/>
            </a:pPr>
            <a:r>
              <a:rPr lang="en-US" sz="1300" b="1" spc="200" kern="0" dirty="0">
                <a:solidFill>
                  <a:srgbClr val="5F6670"/>
                </a:solidFill>
                <a:latin typeface="Calibri" pitchFamily="34" charset="0"/>
                <a:ea typeface="Calibri" pitchFamily="34" charset="-122"/>
                <a:cs typeface="Calibri" pitchFamily="34" charset="-120"/>
              </a:rPr>
              <a:t>CE QU'ON REGARDE</a:t>
            </a:r>
            <a:endParaRPr lang="en-US" sz="1300" dirty="0"/>
          </a:p>
        </p:txBody>
      </p:sp>
      <p:sp>
        <p:nvSpPr>
          <p:cNvPr id="7" name="Text 5"/>
          <p:cNvSpPr txBox="1"/>
          <p:nvPr/>
        </p:nvSpPr>
        <p:spPr>
          <a:xfrm>
            <a:off x="640080" y="4809744"/>
            <a:ext cx="10911535" cy="1408176"/>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Chaque ligne est un commit : une empreinte (hash) et un message</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Les tags s01-… et s02-… : les étapes qu'on a lues en Rider</a:t>
            </a:r>
            <a:endParaRPr lang="en-US" sz="1700" dirty="0"/>
          </a:p>
          <a:p>
            <a:pPr marL="228600" indent="-228600">
              <a:spcAft>
                <a:spcPts val="800"/>
              </a:spcAft>
              <a:buSzPct val="100000"/>
              <a:buChar char="•"/>
            </a:pPr>
            <a:r>
              <a:rPr lang="en-US" sz="1700" dirty="0">
                <a:solidFill>
                  <a:srgbClr val="16181D"/>
                </a:solidFill>
                <a:latin typeface="Calibri" pitchFamily="34" charset="0"/>
                <a:ea typeface="Calibri" pitchFamily="34" charset="-122"/>
                <a:cs typeface="Calibri" pitchFamily="34" charset="-120"/>
              </a:rPr>
              <a:t>Les branches demo/… partent d'une étape précise</a:t>
            </a:r>
            <a:endParaRPr lang="en-US" sz="1700" dirty="0"/>
          </a:p>
        </p:txBody>
      </p:sp>
      <p:sp>
        <p:nvSpPr>
          <p:cNvPr id="8" name="Text 6"/>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BRANCHES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Une branche : travailler à côté, sans casser l'existant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pic>
        <p:nvPicPr>
          <p:cNvPr id="8" name="Image 0" descr="s3diag/githubflow.png">    </p:cNvPr>
          <p:cNvPicPr>
            <a:picLocks noChangeAspect="1"/>
          </p:cNvPicPr>
          <p:nvPr/>
        </p:nvPicPr>
        <p:blipFill>
          <a:blip r:embed="rId1"/>
          <a:stretch>
            <a:fillRect/>
          </a:stretch>
        </p:blipFill>
        <p:spPr>
          <a:xfrm>
            <a:off x="640080" y="1817800"/>
            <a:ext cx="6949440" cy="2490879"/>
          </a:xfrm>
          <a:prstGeom prst="rect">
            <a:avLst/>
          </a:prstGeom>
        </p:spPr>
      </p:pic>
      <p:sp>
        <p:nvSpPr>
          <p:cNvPr id="9" name="Shape 5"/>
          <p:cNvSpPr/>
          <p:nvPr/>
        </p:nvSpPr>
        <p:spPr>
          <a:xfrm>
            <a:off x="640080" y="4572000"/>
            <a:ext cx="6949440" cy="1234440"/>
          </a:xfrm>
          <a:prstGeom prst="roundRect">
            <a:avLst>
              <a:gd name="adj" fmla="val 5926"/>
            </a:avLst>
          </a:prstGeom>
          <a:solidFill>
            <a:srgbClr val="F2F3F5"/>
          </a:solidFill>
          <a:ln w="12700">
            <a:solidFill>
              <a:srgbClr val="F2F3F5"/>
            </a:solidFill>
            <a:prstDash val="solid"/>
          </a:ln>
        </p:spPr>
      </p:sp>
      <p:sp>
        <p:nvSpPr>
          <p:cNvPr id="10" name="Text 6"/>
          <p:cNvSpPr txBox="1"/>
          <p:nvPr/>
        </p:nvSpPr>
        <p:spPr>
          <a:xfrm>
            <a:off x="914400" y="4572000"/>
            <a:ext cx="6400800" cy="123444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Le conflit : </a:t>
            </a:r>
            <a:pPr indent="0" marL="0">
              <a:buNone/>
            </a:pPr>
            <a:r>
              <a:rPr lang="en-US" sz="1600" dirty="0">
                <a:solidFill>
                  <a:srgbClr val="16181D"/>
                </a:solidFill>
                <a:latin typeface="Calibri" pitchFamily="34" charset="0"/>
                <a:ea typeface="Calibri" pitchFamily="34" charset="-122"/>
                <a:cs typeface="Calibri" pitchFamily="34" charset="-120"/>
              </a:rPr>
              <a:t>deux personnes ont modifié la même ligne. Git ne devine pas : il montre les deux versions et vous choisissez.</a:t>
            </a:r>
            <a:endParaRPr lang="en-US" sz="1600" dirty="0"/>
          </a:p>
        </p:txBody>
      </p:sp>
      <p:sp>
        <p:nvSpPr>
          <p:cNvPr id="11" name="Shape 7"/>
          <p:cNvSpPr/>
          <p:nvPr/>
        </p:nvSpPr>
        <p:spPr>
          <a:xfrm>
            <a:off x="7863840" y="1783080"/>
            <a:ext cx="3657600" cy="4023360"/>
          </a:xfrm>
          <a:prstGeom prst="roundRect">
            <a:avLst>
              <a:gd name="adj" fmla="val 2000"/>
            </a:avLst>
          </a:prstGeom>
          <a:solidFill>
            <a:srgbClr val="16181D"/>
          </a:solidFill>
          <a:ln w="12700">
            <a:solidFill>
              <a:srgbClr val="16181D"/>
            </a:solidFill>
            <a:prstDash val="solid"/>
          </a:ln>
        </p:spPr>
      </p:sp>
      <p:sp>
        <p:nvSpPr>
          <p:cNvPr id="12" name="Text 8"/>
          <p:cNvSpPr txBox="1"/>
          <p:nvPr/>
        </p:nvSpPr>
        <p:spPr>
          <a:xfrm>
            <a:off x="8092440" y="1965960"/>
            <a:ext cx="3200400" cy="3657600"/>
          </a:xfrm>
          <a:prstGeom prst="rect">
            <a:avLst/>
          </a:prstGeom>
          <a:noFill/>
          <a:ln/>
        </p:spPr>
        <p:txBody>
          <a:bodyPr wrap="square" lIns="0" tIns="0" rIns="0" bIns="0" rtlCol="0" anchor="t"/>
          <a:lstStyle/>
          <a:p>
            <a:pPr indent="0" marL="0">
              <a:buNone/>
            </a:pPr>
            <a:r>
              <a:rPr lang="en-US" sz="1900" b="1" dirty="0">
                <a:solidFill>
                  <a:srgbClr val="E8590C"/>
                </a:solidFill>
                <a:latin typeface="Calibri" pitchFamily="34" charset="0"/>
                <a:ea typeface="Calibri" pitchFamily="34" charset="-122"/>
                <a:cs typeface="Calibri" pitchFamily="34" charset="-120"/>
              </a:rPr>
              <a:t>Le brouillon</a:t>
            </a:r>
            <a:endParaRPr lang="en-US" sz="1900" dirty="0"/>
          </a:p>
          <a:p>
            <a:pPr indent="0" marL="0">
              <a:buNone/>
            </a:pPr>
            <a:endParaRPr lang="en-US" sz="1900" dirty="0"/>
          </a:p>
          <a:p>
            <a:pPr indent="0" marL="0">
              <a:buNone/>
            </a:pPr>
            <a:r>
              <a:rPr lang="en-US" sz="1600" dirty="0">
                <a:solidFill>
                  <a:srgbClr val="FFFFFF"/>
                </a:solidFill>
                <a:latin typeface="Calibri" pitchFamily="34" charset="0"/>
                <a:ea typeface="Calibri" pitchFamily="34" charset="-122"/>
                <a:cs typeface="Calibri" pitchFamily="34" charset="-120"/>
              </a:rPr>
              <a:t>On essaie sur un brouillon, sans abîmer la copie propre. Quand c'est bon, on recopie au propre : c'est le merge.</a:t>
            </a:r>
            <a:endParaRPr lang="en-US" sz="1900" dirty="0"/>
          </a:p>
          <a:p>
            <a:pPr indent="0" marL="0">
              <a:buNone/>
            </a:pPr>
            <a:endParaRPr lang="en-US" sz="1900" dirty="0"/>
          </a:p>
          <a:p>
            <a:pPr indent="0" marL="0">
              <a:buNone/>
            </a:pPr>
            <a:r>
              <a:rPr lang="en-US" sz="1600" dirty="0">
                <a:solidFill>
                  <a:srgbClr val="FFFFFF"/>
                </a:solidFill>
                <a:latin typeface="Calibri" pitchFamily="34" charset="0"/>
                <a:ea typeface="Calibri" pitchFamily="34" charset="-122"/>
                <a:cs typeface="Calibri" pitchFamily="34" charset="-120"/>
              </a:rPr>
              <a:t>main reste toujours stable.</a:t>
            </a:r>
            <a:endParaRPr lang="en-US" sz="1900" dirty="0"/>
          </a:p>
        </p:txBody>
      </p:sp>
      <p:sp>
        <p:nvSpPr>
          <p:cNvPr id="13" name="Text 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Diagramme généré avec Mermaid (gitGraph).</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RETOUR SUR TOYOTA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Git n'oublie rien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11</a:t>
            </a:r>
            <a:endParaRPr lang="en-US" sz="1000" dirty="0"/>
          </a:p>
        </p:txBody>
      </p:sp>
      <p:sp>
        <p:nvSpPr>
          <p:cNvPr id="8" name="Shape 5"/>
          <p:cNvSpPr/>
          <p:nvPr/>
        </p:nvSpPr>
        <p:spPr>
          <a:xfrm>
            <a:off x="640080" y="1783080"/>
            <a:ext cx="6583680" cy="3017520"/>
          </a:xfrm>
          <a:prstGeom prst="roundRect">
            <a:avLst>
              <a:gd name="adj" fmla="val 2424"/>
            </a:avLst>
          </a:prstGeom>
          <a:solidFill>
            <a:srgbClr val="1E2127"/>
          </a:solidFill>
          <a:ln w="12700">
            <a:solidFill>
              <a:srgbClr val="1E2127"/>
            </a:solidFill>
            <a:prstDash val="solid"/>
          </a:ln>
        </p:spPr>
      </p:sp>
      <p:sp>
        <p:nvSpPr>
          <p:cNvPr id="9" name="Text 6"/>
          <p:cNvSpPr txBox="1"/>
          <p:nvPr/>
        </p:nvSpPr>
        <p:spPr>
          <a:xfrm>
            <a:off x="914400" y="2011680"/>
            <a:ext cx="6035040" cy="2560320"/>
          </a:xfrm>
          <a:prstGeom prst="rect">
            <a:avLst/>
          </a:prstGeom>
          <a:noFill/>
          <a:ln/>
        </p:spPr>
        <p:txBody>
          <a:bodyPr wrap="square" lIns="0" tIns="0" rIns="0" bIns="0" rtlCol="0" anchor="t"/>
          <a:lstStyle/>
          <a:p>
            <a:pPr indent="0" marL="0">
              <a:buNone/>
            </a:pPr>
            <a:r>
              <a:rPr lang="en-US" sz="1500" dirty="0">
                <a:solidFill>
                  <a:srgbClr val="E6E6E6"/>
                </a:solidFill>
                <a:latin typeface="Consolas" pitchFamily="34" charset="0"/>
                <a:ea typeface="Consolas" pitchFamily="34" charset="-122"/>
                <a:cs typeface="Consolas" pitchFamily="34" charset="-120"/>
              </a:rPr>
              <a:t>$ git rm config/secrets.json</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git commit -m "chore: supprime le fichier de secrets"</a:t>
            </a:r>
            <a:endParaRPr lang="en-US" sz="1500" dirty="0"/>
          </a:p>
          <a:p>
            <a:pPr indent="0" marL="0">
              <a:buNone/>
            </a:pPr>
            <a:r>
              <a:rPr lang="en-US" sz="1500" dirty="0">
                <a:solidFill>
                  <a:srgbClr val="E6E6E6"/>
                </a:solidFill>
                <a:latin typeface="Consolas" pitchFamily="34" charset="0"/>
                <a:ea typeface="Consolas" pitchFamily="34" charset="-122"/>
                <a:cs typeface="Consolas" pitchFamily="34" charset="-120"/>
              </a:rPr>
              <a:t> </a:t>
            </a:r>
            <a:endParaRPr lang="en-US" sz="1500" dirty="0"/>
          </a:p>
          <a:p>
            <a:pPr indent="0" marL="0">
              <a:buNone/>
            </a:pPr>
            <a:r>
              <a:rPr lang="en-US" sz="1500" dirty="0">
                <a:solidFill>
                  <a:srgbClr val="8B929C"/>
                </a:solidFill>
                <a:latin typeface="Consolas" pitchFamily="34" charset="0"/>
                <a:ea typeface="Consolas" pitchFamily="34" charset="-122"/>
                <a:cs typeface="Consolas" pitchFamily="34" charset="-120"/>
              </a:rPr>
              <a:t># … mais le fichier est toujours dans l'historique :</a:t>
            </a:r>
            <a:endParaRPr lang="en-US" sz="1500" dirty="0"/>
          </a:p>
          <a:p>
            <a:pPr indent="0" marL="0">
              <a:buNone/>
            </a:pPr>
            <a:r>
              <a:rPr lang="en-US" sz="1500" b="1" dirty="0">
                <a:solidFill>
                  <a:srgbClr val="FFA94D"/>
                </a:solidFill>
                <a:latin typeface="Consolas" pitchFamily="34" charset="0"/>
                <a:ea typeface="Consolas" pitchFamily="34" charset="-122"/>
                <a:cs typeface="Consolas" pitchFamily="34" charset="-120"/>
              </a:rPr>
              <a:t>$ git show HEAD~1:config/secrets.json</a:t>
            </a:r>
            <a:endParaRPr lang="en-US" sz="1500" dirty="0"/>
          </a:p>
          <a:p>
            <a:pPr indent="0" marL="0">
              <a:buNone/>
            </a:pPr>
            <a:r>
              <a:rPr lang="en-US" sz="1500" b="1" dirty="0">
                <a:solidFill>
                  <a:srgbClr val="C92A2A"/>
                </a:solidFill>
                <a:latin typeface="Consolas" pitchFamily="34" charset="0"/>
                <a:ea typeface="Consolas" pitchFamily="34" charset="-122"/>
                <a:cs typeface="Consolas" pitchFamily="34" charset="-120"/>
              </a:rPr>
              <a:t>{ "DbPassword": "…" }</a:t>
            </a:r>
            <a:endParaRPr lang="en-US" sz="1500" dirty="0"/>
          </a:p>
        </p:txBody>
      </p:sp>
      <p:sp>
        <p:nvSpPr>
          <p:cNvPr id="10" name="Shape 7"/>
          <p:cNvSpPr/>
          <p:nvPr/>
        </p:nvSpPr>
        <p:spPr>
          <a:xfrm>
            <a:off x="7498080" y="1783080"/>
            <a:ext cx="4023360" cy="1371600"/>
          </a:xfrm>
          <a:prstGeom prst="roundRect">
            <a:avLst>
              <a:gd name="adj" fmla="val 5333"/>
            </a:avLst>
          </a:prstGeom>
          <a:solidFill>
            <a:srgbClr val="16181D"/>
          </a:solidFill>
          <a:ln w="12700">
            <a:solidFill>
              <a:srgbClr val="16181D"/>
            </a:solidFill>
            <a:prstDash val="solid"/>
          </a:ln>
        </p:spPr>
      </p:sp>
      <p:sp>
        <p:nvSpPr>
          <p:cNvPr id="11" name="Text 8"/>
          <p:cNvSpPr txBox="1"/>
          <p:nvPr/>
        </p:nvSpPr>
        <p:spPr>
          <a:xfrm>
            <a:off x="7680960" y="1920240"/>
            <a:ext cx="45720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1</a:t>
            </a:r>
            <a:endParaRPr lang="en-US" sz="2600" dirty="0"/>
          </a:p>
        </p:txBody>
      </p:sp>
      <p:sp>
        <p:nvSpPr>
          <p:cNvPr id="12" name="Text 9"/>
          <p:cNvSpPr txBox="1"/>
          <p:nvPr/>
        </p:nvSpPr>
        <p:spPr>
          <a:xfrm>
            <a:off x="8183880" y="1947672"/>
            <a:ext cx="3200400" cy="5486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Aucun secret dans le code</a:t>
            </a:r>
            <a:endParaRPr lang="en-US" sz="1600" dirty="0"/>
          </a:p>
        </p:txBody>
      </p:sp>
      <p:sp>
        <p:nvSpPr>
          <p:cNvPr id="13" name="Text 10"/>
          <p:cNvSpPr txBox="1"/>
          <p:nvPr/>
        </p:nvSpPr>
        <p:spPr>
          <a:xfrm>
            <a:off x="8183880" y="2514600"/>
            <a:ext cx="3200400" cy="548640"/>
          </a:xfrm>
          <a:prstGeom prst="rect">
            <a:avLst/>
          </a:prstGeom>
          <a:noFill/>
          <a:ln/>
        </p:spPr>
        <p:txBody>
          <a:bodyPr wrap="square" lIns="0" tIns="0" rIns="0" bIns="0" rtlCol="0" anchor="t"/>
          <a:lstStyle/>
          <a:p>
            <a:pPr indent="0" marL="0">
              <a:buNone/>
            </a:pPr>
            <a:r>
              <a:rPr lang="en-US" sz="1400" dirty="0">
                <a:solidFill>
                  <a:srgbClr val="C9CDD3"/>
                </a:solidFill>
                <a:latin typeface="Calibri" pitchFamily="34" charset="0"/>
                <a:ea typeface="Calibri" pitchFamily="34" charset="-122"/>
                <a:cs typeface="Calibri" pitchFamily="34" charset="-120"/>
              </a:rPr>
              <a:t>.gitignore, user-secrets, coffre-fort (Q2)</a:t>
            </a:r>
            <a:endParaRPr lang="en-US" sz="1400" dirty="0"/>
          </a:p>
        </p:txBody>
      </p:sp>
      <p:sp>
        <p:nvSpPr>
          <p:cNvPr id="14" name="Shape 11"/>
          <p:cNvSpPr/>
          <p:nvPr/>
        </p:nvSpPr>
        <p:spPr>
          <a:xfrm>
            <a:off x="7498080" y="3337560"/>
            <a:ext cx="4023360" cy="1371600"/>
          </a:xfrm>
          <a:prstGeom prst="roundRect">
            <a:avLst>
              <a:gd name="adj" fmla="val 5333"/>
            </a:avLst>
          </a:prstGeom>
          <a:solidFill>
            <a:srgbClr val="F2F3F5"/>
          </a:solidFill>
          <a:ln w="12700">
            <a:solidFill>
              <a:srgbClr val="F2F3F5"/>
            </a:solidFill>
            <a:prstDash val="solid"/>
          </a:ln>
        </p:spPr>
      </p:sp>
      <p:sp>
        <p:nvSpPr>
          <p:cNvPr id="15" name="Text 12"/>
          <p:cNvSpPr txBox="1"/>
          <p:nvPr/>
        </p:nvSpPr>
        <p:spPr>
          <a:xfrm>
            <a:off x="7680960" y="3474720"/>
            <a:ext cx="457200" cy="54864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2</a:t>
            </a:r>
            <a:endParaRPr lang="en-US" sz="2600" dirty="0"/>
          </a:p>
        </p:txBody>
      </p:sp>
      <p:sp>
        <p:nvSpPr>
          <p:cNvPr id="16" name="Text 13"/>
          <p:cNvSpPr txBox="1"/>
          <p:nvPr/>
        </p:nvSpPr>
        <p:spPr>
          <a:xfrm>
            <a:off x="8183880" y="3502152"/>
            <a:ext cx="3200400" cy="54864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Secret publié = secret changé</a:t>
            </a:r>
            <a:endParaRPr lang="en-US" sz="1600" dirty="0"/>
          </a:p>
        </p:txBody>
      </p:sp>
      <p:sp>
        <p:nvSpPr>
          <p:cNvPr id="17" name="Text 14"/>
          <p:cNvSpPr txBox="1"/>
          <p:nvPr/>
        </p:nvSpPr>
        <p:spPr>
          <a:xfrm>
            <a:off x="8183880" y="4069080"/>
            <a:ext cx="3200400" cy="54864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révoquer d'abord, nettoyer ensuite</a:t>
            </a:r>
            <a:endParaRPr lang="en-US" sz="1400" dirty="0"/>
          </a:p>
        </p:txBody>
      </p:sp>
      <p:sp>
        <p:nvSpPr>
          <p:cNvPr id="18" name="Text 15"/>
          <p:cNvSpPr txBox="1"/>
          <p:nvPr/>
        </p:nvSpPr>
        <p:spPr>
          <a:xfrm>
            <a:off x="640080" y="5120640"/>
            <a:ext cx="10911535"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Supprimer un fichier ne le retire pas de l'historique.</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02</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Git Flow</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Organiser les branches d'une équipe</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GIT FLOW</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Git Flow : une branche pour chaque usage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13</a:t>
            </a:r>
            <a:endParaRPr lang="en-US" sz="1000" dirty="0"/>
          </a:p>
        </p:txBody>
      </p:sp>
      <p:pic>
        <p:nvPicPr>
          <p:cNvPr id="8" name="Image 0" descr="s3diag/gitflow.png">    </p:cNvPr>
          <p:cNvPicPr>
            <a:picLocks noChangeAspect="1"/>
          </p:cNvPicPr>
          <p:nvPr/>
        </p:nvPicPr>
        <p:blipFill>
          <a:blip r:embed="rId1"/>
          <a:stretch>
            <a:fillRect/>
          </a:stretch>
        </p:blipFill>
        <p:spPr>
          <a:xfrm>
            <a:off x="640080" y="1764745"/>
            <a:ext cx="7315200" cy="3877149"/>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8138160" y="1783080"/>
          <a:ext cx="3410712" cy="914400"/>
        </p:xfrm>
        <a:graphic>
          <a:graphicData uri="http://schemas.openxmlformats.org/drawingml/2006/table">
            <a:tbl>
              <a:tblPr/>
              <a:tblGrid>
                <a:gridCol w="1325880"/>
                <a:gridCol w="2084832"/>
              </a:tblGrid>
              <a:tr h="54864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Branche</a:t>
                      </a:r>
                      <a:endParaRPr lang="en-US" sz="130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Rôle</a:t>
                      </a:r>
                      <a:endParaRPr lang="en-US" sz="130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48640">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main</a:t>
                      </a:r>
                      <a:endParaRPr lang="en-US" sz="130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la production, versions taguées</a:t>
                      </a:r>
                      <a:endParaRPr lang="en-US" sz="130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develop</a:t>
                      </a:r>
                      <a:endParaRPr lang="en-US" sz="130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la prochaine version</a:t>
                      </a:r>
                      <a:endParaRPr lang="en-US" sz="130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48640">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feature/…</a:t>
                      </a:r>
                      <a:endParaRPr lang="en-US" sz="130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une fonctionnalité</a:t>
                      </a:r>
                      <a:endParaRPr lang="en-US" sz="130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48640">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release/…</a:t>
                      </a:r>
                      <a:endParaRPr lang="en-US" sz="130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préparer une version</a:t>
                      </a:r>
                      <a:endParaRPr lang="en-US" sz="130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48640">
                <a:tc>
                  <a:txBody>
                    <a:bodyPr/>
                    <a:lstStyle/>
                    <a:p>
                      <a:pPr indent="0" marL="0">
                        <a:buNone/>
                      </a:pPr>
                      <a:r>
                        <a:rPr lang="en-US" sz="1300" dirty="0">
                          <a:solidFill>
                            <a:srgbClr val="16181D"/>
                          </a:solidFill>
                          <a:latin typeface="Consolas" pitchFamily="34" charset="0"/>
                          <a:ea typeface="Consolas" pitchFamily="34" charset="-122"/>
                          <a:cs typeface="Consolas" pitchFamily="34" charset="-120"/>
                        </a:rPr>
                        <a:t>hotfix/…</a:t>
                      </a:r>
                      <a:endParaRPr lang="en-US" sz="1300" dirty="0">
                        <a:latin typeface="Consolas" charset="0"/>
                        <a:ea typeface="Consolas" charset="0"/>
                        <a:cs typeface="Consolas"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300" dirty="0">
                          <a:solidFill>
                            <a:srgbClr val="16181D"/>
                          </a:solidFill>
                          <a:latin typeface="Calibri" pitchFamily="34" charset="0"/>
                          <a:ea typeface="Calibri" pitchFamily="34" charset="-122"/>
                          <a:cs typeface="Calibri" pitchFamily="34" charset="-120"/>
                        </a:rPr>
                        <a:t>corriger la production en urgence</a:t>
                      </a:r>
                      <a:endParaRPr lang="en-US" sz="1300" dirty="0">
                        <a:latin typeface="Calibri" charset="0"/>
                        <a:ea typeface="Calibri" charset="0"/>
                        <a:cs typeface="Calibri" charset="0"/>
                      </a:endParaRPr>
                    </a:p>
                  </a:txBody>
                  <a:tcPr marL="91440" marR="91440"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10" name="Text 5"/>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Vincent Driessen, « A successful Git branching model », nvie.com, 2010. Diagramme généré avec Mermaid (gitGraph).</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ESPRIT CRITIQUE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Même son auteur conseille de faire plus simple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640080" y="1783080"/>
            <a:ext cx="5303520" cy="3749040"/>
          </a:xfrm>
          <a:prstGeom prst="roundRect">
            <a:avLst>
              <a:gd name="adj" fmla="val 1951"/>
            </a:avLst>
          </a:prstGeom>
          <a:solidFill>
            <a:srgbClr val="F2F3F5"/>
          </a:solidFill>
          <a:ln w="12700">
            <a:solidFill>
              <a:srgbClr val="F2F3F5"/>
            </a:solidFill>
            <a:prstDash val="solid"/>
          </a:ln>
        </p:spPr>
      </p:sp>
      <p:sp>
        <p:nvSpPr>
          <p:cNvPr id="9" name="Text 6"/>
          <p:cNvSpPr txBox="1"/>
          <p:nvPr/>
        </p:nvSpPr>
        <p:spPr>
          <a:xfrm>
            <a:off x="960120" y="1920240"/>
            <a:ext cx="4572000" cy="457200"/>
          </a:xfrm>
          <a:prstGeom prst="rect">
            <a:avLst/>
          </a:prstGeom>
          <a:noFill/>
          <a:ln/>
        </p:spPr>
        <p:txBody>
          <a:bodyPr wrap="square" lIns="0" tIns="0" rIns="0" bIns="0" rtlCol="0" anchor="ctr"/>
          <a:lstStyle/>
          <a:p>
            <a:pPr indent="0" marL="0">
              <a:buNone/>
            </a:pPr>
            <a:r>
              <a:rPr lang="en-US" sz="2100" b="1" dirty="0">
                <a:solidFill>
                  <a:srgbClr val="16181D"/>
                </a:solidFill>
                <a:latin typeface="Arial" pitchFamily="34" charset="0"/>
                <a:ea typeface="Arial" pitchFamily="34" charset="-122"/>
                <a:cs typeface="Arial" pitchFamily="34" charset="-120"/>
              </a:rPr>
              <a:t>Git Flow</a:t>
            </a:r>
            <a:endParaRPr lang="en-US" sz="2100" dirty="0"/>
          </a:p>
        </p:txBody>
      </p:sp>
      <p:sp>
        <p:nvSpPr>
          <p:cNvPr id="10" name="Text 7"/>
          <p:cNvSpPr txBox="1"/>
          <p:nvPr/>
        </p:nvSpPr>
        <p:spPr>
          <a:xfrm>
            <a:off x="960120" y="2514600"/>
            <a:ext cx="4754880"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main + develop, et des branches feature, release, hotfix</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Pour les logiciels livrés en versions numérotées</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Plusieurs versions maintenues en parallèle</a:t>
            </a:r>
            <a:endParaRPr lang="en-US" sz="1600" dirty="0"/>
          </a:p>
        </p:txBody>
      </p:sp>
      <p:sp>
        <p:nvSpPr>
          <p:cNvPr id="11" name="Shape 8"/>
          <p:cNvSpPr/>
          <p:nvPr/>
        </p:nvSpPr>
        <p:spPr>
          <a:xfrm>
            <a:off x="6217920" y="1783080"/>
            <a:ext cx="5303520" cy="3749040"/>
          </a:xfrm>
          <a:prstGeom prst="roundRect">
            <a:avLst>
              <a:gd name="adj" fmla="val 1951"/>
            </a:avLst>
          </a:prstGeom>
          <a:solidFill>
            <a:srgbClr val="16181D"/>
          </a:solidFill>
          <a:ln w="12700">
            <a:solidFill>
              <a:srgbClr val="16181D"/>
            </a:solidFill>
            <a:prstDash val="solid"/>
          </a:ln>
        </p:spPr>
      </p:sp>
      <p:sp>
        <p:nvSpPr>
          <p:cNvPr id="12" name="Text 9"/>
          <p:cNvSpPr txBox="1"/>
          <p:nvPr/>
        </p:nvSpPr>
        <p:spPr>
          <a:xfrm>
            <a:off x="6537960" y="1920240"/>
            <a:ext cx="4572000" cy="457200"/>
          </a:xfrm>
          <a:prstGeom prst="rect">
            <a:avLst/>
          </a:prstGeom>
          <a:noFill/>
          <a:ln/>
        </p:spPr>
        <p:txBody>
          <a:bodyPr wrap="square" lIns="0" tIns="0" rIns="0" bIns="0" rtlCol="0" anchor="ctr"/>
          <a:lstStyle/>
          <a:p>
            <a:pPr indent="0" marL="0">
              <a:buNone/>
            </a:pPr>
            <a:r>
              <a:rPr lang="en-US" sz="2100" b="1" dirty="0">
                <a:solidFill>
                  <a:srgbClr val="E8590C"/>
                </a:solidFill>
                <a:latin typeface="Arial" pitchFamily="34" charset="0"/>
                <a:ea typeface="Arial" pitchFamily="34" charset="-122"/>
                <a:cs typeface="Arial" pitchFamily="34" charset="-120"/>
              </a:rPr>
              <a:t>GitHub Flow</a:t>
            </a:r>
            <a:endParaRPr lang="en-US" sz="2100" dirty="0"/>
          </a:p>
        </p:txBody>
      </p:sp>
      <p:sp>
        <p:nvSpPr>
          <p:cNvPr id="13" name="Text 10"/>
          <p:cNvSpPr txBox="1"/>
          <p:nvPr/>
        </p:nvSpPr>
        <p:spPr>
          <a:xfrm>
            <a:off x="6537960" y="2514600"/>
            <a:ext cx="4754880" cy="283464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Une seule branche permanente : main</a:t>
            </a:r>
            <a:endParaRPr lang="en-US" sz="1600" dirty="0"/>
          </a:p>
          <a:p>
            <a:pPr marL="228600" indent="-2286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Une branche courte par changement, puis une pull request</a:t>
            </a:r>
            <a:endParaRPr lang="en-US" sz="1600" dirty="0"/>
          </a:p>
          <a:p>
            <a:pPr marL="228600" indent="-228600">
              <a:spcAft>
                <a:spcPts val="800"/>
              </a:spcAft>
              <a:buSzPct val="100000"/>
              <a:buChar char="•"/>
            </a:pPr>
            <a:r>
              <a:rPr lang="en-US" sz="1600" dirty="0">
                <a:solidFill>
                  <a:srgbClr val="FFFFFF"/>
                </a:solidFill>
                <a:latin typeface="Calibri" pitchFamily="34" charset="0"/>
                <a:ea typeface="Calibri" pitchFamily="34" charset="-122"/>
                <a:cs typeface="Calibri" pitchFamily="34" charset="-120"/>
              </a:rPr>
              <a:t>Pour les applications livrées en continu</a:t>
            </a:r>
            <a:endParaRPr lang="en-US" sz="1600" dirty="0"/>
          </a:p>
        </p:txBody>
      </p:sp>
      <p:sp>
        <p:nvSpPr>
          <p:cNvPr id="14" name="Text 11"/>
          <p:cNvSpPr txBox="1"/>
          <p:nvPr/>
        </p:nvSpPr>
        <p:spPr>
          <a:xfrm>
            <a:off x="640080" y="5623560"/>
            <a:ext cx="10911535" cy="36576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Dans ce cours : GitHub Flow pour les livrables. Git Flow pour savoir le reconnaître en entreprise.</a:t>
            </a:r>
            <a:endParaRPr lang="en-US" sz="1600" dirty="0"/>
          </a:p>
        </p:txBody>
      </p:sp>
      <p:sp>
        <p:nvSpPr>
          <p:cNvPr id="15" name="Text 12"/>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V. Driessen, note de réflexion ajoutée en mars 2020 à « A successful Git branching model » ; GitHub Docs, « GitHub flow ».</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03</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Conventional Commits</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Des messages de commit lisibles par tous, et par les machines</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PROBLÈME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historique que personne ne peut lire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16</a:t>
            </a:r>
            <a:endParaRPr lang="en-US" sz="1000" dirty="0"/>
          </a:p>
        </p:txBody>
      </p:sp>
      <p:sp>
        <p:nvSpPr>
          <p:cNvPr id="8" name="Text 5"/>
          <p:cNvSpPr txBox="1"/>
          <p:nvPr/>
        </p:nvSpPr>
        <p:spPr>
          <a:xfrm>
            <a:off x="640080" y="1737360"/>
            <a:ext cx="5394960" cy="365760"/>
          </a:xfrm>
          <a:prstGeom prst="rect">
            <a:avLst/>
          </a:prstGeom>
          <a:noFill/>
          <a:ln/>
        </p:spPr>
        <p:txBody>
          <a:bodyPr wrap="square" lIns="0" tIns="0" rIns="0" bIns="0" rtlCol="0" anchor="ctr"/>
          <a:lstStyle/>
          <a:p>
            <a:pPr indent="0" marL="0">
              <a:buNone/>
            </a:pPr>
            <a:r>
              <a:rPr lang="en-US" sz="1500" b="1" dirty="0">
                <a:solidFill>
                  <a:srgbClr val="C92A2A"/>
                </a:solidFill>
                <a:latin typeface="Calibri" pitchFamily="34" charset="0"/>
                <a:ea typeface="Calibri" pitchFamily="34" charset="-122"/>
                <a:cs typeface="Calibri" pitchFamily="34" charset="-120"/>
              </a:rPr>
              <a:t>Un historique réel… de beaucoup de projets</a:t>
            </a:r>
            <a:endParaRPr lang="en-US" sz="1500" dirty="0"/>
          </a:p>
        </p:txBody>
      </p:sp>
      <p:sp>
        <p:nvSpPr>
          <p:cNvPr id="9" name="Shape 6"/>
          <p:cNvSpPr/>
          <p:nvPr/>
        </p:nvSpPr>
        <p:spPr>
          <a:xfrm>
            <a:off x="640080" y="2148840"/>
            <a:ext cx="5394960" cy="3108960"/>
          </a:xfrm>
          <a:prstGeom prst="roundRect">
            <a:avLst>
              <a:gd name="adj" fmla="val 2353"/>
            </a:avLst>
          </a:prstGeom>
          <a:solidFill>
            <a:srgbClr val="1E2127"/>
          </a:solidFill>
          <a:ln w="12700">
            <a:solidFill>
              <a:srgbClr val="1E2127"/>
            </a:solidFill>
            <a:prstDash val="solid"/>
          </a:ln>
        </p:spPr>
      </p:sp>
      <p:sp>
        <p:nvSpPr>
          <p:cNvPr id="10" name="Text 7"/>
          <p:cNvSpPr txBox="1"/>
          <p:nvPr/>
        </p:nvSpPr>
        <p:spPr>
          <a:xfrm>
            <a:off x="914400" y="2377440"/>
            <a:ext cx="4846320" cy="2651760"/>
          </a:xfrm>
          <a:prstGeom prst="rect">
            <a:avLst/>
          </a:prstGeom>
          <a:noFill/>
          <a:ln/>
        </p:spPr>
        <p:txBody>
          <a:bodyPr wrap="square" lIns="0" tIns="0" rIns="0" bIns="0" rtlCol="0" anchor="t"/>
          <a:lstStyle/>
          <a:p>
            <a:pPr indent="0" marL="0">
              <a:buNone/>
            </a:pPr>
            <a:r>
              <a:rPr lang="en-US" sz="1600" dirty="0">
                <a:solidFill>
                  <a:srgbClr val="E6E6E6"/>
                </a:solidFill>
                <a:latin typeface="Consolas" pitchFamily="34" charset="0"/>
                <a:ea typeface="Consolas" pitchFamily="34" charset="-122"/>
                <a:cs typeface="Consolas" pitchFamily="34" charset="-120"/>
              </a:rPr>
              <a:t>a41f2c9 fix</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9b0e1d4 wip</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77c3a20 ça marche</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5d9e8f1 modifs</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3c2b1a0 encore un fix</a:t>
            </a:r>
            <a:endParaRPr lang="en-US" sz="1600" dirty="0"/>
          </a:p>
          <a:p>
            <a:pPr indent="0" marL="0">
              <a:buNone/>
            </a:pPr>
            <a:r>
              <a:rPr lang="en-US" sz="1600" dirty="0">
                <a:solidFill>
                  <a:srgbClr val="E6E6E6"/>
                </a:solidFill>
                <a:latin typeface="Consolas" pitchFamily="34" charset="0"/>
                <a:ea typeface="Consolas" pitchFamily="34" charset="-122"/>
                <a:cs typeface="Consolas" pitchFamily="34" charset="-120"/>
              </a:rPr>
              <a:t>1f0e9d8 asdf</a:t>
            </a:r>
            <a:endParaRPr lang="en-US" sz="1600" dirty="0"/>
          </a:p>
        </p:txBody>
      </p:sp>
      <p:sp>
        <p:nvSpPr>
          <p:cNvPr id="11" name="Text 8"/>
          <p:cNvSpPr txBox="1"/>
          <p:nvPr/>
        </p:nvSpPr>
        <p:spPr>
          <a:xfrm>
            <a:off x="6355080" y="1737360"/>
            <a:ext cx="5212080" cy="365760"/>
          </a:xfrm>
          <a:prstGeom prst="rect">
            <a:avLst/>
          </a:prstGeom>
          <a:noFill/>
          <a:ln/>
        </p:spPr>
        <p:txBody>
          <a:bodyPr wrap="square" lIns="0" tIns="0" rIns="0" bIns="0" rtlCol="0" anchor="ctr"/>
          <a:lstStyle/>
          <a:p>
            <a:pPr indent="0" marL="0">
              <a:buNone/>
            </a:pPr>
            <a:r>
              <a:rPr lang="en-US" sz="1500" b="1" dirty="0">
                <a:solidFill>
                  <a:srgbClr val="2F9E44"/>
                </a:solidFill>
                <a:latin typeface="Calibri" pitchFamily="34" charset="0"/>
                <a:ea typeface="Calibri" pitchFamily="34" charset="-122"/>
                <a:cs typeface="Calibri" pitchFamily="34" charset="-120"/>
              </a:rPr>
              <a:t>L'historique de notre dépôt de démo</a:t>
            </a:r>
            <a:endParaRPr lang="en-US" sz="1500" dirty="0"/>
          </a:p>
        </p:txBody>
      </p:sp>
      <p:sp>
        <p:nvSpPr>
          <p:cNvPr id="12" name="Shape 9"/>
          <p:cNvSpPr/>
          <p:nvPr/>
        </p:nvSpPr>
        <p:spPr>
          <a:xfrm>
            <a:off x="6355080" y="2148840"/>
            <a:ext cx="5212080" cy="3108960"/>
          </a:xfrm>
          <a:prstGeom prst="roundRect">
            <a:avLst>
              <a:gd name="adj" fmla="val 2353"/>
            </a:avLst>
          </a:prstGeom>
          <a:solidFill>
            <a:srgbClr val="1E2127"/>
          </a:solidFill>
          <a:ln w="12700">
            <a:solidFill>
              <a:srgbClr val="1E2127"/>
            </a:solidFill>
            <a:prstDash val="solid"/>
          </a:ln>
        </p:spPr>
      </p:sp>
      <p:sp>
        <p:nvSpPr>
          <p:cNvPr id="13" name="Text 10"/>
          <p:cNvSpPr txBox="1"/>
          <p:nvPr/>
        </p:nvSpPr>
        <p:spPr>
          <a:xfrm>
            <a:off x="6629400" y="2377440"/>
            <a:ext cx="4663440" cy="2651760"/>
          </a:xfrm>
          <a:prstGeom prst="rect">
            <a:avLst/>
          </a:prstGeom>
          <a:noFill/>
          <a:ln/>
        </p:spPr>
        <p:txBody>
          <a:bodyPr wrap="square" lIns="0" tIns="0" rIns="0" bIns="0" rtlCol="0" anchor="t"/>
          <a:lstStyle/>
          <a:p>
            <a:pPr indent="0" marL="0">
              <a:buNone/>
            </a:pPr>
            <a:r>
              <a:rPr lang="en-US" sz="1300" dirty="0">
                <a:solidFill>
                  <a:srgbClr val="E6E6E6"/>
                </a:solidFill>
                <a:latin typeface="Consolas" pitchFamily="34" charset="0"/>
                <a:ea typeface="Consolas" pitchFamily="34" charset="-122"/>
                <a:cs typeface="Consolas" pitchFamily="34" charset="-120"/>
              </a:rPr>
              <a:t>c06fc9e feat(incident): ajoute les commentaires…</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96f5dd2 feat(notification): ajoute INotifier…</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ec6b907 refactor(user): rend User abstraite…</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6f54079 feat(user): introduit l'héritage…</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4580b6b feat(incident): contrôle les transitions…</a:t>
            </a:r>
            <a:endParaRPr lang="en-US" sz="1300" dirty="0"/>
          </a:p>
          <a:p>
            <a:pPr indent="0" marL="0">
              <a:buNone/>
            </a:pPr>
            <a:r>
              <a:rPr lang="en-US" sz="1300" dirty="0">
                <a:solidFill>
                  <a:srgbClr val="E6E6E6"/>
                </a:solidFill>
                <a:latin typeface="Consolas" pitchFamily="34" charset="0"/>
                <a:ea typeface="Consolas" pitchFamily="34" charset="-122"/>
                <a:cs typeface="Consolas" pitchFamily="34" charset="-120"/>
              </a:rPr>
              <a:t>c4d319b chore: initialise la solution</a:t>
            </a:r>
            <a:endParaRPr lang="en-US" sz="1300" dirty="0"/>
          </a:p>
        </p:txBody>
      </p:sp>
      <p:sp>
        <p:nvSpPr>
          <p:cNvPr id="14" name="Text 11"/>
          <p:cNvSpPr txBox="1"/>
          <p:nvPr/>
        </p:nvSpPr>
        <p:spPr>
          <a:xfrm>
            <a:off x="640080" y="5486400"/>
            <a:ext cx="10911535" cy="457200"/>
          </a:xfrm>
          <a:prstGeom prst="rect">
            <a:avLst/>
          </a:prstGeom>
          <a:noFill/>
          <a:ln/>
        </p:spPr>
        <p:txBody>
          <a:bodyPr wrap="square" lIns="0" tIns="0" rIns="0" bIns="0" rtlCol="0" anchor="ctr"/>
          <a:lstStyle/>
          <a:p>
            <a:pPr indent="0" marL="0">
              <a:buNone/>
            </a:pPr>
            <a:r>
              <a:rPr lang="en-US" sz="1800" b="1" dirty="0">
                <a:solidFill>
                  <a:srgbClr val="16181D"/>
                </a:solidFill>
                <a:latin typeface="Arial" pitchFamily="34" charset="0"/>
                <a:ea typeface="Arial" pitchFamily="34" charset="-122"/>
                <a:cs typeface="Arial" pitchFamily="34" charset="-120"/>
              </a:rPr>
              <a:t>Dans six mois : lequel de ces commits a cassé la clôture des incidents ?</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FORMAT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type(portée): description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17</a:t>
            </a:r>
            <a:endParaRPr lang="en-US" sz="1000" dirty="0"/>
          </a:p>
        </p:txBody>
      </p:sp>
      <p:sp>
        <p:nvSpPr>
          <p:cNvPr id="8" name="Shape 5"/>
          <p:cNvSpPr/>
          <p:nvPr/>
        </p:nvSpPr>
        <p:spPr>
          <a:xfrm>
            <a:off x="640080" y="1783080"/>
            <a:ext cx="10911535" cy="914400"/>
          </a:xfrm>
          <a:prstGeom prst="roundRect">
            <a:avLst>
              <a:gd name="adj" fmla="val 8000"/>
            </a:avLst>
          </a:prstGeom>
          <a:solidFill>
            <a:srgbClr val="1E2127"/>
          </a:solidFill>
          <a:ln w="12700">
            <a:solidFill>
              <a:srgbClr val="1E2127"/>
            </a:solidFill>
            <a:prstDash val="solid"/>
          </a:ln>
        </p:spPr>
      </p:sp>
      <p:sp>
        <p:nvSpPr>
          <p:cNvPr id="9" name="Text 6"/>
          <p:cNvSpPr txBox="1"/>
          <p:nvPr/>
        </p:nvSpPr>
        <p:spPr>
          <a:xfrm>
            <a:off x="1005840" y="1783080"/>
            <a:ext cx="10180015" cy="914400"/>
          </a:xfrm>
          <a:prstGeom prst="rect">
            <a:avLst/>
          </a:prstGeom>
          <a:noFill/>
          <a:ln/>
        </p:spPr>
        <p:txBody>
          <a:bodyPr wrap="square" lIns="0" tIns="0" rIns="0" bIns="0" rtlCol="0" anchor="ctr"/>
          <a:lstStyle/>
          <a:p>
            <a:pPr indent="0" marL="0">
              <a:buNone/>
            </a:pPr>
            <a:r>
              <a:rPr lang="en-US" sz="2400" b="1" dirty="0">
                <a:solidFill>
                  <a:srgbClr val="FFA94D"/>
                </a:solidFill>
                <a:latin typeface="Consolas" pitchFamily="34" charset="0"/>
                <a:ea typeface="Consolas" pitchFamily="34" charset="-122"/>
                <a:cs typeface="Consolas" pitchFamily="34" charset="-120"/>
              </a:rPr>
              <a:t>feat</a:t>
            </a:r>
            <a:pPr indent="0" marL="0">
              <a:buNone/>
            </a:pPr>
            <a:r>
              <a:rPr lang="en-US" sz="2400" dirty="0">
                <a:solidFill>
                  <a:srgbClr val="9EC5FE"/>
                </a:solidFill>
                <a:latin typeface="Consolas" pitchFamily="34" charset="0"/>
                <a:ea typeface="Consolas" pitchFamily="34" charset="-122"/>
                <a:cs typeface="Consolas" pitchFamily="34" charset="-120"/>
              </a:rPr>
              <a:t>(incident)</a:t>
            </a:r>
            <a:pPr indent="0" marL="0">
              <a:buNone/>
            </a:pPr>
            <a:r>
              <a:rPr lang="en-US" sz="2400" dirty="0">
                <a:solidFill>
                  <a:srgbClr val="E6E6E6"/>
                </a:solidFill>
                <a:latin typeface="Consolas" pitchFamily="34" charset="0"/>
                <a:ea typeface="Consolas" pitchFamily="34" charset="-122"/>
                <a:cs typeface="Consolas" pitchFamily="34" charset="-120"/>
              </a:rPr>
              <a:t>: ajoute l'assignation à un analyste</a:t>
            </a:r>
            <a:endParaRPr lang="en-US" sz="2400" dirty="0"/>
          </a:p>
        </p:txBody>
      </p:sp>
      <p:sp>
        <p:nvSpPr>
          <p:cNvPr id="10" name="Text 7"/>
          <p:cNvSpPr txBox="1"/>
          <p:nvPr/>
        </p:nvSpPr>
        <p:spPr>
          <a:xfrm>
            <a:off x="640080" y="2788920"/>
            <a:ext cx="10911535" cy="41148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type</a:t>
            </a:r>
            <a:pPr indent="0" marL="0">
              <a:buNone/>
            </a:pPr>
            <a:r>
              <a:rPr lang="en-US" sz="1500" dirty="0">
                <a:solidFill>
                  <a:srgbClr val="5F6670"/>
                </a:solidFill>
                <a:latin typeface="Calibri" pitchFamily="34" charset="0"/>
                <a:ea typeface="Calibri" pitchFamily="34" charset="-122"/>
                <a:cs typeface="Calibri" pitchFamily="34" charset="-120"/>
              </a:rPr>
              <a:t>     </a:t>
            </a:r>
            <a:pPr indent="0" marL="0">
              <a:buNone/>
            </a:pPr>
            <a:r>
              <a:rPr lang="en-US" sz="1500" b="1" dirty="0">
                <a:solidFill>
                  <a:srgbClr val="1C63B7"/>
                </a:solidFill>
                <a:latin typeface="Calibri" pitchFamily="34" charset="0"/>
                <a:ea typeface="Calibri" pitchFamily="34" charset="-122"/>
                <a:cs typeface="Calibri" pitchFamily="34" charset="-120"/>
              </a:rPr>
              <a:t>(portée)</a:t>
            </a:r>
            <a:pPr indent="0" marL="0">
              <a:buNone/>
            </a:pPr>
            <a:r>
              <a:rPr lang="en-US" sz="1500" dirty="0">
                <a:solidFill>
                  <a:srgbClr val="5F6670"/>
                </a:solidFill>
                <a:latin typeface="Calibri" pitchFamily="34" charset="0"/>
                <a:ea typeface="Calibri" pitchFamily="34" charset="-122"/>
                <a:cs typeface="Calibri" pitchFamily="34" charset="-120"/>
              </a:rPr>
              <a:t> facultative     </a:t>
            </a:r>
            <a:pPr indent="0" marL="0">
              <a:buNone/>
            </a:pPr>
            <a:r>
              <a:rPr lang="en-US" sz="1500" b="1" dirty="0">
                <a:solidFill>
                  <a:srgbClr val="16181D"/>
                </a:solidFill>
                <a:latin typeface="Calibri" pitchFamily="34" charset="0"/>
                <a:ea typeface="Calibri" pitchFamily="34" charset="-122"/>
                <a:cs typeface="Calibri" pitchFamily="34" charset="-120"/>
              </a:rPr>
              <a:t>description</a:t>
            </a:r>
            <a:pPr indent="0" marL="0">
              <a:buNone/>
            </a:pPr>
            <a:r>
              <a:rPr lang="en-US" sz="1500" dirty="0">
                <a:solidFill>
                  <a:srgbClr val="5F6670"/>
                </a:solidFill>
                <a:latin typeface="Calibri" pitchFamily="34" charset="0"/>
                <a:ea typeface="Calibri" pitchFamily="34" charset="-122"/>
                <a:cs typeface="Calibri" pitchFamily="34" charset="-120"/>
              </a:rPr>
              <a:t> courte, ce que fait le commit</a:t>
            </a:r>
            <a:endParaRPr lang="en-US" sz="15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40080" y="3291840"/>
          <a:ext cx="10911535" cy="914400"/>
        </p:xfrm>
        <a:graphic>
          <a:graphicData uri="http://schemas.openxmlformats.org/drawingml/2006/table">
            <a:tbl>
              <a:tblPr/>
              <a:tblGrid>
                <a:gridCol w="1463040"/>
                <a:gridCol w="4206240"/>
                <a:gridCol w="5239512"/>
              </a:tblGrid>
              <a:tr h="38404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Type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Quand</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Exemple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384048">
                <a:tc>
                  <a:txBody>
                    <a:bodyPr/>
                    <a:lstStyle/>
                    <a:p>
                      <a:pPr indent="0" marL="0">
                        <a:buNone/>
                      </a:pPr>
                      <a:r>
                        <a:rPr lang="en-US" sz="1400" b="1" dirty="0">
                          <a:solidFill>
                            <a:srgbClr val="16181D"/>
                          </a:solidFill>
                          <a:latin typeface="Consolas" pitchFamily="34" charset="0"/>
                          <a:ea typeface="Consolas" pitchFamily="34" charset="-122"/>
                          <a:cs typeface="Consolas" pitchFamily="34" charset="-120"/>
                        </a:rPr>
                        <a:t>feat</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une nouvelle fonctionnalité</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onsolas" pitchFamily="34" charset="0"/>
                          <a:ea typeface="Consolas" pitchFamily="34" charset="-122"/>
                          <a:cs typeface="Consolas" pitchFamily="34" charset="-120"/>
                        </a:rPr>
                        <a:t>feat(incident): ajoute AddComment</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6181D"/>
                          </a:solidFill>
                          <a:latin typeface="Consolas" pitchFamily="34" charset="0"/>
                          <a:ea typeface="Consolas" pitchFamily="34" charset="-122"/>
                          <a:cs typeface="Consolas" pitchFamily="34" charset="-120"/>
                        </a:rPr>
                        <a:t>fix</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une correction de bug</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onsolas" pitchFamily="34" charset="0"/>
                          <a:ea typeface="Consolas" pitchFamily="34" charset="-122"/>
                          <a:cs typeface="Consolas" pitchFamily="34" charset="-120"/>
                        </a:rPr>
                        <a:t>fix(incident): refuse un titre vide</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384048">
                <a:tc>
                  <a:txBody>
                    <a:bodyPr/>
                    <a:lstStyle/>
                    <a:p>
                      <a:pPr indent="0" marL="0">
                        <a:buNone/>
                      </a:pPr>
                      <a:r>
                        <a:rPr lang="en-US" sz="1400" b="1" dirty="0">
                          <a:solidFill>
                            <a:srgbClr val="16181D"/>
                          </a:solidFill>
                          <a:latin typeface="Consolas" pitchFamily="34" charset="0"/>
                          <a:ea typeface="Consolas" pitchFamily="34" charset="-122"/>
                          <a:cs typeface="Consolas" pitchFamily="34" charset="-120"/>
                        </a:rPr>
                        <a:t>refactor</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réorganiser sans changer le comportement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onsolas" pitchFamily="34" charset="0"/>
                          <a:ea typeface="Consolas" pitchFamily="34" charset="-122"/>
                          <a:cs typeface="Consolas" pitchFamily="34" charset="-120"/>
                        </a:rPr>
                        <a:t>refactor(user): rend User abstraite</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6181D"/>
                          </a:solidFill>
                          <a:latin typeface="Consolas" pitchFamily="34" charset="0"/>
                          <a:ea typeface="Consolas" pitchFamily="34" charset="-122"/>
                          <a:cs typeface="Consolas" pitchFamily="34" charset="-120"/>
                        </a:rPr>
                        <a:t>docs</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documentation</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onsolas" pitchFamily="34" charset="0"/>
                          <a:ea typeface="Consolas" pitchFamily="34" charset="-122"/>
                          <a:cs typeface="Consolas" pitchFamily="34" charset="-120"/>
                        </a:rPr>
                        <a:t>docs: complète le diagramme de classes</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384048">
                <a:tc>
                  <a:txBody>
                    <a:bodyPr/>
                    <a:lstStyle/>
                    <a:p>
                      <a:pPr indent="0" marL="0">
                        <a:buNone/>
                      </a:pPr>
                      <a:r>
                        <a:rPr lang="en-US" sz="1400" b="1" dirty="0">
                          <a:solidFill>
                            <a:srgbClr val="16181D"/>
                          </a:solidFill>
                          <a:latin typeface="Consolas" pitchFamily="34" charset="0"/>
                          <a:ea typeface="Consolas" pitchFamily="34" charset="-122"/>
                          <a:cs typeface="Consolas" pitchFamily="34" charset="-120"/>
                        </a:rPr>
                        <a:t>test</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ajout ou modification de tests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onsolas" pitchFamily="34" charset="0"/>
                          <a:ea typeface="Consolas" pitchFamily="34" charset="-122"/>
                          <a:cs typeface="Consolas" pitchFamily="34" charset="-120"/>
                        </a:rPr>
                        <a:t>test(incident): couvre la clôture</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384048">
                <a:tc>
                  <a:txBody>
                    <a:bodyPr/>
                    <a:lstStyle/>
                    <a:p>
                      <a:pPr indent="0" marL="0">
                        <a:buNone/>
                      </a:pPr>
                      <a:r>
                        <a:rPr lang="en-US" sz="1400" b="1" dirty="0">
                          <a:solidFill>
                            <a:srgbClr val="16181D"/>
                          </a:solidFill>
                          <a:latin typeface="Consolas" pitchFamily="34" charset="0"/>
                          <a:ea typeface="Consolas" pitchFamily="34" charset="-122"/>
                          <a:cs typeface="Consolas" pitchFamily="34" charset="-120"/>
                        </a:rPr>
                        <a:t>chore</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tâches annexes (configuration, outils)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onsolas" pitchFamily="34" charset="0"/>
                          <a:ea typeface="Consolas" pitchFamily="34" charset="-122"/>
                          <a:cs typeface="Consolas" pitchFamily="34" charset="-120"/>
                        </a:rPr>
                        <a:t>chore: ajoute le .gitignore</a:t>
                      </a:r>
                      <a:endParaRPr lang="en-US" sz="1400" dirty="0">
                        <a:latin typeface="Consolas" charset="0"/>
                        <a:ea typeface="Consolas" charset="0"/>
                        <a:cs typeface="Consolas"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12" name="Text 8"/>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conventionalcommits.org, spécification 1.0.0 (inspirée des « Angular commit message guidelines »).</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À QUOI ÇA SERT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Lisible par les humains, exploitable par les machines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18</a:t>
            </a:r>
            <a:endParaRPr lang="en-US" sz="1000" dirty="0"/>
          </a:p>
        </p:txBody>
      </p:sp>
      <p:sp>
        <p:nvSpPr>
          <p:cNvPr id="8" name="Shape 5"/>
          <p:cNvSpPr/>
          <p:nvPr/>
        </p:nvSpPr>
        <p:spPr>
          <a:xfrm>
            <a:off x="640080" y="1828800"/>
            <a:ext cx="3474720" cy="2651760"/>
          </a:xfrm>
          <a:prstGeom prst="roundRect">
            <a:avLst>
              <a:gd name="adj" fmla="val 2759"/>
            </a:avLst>
          </a:prstGeom>
          <a:solidFill>
            <a:srgbClr val="F2F3F5"/>
          </a:solidFill>
          <a:ln w="12700">
            <a:solidFill>
              <a:srgbClr val="F2F3F5"/>
            </a:solidFill>
            <a:prstDash val="solid"/>
          </a:ln>
        </p:spPr>
      </p:sp>
      <p:sp>
        <p:nvSpPr>
          <p:cNvPr id="9" name="Text 6"/>
          <p:cNvSpPr txBox="1"/>
          <p:nvPr/>
        </p:nvSpPr>
        <p:spPr>
          <a:xfrm>
            <a:off x="914400" y="2011680"/>
            <a:ext cx="2926080" cy="548640"/>
          </a:xfrm>
          <a:prstGeom prst="rect">
            <a:avLst/>
          </a:prstGeom>
          <a:noFill/>
          <a:ln/>
        </p:spPr>
        <p:txBody>
          <a:bodyPr wrap="square" lIns="0" tIns="0" rIns="0" bIns="0" rtlCol="0" anchor="ctr"/>
          <a:lstStyle/>
          <a:p>
            <a:pPr indent="0" marL="0">
              <a:buNone/>
            </a:pPr>
            <a:r>
              <a:rPr lang="en-US" sz="2400" b="1" dirty="0">
                <a:solidFill>
                  <a:srgbClr val="16181D"/>
                </a:solidFill>
                <a:latin typeface="Arial" pitchFamily="34" charset="0"/>
                <a:ea typeface="Arial" pitchFamily="34" charset="-122"/>
                <a:cs typeface="Arial" pitchFamily="34" charset="-120"/>
              </a:rPr>
              <a:t>Lire</a:t>
            </a:r>
            <a:endParaRPr lang="en-US" sz="2400" dirty="0"/>
          </a:p>
        </p:txBody>
      </p:sp>
      <p:sp>
        <p:nvSpPr>
          <p:cNvPr id="10" name="Text 7"/>
          <p:cNvSpPr txBox="1"/>
          <p:nvPr/>
        </p:nvSpPr>
        <p:spPr>
          <a:xfrm>
            <a:off x="914400" y="2697480"/>
            <a:ext cx="2926080" cy="1645920"/>
          </a:xfrm>
          <a:prstGeom prst="rect">
            <a:avLst/>
          </a:prstGeom>
          <a:noFill/>
          <a:ln/>
        </p:spPr>
        <p:txBody>
          <a:bodyPr wrap="square" lIns="0" tIns="0" rIns="0" bIns="0" rtlCol="0" anchor="t"/>
          <a:lstStyle/>
          <a:p>
            <a:pPr indent="0" marL="0">
              <a:buNone/>
            </a:pPr>
            <a:r>
              <a:rPr lang="en-US" sz="1600" dirty="0">
                <a:solidFill>
                  <a:srgbClr val="5F6670"/>
                </a:solidFill>
                <a:latin typeface="Calibri" pitchFamily="34" charset="0"/>
                <a:ea typeface="Calibri" pitchFamily="34" charset="-122"/>
                <a:cs typeface="Calibri" pitchFamily="34" charset="-120"/>
              </a:rPr>
              <a:t>Retrouver en quelques secondes quel commit a changé quoi.</a:t>
            </a:r>
            <a:endParaRPr lang="en-US" sz="1600" dirty="0"/>
          </a:p>
        </p:txBody>
      </p:sp>
      <p:sp>
        <p:nvSpPr>
          <p:cNvPr id="11" name="Shape 8"/>
          <p:cNvSpPr/>
          <p:nvPr/>
        </p:nvSpPr>
        <p:spPr>
          <a:xfrm>
            <a:off x="4343400" y="1828800"/>
            <a:ext cx="3474720" cy="2651760"/>
          </a:xfrm>
          <a:prstGeom prst="roundRect">
            <a:avLst>
              <a:gd name="adj" fmla="val 2759"/>
            </a:avLst>
          </a:prstGeom>
          <a:solidFill>
            <a:srgbClr val="F2F3F5"/>
          </a:solidFill>
          <a:ln w="12700">
            <a:solidFill>
              <a:srgbClr val="F2F3F5"/>
            </a:solidFill>
            <a:prstDash val="solid"/>
          </a:ln>
        </p:spPr>
      </p:sp>
      <p:sp>
        <p:nvSpPr>
          <p:cNvPr id="12" name="Text 9"/>
          <p:cNvSpPr txBox="1"/>
          <p:nvPr/>
        </p:nvSpPr>
        <p:spPr>
          <a:xfrm>
            <a:off x="4617720" y="2011680"/>
            <a:ext cx="2926080" cy="548640"/>
          </a:xfrm>
          <a:prstGeom prst="rect">
            <a:avLst/>
          </a:prstGeom>
          <a:noFill/>
          <a:ln/>
        </p:spPr>
        <p:txBody>
          <a:bodyPr wrap="square" lIns="0" tIns="0" rIns="0" bIns="0" rtlCol="0" anchor="ctr"/>
          <a:lstStyle/>
          <a:p>
            <a:pPr indent="0" marL="0">
              <a:buNone/>
            </a:pPr>
            <a:r>
              <a:rPr lang="en-US" sz="2400" b="1" dirty="0">
                <a:solidFill>
                  <a:srgbClr val="16181D"/>
                </a:solidFill>
                <a:latin typeface="Arial" pitchFamily="34" charset="0"/>
                <a:ea typeface="Arial" pitchFamily="34" charset="-122"/>
                <a:cs typeface="Arial" pitchFamily="34" charset="-120"/>
              </a:rPr>
              <a:t>Générer</a:t>
            </a:r>
            <a:endParaRPr lang="en-US" sz="2400" dirty="0"/>
          </a:p>
        </p:txBody>
      </p:sp>
      <p:sp>
        <p:nvSpPr>
          <p:cNvPr id="13" name="Text 10"/>
          <p:cNvSpPr txBox="1"/>
          <p:nvPr/>
        </p:nvSpPr>
        <p:spPr>
          <a:xfrm>
            <a:off x="4617720" y="2697480"/>
            <a:ext cx="2926080" cy="1645920"/>
          </a:xfrm>
          <a:prstGeom prst="rect">
            <a:avLst/>
          </a:prstGeom>
          <a:noFill/>
          <a:ln/>
        </p:spPr>
        <p:txBody>
          <a:bodyPr wrap="square" lIns="0" tIns="0" rIns="0" bIns="0" rtlCol="0" anchor="t"/>
          <a:lstStyle/>
          <a:p>
            <a:pPr indent="0" marL="0">
              <a:buNone/>
            </a:pPr>
            <a:r>
              <a:rPr lang="en-US" sz="1600" dirty="0">
                <a:solidFill>
                  <a:srgbClr val="5F6670"/>
                </a:solidFill>
                <a:latin typeface="Calibri" pitchFamily="34" charset="0"/>
                <a:ea typeface="Calibri" pitchFamily="34" charset="-122"/>
                <a:cs typeface="Calibri" pitchFamily="34" charset="-120"/>
              </a:rPr>
              <a:t>Les notes de version se construisent toutes seules à partir des messages.</a:t>
            </a:r>
            <a:endParaRPr lang="en-US" sz="1600" dirty="0"/>
          </a:p>
        </p:txBody>
      </p:sp>
      <p:sp>
        <p:nvSpPr>
          <p:cNvPr id="14" name="Shape 11"/>
          <p:cNvSpPr/>
          <p:nvPr/>
        </p:nvSpPr>
        <p:spPr>
          <a:xfrm>
            <a:off x="8046720" y="1828800"/>
            <a:ext cx="3474720" cy="2651760"/>
          </a:xfrm>
          <a:prstGeom prst="roundRect">
            <a:avLst>
              <a:gd name="adj" fmla="val 2759"/>
            </a:avLst>
          </a:prstGeom>
          <a:solidFill>
            <a:srgbClr val="16181D"/>
          </a:solidFill>
          <a:ln w="12700">
            <a:solidFill>
              <a:srgbClr val="16181D"/>
            </a:solidFill>
            <a:prstDash val="solid"/>
          </a:ln>
        </p:spPr>
      </p:sp>
      <p:sp>
        <p:nvSpPr>
          <p:cNvPr id="15" name="Text 12"/>
          <p:cNvSpPr txBox="1"/>
          <p:nvPr/>
        </p:nvSpPr>
        <p:spPr>
          <a:xfrm>
            <a:off x="8321040" y="2011680"/>
            <a:ext cx="2926080" cy="548640"/>
          </a:xfrm>
          <a:prstGeom prst="rect">
            <a:avLst/>
          </a:prstGeom>
          <a:noFill/>
          <a:ln/>
        </p:spPr>
        <p:txBody>
          <a:bodyPr wrap="square" lIns="0" tIns="0" rIns="0" bIns="0" rtlCol="0" anchor="ctr"/>
          <a:lstStyle/>
          <a:p>
            <a:pPr indent="0" marL="0">
              <a:buNone/>
            </a:pPr>
            <a:r>
              <a:rPr lang="en-US" sz="2400" b="1" dirty="0">
                <a:solidFill>
                  <a:srgbClr val="E8590C"/>
                </a:solidFill>
                <a:latin typeface="Arial" pitchFamily="34" charset="0"/>
                <a:ea typeface="Arial" pitchFamily="34" charset="-122"/>
                <a:cs typeface="Arial" pitchFamily="34" charset="-120"/>
              </a:rPr>
              <a:t>Versionner</a:t>
            </a:r>
            <a:endParaRPr lang="en-US" sz="2400" dirty="0"/>
          </a:p>
        </p:txBody>
      </p:sp>
      <p:sp>
        <p:nvSpPr>
          <p:cNvPr id="16" name="Text 13"/>
          <p:cNvSpPr txBox="1"/>
          <p:nvPr/>
        </p:nvSpPr>
        <p:spPr>
          <a:xfrm>
            <a:off x="8321040" y="2697480"/>
            <a:ext cx="2926080" cy="16459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fix → 1.1.1 · feat → 1.2.0 · changement cassant → 2.0.0 (SemVer)</a:t>
            </a:r>
            <a:endParaRPr lang="en-US" sz="1600" dirty="0"/>
          </a:p>
        </p:txBody>
      </p:sp>
      <p:sp>
        <p:nvSpPr>
          <p:cNvPr id="17" name="Shape 14"/>
          <p:cNvSpPr/>
          <p:nvPr/>
        </p:nvSpPr>
        <p:spPr>
          <a:xfrm>
            <a:off x="640080" y="4800600"/>
            <a:ext cx="10911535" cy="822960"/>
          </a:xfrm>
          <a:prstGeom prst="roundRect">
            <a:avLst>
              <a:gd name="adj" fmla="val 8889"/>
            </a:avLst>
          </a:prstGeom>
          <a:solidFill>
            <a:srgbClr val="16181D"/>
          </a:solidFill>
          <a:ln w="12700">
            <a:solidFill>
              <a:srgbClr val="16181D"/>
            </a:solidFill>
            <a:prstDash val="solid"/>
          </a:ln>
        </p:spPr>
      </p:sp>
      <p:sp>
        <p:nvSpPr>
          <p:cNvPr id="18" name="Text 15"/>
          <p:cNvSpPr txBox="1"/>
          <p:nvPr/>
        </p:nvSpPr>
        <p:spPr>
          <a:xfrm>
            <a:off x="914400" y="4800600"/>
            <a:ext cx="10362895" cy="8229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Livrable 1 : le format des messages de commit est vérifié automatiquement.</a:t>
            </a:r>
            <a:endParaRPr lang="en-US" sz="1800" dirty="0"/>
          </a:p>
        </p:txBody>
      </p:sp>
      <p:sp>
        <p:nvSpPr>
          <p:cNvPr id="19" name="Text 1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conventionalcommits.org ; semver.org (Semantic Versioning 2.0.0).</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MOMENT IA</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Faire écrire le message par l'IA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19</a:t>
            </a:r>
            <a:endParaRPr lang="en-US" sz="1000" dirty="0"/>
          </a:p>
        </p:txBody>
      </p:sp>
      <p:sp>
        <p:nvSpPr>
          <p:cNvPr id="8" name="Shape 5"/>
          <p:cNvSpPr/>
          <p:nvPr/>
        </p:nvSpPr>
        <p:spPr>
          <a:xfrm>
            <a:off x="640080" y="1783080"/>
            <a:ext cx="5669280" cy="1371600"/>
          </a:xfrm>
          <a:prstGeom prst="roundRect">
            <a:avLst>
              <a:gd name="adj" fmla="val 5333"/>
            </a:avLst>
          </a:prstGeom>
          <a:solidFill>
            <a:srgbClr val="16181D"/>
          </a:solidFill>
          <a:ln w="12700">
            <a:solidFill>
              <a:srgbClr val="16181D"/>
            </a:solidFill>
            <a:prstDash val="solid"/>
          </a:ln>
        </p:spPr>
      </p:sp>
      <p:sp>
        <p:nvSpPr>
          <p:cNvPr id="9" name="Text 6"/>
          <p:cNvSpPr txBox="1"/>
          <p:nvPr/>
        </p:nvSpPr>
        <p:spPr>
          <a:xfrm>
            <a:off x="960120" y="1783080"/>
            <a:ext cx="5029200" cy="1371600"/>
          </a:xfrm>
          <a:prstGeom prst="rect">
            <a:avLst/>
          </a:prstGeom>
          <a:noFill/>
          <a:ln/>
        </p:spPr>
        <p:txBody>
          <a:bodyPr wrap="square" lIns="0" tIns="0" rIns="0" bIns="0" rtlCol="0" anchor="ctr"/>
          <a:lstStyle/>
          <a:p>
            <a:pPr indent="0" marL="0">
              <a:buNone/>
            </a:pPr>
            <a:r>
              <a:rPr lang="en-US" sz="1600" dirty="0">
                <a:solidFill>
                  <a:srgbClr val="FFFFFF"/>
                </a:solidFill>
                <a:latin typeface="Consolas" pitchFamily="34" charset="0"/>
                <a:ea typeface="Consolas" pitchFamily="34" charset="-122"/>
                <a:cs typeface="Consolas" pitchFamily="34" charset="-120"/>
              </a:rPr>
              <a:t>Écris un message de commit au format Conventional Commits pour ce diff.</a:t>
            </a:r>
            <a:endParaRPr lang="en-US" sz="1600" dirty="0"/>
          </a:p>
        </p:txBody>
      </p:sp>
      <p:sp>
        <p:nvSpPr>
          <p:cNvPr id="10" name="Text 7"/>
          <p:cNvSpPr txBox="1"/>
          <p:nvPr/>
        </p:nvSpPr>
        <p:spPr>
          <a:xfrm>
            <a:off x="640080" y="3383280"/>
            <a:ext cx="457200" cy="73152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1</a:t>
            </a:r>
            <a:endParaRPr lang="en-US" sz="2600" dirty="0"/>
          </a:p>
        </p:txBody>
      </p:sp>
      <p:sp>
        <p:nvSpPr>
          <p:cNvPr id="11" name="Text 8"/>
          <p:cNvSpPr txBox="1"/>
          <p:nvPr/>
        </p:nvSpPr>
        <p:spPr>
          <a:xfrm>
            <a:off x="1188720" y="3383280"/>
            <a:ext cx="3017520" cy="73152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Relire le message</a:t>
            </a:r>
            <a:endParaRPr lang="en-US" sz="1600" dirty="0"/>
          </a:p>
        </p:txBody>
      </p:sp>
      <p:sp>
        <p:nvSpPr>
          <p:cNvPr id="12" name="Text 9"/>
          <p:cNvSpPr txBox="1"/>
          <p:nvPr/>
        </p:nvSpPr>
        <p:spPr>
          <a:xfrm>
            <a:off x="4206240" y="3383280"/>
            <a:ext cx="3657600" cy="73152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L'IA décrit ce qu'elle voit, pas pourquoi. Elle se trompe souvent de type.</a:t>
            </a:r>
            <a:endParaRPr lang="en-US" sz="1400" dirty="0"/>
          </a:p>
        </p:txBody>
      </p:sp>
      <p:sp>
        <p:nvSpPr>
          <p:cNvPr id="13" name="Text 10"/>
          <p:cNvSpPr txBox="1"/>
          <p:nvPr/>
        </p:nvSpPr>
        <p:spPr>
          <a:xfrm>
            <a:off x="640080" y="4251960"/>
            <a:ext cx="457200" cy="73152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2</a:t>
            </a:r>
            <a:endParaRPr lang="en-US" sz="2600" dirty="0"/>
          </a:p>
        </p:txBody>
      </p:sp>
      <p:sp>
        <p:nvSpPr>
          <p:cNvPr id="14" name="Text 11"/>
          <p:cNvSpPr txBox="1"/>
          <p:nvPr/>
        </p:nvSpPr>
        <p:spPr>
          <a:xfrm>
            <a:off x="1188720" y="4251960"/>
            <a:ext cx="3017520" cy="73152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Un commit, un changement</a:t>
            </a:r>
            <a:endParaRPr lang="en-US" sz="1600" dirty="0"/>
          </a:p>
        </p:txBody>
      </p:sp>
      <p:sp>
        <p:nvSpPr>
          <p:cNvPr id="15" name="Text 12"/>
          <p:cNvSpPr txBox="1"/>
          <p:nvPr/>
        </p:nvSpPr>
        <p:spPr>
          <a:xfrm>
            <a:off x="4206240" y="4251960"/>
            <a:ext cx="3657600" cy="73152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Si le message contient « et… et… et », le commit est trop gros.</a:t>
            </a:r>
            <a:endParaRPr lang="en-US" sz="1400" dirty="0"/>
          </a:p>
        </p:txBody>
      </p:sp>
      <p:sp>
        <p:nvSpPr>
          <p:cNvPr id="16" name="Text 13"/>
          <p:cNvSpPr txBox="1"/>
          <p:nvPr/>
        </p:nvSpPr>
        <p:spPr>
          <a:xfrm>
            <a:off x="640080" y="5120640"/>
            <a:ext cx="457200" cy="73152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3</a:t>
            </a:r>
            <a:endParaRPr lang="en-US" sz="2600" dirty="0"/>
          </a:p>
        </p:txBody>
      </p:sp>
      <p:sp>
        <p:nvSpPr>
          <p:cNvPr id="17" name="Text 14"/>
          <p:cNvSpPr txBox="1"/>
          <p:nvPr/>
        </p:nvSpPr>
        <p:spPr>
          <a:xfrm>
            <a:off x="1188720" y="5120640"/>
            <a:ext cx="3017520" cy="73152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Relire le diff</a:t>
            </a:r>
            <a:endParaRPr lang="en-US" sz="1600" dirty="0"/>
          </a:p>
        </p:txBody>
      </p:sp>
      <p:sp>
        <p:nvSpPr>
          <p:cNvPr id="18" name="Text 15"/>
          <p:cNvSpPr txBox="1"/>
          <p:nvPr/>
        </p:nvSpPr>
        <p:spPr>
          <a:xfrm>
            <a:off x="4206240" y="5120640"/>
            <a:ext cx="3657600" cy="73152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C'est là que passent les secrets : deux fois plus de fuites avec l'IA.</a:t>
            </a:r>
            <a:endParaRPr lang="en-US" sz="1400" dirty="0"/>
          </a:p>
        </p:txBody>
      </p:sp>
      <p:sp>
        <p:nvSpPr>
          <p:cNvPr id="19" name="Shape 16"/>
          <p:cNvSpPr/>
          <p:nvPr/>
        </p:nvSpPr>
        <p:spPr>
          <a:xfrm>
            <a:off x="8229600" y="1783080"/>
            <a:ext cx="3291840" cy="4023360"/>
          </a:xfrm>
          <a:prstGeom prst="roundRect">
            <a:avLst>
              <a:gd name="adj" fmla="val 2222"/>
            </a:avLst>
          </a:prstGeom>
          <a:solidFill>
            <a:srgbClr val="F2F3F5"/>
          </a:solidFill>
          <a:ln w="12700">
            <a:solidFill>
              <a:srgbClr val="F2F3F5"/>
            </a:solidFill>
            <a:prstDash val="solid"/>
          </a:ln>
        </p:spPr>
      </p:sp>
      <p:sp>
        <p:nvSpPr>
          <p:cNvPr id="20" name="Text 17"/>
          <p:cNvSpPr txBox="1"/>
          <p:nvPr/>
        </p:nvSpPr>
        <p:spPr>
          <a:xfrm>
            <a:off x="8458200" y="1965960"/>
            <a:ext cx="2834640" cy="3657600"/>
          </a:xfrm>
          <a:prstGeom prst="rect">
            <a:avLst/>
          </a:prstGeom>
          <a:noFill/>
          <a:ln/>
        </p:spPr>
        <p:txBody>
          <a:bodyPr wrap="square" lIns="0" tIns="0" rIns="0" bIns="0" rtlCol="0" anchor="t"/>
          <a:lstStyle/>
          <a:p>
            <a:pPr indent="0" marL="0">
              <a:buNone/>
            </a:pPr>
            <a:r>
              <a:rPr lang="en-US" sz="1800" b="1" dirty="0">
                <a:solidFill>
                  <a:srgbClr val="16181D"/>
                </a:solidFill>
                <a:latin typeface="Calibri" pitchFamily="34" charset="0"/>
                <a:ea typeface="Calibri" pitchFamily="34" charset="-122"/>
                <a:cs typeface="Calibri" pitchFamily="34" charset="-120"/>
              </a:rPr>
              <a:t>Démo</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Demander un message pour le diff de la branche demo/s03-pr-a-relire.</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L'IA remarque-t-elle le mot de passe en dur ?</a:t>
            </a:r>
            <a:endParaRPr lang="en-US" sz="1800" dirty="0"/>
          </a:p>
        </p:txBody>
      </p:sp>
      <p:sp>
        <p:nvSpPr>
          <p:cNvPr id="21" name="Text 18"/>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GitGuardian, « The State of Secrets Sprawl 2026 ».</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3F5"/>
        </a:solidFill>
      </p:bgPr>
    </p:bg>
    <p:spTree>
      <p:nvGrpSpPr>
        <p:cNvPr id="1" name=""/>
        <p:cNvGrpSpPr/>
        <p:nvPr/>
      </p:nvGrpSpPr>
      <p:grpSpPr>
        <a:xfrm>
          <a:off x="0" y="0"/>
          <a:ext cx="0" cy="0"/>
          <a:chOff x="0" y="0"/>
          <a:chExt cx="0" cy="0"/>
        </a:xfrm>
      </p:grpSpPr>
      <p:sp>
        <p:nvSpPr>
          <p:cNvPr id="2" name="Text 0"/>
          <p:cNvSpPr txBox="1"/>
          <p:nvPr/>
        </p:nvSpPr>
        <p:spPr>
          <a:xfrm>
            <a:off x="640080" y="2194560"/>
            <a:ext cx="10911535" cy="1280160"/>
          </a:xfrm>
          <a:prstGeom prst="rect">
            <a:avLst/>
          </a:prstGeom>
          <a:noFill/>
          <a:ln/>
        </p:spPr>
        <p:txBody>
          <a:bodyPr wrap="square" lIns="0" tIns="0" rIns="0" bIns="0" rtlCol="0" anchor="ctr"/>
          <a:lstStyle/>
          <a:p>
            <a:pPr indent="0" marL="0">
              <a:buNone/>
            </a:pPr>
            <a:r>
              <a:rPr lang="en-US" sz="7200" b="1" dirty="0">
                <a:solidFill>
                  <a:srgbClr val="16181D"/>
                </a:solidFill>
                <a:latin typeface="Arial" pitchFamily="34" charset="0"/>
                <a:ea typeface="Arial" pitchFamily="34" charset="-122"/>
                <a:cs typeface="Arial" pitchFamily="34" charset="-120"/>
              </a:rPr>
              <a:t>Pause</a:t>
            </a:r>
            <a:endParaRPr lang="en-US" sz="7200" dirty="0"/>
          </a:p>
        </p:txBody>
      </p:sp>
      <p:sp>
        <p:nvSpPr>
          <p:cNvPr id="3" name="Text 1"/>
          <p:cNvSpPr txBox="1"/>
          <p:nvPr/>
        </p:nvSpPr>
        <p:spPr>
          <a:xfrm>
            <a:off x="640080" y="3566160"/>
            <a:ext cx="10911535" cy="548640"/>
          </a:xfrm>
          <a:prstGeom prst="rect">
            <a:avLst/>
          </a:prstGeom>
          <a:noFill/>
          <a:ln/>
        </p:spPr>
        <p:txBody>
          <a:bodyPr wrap="square" lIns="0" tIns="0" rIns="0" bIns="0" rtlCol="0" anchor="ctr"/>
          <a:lstStyle/>
          <a:p>
            <a:pPr indent="0" marL="0">
              <a:buNone/>
            </a:pPr>
            <a:r>
              <a:rPr lang="en-US" sz="2200" dirty="0">
                <a:solidFill>
                  <a:srgbClr val="5F6670"/>
                </a:solidFill>
                <a:latin typeface="Calibri" pitchFamily="34" charset="0"/>
                <a:ea typeface="Calibri" pitchFamily="34" charset="-122"/>
                <a:cs typeface="Calibri" pitchFamily="34" charset="-120"/>
              </a:rPr>
              <a:t>10 minutes. On reprend à l'heure affichée dans le chat.</a:t>
            </a:r>
            <a:endParaRPr lang="en-US" sz="22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04</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Pull request et code review</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Quatre yeux valent mieux que deux</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PULL REQUEST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Proposer une modification, avant de l'intégrer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22</a:t>
            </a:r>
            <a:endParaRPr lang="en-US" sz="1000" dirty="0"/>
          </a:p>
        </p:txBody>
      </p:sp>
      <p:sp>
        <p:nvSpPr>
          <p:cNvPr id="8" name="Shape 5"/>
          <p:cNvSpPr/>
          <p:nvPr/>
        </p:nvSpPr>
        <p:spPr>
          <a:xfrm>
            <a:off x="676656" y="1920240"/>
            <a:ext cx="2109155" cy="2377440"/>
          </a:xfrm>
          <a:prstGeom prst="roundRect">
            <a:avLst>
              <a:gd name="adj" fmla="val 3468"/>
            </a:avLst>
          </a:prstGeom>
          <a:solidFill>
            <a:srgbClr val="F2F3F5"/>
          </a:solidFill>
          <a:ln w="12700">
            <a:solidFill>
              <a:srgbClr val="F2F3F5"/>
            </a:solidFill>
            <a:prstDash val="solid"/>
          </a:ln>
        </p:spPr>
      </p:sp>
      <p:sp>
        <p:nvSpPr>
          <p:cNvPr id="9" name="Text 6"/>
          <p:cNvSpPr txBox="1"/>
          <p:nvPr/>
        </p:nvSpPr>
        <p:spPr>
          <a:xfrm>
            <a:off x="868680" y="2057400"/>
            <a:ext cx="914400" cy="64008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1</a:t>
            </a:r>
            <a:endParaRPr lang="en-US" sz="3200" dirty="0"/>
          </a:p>
        </p:txBody>
      </p:sp>
      <p:sp>
        <p:nvSpPr>
          <p:cNvPr id="10" name="Text 7"/>
          <p:cNvSpPr txBox="1"/>
          <p:nvPr/>
        </p:nvSpPr>
        <p:spPr>
          <a:xfrm>
            <a:off x="868680" y="2743200"/>
            <a:ext cx="1770827"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Une branche</a:t>
            </a:r>
            <a:endParaRPr lang="en-US" sz="1700" dirty="0"/>
          </a:p>
        </p:txBody>
      </p:sp>
      <p:sp>
        <p:nvSpPr>
          <p:cNvPr id="11" name="Text 8"/>
          <p:cNvSpPr txBox="1"/>
          <p:nvPr/>
        </p:nvSpPr>
        <p:spPr>
          <a:xfrm>
            <a:off x="868680" y="3246120"/>
            <a:ext cx="1770827" cy="914400"/>
          </a:xfrm>
          <a:prstGeom prst="rect">
            <a:avLst/>
          </a:prstGeom>
          <a:noFill/>
          <a:ln/>
        </p:spPr>
        <p:txBody>
          <a:bodyPr wrap="square" lIns="0" tIns="0" rIns="0" bIns="0" rtlCol="0" anchor="t"/>
          <a:lstStyle/>
          <a:p>
            <a:pPr indent="0" marL="0">
              <a:buNone/>
            </a:pPr>
            <a:r>
              <a:rPr lang="en-US" sz="1350" dirty="0">
                <a:solidFill>
                  <a:srgbClr val="5F6670"/>
                </a:solidFill>
                <a:latin typeface="Calibri" pitchFamily="34" charset="0"/>
                <a:ea typeface="Calibri" pitchFamily="34" charset="-122"/>
                <a:cs typeface="Calibri" pitchFamily="34" charset="-120"/>
              </a:rPr>
              <a:t>feature/assignation</a:t>
            </a:r>
            <a:endParaRPr lang="en-US" sz="1350" dirty="0"/>
          </a:p>
        </p:txBody>
      </p:sp>
      <p:sp>
        <p:nvSpPr>
          <p:cNvPr id="12" name="Shape 9"/>
          <p:cNvSpPr/>
          <p:nvPr/>
        </p:nvSpPr>
        <p:spPr>
          <a:xfrm>
            <a:off x="2858963" y="1920240"/>
            <a:ext cx="2109155" cy="2377440"/>
          </a:xfrm>
          <a:prstGeom prst="roundRect">
            <a:avLst>
              <a:gd name="adj" fmla="val 3468"/>
            </a:avLst>
          </a:prstGeom>
          <a:solidFill>
            <a:srgbClr val="F2F3F5"/>
          </a:solidFill>
          <a:ln w="12700">
            <a:solidFill>
              <a:srgbClr val="F2F3F5"/>
            </a:solidFill>
            <a:prstDash val="solid"/>
          </a:ln>
        </p:spPr>
      </p:sp>
      <p:sp>
        <p:nvSpPr>
          <p:cNvPr id="13" name="Text 10"/>
          <p:cNvSpPr txBox="1"/>
          <p:nvPr/>
        </p:nvSpPr>
        <p:spPr>
          <a:xfrm>
            <a:off x="3050987" y="2057400"/>
            <a:ext cx="914400" cy="64008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2</a:t>
            </a:r>
            <a:endParaRPr lang="en-US" sz="3200" dirty="0"/>
          </a:p>
        </p:txBody>
      </p:sp>
      <p:sp>
        <p:nvSpPr>
          <p:cNvPr id="14" name="Text 11"/>
          <p:cNvSpPr txBox="1"/>
          <p:nvPr/>
        </p:nvSpPr>
        <p:spPr>
          <a:xfrm>
            <a:off x="3050987" y="2743200"/>
            <a:ext cx="1770827"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Des commits</a:t>
            </a:r>
            <a:endParaRPr lang="en-US" sz="1700" dirty="0"/>
          </a:p>
        </p:txBody>
      </p:sp>
      <p:sp>
        <p:nvSpPr>
          <p:cNvPr id="15" name="Text 12"/>
          <p:cNvSpPr txBox="1"/>
          <p:nvPr/>
        </p:nvSpPr>
        <p:spPr>
          <a:xfrm>
            <a:off x="3050987" y="3246120"/>
            <a:ext cx="1770827" cy="914400"/>
          </a:xfrm>
          <a:prstGeom prst="rect">
            <a:avLst/>
          </a:prstGeom>
          <a:noFill/>
          <a:ln/>
        </p:spPr>
        <p:txBody>
          <a:bodyPr wrap="square" lIns="0" tIns="0" rIns="0" bIns="0" rtlCol="0" anchor="t"/>
          <a:lstStyle/>
          <a:p>
            <a:pPr indent="0" marL="0">
              <a:buNone/>
            </a:pPr>
            <a:r>
              <a:rPr lang="en-US" sz="1350" dirty="0">
                <a:solidFill>
                  <a:srgbClr val="5F6670"/>
                </a:solidFill>
                <a:latin typeface="Calibri" pitchFamily="34" charset="0"/>
                <a:ea typeface="Calibri" pitchFamily="34" charset="-122"/>
                <a:cs typeface="Calibri" pitchFamily="34" charset="-120"/>
              </a:rPr>
              <a:t>feat(incident): …</a:t>
            </a:r>
            <a:endParaRPr lang="en-US" sz="1350" dirty="0"/>
          </a:p>
        </p:txBody>
      </p:sp>
      <p:sp>
        <p:nvSpPr>
          <p:cNvPr id="16" name="Shape 13"/>
          <p:cNvSpPr/>
          <p:nvPr/>
        </p:nvSpPr>
        <p:spPr>
          <a:xfrm>
            <a:off x="5041270" y="1920240"/>
            <a:ext cx="2109155" cy="2377440"/>
          </a:xfrm>
          <a:prstGeom prst="roundRect">
            <a:avLst>
              <a:gd name="adj" fmla="val 3468"/>
            </a:avLst>
          </a:prstGeom>
          <a:solidFill>
            <a:srgbClr val="F2F3F5"/>
          </a:solidFill>
          <a:ln w="12700">
            <a:solidFill>
              <a:srgbClr val="F2F3F5"/>
            </a:solidFill>
            <a:prstDash val="solid"/>
          </a:ln>
        </p:spPr>
      </p:sp>
      <p:sp>
        <p:nvSpPr>
          <p:cNvPr id="17" name="Text 14"/>
          <p:cNvSpPr txBox="1"/>
          <p:nvPr/>
        </p:nvSpPr>
        <p:spPr>
          <a:xfrm>
            <a:off x="5233294" y="2057400"/>
            <a:ext cx="914400" cy="64008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3</a:t>
            </a:r>
            <a:endParaRPr lang="en-US" sz="3200" dirty="0"/>
          </a:p>
        </p:txBody>
      </p:sp>
      <p:sp>
        <p:nvSpPr>
          <p:cNvPr id="18" name="Text 15"/>
          <p:cNvSpPr txBox="1"/>
          <p:nvPr/>
        </p:nvSpPr>
        <p:spPr>
          <a:xfrm>
            <a:off x="5233294" y="2743200"/>
            <a:ext cx="1770827"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La pull request</a:t>
            </a:r>
            <a:endParaRPr lang="en-US" sz="1700" dirty="0"/>
          </a:p>
        </p:txBody>
      </p:sp>
      <p:sp>
        <p:nvSpPr>
          <p:cNvPr id="19" name="Text 16"/>
          <p:cNvSpPr txBox="1"/>
          <p:nvPr/>
        </p:nvSpPr>
        <p:spPr>
          <a:xfrm>
            <a:off x="5233294" y="3246120"/>
            <a:ext cx="1770827" cy="914400"/>
          </a:xfrm>
          <a:prstGeom prst="rect">
            <a:avLst/>
          </a:prstGeom>
          <a:noFill/>
          <a:ln/>
        </p:spPr>
        <p:txBody>
          <a:bodyPr wrap="square" lIns="0" tIns="0" rIns="0" bIns="0" rtlCol="0" anchor="t"/>
          <a:lstStyle/>
          <a:p>
            <a:pPr indent="0" marL="0">
              <a:buNone/>
            </a:pPr>
            <a:r>
              <a:rPr lang="en-US" sz="1350" dirty="0">
                <a:solidFill>
                  <a:srgbClr val="5F6670"/>
                </a:solidFill>
                <a:latin typeface="Calibri" pitchFamily="34" charset="0"/>
                <a:ea typeface="Calibri" pitchFamily="34" charset="-122"/>
                <a:cs typeface="Calibri" pitchFamily="34" charset="-120"/>
              </a:rPr>
              <a:t>« je propose de fusionner »</a:t>
            </a:r>
            <a:endParaRPr lang="en-US" sz="1350" dirty="0"/>
          </a:p>
        </p:txBody>
      </p:sp>
      <p:sp>
        <p:nvSpPr>
          <p:cNvPr id="20" name="Shape 17"/>
          <p:cNvSpPr/>
          <p:nvPr/>
        </p:nvSpPr>
        <p:spPr>
          <a:xfrm>
            <a:off x="7223577" y="1920240"/>
            <a:ext cx="2109155" cy="2377440"/>
          </a:xfrm>
          <a:prstGeom prst="roundRect">
            <a:avLst>
              <a:gd name="adj" fmla="val 3468"/>
            </a:avLst>
          </a:prstGeom>
          <a:solidFill>
            <a:srgbClr val="16181D"/>
          </a:solidFill>
          <a:ln w="12700">
            <a:solidFill>
              <a:srgbClr val="16181D"/>
            </a:solidFill>
            <a:prstDash val="solid"/>
          </a:ln>
        </p:spPr>
      </p:sp>
      <p:sp>
        <p:nvSpPr>
          <p:cNvPr id="21" name="Text 18"/>
          <p:cNvSpPr txBox="1"/>
          <p:nvPr/>
        </p:nvSpPr>
        <p:spPr>
          <a:xfrm>
            <a:off x="7415601" y="2057400"/>
            <a:ext cx="914400" cy="64008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4</a:t>
            </a:r>
            <a:endParaRPr lang="en-US" sz="3200" dirty="0"/>
          </a:p>
        </p:txBody>
      </p:sp>
      <p:sp>
        <p:nvSpPr>
          <p:cNvPr id="22" name="Text 19"/>
          <p:cNvSpPr txBox="1"/>
          <p:nvPr/>
        </p:nvSpPr>
        <p:spPr>
          <a:xfrm>
            <a:off x="7415601" y="2743200"/>
            <a:ext cx="1770827" cy="45720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La relecture</a:t>
            </a:r>
            <a:endParaRPr lang="en-US" sz="1700" dirty="0"/>
          </a:p>
        </p:txBody>
      </p:sp>
      <p:sp>
        <p:nvSpPr>
          <p:cNvPr id="23" name="Text 20"/>
          <p:cNvSpPr txBox="1"/>
          <p:nvPr/>
        </p:nvSpPr>
        <p:spPr>
          <a:xfrm>
            <a:off x="7415601" y="3246120"/>
            <a:ext cx="1770827" cy="914400"/>
          </a:xfrm>
          <a:prstGeom prst="rect">
            <a:avLst/>
          </a:prstGeom>
          <a:noFill/>
          <a:ln/>
        </p:spPr>
        <p:txBody>
          <a:bodyPr wrap="square" lIns="0" tIns="0" rIns="0" bIns="0" rtlCol="0" anchor="t"/>
          <a:lstStyle/>
          <a:p>
            <a:pPr indent="0" marL="0">
              <a:buNone/>
            </a:pPr>
            <a:r>
              <a:rPr lang="en-US" sz="1350" dirty="0">
                <a:solidFill>
                  <a:srgbClr val="C9CDD3"/>
                </a:solidFill>
                <a:latin typeface="Calibri" pitchFamily="34" charset="0"/>
                <a:ea typeface="Calibri" pitchFamily="34" charset="-122"/>
                <a:cs typeface="Calibri" pitchFamily="34" charset="-120"/>
              </a:rPr>
              <a:t>commentaires, questions, corrections</a:t>
            </a:r>
            <a:endParaRPr lang="en-US" sz="1350" dirty="0"/>
          </a:p>
        </p:txBody>
      </p:sp>
      <p:sp>
        <p:nvSpPr>
          <p:cNvPr id="24" name="Shape 21"/>
          <p:cNvSpPr/>
          <p:nvPr/>
        </p:nvSpPr>
        <p:spPr>
          <a:xfrm>
            <a:off x="9405884" y="1920240"/>
            <a:ext cx="2109155" cy="2377440"/>
          </a:xfrm>
          <a:prstGeom prst="roundRect">
            <a:avLst>
              <a:gd name="adj" fmla="val 3468"/>
            </a:avLst>
          </a:prstGeom>
          <a:solidFill>
            <a:srgbClr val="F2F3F5"/>
          </a:solidFill>
          <a:ln w="12700">
            <a:solidFill>
              <a:srgbClr val="F2F3F5"/>
            </a:solidFill>
            <a:prstDash val="solid"/>
          </a:ln>
        </p:spPr>
      </p:sp>
      <p:sp>
        <p:nvSpPr>
          <p:cNvPr id="25" name="Text 22"/>
          <p:cNvSpPr txBox="1"/>
          <p:nvPr/>
        </p:nvSpPr>
        <p:spPr>
          <a:xfrm>
            <a:off x="9597908" y="2057400"/>
            <a:ext cx="914400" cy="640080"/>
          </a:xfrm>
          <a:prstGeom prst="rect">
            <a:avLst/>
          </a:prstGeom>
          <a:noFill/>
          <a:ln/>
        </p:spPr>
        <p:txBody>
          <a:bodyPr wrap="square" lIns="0" tIns="0" rIns="0" bIns="0" rtlCol="0" anchor="ctr"/>
          <a:lstStyle/>
          <a:p>
            <a:pPr indent="0" marL="0">
              <a:buNone/>
            </a:pPr>
            <a:r>
              <a:rPr lang="en-US" sz="3200" b="1" dirty="0">
                <a:solidFill>
                  <a:srgbClr val="E8590C"/>
                </a:solidFill>
                <a:latin typeface="Arial" pitchFamily="34" charset="0"/>
                <a:ea typeface="Arial" pitchFamily="34" charset="-122"/>
                <a:cs typeface="Arial" pitchFamily="34" charset="-120"/>
              </a:rPr>
              <a:t>5</a:t>
            </a:r>
            <a:endParaRPr lang="en-US" sz="3200" dirty="0"/>
          </a:p>
        </p:txBody>
      </p:sp>
      <p:sp>
        <p:nvSpPr>
          <p:cNvPr id="26" name="Text 23"/>
          <p:cNvSpPr txBox="1"/>
          <p:nvPr/>
        </p:nvSpPr>
        <p:spPr>
          <a:xfrm>
            <a:off x="9597908" y="2743200"/>
            <a:ext cx="1770827"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La fusion</a:t>
            </a:r>
            <a:endParaRPr lang="en-US" sz="1700" dirty="0"/>
          </a:p>
        </p:txBody>
      </p:sp>
      <p:sp>
        <p:nvSpPr>
          <p:cNvPr id="27" name="Text 24"/>
          <p:cNvSpPr txBox="1"/>
          <p:nvPr/>
        </p:nvSpPr>
        <p:spPr>
          <a:xfrm>
            <a:off x="9597908" y="3246120"/>
            <a:ext cx="1770827" cy="914400"/>
          </a:xfrm>
          <a:prstGeom prst="rect">
            <a:avLst/>
          </a:prstGeom>
          <a:noFill/>
          <a:ln/>
        </p:spPr>
        <p:txBody>
          <a:bodyPr wrap="square" lIns="0" tIns="0" rIns="0" bIns="0" rtlCol="0" anchor="t"/>
          <a:lstStyle/>
          <a:p>
            <a:pPr indent="0" marL="0">
              <a:buNone/>
            </a:pPr>
            <a:r>
              <a:rPr lang="en-US" sz="1350" dirty="0">
                <a:solidFill>
                  <a:srgbClr val="5F6670"/>
                </a:solidFill>
                <a:latin typeface="Calibri" pitchFamily="34" charset="0"/>
                <a:ea typeface="Calibri" pitchFamily="34" charset="-122"/>
                <a:cs typeface="Calibri" pitchFamily="34" charset="-120"/>
              </a:rPr>
              <a:t>dans main, une fois approuvée</a:t>
            </a:r>
            <a:endParaRPr lang="en-US" sz="1350" dirty="0"/>
          </a:p>
        </p:txBody>
      </p:sp>
      <p:sp>
        <p:nvSpPr>
          <p:cNvPr id="28" name="Shape 25"/>
          <p:cNvSpPr/>
          <p:nvPr/>
        </p:nvSpPr>
        <p:spPr>
          <a:xfrm>
            <a:off x="640080" y="4663440"/>
            <a:ext cx="10911535" cy="822960"/>
          </a:xfrm>
          <a:prstGeom prst="roundRect">
            <a:avLst>
              <a:gd name="adj" fmla="val 8889"/>
            </a:avLst>
          </a:prstGeom>
          <a:solidFill>
            <a:srgbClr val="16181D"/>
          </a:solidFill>
          <a:ln w="12700">
            <a:solidFill>
              <a:srgbClr val="16181D"/>
            </a:solidFill>
            <a:prstDash val="solid"/>
          </a:ln>
        </p:spPr>
      </p:sp>
      <p:sp>
        <p:nvSpPr>
          <p:cNvPr id="29" name="Text 26"/>
          <p:cNvSpPr txBox="1"/>
          <p:nvPr/>
        </p:nvSpPr>
        <p:spPr>
          <a:xfrm>
            <a:off x="914400" y="4663440"/>
            <a:ext cx="10362895" cy="8229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Personne ne pousse directement sur main : tout passe par une pull request relue.</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CODE REVIEW</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Relire le code : pas seulement pour trouver des bugs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23</a:t>
            </a:r>
            <a:endParaRPr lang="en-US" sz="1000" dirty="0"/>
          </a:p>
        </p:txBody>
      </p:sp>
      <p:sp>
        <p:nvSpPr>
          <p:cNvPr id="8" name="Shape 5"/>
          <p:cNvSpPr/>
          <p:nvPr/>
        </p:nvSpPr>
        <p:spPr>
          <a:xfrm>
            <a:off x="640080" y="1828800"/>
            <a:ext cx="2560320" cy="2377440"/>
          </a:xfrm>
          <a:prstGeom prst="roundRect">
            <a:avLst>
              <a:gd name="adj" fmla="val 3077"/>
            </a:avLst>
          </a:prstGeom>
          <a:solidFill>
            <a:srgbClr val="F2F3F5"/>
          </a:solidFill>
          <a:ln w="12700">
            <a:solidFill>
              <a:srgbClr val="F2F3F5"/>
            </a:solidFill>
            <a:prstDash val="solid"/>
          </a:ln>
        </p:spPr>
      </p:sp>
      <p:sp>
        <p:nvSpPr>
          <p:cNvPr id="9" name="Text 6"/>
          <p:cNvSpPr txBox="1"/>
          <p:nvPr/>
        </p:nvSpPr>
        <p:spPr>
          <a:xfrm>
            <a:off x="868680" y="2011680"/>
            <a:ext cx="2148840" cy="731520"/>
          </a:xfrm>
          <a:prstGeom prst="rect">
            <a:avLst/>
          </a:prstGeom>
          <a:noFill/>
          <a:ln/>
        </p:spPr>
        <p:txBody>
          <a:bodyPr wrap="square" lIns="0" tIns="0" rIns="0" bIns="0" rtlCol="0" anchor="t"/>
          <a:lstStyle/>
          <a:p>
            <a:pPr indent="0" marL="0">
              <a:buNone/>
            </a:pPr>
            <a:r>
              <a:rPr lang="en-US" sz="1800" b="1" dirty="0">
                <a:solidFill>
                  <a:srgbClr val="16181D"/>
                </a:solidFill>
                <a:latin typeface="Arial" pitchFamily="34" charset="0"/>
                <a:ea typeface="Arial" pitchFamily="34" charset="-122"/>
                <a:cs typeface="Arial" pitchFamily="34" charset="-120"/>
              </a:rPr>
              <a:t>Partager</a:t>
            </a:r>
            <a:endParaRPr lang="en-US" sz="1800" dirty="0"/>
          </a:p>
        </p:txBody>
      </p:sp>
      <p:sp>
        <p:nvSpPr>
          <p:cNvPr id="10" name="Text 7"/>
          <p:cNvSpPr txBox="1"/>
          <p:nvPr/>
        </p:nvSpPr>
        <p:spPr>
          <a:xfrm>
            <a:off x="868680" y="2788920"/>
            <a:ext cx="2148840" cy="12801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Toute l'équipe connaît le code, pas seulement son auteur.</a:t>
            </a:r>
            <a:endParaRPr lang="en-US" sz="1500" dirty="0"/>
          </a:p>
        </p:txBody>
      </p:sp>
      <p:sp>
        <p:nvSpPr>
          <p:cNvPr id="11" name="Shape 8"/>
          <p:cNvSpPr/>
          <p:nvPr/>
        </p:nvSpPr>
        <p:spPr>
          <a:xfrm>
            <a:off x="3383280" y="1828800"/>
            <a:ext cx="2560320" cy="2377440"/>
          </a:xfrm>
          <a:prstGeom prst="roundRect">
            <a:avLst>
              <a:gd name="adj" fmla="val 3077"/>
            </a:avLst>
          </a:prstGeom>
          <a:solidFill>
            <a:srgbClr val="F2F3F5"/>
          </a:solidFill>
          <a:ln w="12700">
            <a:solidFill>
              <a:srgbClr val="F2F3F5"/>
            </a:solidFill>
            <a:prstDash val="solid"/>
          </a:ln>
        </p:spPr>
      </p:sp>
      <p:sp>
        <p:nvSpPr>
          <p:cNvPr id="12" name="Text 9"/>
          <p:cNvSpPr txBox="1"/>
          <p:nvPr/>
        </p:nvSpPr>
        <p:spPr>
          <a:xfrm>
            <a:off x="3611880" y="2011680"/>
            <a:ext cx="2148840" cy="731520"/>
          </a:xfrm>
          <a:prstGeom prst="rect">
            <a:avLst/>
          </a:prstGeom>
          <a:noFill/>
          <a:ln/>
        </p:spPr>
        <p:txBody>
          <a:bodyPr wrap="square" lIns="0" tIns="0" rIns="0" bIns="0" rtlCol="0" anchor="t"/>
          <a:lstStyle/>
          <a:p>
            <a:pPr indent="0" marL="0">
              <a:buNone/>
            </a:pPr>
            <a:r>
              <a:rPr lang="en-US" sz="1800" b="1" dirty="0">
                <a:solidFill>
                  <a:srgbClr val="16181D"/>
                </a:solidFill>
                <a:latin typeface="Arial" pitchFamily="34" charset="0"/>
                <a:ea typeface="Arial" pitchFamily="34" charset="-122"/>
                <a:cs typeface="Arial" pitchFamily="34" charset="-120"/>
              </a:rPr>
              <a:t>Garder un code lisible</a:t>
            </a:r>
            <a:endParaRPr lang="en-US" sz="1800" dirty="0"/>
          </a:p>
        </p:txBody>
      </p:sp>
      <p:sp>
        <p:nvSpPr>
          <p:cNvPr id="13" name="Text 10"/>
          <p:cNvSpPr txBox="1"/>
          <p:nvPr/>
        </p:nvSpPr>
        <p:spPr>
          <a:xfrm>
            <a:off x="3611880" y="2788920"/>
            <a:ext cx="2148840" cy="12801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Les mêmes règles pour tout le monde.</a:t>
            </a:r>
            <a:endParaRPr lang="en-US" sz="1500" dirty="0"/>
          </a:p>
        </p:txBody>
      </p:sp>
      <p:sp>
        <p:nvSpPr>
          <p:cNvPr id="14" name="Shape 11"/>
          <p:cNvSpPr/>
          <p:nvPr/>
        </p:nvSpPr>
        <p:spPr>
          <a:xfrm>
            <a:off x="6126480" y="1828800"/>
            <a:ext cx="2560320" cy="2377440"/>
          </a:xfrm>
          <a:prstGeom prst="roundRect">
            <a:avLst>
              <a:gd name="adj" fmla="val 3077"/>
            </a:avLst>
          </a:prstGeom>
          <a:solidFill>
            <a:srgbClr val="F2F3F5"/>
          </a:solidFill>
          <a:ln w="12700">
            <a:solidFill>
              <a:srgbClr val="F2F3F5"/>
            </a:solidFill>
            <a:prstDash val="solid"/>
          </a:ln>
        </p:spPr>
      </p:sp>
      <p:sp>
        <p:nvSpPr>
          <p:cNvPr id="15" name="Text 12"/>
          <p:cNvSpPr txBox="1"/>
          <p:nvPr/>
        </p:nvSpPr>
        <p:spPr>
          <a:xfrm>
            <a:off x="6355080" y="2011680"/>
            <a:ext cx="2148840" cy="731520"/>
          </a:xfrm>
          <a:prstGeom prst="rect">
            <a:avLst/>
          </a:prstGeom>
          <a:noFill/>
          <a:ln/>
        </p:spPr>
        <p:txBody>
          <a:bodyPr wrap="square" lIns="0" tIns="0" rIns="0" bIns="0" rtlCol="0" anchor="t"/>
          <a:lstStyle/>
          <a:p>
            <a:pPr indent="0" marL="0">
              <a:buNone/>
            </a:pPr>
            <a:r>
              <a:rPr lang="en-US" sz="1800" b="1" dirty="0">
                <a:solidFill>
                  <a:srgbClr val="16181D"/>
                </a:solidFill>
                <a:latin typeface="Arial" pitchFamily="34" charset="0"/>
                <a:ea typeface="Arial" pitchFamily="34" charset="-122"/>
                <a:cs typeface="Arial" pitchFamily="34" charset="-120"/>
              </a:rPr>
              <a:t>Trouver les erreurs</a:t>
            </a:r>
            <a:endParaRPr lang="en-US" sz="1800" dirty="0"/>
          </a:p>
        </p:txBody>
      </p:sp>
      <p:sp>
        <p:nvSpPr>
          <p:cNvPr id="16" name="Text 13"/>
          <p:cNvSpPr txBox="1"/>
          <p:nvPr/>
        </p:nvSpPr>
        <p:spPr>
          <a:xfrm>
            <a:off x="6355080" y="2788920"/>
            <a:ext cx="2148840" cy="128016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Bugs, règles métier oubliées.</a:t>
            </a:r>
            <a:endParaRPr lang="en-US" sz="1500" dirty="0"/>
          </a:p>
        </p:txBody>
      </p:sp>
      <p:sp>
        <p:nvSpPr>
          <p:cNvPr id="17" name="Shape 14"/>
          <p:cNvSpPr/>
          <p:nvPr/>
        </p:nvSpPr>
        <p:spPr>
          <a:xfrm>
            <a:off x="8869680" y="1828800"/>
            <a:ext cx="2560320" cy="2377440"/>
          </a:xfrm>
          <a:prstGeom prst="roundRect">
            <a:avLst>
              <a:gd name="adj" fmla="val 3077"/>
            </a:avLst>
          </a:prstGeom>
          <a:solidFill>
            <a:srgbClr val="16181D"/>
          </a:solidFill>
          <a:ln w="12700">
            <a:solidFill>
              <a:srgbClr val="16181D"/>
            </a:solidFill>
            <a:prstDash val="solid"/>
          </a:ln>
        </p:spPr>
      </p:sp>
      <p:sp>
        <p:nvSpPr>
          <p:cNvPr id="18" name="Text 15"/>
          <p:cNvSpPr txBox="1"/>
          <p:nvPr/>
        </p:nvSpPr>
        <p:spPr>
          <a:xfrm>
            <a:off x="9098280" y="2011680"/>
            <a:ext cx="2148840" cy="731520"/>
          </a:xfrm>
          <a:prstGeom prst="rect">
            <a:avLst/>
          </a:prstGeom>
          <a:noFill/>
          <a:ln/>
        </p:spPr>
        <p:txBody>
          <a:bodyPr wrap="square" lIns="0" tIns="0" rIns="0" bIns="0" rtlCol="0" anchor="t"/>
          <a:lstStyle/>
          <a:p>
            <a:pPr indent="0" marL="0">
              <a:buNone/>
            </a:pPr>
            <a:r>
              <a:rPr lang="en-US" sz="1800" b="1" dirty="0">
                <a:solidFill>
                  <a:srgbClr val="E8590C"/>
                </a:solidFill>
                <a:latin typeface="Arial" pitchFamily="34" charset="0"/>
                <a:ea typeface="Arial" pitchFamily="34" charset="-122"/>
                <a:cs typeface="Arial" pitchFamily="34" charset="-120"/>
              </a:rPr>
              <a:t>Protéger</a:t>
            </a:r>
            <a:endParaRPr lang="en-US" sz="1800" dirty="0"/>
          </a:p>
        </p:txBody>
      </p:sp>
      <p:sp>
        <p:nvSpPr>
          <p:cNvPr id="19" name="Text 16"/>
          <p:cNvSpPr txBox="1"/>
          <p:nvPr/>
        </p:nvSpPr>
        <p:spPr>
          <a:xfrm>
            <a:off x="9098280" y="2788920"/>
            <a:ext cx="2148840" cy="128016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Secrets, failles : la dernière occasion avant la production.</a:t>
            </a:r>
            <a:endParaRPr lang="en-US" sz="1500" dirty="0"/>
          </a:p>
        </p:txBody>
      </p:sp>
      <p:sp>
        <p:nvSpPr>
          <p:cNvPr id="20" name="Shape 17"/>
          <p:cNvSpPr/>
          <p:nvPr/>
        </p:nvSpPr>
        <p:spPr>
          <a:xfrm>
            <a:off x="640080" y="4526280"/>
            <a:ext cx="10911535" cy="1097280"/>
          </a:xfrm>
          <a:prstGeom prst="roundRect">
            <a:avLst>
              <a:gd name="adj" fmla="val 6667"/>
            </a:avLst>
          </a:prstGeom>
          <a:solidFill>
            <a:srgbClr val="F2F3F5"/>
          </a:solidFill>
          <a:ln w="12700">
            <a:solidFill>
              <a:srgbClr val="F2F3F5"/>
            </a:solidFill>
            <a:prstDash val="solid"/>
          </a:ln>
        </p:spPr>
      </p:sp>
      <p:sp>
        <p:nvSpPr>
          <p:cNvPr id="21" name="Text 18"/>
          <p:cNvSpPr txBox="1"/>
          <p:nvPr/>
        </p:nvSpPr>
        <p:spPr>
          <a:xfrm>
            <a:off x="914400" y="4526280"/>
            <a:ext cx="10362895" cy="109728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Le ton : </a:t>
            </a:r>
            <a:pPr indent="0" marL="0">
              <a:buNone/>
            </a:pPr>
            <a:r>
              <a:rPr lang="en-US" sz="1700" dirty="0">
                <a:solidFill>
                  <a:srgbClr val="16181D"/>
                </a:solidFill>
                <a:latin typeface="Calibri" pitchFamily="34" charset="0"/>
                <a:ea typeface="Calibri" pitchFamily="34" charset="-122"/>
                <a:cs typeface="Calibri" pitchFamily="34" charset="-120"/>
              </a:rPr>
              <a:t>on relit le code, pas la personne. Plutôt « Que se passe-t-il si le titre est vide ? » que « Tu as oublié la validation ».</a:t>
            </a:r>
            <a:endParaRPr lang="en-US" sz="1700" dirty="0"/>
          </a:p>
        </p:txBody>
      </p:sp>
      <p:sp>
        <p:nvSpPr>
          <p:cNvPr id="22" name="Text 1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C. Sadowski et al., « Modern Code Review: A Case Study at Google », ICSE-SEIP 2018.</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GRILLE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Six questions à se poser en relisant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24</a:t>
            </a:r>
            <a:endParaRPr lang="en-US" sz="1000" dirty="0"/>
          </a:p>
        </p:txBody>
      </p:sp>
      <p:sp>
        <p:nvSpPr>
          <p:cNvPr id="8" name="Shape 5"/>
          <p:cNvSpPr/>
          <p:nvPr/>
        </p:nvSpPr>
        <p:spPr>
          <a:xfrm>
            <a:off x="640080" y="1783080"/>
            <a:ext cx="5303520" cy="1143000"/>
          </a:xfrm>
          <a:prstGeom prst="roundRect">
            <a:avLst>
              <a:gd name="adj" fmla="val 6400"/>
            </a:avLst>
          </a:prstGeom>
          <a:solidFill>
            <a:srgbClr val="F2F3F5"/>
          </a:solidFill>
          <a:ln w="12700">
            <a:solidFill>
              <a:srgbClr val="F2F3F5"/>
            </a:solidFill>
            <a:prstDash val="solid"/>
          </a:ln>
        </p:spPr>
      </p:sp>
      <p:sp>
        <p:nvSpPr>
          <p:cNvPr id="9" name="Text 6"/>
          <p:cNvSpPr txBox="1"/>
          <p:nvPr/>
        </p:nvSpPr>
        <p:spPr>
          <a:xfrm>
            <a:off x="868680" y="1920240"/>
            <a:ext cx="457200" cy="82296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1</a:t>
            </a:r>
            <a:endParaRPr lang="en-US" sz="2600" dirty="0"/>
          </a:p>
        </p:txBody>
      </p:sp>
      <p:sp>
        <p:nvSpPr>
          <p:cNvPr id="10" name="Text 7"/>
          <p:cNvSpPr txBox="1"/>
          <p:nvPr/>
        </p:nvSpPr>
        <p:spPr>
          <a:xfrm>
            <a:off x="1417320" y="1892808"/>
            <a:ext cx="4389120" cy="45720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Ça compile, ça tourne ?</a:t>
            </a:r>
            <a:endParaRPr lang="en-US" sz="1600" dirty="0"/>
          </a:p>
        </p:txBody>
      </p:sp>
      <p:sp>
        <p:nvSpPr>
          <p:cNvPr id="11" name="Text 8"/>
          <p:cNvSpPr txBox="1"/>
          <p:nvPr/>
        </p:nvSpPr>
        <p:spPr>
          <a:xfrm>
            <a:off x="1417320" y="2350008"/>
            <a:ext cx="4389120" cy="45720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On ne relit pas un code qui ne compile pas.</a:t>
            </a:r>
            <a:endParaRPr lang="en-US" sz="1400" dirty="0"/>
          </a:p>
        </p:txBody>
      </p:sp>
      <p:sp>
        <p:nvSpPr>
          <p:cNvPr id="12" name="Shape 9"/>
          <p:cNvSpPr/>
          <p:nvPr/>
        </p:nvSpPr>
        <p:spPr>
          <a:xfrm>
            <a:off x="6217920" y="1783080"/>
            <a:ext cx="5303520" cy="1143000"/>
          </a:xfrm>
          <a:prstGeom prst="roundRect">
            <a:avLst>
              <a:gd name="adj" fmla="val 6400"/>
            </a:avLst>
          </a:prstGeom>
          <a:solidFill>
            <a:srgbClr val="F2F3F5"/>
          </a:solidFill>
          <a:ln w="12700">
            <a:solidFill>
              <a:srgbClr val="F2F3F5"/>
            </a:solidFill>
            <a:prstDash val="solid"/>
          </a:ln>
        </p:spPr>
      </p:sp>
      <p:sp>
        <p:nvSpPr>
          <p:cNvPr id="13" name="Text 10"/>
          <p:cNvSpPr txBox="1"/>
          <p:nvPr/>
        </p:nvSpPr>
        <p:spPr>
          <a:xfrm>
            <a:off x="6446520" y="1920240"/>
            <a:ext cx="457200" cy="82296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2</a:t>
            </a:r>
            <a:endParaRPr lang="en-US" sz="2600" dirty="0"/>
          </a:p>
        </p:txBody>
      </p:sp>
      <p:sp>
        <p:nvSpPr>
          <p:cNvPr id="14" name="Text 11"/>
          <p:cNvSpPr txBox="1"/>
          <p:nvPr/>
        </p:nvSpPr>
        <p:spPr>
          <a:xfrm>
            <a:off x="6995160" y="1892808"/>
            <a:ext cx="4389120" cy="45720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Les règles métier sont-elles respectées ?</a:t>
            </a:r>
            <a:endParaRPr lang="en-US" sz="1600" dirty="0"/>
          </a:p>
        </p:txBody>
      </p:sp>
      <p:sp>
        <p:nvSpPr>
          <p:cNvPr id="15" name="Text 12"/>
          <p:cNvSpPr txBox="1"/>
          <p:nvPr/>
        </p:nvSpPr>
        <p:spPr>
          <a:xfrm>
            <a:off x="6995160" y="2350008"/>
            <a:ext cx="4389120" cy="45720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Titre obligatoire, transitions d'état (S1).</a:t>
            </a:r>
            <a:endParaRPr lang="en-US" sz="1400" dirty="0"/>
          </a:p>
        </p:txBody>
      </p:sp>
      <p:sp>
        <p:nvSpPr>
          <p:cNvPr id="16" name="Shape 13"/>
          <p:cNvSpPr/>
          <p:nvPr/>
        </p:nvSpPr>
        <p:spPr>
          <a:xfrm>
            <a:off x="640080" y="3108960"/>
            <a:ext cx="5303520" cy="1143000"/>
          </a:xfrm>
          <a:prstGeom prst="roundRect">
            <a:avLst>
              <a:gd name="adj" fmla="val 6400"/>
            </a:avLst>
          </a:prstGeom>
          <a:solidFill>
            <a:srgbClr val="F2F3F5"/>
          </a:solidFill>
          <a:ln w="12700">
            <a:solidFill>
              <a:srgbClr val="F2F3F5"/>
            </a:solidFill>
            <a:prstDash val="solid"/>
          </a:ln>
        </p:spPr>
      </p:sp>
      <p:sp>
        <p:nvSpPr>
          <p:cNvPr id="17" name="Text 14"/>
          <p:cNvSpPr txBox="1"/>
          <p:nvPr/>
        </p:nvSpPr>
        <p:spPr>
          <a:xfrm>
            <a:off x="868680" y="3246120"/>
            <a:ext cx="457200" cy="82296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3</a:t>
            </a:r>
            <a:endParaRPr lang="en-US" sz="2600" dirty="0"/>
          </a:p>
        </p:txBody>
      </p:sp>
      <p:sp>
        <p:nvSpPr>
          <p:cNvPr id="18" name="Text 15"/>
          <p:cNvSpPr txBox="1"/>
          <p:nvPr/>
        </p:nvSpPr>
        <p:spPr>
          <a:xfrm>
            <a:off x="1417320" y="3218688"/>
            <a:ext cx="4389120" cy="45720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L'encapsulation est-elle respectée ?</a:t>
            </a:r>
            <a:endParaRPr lang="en-US" sz="1600" dirty="0"/>
          </a:p>
        </p:txBody>
      </p:sp>
      <p:sp>
        <p:nvSpPr>
          <p:cNvPr id="19" name="Text 16"/>
          <p:cNvSpPr txBox="1"/>
          <p:nvPr/>
        </p:nvSpPr>
        <p:spPr>
          <a:xfrm>
            <a:off x="1417320" y="3675888"/>
            <a:ext cx="4389120" cy="45720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Pas de public set sur nos données (S1, S2).</a:t>
            </a:r>
            <a:endParaRPr lang="en-US" sz="1400" dirty="0"/>
          </a:p>
        </p:txBody>
      </p:sp>
      <p:sp>
        <p:nvSpPr>
          <p:cNvPr id="20" name="Shape 17"/>
          <p:cNvSpPr/>
          <p:nvPr/>
        </p:nvSpPr>
        <p:spPr>
          <a:xfrm>
            <a:off x="6217920" y="3108960"/>
            <a:ext cx="5303520" cy="1143000"/>
          </a:xfrm>
          <a:prstGeom prst="roundRect">
            <a:avLst>
              <a:gd name="adj" fmla="val 6400"/>
            </a:avLst>
          </a:prstGeom>
          <a:solidFill>
            <a:srgbClr val="16181D"/>
          </a:solidFill>
          <a:ln w="12700">
            <a:solidFill>
              <a:srgbClr val="16181D"/>
            </a:solidFill>
            <a:prstDash val="solid"/>
          </a:ln>
        </p:spPr>
      </p:sp>
      <p:sp>
        <p:nvSpPr>
          <p:cNvPr id="21" name="Text 18"/>
          <p:cNvSpPr txBox="1"/>
          <p:nvPr/>
        </p:nvSpPr>
        <p:spPr>
          <a:xfrm>
            <a:off x="6446520" y="3246120"/>
            <a:ext cx="457200" cy="82296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4</a:t>
            </a:r>
            <a:endParaRPr lang="en-US" sz="2600" dirty="0"/>
          </a:p>
        </p:txBody>
      </p:sp>
      <p:sp>
        <p:nvSpPr>
          <p:cNvPr id="22" name="Text 19"/>
          <p:cNvSpPr txBox="1"/>
          <p:nvPr/>
        </p:nvSpPr>
        <p:spPr>
          <a:xfrm>
            <a:off x="6995160" y="3218688"/>
            <a:ext cx="4389120" cy="45720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Y a-t-il un secret dans le code ?</a:t>
            </a:r>
            <a:endParaRPr lang="en-US" sz="1600" dirty="0"/>
          </a:p>
        </p:txBody>
      </p:sp>
      <p:sp>
        <p:nvSpPr>
          <p:cNvPr id="23" name="Text 20"/>
          <p:cNvSpPr txBox="1"/>
          <p:nvPr/>
        </p:nvSpPr>
        <p:spPr>
          <a:xfrm>
            <a:off x="6995160" y="3675888"/>
            <a:ext cx="4389120" cy="457200"/>
          </a:xfrm>
          <a:prstGeom prst="rect">
            <a:avLst/>
          </a:prstGeom>
          <a:noFill/>
          <a:ln/>
        </p:spPr>
        <p:txBody>
          <a:bodyPr wrap="square" lIns="0" tIns="0" rIns="0" bIns="0" rtlCol="0" anchor="ctr"/>
          <a:lstStyle/>
          <a:p>
            <a:pPr indent="0" marL="0">
              <a:buNone/>
            </a:pPr>
            <a:r>
              <a:rPr lang="en-US" sz="1400" dirty="0">
                <a:solidFill>
                  <a:srgbClr val="C9CDD3"/>
                </a:solidFill>
                <a:latin typeface="Calibri" pitchFamily="34" charset="0"/>
                <a:ea typeface="Calibri" pitchFamily="34" charset="-122"/>
                <a:cs typeface="Calibri" pitchFamily="34" charset="-120"/>
              </a:rPr>
              <a:t>Mot de passe, clé, jeton : Toyota.</a:t>
            </a:r>
            <a:endParaRPr lang="en-US" sz="1400" dirty="0"/>
          </a:p>
        </p:txBody>
      </p:sp>
      <p:sp>
        <p:nvSpPr>
          <p:cNvPr id="24" name="Shape 21"/>
          <p:cNvSpPr/>
          <p:nvPr/>
        </p:nvSpPr>
        <p:spPr>
          <a:xfrm>
            <a:off x="640080" y="4434840"/>
            <a:ext cx="5303520" cy="1143000"/>
          </a:xfrm>
          <a:prstGeom prst="roundRect">
            <a:avLst>
              <a:gd name="adj" fmla="val 6400"/>
            </a:avLst>
          </a:prstGeom>
          <a:solidFill>
            <a:srgbClr val="F2F3F5"/>
          </a:solidFill>
          <a:ln w="12700">
            <a:solidFill>
              <a:srgbClr val="F2F3F5"/>
            </a:solidFill>
            <a:prstDash val="solid"/>
          </a:ln>
        </p:spPr>
      </p:sp>
      <p:sp>
        <p:nvSpPr>
          <p:cNvPr id="25" name="Text 22"/>
          <p:cNvSpPr txBox="1"/>
          <p:nvPr/>
        </p:nvSpPr>
        <p:spPr>
          <a:xfrm>
            <a:off x="868680" y="4572000"/>
            <a:ext cx="457200" cy="82296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5</a:t>
            </a:r>
            <a:endParaRPr lang="en-US" sz="2600" dirty="0"/>
          </a:p>
        </p:txBody>
      </p:sp>
      <p:sp>
        <p:nvSpPr>
          <p:cNvPr id="26" name="Text 23"/>
          <p:cNvSpPr txBox="1"/>
          <p:nvPr/>
        </p:nvSpPr>
        <p:spPr>
          <a:xfrm>
            <a:off x="1417320" y="4544568"/>
            <a:ext cx="4389120" cy="45720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Les noms sont-ils clairs ?</a:t>
            </a:r>
            <a:endParaRPr lang="en-US" sz="1600" dirty="0"/>
          </a:p>
        </p:txBody>
      </p:sp>
      <p:sp>
        <p:nvSpPr>
          <p:cNvPr id="27" name="Text 24"/>
          <p:cNvSpPr txBox="1"/>
          <p:nvPr/>
        </p:nvSpPr>
        <p:spPr>
          <a:xfrm>
            <a:off x="1417320" y="5001768"/>
            <a:ext cx="4389120" cy="45720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Classes, méthodes, variables (S1).</a:t>
            </a:r>
            <a:endParaRPr lang="en-US" sz="1400" dirty="0"/>
          </a:p>
        </p:txBody>
      </p:sp>
      <p:sp>
        <p:nvSpPr>
          <p:cNvPr id="28" name="Shape 25"/>
          <p:cNvSpPr/>
          <p:nvPr/>
        </p:nvSpPr>
        <p:spPr>
          <a:xfrm>
            <a:off x="6217920" y="4434840"/>
            <a:ext cx="5303520" cy="1143000"/>
          </a:xfrm>
          <a:prstGeom prst="roundRect">
            <a:avLst>
              <a:gd name="adj" fmla="val 6400"/>
            </a:avLst>
          </a:prstGeom>
          <a:solidFill>
            <a:srgbClr val="F2F3F5"/>
          </a:solidFill>
          <a:ln w="12700">
            <a:solidFill>
              <a:srgbClr val="F2F3F5"/>
            </a:solidFill>
            <a:prstDash val="solid"/>
          </a:ln>
        </p:spPr>
      </p:sp>
      <p:sp>
        <p:nvSpPr>
          <p:cNvPr id="29" name="Text 26"/>
          <p:cNvSpPr txBox="1"/>
          <p:nvPr/>
        </p:nvSpPr>
        <p:spPr>
          <a:xfrm>
            <a:off x="6446520" y="4572000"/>
            <a:ext cx="457200" cy="822960"/>
          </a:xfrm>
          <a:prstGeom prst="rect">
            <a:avLst/>
          </a:prstGeom>
          <a:noFill/>
          <a:ln/>
        </p:spPr>
        <p:txBody>
          <a:bodyPr wrap="square" lIns="0" tIns="0" rIns="0" bIns="0" rtlCol="0" anchor="ctr"/>
          <a:lstStyle/>
          <a:p>
            <a:pPr indent="0" marL="0">
              <a:buNone/>
            </a:pPr>
            <a:r>
              <a:rPr lang="en-US" sz="2600" b="1" dirty="0">
                <a:solidFill>
                  <a:srgbClr val="E8590C"/>
                </a:solidFill>
                <a:latin typeface="Arial" pitchFamily="34" charset="0"/>
                <a:ea typeface="Arial" pitchFamily="34" charset="-122"/>
                <a:cs typeface="Arial" pitchFamily="34" charset="-120"/>
              </a:rPr>
              <a:t>6</a:t>
            </a:r>
            <a:endParaRPr lang="en-US" sz="2600" dirty="0"/>
          </a:p>
        </p:txBody>
      </p:sp>
      <p:sp>
        <p:nvSpPr>
          <p:cNvPr id="30" name="Text 27"/>
          <p:cNvSpPr txBox="1"/>
          <p:nvPr/>
        </p:nvSpPr>
        <p:spPr>
          <a:xfrm>
            <a:off x="6995160" y="4544568"/>
            <a:ext cx="4389120" cy="457200"/>
          </a:xfrm>
          <a:prstGeom prst="rect">
            <a:avLst/>
          </a:prstGeom>
          <a:noFill/>
          <a:ln/>
        </p:spPr>
        <p:txBody>
          <a:bodyPr wrap="square" lIns="0" tIns="0" rIns="0" bIns="0" rtlCol="0" anchor="ctr"/>
          <a:lstStyle/>
          <a:p>
            <a:pPr indent="0" marL="0">
              <a:buNone/>
            </a:pPr>
            <a:r>
              <a:rPr lang="en-US" sz="1600" b="1" dirty="0">
                <a:solidFill>
                  <a:srgbClr val="16181D"/>
                </a:solidFill>
                <a:latin typeface="Arial" pitchFamily="34" charset="0"/>
                <a:ea typeface="Arial" pitchFamily="34" charset="-122"/>
                <a:cs typeface="Arial" pitchFamily="34" charset="-120"/>
              </a:rPr>
              <a:t>Les messages de commit sont-ils clairs ?</a:t>
            </a:r>
            <a:endParaRPr lang="en-US" sz="1600" dirty="0"/>
          </a:p>
        </p:txBody>
      </p:sp>
      <p:sp>
        <p:nvSpPr>
          <p:cNvPr id="31" name="Text 28"/>
          <p:cNvSpPr txBox="1"/>
          <p:nvPr/>
        </p:nvSpPr>
        <p:spPr>
          <a:xfrm>
            <a:off x="6995160" y="5001768"/>
            <a:ext cx="4389120" cy="457200"/>
          </a:xfrm>
          <a:prstGeom prst="rect">
            <a:avLst/>
          </a:prstGeom>
          <a:noFill/>
          <a:ln/>
        </p:spPr>
        <p:txBody>
          <a:bodyPr wrap="square" lIns="0" tIns="0" rIns="0" bIns="0" rtlCol="0" anchor="ctr"/>
          <a:lstStyle/>
          <a:p>
            <a:pPr indent="0" marL="0">
              <a:buNone/>
            </a:pPr>
            <a:r>
              <a:rPr lang="en-US" sz="1400" dirty="0">
                <a:solidFill>
                  <a:srgbClr val="5F6670"/>
                </a:solidFill>
                <a:latin typeface="Calibri" pitchFamily="34" charset="0"/>
                <a:ea typeface="Calibri" pitchFamily="34" charset="-122"/>
                <a:cs typeface="Calibri" pitchFamily="34" charset="-120"/>
              </a:rPr>
              <a:t>Conventional Commits.</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ATELIER · 25 MINUTES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Relisez la pull request de Kévin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25</a:t>
            </a:r>
            <a:endParaRPr lang="en-US" sz="1000" dirty="0"/>
          </a:p>
        </p:txBody>
      </p:sp>
      <p:sp>
        <p:nvSpPr>
          <p:cNvPr id="8" name="Shape 5"/>
          <p:cNvSpPr/>
          <p:nvPr/>
        </p:nvSpPr>
        <p:spPr>
          <a:xfrm>
            <a:off x="640080" y="1783080"/>
            <a:ext cx="6583680" cy="2103120"/>
          </a:xfrm>
          <a:prstGeom prst="roundRect">
            <a:avLst>
              <a:gd name="adj" fmla="val 3478"/>
            </a:avLst>
          </a:prstGeom>
          <a:solidFill>
            <a:srgbClr val="16181D"/>
          </a:solidFill>
          <a:ln w="12700">
            <a:solidFill>
              <a:srgbClr val="16181D"/>
            </a:solidFill>
            <a:prstDash val="solid"/>
          </a:ln>
        </p:spPr>
      </p:sp>
      <p:sp>
        <p:nvSpPr>
          <p:cNvPr id="9" name="Text 6"/>
          <p:cNvSpPr txBox="1"/>
          <p:nvPr/>
        </p:nvSpPr>
        <p:spPr>
          <a:xfrm>
            <a:off x="960120" y="1920240"/>
            <a:ext cx="6035040" cy="182880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La pull request</a:t>
            </a:r>
            <a:endParaRPr lang="en-US" sz="1800" dirty="0"/>
          </a:p>
          <a:p>
            <a:pPr indent="0" marL="0">
              <a:buNone/>
            </a:pPr>
            <a:r>
              <a:rPr lang="en-US" sz="1600" dirty="0">
                <a:solidFill>
                  <a:srgbClr val="FFFFFF"/>
                </a:solidFill>
                <a:latin typeface="Consolas" pitchFamily="34" charset="0"/>
                <a:ea typeface="Consolas" pitchFamily="34" charset="-122"/>
                <a:cs typeface="Consolas" pitchFamily="34" charset="-120"/>
              </a:rPr>
              <a:t>Forge du cours (Forgejo)</a:t>
            </a:r>
            <a:endParaRPr lang="en-US" sz="1800" dirty="0"/>
          </a:p>
          <a:p>
            <a:pPr indent="0" marL="0">
              <a:buNone/>
            </a:pPr>
            <a:r>
              <a:rPr lang="en-US" sz="1600" dirty="0">
                <a:solidFill>
                  <a:srgbClr val="FFFFFF"/>
                </a:solidFill>
                <a:latin typeface="Consolas" pitchFamily="34" charset="0"/>
                <a:ea typeface="Consolas" pitchFamily="34" charset="-122"/>
                <a:cs typeface="Consolas" pitchFamily="34" charset="-120"/>
              </a:rPr>
              <a:t>branche demo/s03-pr-a-relire → main</a:t>
            </a:r>
            <a:endParaRPr lang="en-US" sz="1800" dirty="0"/>
          </a:p>
          <a:p>
            <a:pPr indent="0" marL="0">
              <a:buNone/>
            </a:pPr>
            <a:r>
              <a:rPr lang="en-US" sz="1600" dirty="0">
                <a:solidFill>
                  <a:srgbClr val="FFFFFF"/>
                </a:solidFill>
                <a:latin typeface="Consolas" pitchFamily="34" charset="0"/>
                <a:ea typeface="Consolas" pitchFamily="34" charset="-122"/>
                <a:cs typeface="Consolas" pitchFamily="34" charset="-120"/>
              </a:rPr>
              <a:t>lien dans le chat</a:t>
            </a:r>
            <a:endParaRPr lang="en-US" sz="1800" dirty="0"/>
          </a:p>
        </p:txBody>
      </p:sp>
      <p:sp>
        <p:nvSpPr>
          <p:cNvPr id="10" name="Text 7"/>
          <p:cNvSpPr txBox="1"/>
          <p:nvPr/>
        </p:nvSpPr>
        <p:spPr>
          <a:xfrm>
            <a:off x="640080" y="4114800"/>
            <a:ext cx="1463040" cy="731520"/>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15 min</a:t>
            </a:r>
            <a:endParaRPr lang="en-US" sz="2200" dirty="0"/>
          </a:p>
        </p:txBody>
      </p:sp>
      <p:sp>
        <p:nvSpPr>
          <p:cNvPr id="11" name="Text 8"/>
          <p:cNvSpPr txBox="1"/>
          <p:nvPr/>
        </p:nvSpPr>
        <p:spPr>
          <a:xfrm>
            <a:off x="2194560" y="4114800"/>
            <a:ext cx="5029200" cy="731520"/>
          </a:xfrm>
          <a:prstGeom prst="rect">
            <a:avLst/>
          </a:prstGeom>
          <a:noFill/>
          <a:ln/>
        </p:spPr>
        <p:txBody>
          <a:bodyPr wrap="square" lIns="0" tIns="0" rIns="0" bIns="0" rtlCol="0" anchor="ctr"/>
          <a:lstStyle/>
          <a:p>
            <a:pPr indent="0" marL="0">
              <a:buNone/>
            </a:pPr>
            <a:r>
              <a:rPr lang="en-US" sz="1700" dirty="0">
                <a:solidFill>
                  <a:srgbClr val="16181D"/>
                </a:solidFill>
                <a:latin typeface="Calibri" pitchFamily="34" charset="0"/>
                <a:ea typeface="Calibri" pitchFamily="34" charset="-122"/>
                <a:cs typeface="Calibri" pitchFamily="34" charset="-120"/>
              </a:rPr>
              <a:t>relecture en salle, avec la grille</a:t>
            </a:r>
            <a:endParaRPr lang="en-US" sz="1700" dirty="0"/>
          </a:p>
        </p:txBody>
      </p:sp>
      <p:sp>
        <p:nvSpPr>
          <p:cNvPr id="12" name="Text 9"/>
          <p:cNvSpPr txBox="1"/>
          <p:nvPr/>
        </p:nvSpPr>
        <p:spPr>
          <a:xfrm>
            <a:off x="640080" y="4983480"/>
            <a:ext cx="1463040" cy="731520"/>
          </a:xfrm>
          <a:prstGeom prst="rect">
            <a:avLst/>
          </a:prstGeom>
          <a:noFill/>
          <a:ln/>
        </p:spPr>
        <p:txBody>
          <a:bodyPr wrap="square" lIns="0" tIns="0" rIns="0" bIns="0" rtlCol="0" anchor="ctr"/>
          <a:lstStyle/>
          <a:p>
            <a:pPr indent="0" marL="0">
              <a:buNone/>
            </a:pPr>
            <a:r>
              <a:rPr lang="en-US" sz="2200" b="1" dirty="0">
                <a:solidFill>
                  <a:srgbClr val="E8590C"/>
                </a:solidFill>
                <a:latin typeface="Arial" pitchFamily="34" charset="0"/>
                <a:ea typeface="Arial" pitchFamily="34" charset="-122"/>
                <a:cs typeface="Arial" pitchFamily="34" charset="-120"/>
              </a:rPr>
              <a:t>10 min</a:t>
            </a:r>
            <a:endParaRPr lang="en-US" sz="2200" dirty="0"/>
          </a:p>
        </p:txBody>
      </p:sp>
      <p:sp>
        <p:nvSpPr>
          <p:cNvPr id="13" name="Text 10"/>
          <p:cNvSpPr txBox="1"/>
          <p:nvPr/>
        </p:nvSpPr>
        <p:spPr>
          <a:xfrm>
            <a:off x="2194560" y="4983480"/>
            <a:ext cx="5029200" cy="731520"/>
          </a:xfrm>
          <a:prstGeom prst="rect">
            <a:avLst/>
          </a:prstGeom>
          <a:noFill/>
          <a:ln/>
        </p:spPr>
        <p:txBody>
          <a:bodyPr wrap="square" lIns="0" tIns="0" rIns="0" bIns="0" rtlCol="0" anchor="ctr"/>
          <a:lstStyle/>
          <a:p>
            <a:pPr indent="0" marL="0">
              <a:buNone/>
            </a:pPr>
            <a:r>
              <a:rPr lang="en-US" sz="1700" dirty="0">
                <a:solidFill>
                  <a:srgbClr val="16181D"/>
                </a:solidFill>
                <a:latin typeface="Calibri" pitchFamily="34" charset="0"/>
                <a:ea typeface="Calibri" pitchFamily="34" charset="-122"/>
                <a:cs typeface="Calibri" pitchFamily="34" charset="-120"/>
              </a:rPr>
              <a:t>mise en commun : un problème par salle</a:t>
            </a:r>
            <a:endParaRPr lang="en-US" sz="1700" dirty="0"/>
          </a:p>
        </p:txBody>
      </p:sp>
      <p:sp>
        <p:nvSpPr>
          <p:cNvPr id="14" name="Shape 11"/>
          <p:cNvSpPr/>
          <p:nvPr/>
        </p:nvSpPr>
        <p:spPr>
          <a:xfrm>
            <a:off x="7498080" y="1783080"/>
            <a:ext cx="4023360" cy="4023360"/>
          </a:xfrm>
          <a:prstGeom prst="roundRect">
            <a:avLst>
              <a:gd name="adj" fmla="val 1818"/>
            </a:avLst>
          </a:prstGeom>
          <a:solidFill>
            <a:srgbClr val="F2F3F5"/>
          </a:solidFill>
          <a:ln w="12700">
            <a:solidFill>
              <a:srgbClr val="F2F3F5"/>
            </a:solidFill>
            <a:prstDash val="solid"/>
          </a:ln>
        </p:spPr>
      </p:sp>
      <p:sp>
        <p:nvSpPr>
          <p:cNvPr id="15" name="Text 12"/>
          <p:cNvSpPr txBox="1"/>
          <p:nvPr/>
        </p:nvSpPr>
        <p:spPr>
          <a:xfrm>
            <a:off x="7726680" y="1965960"/>
            <a:ext cx="3566160" cy="3657600"/>
          </a:xfrm>
          <a:prstGeom prst="rect">
            <a:avLst/>
          </a:prstGeom>
          <a:noFill/>
          <a:ln/>
        </p:spPr>
        <p:txBody>
          <a:bodyPr wrap="square" lIns="0" tIns="0" rIns="0" bIns="0" rtlCol="0" anchor="t"/>
          <a:lstStyle/>
          <a:p>
            <a:pPr indent="0" marL="0">
              <a:buNone/>
            </a:pPr>
            <a:r>
              <a:rPr lang="en-US" sz="1800" b="1" dirty="0">
                <a:solidFill>
                  <a:srgbClr val="16181D"/>
                </a:solidFill>
                <a:latin typeface="Calibri" pitchFamily="34" charset="0"/>
                <a:ea typeface="Calibri" pitchFamily="34" charset="-122"/>
                <a:cs typeface="Calibri" pitchFamily="34" charset="-120"/>
              </a:rPr>
              <a:t>Combien de problèmes ?</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Commentez directement les lignes sur la forge.</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Pas encore de compte ? Notez dans le chat de votre salle.</a:t>
            </a:r>
            <a:endParaRPr lang="en-US" sz="1800" dirty="0"/>
          </a:p>
          <a:p>
            <a:pPr indent="0" marL="0">
              <a:buNone/>
            </a:pPr>
            <a:endParaRPr lang="en-US" sz="1800" dirty="0"/>
          </a:p>
          <a:p>
            <a:pPr indent="0" marL="0">
              <a:buNone/>
            </a:pPr>
            <a:r>
              <a:rPr lang="en-US" sz="1500" dirty="0">
                <a:solidFill>
                  <a:srgbClr val="5F6670"/>
                </a:solidFill>
                <a:latin typeface="Calibri" pitchFamily="34" charset="0"/>
                <a:ea typeface="Calibri" pitchFamily="34" charset="-122"/>
                <a:cs typeface="Calibri" pitchFamily="34" charset="-120"/>
              </a:rPr>
              <a:t>Un tuteur par salle si possible.</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CORRECTION</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Ce que contenait la pull request de Kévin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26</a:t>
            </a:r>
            <a:endParaRPr lang="en-US" sz="1000" dirty="0"/>
          </a:p>
        </p:txBody>
      </p:sp>
      <p:sp>
        <p:nvSpPr>
          <p:cNvPr id="8" name="Shape 5"/>
          <p:cNvSpPr/>
          <p:nvPr/>
        </p:nvSpPr>
        <p:spPr>
          <a:xfrm>
            <a:off x="640080" y="1938528"/>
            <a:ext cx="274320" cy="274320"/>
          </a:xfrm>
          <a:prstGeom prst="ellipse">
            <a:avLst/>
          </a:prstGeom>
          <a:solidFill>
            <a:srgbClr val="C92A2A"/>
          </a:solidFill>
          <a:ln w="12700">
            <a:solidFill>
              <a:srgbClr val="C92A2A"/>
            </a:solidFill>
            <a:prstDash val="solid"/>
          </a:ln>
        </p:spPr>
      </p:sp>
      <p:sp>
        <p:nvSpPr>
          <p:cNvPr id="9" name="Text 6"/>
          <p:cNvSpPr txBox="1"/>
          <p:nvPr/>
        </p:nvSpPr>
        <p:spPr>
          <a:xfrm>
            <a:off x="1097280" y="1783080"/>
            <a:ext cx="5669280" cy="59436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Mot de passe SMTP en dur</a:t>
            </a:r>
            <a:endParaRPr lang="en-US" sz="1700" dirty="0"/>
          </a:p>
        </p:txBody>
      </p:sp>
      <p:sp>
        <p:nvSpPr>
          <p:cNvPr id="10" name="Text 7"/>
          <p:cNvSpPr txBox="1"/>
          <p:nvPr/>
        </p:nvSpPr>
        <p:spPr>
          <a:xfrm>
            <a:off x="6858000" y="1783080"/>
            <a:ext cx="4663440" cy="59436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Secret dans le code : Toyota</a:t>
            </a:r>
            <a:endParaRPr lang="en-US" sz="1600" dirty="0"/>
          </a:p>
        </p:txBody>
      </p:sp>
      <p:sp>
        <p:nvSpPr>
          <p:cNvPr id="11" name="Shape 8"/>
          <p:cNvSpPr/>
          <p:nvPr/>
        </p:nvSpPr>
        <p:spPr>
          <a:xfrm>
            <a:off x="640080" y="2404872"/>
            <a:ext cx="10911535" cy="0"/>
          </a:xfrm>
          <a:prstGeom prst="line">
            <a:avLst/>
          </a:prstGeom>
          <a:noFill/>
          <a:ln w="12700">
            <a:solidFill>
              <a:srgbClr val="D9DCE1"/>
            </a:solidFill>
            <a:prstDash val="solid"/>
          </a:ln>
        </p:spPr>
      </p:sp>
      <p:sp>
        <p:nvSpPr>
          <p:cNvPr id="12" name="Shape 9"/>
          <p:cNvSpPr/>
          <p:nvPr/>
        </p:nvSpPr>
        <p:spPr>
          <a:xfrm>
            <a:off x="640080" y="2596896"/>
            <a:ext cx="274320" cy="274320"/>
          </a:xfrm>
          <a:prstGeom prst="ellipse">
            <a:avLst/>
          </a:prstGeom>
          <a:solidFill>
            <a:srgbClr val="C92A2A"/>
          </a:solidFill>
          <a:ln w="12700">
            <a:solidFill>
              <a:srgbClr val="C92A2A"/>
            </a:solidFill>
            <a:prstDash val="solid"/>
          </a:ln>
        </p:spPr>
      </p:sp>
      <p:sp>
        <p:nvSpPr>
          <p:cNvPr id="13" name="Text 10"/>
          <p:cNvSpPr txBox="1"/>
          <p:nvPr/>
        </p:nvSpPr>
        <p:spPr>
          <a:xfrm>
            <a:off x="1097280" y="2441448"/>
            <a:ext cx="5669280" cy="59436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Log DEBUG qui affiche le mot de passe</a:t>
            </a:r>
            <a:endParaRPr lang="en-US" sz="1700" dirty="0"/>
          </a:p>
        </p:txBody>
      </p:sp>
      <p:sp>
        <p:nvSpPr>
          <p:cNvPr id="14" name="Text 11"/>
          <p:cNvSpPr txBox="1"/>
          <p:nvPr/>
        </p:nvSpPr>
        <p:spPr>
          <a:xfrm>
            <a:off x="6858000" y="2441448"/>
            <a:ext cx="4663440" cy="59436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Fuite dans les journaux</a:t>
            </a:r>
            <a:endParaRPr lang="en-US" sz="1600" dirty="0"/>
          </a:p>
        </p:txBody>
      </p:sp>
      <p:sp>
        <p:nvSpPr>
          <p:cNvPr id="15" name="Shape 12"/>
          <p:cNvSpPr/>
          <p:nvPr/>
        </p:nvSpPr>
        <p:spPr>
          <a:xfrm>
            <a:off x="640080" y="3063240"/>
            <a:ext cx="10911535" cy="0"/>
          </a:xfrm>
          <a:prstGeom prst="line">
            <a:avLst/>
          </a:prstGeom>
          <a:noFill/>
          <a:ln w="12700">
            <a:solidFill>
              <a:srgbClr val="D9DCE1"/>
            </a:solidFill>
            <a:prstDash val="solid"/>
          </a:ln>
        </p:spPr>
      </p:sp>
      <p:sp>
        <p:nvSpPr>
          <p:cNvPr id="16" name="Shape 13"/>
          <p:cNvSpPr/>
          <p:nvPr/>
        </p:nvSpPr>
        <p:spPr>
          <a:xfrm>
            <a:off x="640080" y="3255264"/>
            <a:ext cx="274320" cy="274320"/>
          </a:xfrm>
          <a:prstGeom prst="ellipse">
            <a:avLst/>
          </a:prstGeom>
          <a:solidFill>
            <a:srgbClr val="E67700"/>
          </a:solidFill>
          <a:ln w="12700">
            <a:solidFill>
              <a:srgbClr val="E67700"/>
            </a:solidFill>
            <a:prstDash val="solid"/>
          </a:ln>
        </p:spPr>
      </p:sp>
      <p:sp>
        <p:nvSpPr>
          <p:cNvPr id="17" name="Text 14"/>
          <p:cNvSpPr txBox="1"/>
          <p:nvPr/>
        </p:nvSpPr>
        <p:spPr>
          <a:xfrm>
            <a:off x="1097280" y="3099816"/>
            <a:ext cx="5669280" cy="59436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Reopen() sans vérification</a:t>
            </a:r>
            <a:endParaRPr lang="en-US" sz="1700" dirty="0"/>
          </a:p>
        </p:txBody>
      </p:sp>
      <p:sp>
        <p:nvSpPr>
          <p:cNvPr id="18" name="Text 15"/>
          <p:cNvSpPr txBox="1"/>
          <p:nvPr/>
        </p:nvSpPr>
        <p:spPr>
          <a:xfrm>
            <a:off x="6858000" y="3099816"/>
            <a:ext cx="4663440" cy="59436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Règle métier contournée (S1)</a:t>
            </a:r>
            <a:endParaRPr lang="en-US" sz="1600" dirty="0"/>
          </a:p>
        </p:txBody>
      </p:sp>
      <p:sp>
        <p:nvSpPr>
          <p:cNvPr id="19" name="Shape 16"/>
          <p:cNvSpPr/>
          <p:nvPr/>
        </p:nvSpPr>
        <p:spPr>
          <a:xfrm>
            <a:off x="640080" y="3721608"/>
            <a:ext cx="10911535" cy="0"/>
          </a:xfrm>
          <a:prstGeom prst="line">
            <a:avLst/>
          </a:prstGeom>
          <a:noFill/>
          <a:ln w="12700">
            <a:solidFill>
              <a:srgbClr val="D9DCE1"/>
            </a:solidFill>
            <a:prstDash val="solid"/>
          </a:ln>
        </p:spPr>
      </p:sp>
      <p:sp>
        <p:nvSpPr>
          <p:cNvPr id="20" name="Shape 17"/>
          <p:cNvSpPr/>
          <p:nvPr/>
        </p:nvSpPr>
        <p:spPr>
          <a:xfrm>
            <a:off x="640080" y="3913632"/>
            <a:ext cx="274320" cy="274320"/>
          </a:xfrm>
          <a:prstGeom prst="ellipse">
            <a:avLst/>
          </a:prstGeom>
          <a:solidFill>
            <a:srgbClr val="E67700"/>
          </a:solidFill>
          <a:ln w="12700">
            <a:solidFill>
              <a:srgbClr val="E67700"/>
            </a:solidFill>
            <a:prstDash val="solid"/>
          </a:ln>
        </p:spPr>
      </p:sp>
      <p:sp>
        <p:nvSpPr>
          <p:cNvPr id="21" name="Text 18"/>
          <p:cNvSpPr txBox="1"/>
          <p:nvPr/>
        </p:nvSpPr>
        <p:spPr>
          <a:xfrm>
            <a:off x="1097280" y="3758184"/>
            <a:ext cx="5669280" cy="59436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Title en public set</a:t>
            </a:r>
            <a:endParaRPr lang="en-US" sz="1700" dirty="0"/>
          </a:p>
        </p:txBody>
      </p:sp>
      <p:sp>
        <p:nvSpPr>
          <p:cNvPr id="22" name="Text 19"/>
          <p:cNvSpPr txBox="1"/>
          <p:nvPr/>
        </p:nvSpPr>
        <p:spPr>
          <a:xfrm>
            <a:off x="6858000" y="3758184"/>
            <a:ext cx="4663440" cy="59436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Encapsulation cassée (S1)</a:t>
            </a:r>
            <a:endParaRPr lang="en-US" sz="1600" dirty="0"/>
          </a:p>
        </p:txBody>
      </p:sp>
      <p:sp>
        <p:nvSpPr>
          <p:cNvPr id="23" name="Shape 20"/>
          <p:cNvSpPr/>
          <p:nvPr/>
        </p:nvSpPr>
        <p:spPr>
          <a:xfrm>
            <a:off x="640080" y="4379976"/>
            <a:ext cx="10911535" cy="0"/>
          </a:xfrm>
          <a:prstGeom prst="line">
            <a:avLst/>
          </a:prstGeom>
          <a:noFill/>
          <a:ln w="12700">
            <a:solidFill>
              <a:srgbClr val="D9DCE1"/>
            </a:solidFill>
            <a:prstDash val="solid"/>
          </a:ln>
        </p:spPr>
      </p:sp>
      <p:sp>
        <p:nvSpPr>
          <p:cNvPr id="24" name="Shape 21"/>
          <p:cNvSpPr/>
          <p:nvPr/>
        </p:nvSpPr>
        <p:spPr>
          <a:xfrm>
            <a:off x="640080" y="4572000"/>
            <a:ext cx="274320" cy="274320"/>
          </a:xfrm>
          <a:prstGeom prst="ellipse">
            <a:avLst/>
          </a:prstGeom>
          <a:solidFill>
            <a:srgbClr val="E67700"/>
          </a:solidFill>
          <a:ln w="12700">
            <a:solidFill>
              <a:srgbClr val="E67700"/>
            </a:solidFill>
            <a:prstDash val="solid"/>
          </a:ln>
        </p:spPr>
      </p:sp>
      <p:sp>
        <p:nvSpPr>
          <p:cNvPr id="25" name="Text 22"/>
          <p:cNvSpPr txBox="1"/>
          <p:nvPr/>
        </p:nvSpPr>
        <p:spPr>
          <a:xfrm>
            <a:off x="1097280" y="4416552"/>
            <a:ext cx="5669280" cy="59436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Titre vide accepté dans Program.cs</a:t>
            </a:r>
            <a:endParaRPr lang="en-US" sz="1700" dirty="0"/>
          </a:p>
        </p:txBody>
      </p:sp>
      <p:sp>
        <p:nvSpPr>
          <p:cNvPr id="26" name="Text 23"/>
          <p:cNvSpPr txBox="1"/>
          <p:nvPr/>
        </p:nvSpPr>
        <p:spPr>
          <a:xfrm>
            <a:off x="6858000" y="4416552"/>
            <a:ext cx="4663440" cy="59436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Conséquence directe du point précédent</a:t>
            </a:r>
            <a:endParaRPr lang="en-US" sz="1600" dirty="0"/>
          </a:p>
        </p:txBody>
      </p:sp>
      <p:sp>
        <p:nvSpPr>
          <p:cNvPr id="27" name="Shape 24"/>
          <p:cNvSpPr/>
          <p:nvPr/>
        </p:nvSpPr>
        <p:spPr>
          <a:xfrm>
            <a:off x="640080" y="5038344"/>
            <a:ext cx="10911535" cy="0"/>
          </a:xfrm>
          <a:prstGeom prst="line">
            <a:avLst/>
          </a:prstGeom>
          <a:noFill/>
          <a:ln w="12700">
            <a:solidFill>
              <a:srgbClr val="D9DCE1"/>
            </a:solidFill>
            <a:prstDash val="solid"/>
          </a:ln>
        </p:spPr>
      </p:sp>
      <p:sp>
        <p:nvSpPr>
          <p:cNvPr id="28" name="Shape 25"/>
          <p:cNvSpPr/>
          <p:nvPr/>
        </p:nvSpPr>
        <p:spPr>
          <a:xfrm>
            <a:off x="640080" y="5230368"/>
            <a:ext cx="274320" cy="274320"/>
          </a:xfrm>
          <a:prstGeom prst="ellipse">
            <a:avLst/>
          </a:prstGeom>
          <a:solidFill>
            <a:srgbClr val="5F6670"/>
          </a:solidFill>
          <a:ln w="12700">
            <a:solidFill>
              <a:srgbClr val="5F6670"/>
            </a:solidFill>
            <a:prstDash val="solid"/>
          </a:ln>
        </p:spPr>
      </p:sp>
      <p:sp>
        <p:nvSpPr>
          <p:cNvPr id="29" name="Text 26"/>
          <p:cNvSpPr txBox="1"/>
          <p:nvPr/>
        </p:nvSpPr>
        <p:spPr>
          <a:xfrm>
            <a:off x="1097280" y="5074920"/>
            <a:ext cx="5669280" cy="594360"/>
          </a:xfrm>
          <a:prstGeom prst="rect">
            <a:avLst/>
          </a:prstGeom>
          <a:noFill/>
          <a:ln/>
        </p:spPr>
        <p:txBody>
          <a:bodyPr wrap="square" lIns="0" tIns="0" rIns="0" bIns="0" rtlCol="0" anchor="ctr"/>
          <a:lstStyle/>
          <a:p>
            <a:pPr indent="0" marL="0">
              <a:buNone/>
            </a:pPr>
            <a:r>
              <a:rPr lang="en-US" sz="1700" b="1" dirty="0">
                <a:solidFill>
                  <a:srgbClr val="16181D"/>
                </a:solidFill>
                <a:latin typeface="Calibri" pitchFamily="34" charset="0"/>
                <a:ea typeface="Calibri" pitchFamily="34" charset="-122"/>
                <a:cs typeface="Calibri" pitchFamily="34" charset="-120"/>
              </a:rPr>
              <a:t>« wip », « fix », « ça marche »</a:t>
            </a:r>
            <a:endParaRPr lang="en-US" sz="1700" dirty="0"/>
          </a:p>
        </p:txBody>
      </p:sp>
      <p:sp>
        <p:nvSpPr>
          <p:cNvPr id="30" name="Text 27"/>
          <p:cNvSpPr txBox="1"/>
          <p:nvPr/>
        </p:nvSpPr>
        <p:spPr>
          <a:xfrm>
            <a:off x="6858000" y="5074920"/>
            <a:ext cx="4663440" cy="594360"/>
          </a:xfrm>
          <a:prstGeom prst="rect">
            <a:avLst/>
          </a:prstGeom>
          <a:noFill/>
          <a:ln/>
        </p:spPr>
        <p:txBody>
          <a:bodyPr wrap="square" lIns="0" tIns="0" rIns="0" bIns="0" rtlCol="0" anchor="ctr"/>
          <a:lstStyle/>
          <a:p>
            <a:pPr indent="0" marL="0">
              <a:buNone/>
            </a:pPr>
            <a:r>
              <a:rPr lang="en-US" sz="1600" dirty="0">
                <a:solidFill>
                  <a:srgbClr val="5F6670"/>
                </a:solidFill>
                <a:latin typeface="Calibri" pitchFamily="34" charset="0"/>
                <a:ea typeface="Calibri" pitchFamily="34" charset="-122"/>
                <a:cs typeface="Calibri" pitchFamily="34" charset="-120"/>
              </a:rPr>
              <a:t>Conventional Commits</a:t>
            </a:r>
            <a:endParaRPr lang="en-US" sz="1600" dirty="0"/>
          </a:p>
        </p:txBody>
      </p:sp>
      <p:sp>
        <p:nvSpPr>
          <p:cNvPr id="31" name="Shape 28"/>
          <p:cNvSpPr/>
          <p:nvPr/>
        </p:nvSpPr>
        <p:spPr>
          <a:xfrm>
            <a:off x="640080" y="5696712"/>
            <a:ext cx="10911535" cy="0"/>
          </a:xfrm>
          <a:prstGeom prst="line">
            <a:avLst/>
          </a:prstGeom>
          <a:noFill/>
          <a:ln w="12700">
            <a:solidFill>
              <a:srgbClr val="D9DCE1"/>
            </a:solidFill>
            <a:prstDash val="solid"/>
          </a:ln>
        </p:spPr>
      </p:sp>
      <p:sp>
        <p:nvSpPr>
          <p:cNvPr id="32" name="Text 29"/>
          <p:cNvSpPr txBox="1"/>
          <p:nvPr/>
        </p:nvSpPr>
        <p:spPr>
          <a:xfrm>
            <a:off x="640080" y="5852160"/>
            <a:ext cx="10911535" cy="36576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Décision : « changements demandés ». On ne fusionne pas.</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05</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Scrum</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Livrer par petits morceaux, et s'améliorer à chaque fois</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POURQUOI</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L'effet tunnel</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28</a:t>
            </a:r>
            <a:endParaRPr lang="en-US" sz="1000" dirty="0"/>
          </a:p>
        </p:txBody>
      </p:sp>
      <p:sp>
        <p:nvSpPr>
          <p:cNvPr id="8" name="Shape 5"/>
          <p:cNvSpPr/>
          <p:nvPr/>
        </p:nvSpPr>
        <p:spPr>
          <a:xfrm>
            <a:off x="640080" y="1783080"/>
            <a:ext cx="5303520" cy="3566160"/>
          </a:xfrm>
          <a:prstGeom prst="roundRect">
            <a:avLst>
              <a:gd name="adj" fmla="val 2051"/>
            </a:avLst>
          </a:prstGeom>
          <a:solidFill>
            <a:srgbClr val="F2F3F5"/>
          </a:solidFill>
          <a:ln w="12700">
            <a:solidFill>
              <a:srgbClr val="F2F3F5"/>
            </a:solidFill>
            <a:prstDash val="solid"/>
          </a:ln>
        </p:spPr>
      </p:sp>
      <p:sp>
        <p:nvSpPr>
          <p:cNvPr id="9" name="Text 6"/>
          <p:cNvSpPr txBox="1"/>
          <p:nvPr/>
        </p:nvSpPr>
        <p:spPr>
          <a:xfrm>
            <a:off x="960120" y="1920240"/>
            <a:ext cx="4754880" cy="45720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En cascade : l'effet tunnel</a:t>
            </a:r>
            <a:endParaRPr lang="en-US" sz="1900" dirty="0"/>
          </a:p>
        </p:txBody>
      </p:sp>
      <p:sp>
        <p:nvSpPr>
          <p:cNvPr id="10" name="Text 7"/>
          <p:cNvSpPr txBox="1"/>
          <p:nvPr/>
        </p:nvSpPr>
        <p:spPr>
          <a:xfrm>
            <a:off x="960120" y="2514600"/>
            <a:ext cx="4754880" cy="2651760"/>
          </a:xfrm>
          <a:prstGeom prst="rect">
            <a:avLst/>
          </a:prstGeom>
          <a:noFill/>
          <a:ln/>
        </p:spPr>
        <p:txBody>
          <a:bodyPr wrap="square" lIns="0" tIns="0" rIns="0" bIns="0" rtlCol="0" anchor="t"/>
          <a:lstStyle/>
          <a:p>
            <a:pPr indent="0" marL="0">
              <a:buNone/>
            </a:pPr>
            <a:r>
              <a:rPr lang="en-US" sz="1600" dirty="0">
                <a:solidFill>
                  <a:srgbClr val="5F6670"/>
                </a:solidFill>
                <a:latin typeface="Calibri" pitchFamily="34" charset="0"/>
                <a:ea typeface="Calibri" pitchFamily="34" charset="-122"/>
                <a:cs typeface="Calibri" pitchFamily="34" charset="-120"/>
              </a:rPr>
              <a:t>On spécifie tout, on développe tout, on livre tout à la fin.</a:t>
            </a:r>
            <a:endParaRPr lang="en-US" sz="1600" dirty="0"/>
          </a:p>
          <a:p>
            <a:pPr indent="0" marL="0">
              <a:buNone/>
            </a:pPr>
            <a:endParaRPr lang="en-US" sz="1600" dirty="0"/>
          </a:p>
          <a:p>
            <a:pPr indent="0" marL="0">
              <a:buNone/>
            </a:pPr>
            <a:r>
              <a:rPr lang="en-US" sz="1600" dirty="0">
                <a:solidFill>
                  <a:srgbClr val="5F6670"/>
                </a:solidFill>
                <a:latin typeface="Calibri" pitchFamily="34" charset="0"/>
                <a:ea typeface="Calibri" pitchFamily="34" charset="-122"/>
                <a:cs typeface="Calibri" pitchFamily="34" charset="-120"/>
              </a:rPr>
              <a:t>La cuisine est au mauvais endroit ? On le découvre à la livraison.</a:t>
            </a:r>
            <a:endParaRPr lang="en-US" sz="1600" dirty="0"/>
          </a:p>
        </p:txBody>
      </p:sp>
      <p:sp>
        <p:nvSpPr>
          <p:cNvPr id="11" name="Shape 8"/>
          <p:cNvSpPr/>
          <p:nvPr/>
        </p:nvSpPr>
        <p:spPr>
          <a:xfrm>
            <a:off x="6217920" y="1783080"/>
            <a:ext cx="5303520" cy="3566160"/>
          </a:xfrm>
          <a:prstGeom prst="roundRect">
            <a:avLst>
              <a:gd name="adj" fmla="val 2051"/>
            </a:avLst>
          </a:prstGeom>
          <a:solidFill>
            <a:srgbClr val="16181D"/>
          </a:solidFill>
          <a:ln w="12700">
            <a:solidFill>
              <a:srgbClr val="16181D"/>
            </a:solidFill>
            <a:prstDash val="solid"/>
          </a:ln>
        </p:spPr>
      </p:sp>
      <p:sp>
        <p:nvSpPr>
          <p:cNvPr id="12" name="Text 9"/>
          <p:cNvSpPr txBox="1"/>
          <p:nvPr/>
        </p:nvSpPr>
        <p:spPr>
          <a:xfrm>
            <a:off x="6537960" y="1920240"/>
            <a:ext cx="475488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En agile : des petits morceaux</a:t>
            </a:r>
            <a:endParaRPr lang="en-US" sz="1900" dirty="0"/>
          </a:p>
        </p:txBody>
      </p:sp>
      <p:sp>
        <p:nvSpPr>
          <p:cNvPr id="13" name="Text 10"/>
          <p:cNvSpPr txBox="1"/>
          <p:nvPr/>
        </p:nvSpPr>
        <p:spPr>
          <a:xfrm>
            <a:off x="6537960" y="2514600"/>
            <a:ext cx="4754880" cy="26517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Toutes les 2 à 4 semaines, un morceau utilisable.</a:t>
            </a:r>
            <a:endParaRPr lang="en-US" sz="1600" dirty="0"/>
          </a:p>
          <a:p>
            <a:pPr indent="0" marL="0">
              <a:buNone/>
            </a:pP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On le montre, on corrige le tir, on recommence.</a:t>
            </a:r>
            <a:endParaRPr lang="en-US" sz="1600" dirty="0"/>
          </a:p>
        </p:txBody>
      </p:sp>
      <p:sp>
        <p:nvSpPr>
          <p:cNvPr id="14" name="Text 11"/>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Manifeste pour le développement agile de logiciels (2001) ; K. Schwaber et J. Sutherland, The Scrum Guide (novembre 2020).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CADRE SCRUM</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3 responsabilités, 5 événements, 3 artefacts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29</a:t>
            </a:r>
            <a:endParaRPr lang="en-US" sz="1000" dirty="0"/>
          </a:p>
        </p:txBody>
      </p:sp>
      <p:sp>
        <p:nvSpPr>
          <p:cNvPr id="8" name="Shape 5"/>
          <p:cNvSpPr/>
          <p:nvPr/>
        </p:nvSpPr>
        <p:spPr>
          <a:xfrm>
            <a:off x="640080" y="1783080"/>
            <a:ext cx="3474720" cy="4023360"/>
          </a:xfrm>
          <a:prstGeom prst="roundRect">
            <a:avLst>
              <a:gd name="adj" fmla="val 2105"/>
            </a:avLst>
          </a:prstGeom>
          <a:solidFill>
            <a:srgbClr val="F2F3F5"/>
          </a:solidFill>
          <a:ln w="12700">
            <a:solidFill>
              <a:srgbClr val="F2F3F5"/>
            </a:solidFill>
            <a:prstDash val="solid"/>
          </a:ln>
        </p:spPr>
      </p:sp>
      <p:sp>
        <p:nvSpPr>
          <p:cNvPr id="9" name="Text 6"/>
          <p:cNvSpPr txBox="1"/>
          <p:nvPr/>
        </p:nvSpPr>
        <p:spPr>
          <a:xfrm>
            <a:off x="914400" y="1920240"/>
            <a:ext cx="2926080" cy="45720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3 responsabilités</a:t>
            </a:r>
            <a:endParaRPr lang="en-US" sz="1900" dirty="0"/>
          </a:p>
        </p:txBody>
      </p:sp>
      <p:sp>
        <p:nvSpPr>
          <p:cNvPr id="10" name="Text 7"/>
          <p:cNvSpPr txBox="1"/>
          <p:nvPr/>
        </p:nvSpPr>
        <p:spPr>
          <a:xfrm>
            <a:off x="91440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Product Owner : décide ce qui a le plus de valeur</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Scrum Master : aide l'équipe, lève les obstacles</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Developers : construisent l'incrément</a:t>
            </a:r>
            <a:endParaRPr lang="en-US" sz="1450" dirty="0"/>
          </a:p>
        </p:txBody>
      </p:sp>
      <p:sp>
        <p:nvSpPr>
          <p:cNvPr id="11" name="Shape 8"/>
          <p:cNvSpPr/>
          <p:nvPr/>
        </p:nvSpPr>
        <p:spPr>
          <a:xfrm>
            <a:off x="4343400" y="1783080"/>
            <a:ext cx="3474720" cy="4023360"/>
          </a:xfrm>
          <a:prstGeom prst="roundRect">
            <a:avLst>
              <a:gd name="adj" fmla="val 2105"/>
            </a:avLst>
          </a:prstGeom>
          <a:solidFill>
            <a:srgbClr val="16181D"/>
          </a:solidFill>
          <a:ln w="12700">
            <a:solidFill>
              <a:srgbClr val="16181D"/>
            </a:solidFill>
            <a:prstDash val="solid"/>
          </a:ln>
        </p:spPr>
      </p:sp>
      <p:sp>
        <p:nvSpPr>
          <p:cNvPr id="12" name="Text 9"/>
          <p:cNvSpPr txBox="1"/>
          <p:nvPr/>
        </p:nvSpPr>
        <p:spPr>
          <a:xfrm>
            <a:off x="4617720" y="1920240"/>
            <a:ext cx="2926080" cy="457200"/>
          </a:xfrm>
          <a:prstGeom prst="rect">
            <a:avLst/>
          </a:prstGeom>
          <a:noFill/>
          <a:ln/>
        </p:spPr>
        <p:txBody>
          <a:bodyPr wrap="square" lIns="0" tIns="0" rIns="0" bIns="0" rtlCol="0" anchor="ctr"/>
          <a:lstStyle/>
          <a:p>
            <a:pPr indent="0" marL="0">
              <a:buNone/>
            </a:pPr>
            <a:r>
              <a:rPr lang="en-US" sz="1900" b="1" dirty="0">
                <a:solidFill>
                  <a:srgbClr val="E8590C"/>
                </a:solidFill>
                <a:latin typeface="Arial" pitchFamily="34" charset="0"/>
                <a:ea typeface="Arial" pitchFamily="34" charset="-122"/>
                <a:cs typeface="Arial" pitchFamily="34" charset="-120"/>
              </a:rPr>
              <a:t>5 événements</a:t>
            </a:r>
            <a:endParaRPr lang="en-US" sz="1900" dirty="0"/>
          </a:p>
        </p:txBody>
      </p:sp>
      <p:sp>
        <p:nvSpPr>
          <p:cNvPr id="13" name="Text 10"/>
          <p:cNvSpPr txBox="1"/>
          <p:nvPr/>
        </p:nvSpPr>
        <p:spPr>
          <a:xfrm>
            <a:off x="461772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Sprint : 2 à 4 semaines</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Sprint Planning : quoi faire</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Daily Scrum : 15 min par jour</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Sprint Review : montrer le résultat</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Rétrospective : mieux travailler</a:t>
            </a:r>
            <a:endParaRPr lang="en-US" sz="1450" dirty="0"/>
          </a:p>
        </p:txBody>
      </p:sp>
      <p:sp>
        <p:nvSpPr>
          <p:cNvPr id="14" name="Shape 11"/>
          <p:cNvSpPr/>
          <p:nvPr/>
        </p:nvSpPr>
        <p:spPr>
          <a:xfrm>
            <a:off x="8046720" y="1783080"/>
            <a:ext cx="3474720" cy="4023360"/>
          </a:xfrm>
          <a:prstGeom prst="roundRect">
            <a:avLst>
              <a:gd name="adj" fmla="val 2105"/>
            </a:avLst>
          </a:prstGeom>
          <a:solidFill>
            <a:srgbClr val="F2F3F5"/>
          </a:solidFill>
          <a:ln w="12700">
            <a:solidFill>
              <a:srgbClr val="F2F3F5"/>
            </a:solidFill>
            <a:prstDash val="solid"/>
          </a:ln>
        </p:spPr>
      </p:sp>
      <p:sp>
        <p:nvSpPr>
          <p:cNvPr id="15" name="Text 12"/>
          <p:cNvSpPr txBox="1"/>
          <p:nvPr/>
        </p:nvSpPr>
        <p:spPr>
          <a:xfrm>
            <a:off x="8321040" y="1920240"/>
            <a:ext cx="2926080" cy="45720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3 artefacts</a:t>
            </a:r>
            <a:endParaRPr lang="en-US" sz="1900" dirty="0"/>
          </a:p>
        </p:txBody>
      </p:sp>
      <p:sp>
        <p:nvSpPr>
          <p:cNvPr id="16" name="Text 13"/>
          <p:cNvSpPr txBox="1"/>
          <p:nvPr/>
        </p:nvSpPr>
        <p:spPr>
          <a:xfrm>
            <a:off x="832104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Product Backlog : tout ce qu'on voudrait, ordonné</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Sprint Backlog : ce qu'on fait ce sprint</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Increment : ce qui est terminé et utilisable</a:t>
            </a:r>
            <a:endParaRPr lang="en-US" sz="1450" dirty="0"/>
          </a:p>
        </p:txBody>
      </p:sp>
      <p:sp>
        <p:nvSpPr>
          <p:cNvPr id="17" name="Text 14"/>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K. Schwaber et J. Sutherland, The Scrum Guide, novembre 2020 (scrumguides.org).</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 USER STORY</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En tant que…, je veux…, afin de…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30</a:t>
            </a:r>
            <a:endParaRPr lang="en-US" sz="1000" dirty="0"/>
          </a:p>
        </p:txBody>
      </p:sp>
      <p:sp>
        <p:nvSpPr>
          <p:cNvPr id="8" name="Shape 5"/>
          <p:cNvSpPr/>
          <p:nvPr/>
        </p:nvSpPr>
        <p:spPr>
          <a:xfrm>
            <a:off x="640080" y="1783080"/>
            <a:ext cx="10911535" cy="1234440"/>
          </a:xfrm>
          <a:prstGeom prst="roundRect">
            <a:avLst>
              <a:gd name="adj" fmla="val 5926"/>
            </a:avLst>
          </a:prstGeom>
          <a:solidFill>
            <a:srgbClr val="F2F3F5"/>
          </a:solidFill>
          <a:ln w="12700">
            <a:solidFill>
              <a:srgbClr val="F2F3F5"/>
            </a:solidFill>
            <a:prstDash val="solid"/>
          </a:ln>
        </p:spPr>
      </p:sp>
      <p:sp>
        <p:nvSpPr>
          <p:cNvPr id="9" name="Text 6"/>
          <p:cNvSpPr txBox="1"/>
          <p:nvPr/>
        </p:nvSpPr>
        <p:spPr>
          <a:xfrm>
            <a:off x="914400" y="1874520"/>
            <a:ext cx="1828800" cy="105156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Déclarant</a:t>
            </a:r>
            <a:endParaRPr lang="en-US" sz="1700" dirty="0"/>
          </a:p>
        </p:txBody>
      </p:sp>
      <p:sp>
        <p:nvSpPr>
          <p:cNvPr id="10" name="Text 7"/>
          <p:cNvSpPr txBox="1"/>
          <p:nvPr/>
        </p:nvSpPr>
        <p:spPr>
          <a:xfrm>
            <a:off x="2743200" y="1874520"/>
            <a:ext cx="5394960" cy="1051560"/>
          </a:xfrm>
          <a:prstGeom prst="rect">
            <a:avLst/>
          </a:prstGeom>
          <a:noFill/>
          <a:ln/>
        </p:spPr>
        <p:txBody>
          <a:bodyPr wrap="square" lIns="0" tIns="0" rIns="0" bIns="0" rtlCol="0" anchor="ctr"/>
          <a:lstStyle/>
          <a:p>
            <a:pPr indent="0" marL="0">
              <a:buNone/>
            </a:pPr>
            <a:r>
              <a:rPr lang="en-US" sz="1500" i="1" dirty="0">
                <a:solidFill>
                  <a:srgbClr val="16181D"/>
                </a:solidFill>
                <a:latin typeface="Calibri" pitchFamily="34" charset="0"/>
                <a:ea typeface="Calibri" pitchFamily="34" charset="-122"/>
                <a:cs typeface="Calibri" pitchFamily="34" charset="-120"/>
              </a:rPr>
              <a:t>En tant que déclarant, je veux signaler un incident afin qu'il soit traité rapidement.</a:t>
            </a:r>
            <a:endParaRPr lang="en-US" sz="1500" dirty="0"/>
          </a:p>
        </p:txBody>
      </p:sp>
      <p:sp>
        <p:nvSpPr>
          <p:cNvPr id="11" name="Text 8"/>
          <p:cNvSpPr txBox="1"/>
          <p:nvPr/>
        </p:nvSpPr>
        <p:spPr>
          <a:xfrm>
            <a:off x="8321040" y="1874520"/>
            <a:ext cx="3063240" cy="105156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Critères : Un titre est obligatoire · l'incident est créé « Open »</a:t>
            </a:r>
            <a:endParaRPr lang="en-US" sz="1300" dirty="0"/>
          </a:p>
        </p:txBody>
      </p:sp>
      <p:sp>
        <p:nvSpPr>
          <p:cNvPr id="12" name="Shape 9"/>
          <p:cNvSpPr/>
          <p:nvPr/>
        </p:nvSpPr>
        <p:spPr>
          <a:xfrm>
            <a:off x="640080" y="3154680"/>
            <a:ext cx="10911535" cy="1234440"/>
          </a:xfrm>
          <a:prstGeom prst="roundRect">
            <a:avLst>
              <a:gd name="adj" fmla="val 5926"/>
            </a:avLst>
          </a:prstGeom>
          <a:solidFill>
            <a:srgbClr val="F2F3F5"/>
          </a:solidFill>
          <a:ln w="12700">
            <a:solidFill>
              <a:srgbClr val="F2F3F5"/>
            </a:solidFill>
            <a:prstDash val="solid"/>
          </a:ln>
        </p:spPr>
      </p:sp>
      <p:sp>
        <p:nvSpPr>
          <p:cNvPr id="13" name="Text 10"/>
          <p:cNvSpPr txBox="1"/>
          <p:nvPr/>
        </p:nvSpPr>
        <p:spPr>
          <a:xfrm>
            <a:off x="914400" y="3246120"/>
            <a:ext cx="1828800" cy="105156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Analyste</a:t>
            </a:r>
            <a:endParaRPr lang="en-US" sz="1700" dirty="0"/>
          </a:p>
        </p:txBody>
      </p:sp>
      <p:sp>
        <p:nvSpPr>
          <p:cNvPr id="14" name="Text 11"/>
          <p:cNvSpPr txBox="1"/>
          <p:nvPr/>
        </p:nvSpPr>
        <p:spPr>
          <a:xfrm>
            <a:off x="2743200" y="3246120"/>
            <a:ext cx="5394960" cy="1051560"/>
          </a:xfrm>
          <a:prstGeom prst="rect">
            <a:avLst/>
          </a:prstGeom>
          <a:noFill/>
          <a:ln/>
        </p:spPr>
        <p:txBody>
          <a:bodyPr wrap="square" lIns="0" tIns="0" rIns="0" bIns="0" rtlCol="0" anchor="ctr"/>
          <a:lstStyle/>
          <a:p>
            <a:pPr indent="0" marL="0">
              <a:buNone/>
            </a:pPr>
            <a:r>
              <a:rPr lang="en-US" sz="1500" i="1" dirty="0">
                <a:solidFill>
                  <a:srgbClr val="16181D"/>
                </a:solidFill>
                <a:latin typeface="Calibri" pitchFamily="34" charset="0"/>
                <a:ea typeface="Calibri" pitchFamily="34" charset="-122"/>
                <a:cs typeface="Calibri" pitchFamily="34" charset="-120"/>
              </a:rPr>
              <a:t>En tant qu'analyste, je veux prendre un incident en charge afin que les autres sachent qu'il est traité.</a:t>
            </a:r>
            <a:endParaRPr lang="en-US" sz="1500" dirty="0"/>
          </a:p>
        </p:txBody>
      </p:sp>
      <p:sp>
        <p:nvSpPr>
          <p:cNvPr id="15" name="Text 12"/>
          <p:cNvSpPr txBox="1"/>
          <p:nvPr/>
        </p:nvSpPr>
        <p:spPr>
          <a:xfrm>
            <a:off x="8321040" y="3246120"/>
            <a:ext cx="3063240" cy="1051560"/>
          </a:xfrm>
          <a:prstGeom prst="rect">
            <a:avLst/>
          </a:prstGeom>
          <a:noFill/>
          <a:ln/>
        </p:spPr>
        <p:txBody>
          <a:bodyPr wrap="square" lIns="0" tIns="0" rIns="0" bIns="0" rtlCol="0" anchor="ctr"/>
          <a:lstStyle/>
          <a:p>
            <a:pPr indent="0" marL="0">
              <a:buNone/>
            </a:pPr>
            <a:r>
              <a:rPr lang="en-US" sz="1300" dirty="0">
                <a:solidFill>
                  <a:srgbClr val="5F6670"/>
                </a:solidFill>
                <a:latin typeface="Calibri" pitchFamily="34" charset="0"/>
                <a:ea typeface="Calibri" pitchFamily="34" charset="-122"/>
                <a:cs typeface="Calibri" pitchFamily="34" charset="-120"/>
              </a:rPr>
              <a:t>Critères : Impossible sans analyste assigné · statut « InProgress »</a:t>
            </a:r>
            <a:endParaRPr lang="en-US" sz="1300" dirty="0"/>
          </a:p>
        </p:txBody>
      </p:sp>
      <p:sp>
        <p:nvSpPr>
          <p:cNvPr id="16" name="Shape 13"/>
          <p:cNvSpPr/>
          <p:nvPr/>
        </p:nvSpPr>
        <p:spPr>
          <a:xfrm>
            <a:off x="640080" y="4526280"/>
            <a:ext cx="10911535" cy="1234440"/>
          </a:xfrm>
          <a:prstGeom prst="roundRect">
            <a:avLst>
              <a:gd name="adj" fmla="val 5926"/>
            </a:avLst>
          </a:prstGeom>
          <a:solidFill>
            <a:srgbClr val="16181D"/>
          </a:solidFill>
          <a:ln w="12700">
            <a:solidFill>
              <a:srgbClr val="16181D"/>
            </a:solidFill>
            <a:prstDash val="solid"/>
          </a:ln>
        </p:spPr>
      </p:sp>
      <p:sp>
        <p:nvSpPr>
          <p:cNvPr id="17" name="Text 14"/>
          <p:cNvSpPr txBox="1"/>
          <p:nvPr/>
        </p:nvSpPr>
        <p:spPr>
          <a:xfrm>
            <a:off x="914400" y="4617720"/>
            <a:ext cx="1828800" cy="105156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Responsable</a:t>
            </a:r>
            <a:endParaRPr lang="en-US" sz="1700" dirty="0"/>
          </a:p>
        </p:txBody>
      </p:sp>
      <p:sp>
        <p:nvSpPr>
          <p:cNvPr id="18" name="Text 15"/>
          <p:cNvSpPr txBox="1"/>
          <p:nvPr/>
        </p:nvSpPr>
        <p:spPr>
          <a:xfrm>
            <a:off x="2743200" y="4617720"/>
            <a:ext cx="5394960" cy="1051560"/>
          </a:xfrm>
          <a:prstGeom prst="rect">
            <a:avLst/>
          </a:prstGeom>
          <a:noFill/>
          <a:ln/>
        </p:spPr>
        <p:txBody>
          <a:bodyPr wrap="square" lIns="0" tIns="0" rIns="0" bIns="0"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En tant que responsable, je veux être alerté des incidents critiques afin de notifier le CCB en moins de 24 h.</a:t>
            </a:r>
            <a:endParaRPr lang="en-US" sz="1500" dirty="0"/>
          </a:p>
        </p:txBody>
      </p:sp>
      <p:sp>
        <p:nvSpPr>
          <p:cNvPr id="19" name="Text 16"/>
          <p:cNvSpPr txBox="1"/>
          <p:nvPr/>
        </p:nvSpPr>
        <p:spPr>
          <a:xfrm>
            <a:off x="8321040" y="4617720"/>
            <a:ext cx="3063240" cy="1051560"/>
          </a:xfrm>
          <a:prstGeom prst="rect">
            <a:avLst/>
          </a:prstGeom>
          <a:noFill/>
          <a:ln/>
        </p:spPr>
        <p:txBody>
          <a:bodyPr wrap="square" lIns="0" tIns="0" rIns="0" bIns="0" rtlCol="0" anchor="ctr"/>
          <a:lstStyle/>
          <a:p>
            <a:pPr indent="0" marL="0">
              <a:buNone/>
            </a:pPr>
            <a:r>
              <a:rPr lang="en-US" sz="1300" dirty="0">
                <a:solidFill>
                  <a:srgbClr val="C9CDD3"/>
                </a:solidFill>
                <a:latin typeface="Calibri" pitchFamily="34" charset="0"/>
                <a:ea typeface="Calibri" pitchFamily="34" charset="-122"/>
                <a:cs typeface="Calibri" pitchFamily="34" charset="-120"/>
              </a:rPr>
              <a:t>Critères : Alerte immédiate pour « Critical » · délai visible</a:t>
            </a:r>
            <a:endParaRPr lang="en-US" sz="1300" dirty="0"/>
          </a:p>
        </p:txBody>
      </p:sp>
      <p:sp>
        <p:nvSpPr>
          <p:cNvPr id="20" name="Text 17"/>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Format attribué à l'équipe Connextra (2001) ; M. Cohn, User Stories Applied, Addison-Wesley, 2004.</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TABLEAU</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 tableau du sprint : voir où en est chaque story</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31</a:t>
            </a:r>
            <a:endParaRPr lang="en-US" sz="1000" dirty="0"/>
          </a:p>
        </p:txBody>
      </p:sp>
      <p:sp>
        <p:nvSpPr>
          <p:cNvPr id="8" name="Shape 5"/>
          <p:cNvSpPr/>
          <p:nvPr/>
        </p:nvSpPr>
        <p:spPr>
          <a:xfrm>
            <a:off x="640080" y="1783080"/>
            <a:ext cx="2606040" cy="4023360"/>
          </a:xfrm>
          <a:prstGeom prst="roundRect">
            <a:avLst>
              <a:gd name="adj" fmla="val 2807"/>
            </a:avLst>
          </a:prstGeom>
          <a:solidFill>
            <a:srgbClr val="F2F3F5"/>
          </a:solidFill>
          <a:ln w="12700">
            <a:solidFill>
              <a:srgbClr val="F2F3F5"/>
            </a:solidFill>
            <a:prstDash val="solid"/>
          </a:ln>
        </p:spPr>
      </p:sp>
      <p:sp>
        <p:nvSpPr>
          <p:cNvPr id="9" name="Text 6"/>
          <p:cNvSpPr txBox="1"/>
          <p:nvPr/>
        </p:nvSpPr>
        <p:spPr>
          <a:xfrm>
            <a:off x="822960" y="1874520"/>
            <a:ext cx="2240280"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À faire</a:t>
            </a:r>
            <a:endParaRPr lang="en-US" sz="1700" dirty="0"/>
          </a:p>
        </p:txBody>
      </p:sp>
      <p:sp>
        <p:nvSpPr>
          <p:cNvPr id="10" name="Shape 7"/>
          <p:cNvSpPr/>
          <p:nvPr/>
        </p:nvSpPr>
        <p:spPr>
          <a:xfrm>
            <a:off x="822960" y="2468880"/>
            <a:ext cx="2240280" cy="868680"/>
          </a:xfrm>
          <a:prstGeom prst="rect">
            <a:avLst/>
          </a:prstGeom>
          <a:solidFill>
            <a:srgbClr val="FFFFFF"/>
          </a:solidFill>
          <a:ln w="12700">
            <a:solidFill>
              <a:srgbClr val="D9DCE1"/>
            </a:solidFill>
            <a:prstDash val="solid"/>
          </a:ln>
          <a:effectLst>
            <a:outerShdw sx="100000" sy="100000" kx="0" ky="0" algn="bl" rotWithShape="0" blurRad="25400" dist="12700" dir="2700000">
              <a:srgbClr val="000000">
                <a:alpha val="15000"/>
              </a:srgbClr>
            </a:outerShdw>
          </a:effectLst>
        </p:spPr>
      </p:sp>
      <p:sp>
        <p:nvSpPr>
          <p:cNvPr id="11" name="Text 8"/>
          <p:cNvSpPr txBox="1"/>
          <p:nvPr/>
        </p:nvSpPr>
        <p:spPr>
          <a:xfrm>
            <a:off x="914400" y="2514600"/>
            <a:ext cx="2057400" cy="77724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Notifier le CCB sous 24 h</a:t>
            </a:r>
            <a:endParaRPr lang="en-US" sz="1350" dirty="0"/>
          </a:p>
        </p:txBody>
      </p:sp>
      <p:sp>
        <p:nvSpPr>
          <p:cNvPr id="12" name="Shape 9"/>
          <p:cNvSpPr/>
          <p:nvPr/>
        </p:nvSpPr>
        <p:spPr>
          <a:xfrm>
            <a:off x="822960" y="3520440"/>
            <a:ext cx="2240280" cy="868680"/>
          </a:xfrm>
          <a:prstGeom prst="rect">
            <a:avLst/>
          </a:prstGeom>
          <a:solidFill>
            <a:srgbClr val="FFFFFF"/>
          </a:solidFill>
          <a:ln w="12700">
            <a:solidFill>
              <a:srgbClr val="D9DCE1"/>
            </a:solidFill>
            <a:prstDash val="solid"/>
          </a:ln>
          <a:effectLst>
            <a:outerShdw sx="100000" sy="100000" kx="0" ky="0" algn="bl" rotWithShape="0" blurRad="25400" dist="12700" dir="2700000">
              <a:srgbClr val="000000">
                <a:alpha val="15000"/>
              </a:srgbClr>
            </a:outerShdw>
          </a:effectLst>
        </p:spPr>
      </p:sp>
      <p:sp>
        <p:nvSpPr>
          <p:cNvPr id="13" name="Text 10"/>
          <p:cNvSpPr txBox="1"/>
          <p:nvPr/>
        </p:nvSpPr>
        <p:spPr>
          <a:xfrm>
            <a:off x="914400" y="3566160"/>
            <a:ext cx="2057400" cy="77724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Filtrer les incidents par gravité</a:t>
            </a:r>
            <a:endParaRPr lang="en-US" sz="1350" dirty="0"/>
          </a:p>
        </p:txBody>
      </p:sp>
      <p:sp>
        <p:nvSpPr>
          <p:cNvPr id="14" name="Shape 11"/>
          <p:cNvSpPr/>
          <p:nvPr/>
        </p:nvSpPr>
        <p:spPr>
          <a:xfrm>
            <a:off x="3429000" y="1783080"/>
            <a:ext cx="2606040" cy="4023360"/>
          </a:xfrm>
          <a:prstGeom prst="roundRect">
            <a:avLst>
              <a:gd name="adj" fmla="val 2807"/>
            </a:avLst>
          </a:prstGeom>
          <a:solidFill>
            <a:srgbClr val="F2F3F5"/>
          </a:solidFill>
          <a:ln w="12700">
            <a:solidFill>
              <a:srgbClr val="F2F3F5"/>
            </a:solidFill>
            <a:prstDash val="solid"/>
          </a:ln>
        </p:spPr>
      </p:sp>
      <p:sp>
        <p:nvSpPr>
          <p:cNvPr id="15" name="Text 12"/>
          <p:cNvSpPr txBox="1"/>
          <p:nvPr/>
        </p:nvSpPr>
        <p:spPr>
          <a:xfrm>
            <a:off x="3611880" y="1874520"/>
            <a:ext cx="2240280"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En cours</a:t>
            </a:r>
            <a:endParaRPr lang="en-US" sz="1700" dirty="0"/>
          </a:p>
        </p:txBody>
      </p:sp>
      <p:sp>
        <p:nvSpPr>
          <p:cNvPr id="16" name="Shape 13"/>
          <p:cNvSpPr/>
          <p:nvPr/>
        </p:nvSpPr>
        <p:spPr>
          <a:xfrm>
            <a:off x="3611880" y="2468880"/>
            <a:ext cx="2240280" cy="868680"/>
          </a:xfrm>
          <a:prstGeom prst="rect">
            <a:avLst/>
          </a:prstGeom>
          <a:solidFill>
            <a:srgbClr val="FFFFFF"/>
          </a:solidFill>
          <a:ln w="12700">
            <a:solidFill>
              <a:srgbClr val="D9DCE1"/>
            </a:solidFill>
            <a:prstDash val="solid"/>
          </a:ln>
          <a:effectLst>
            <a:outerShdw sx="100000" sy="100000" kx="0" ky="0" algn="bl" rotWithShape="0" blurRad="25400" dist="12700" dir="2700000">
              <a:srgbClr val="000000">
                <a:alpha val="15000"/>
              </a:srgbClr>
            </a:outerShdw>
          </a:effectLst>
        </p:spPr>
      </p:sp>
      <p:sp>
        <p:nvSpPr>
          <p:cNvPr id="17" name="Text 14"/>
          <p:cNvSpPr txBox="1"/>
          <p:nvPr/>
        </p:nvSpPr>
        <p:spPr>
          <a:xfrm>
            <a:off x="3703320" y="2514600"/>
            <a:ext cx="2057400" cy="77724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Commenter un incident</a:t>
            </a:r>
            <a:endParaRPr lang="en-US" sz="1350" dirty="0"/>
          </a:p>
        </p:txBody>
      </p:sp>
      <p:sp>
        <p:nvSpPr>
          <p:cNvPr id="18" name="Shape 15"/>
          <p:cNvSpPr/>
          <p:nvPr/>
        </p:nvSpPr>
        <p:spPr>
          <a:xfrm>
            <a:off x="6217920" y="1783080"/>
            <a:ext cx="2606040" cy="4023360"/>
          </a:xfrm>
          <a:prstGeom prst="roundRect">
            <a:avLst>
              <a:gd name="adj" fmla="val 2807"/>
            </a:avLst>
          </a:prstGeom>
          <a:solidFill>
            <a:srgbClr val="F2F3F5"/>
          </a:solidFill>
          <a:ln w="12700">
            <a:solidFill>
              <a:srgbClr val="F2F3F5"/>
            </a:solidFill>
            <a:prstDash val="solid"/>
          </a:ln>
        </p:spPr>
      </p:sp>
      <p:sp>
        <p:nvSpPr>
          <p:cNvPr id="19" name="Text 16"/>
          <p:cNvSpPr txBox="1"/>
          <p:nvPr/>
        </p:nvSpPr>
        <p:spPr>
          <a:xfrm>
            <a:off x="6400800" y="1874520"/>
            <a:ext cx="2240280" cy="457200"/>
          </a:xfrm>
          <a:prstGeom prst="rect">
            <a:avLst/>
          </a:prstGeom>
          <a:noFill/>
          <a:ln/>
        </p:spPr>
        <p:txBody>
          <a:bodyPr wrap="square" lIns="0" tIns="0" rIns="0" bIns="0" rtlCol="0" anchor="ctr"/>
          <a:lstStyle/>
          <a:p>
            <a:pPr indent="0" marL="0">
              <a:buNone/>
            </a:pPr>
            <a:r>
              <a:rPr lang="en-US" sz="1700" b="1" dirty="0">
                <a:solidFill>
                  <a:srgbClr val="E8590C"/>
                </a:solidFill>
                <a:latin typeface="Arial" pitchFamily="34" charset="0"/>
                <a:ea typeface="Arial" pitchFamily="34" charset="-122"/>
                <a:cs typeface="Arial" pitchFamily="34" charset="-120"/>
              </a:rPr>
              <a:t>En revue</a:t>
            </a:r>
            <a:endParaRPr lang="en-US" sz="1700" dirty="0"/>
          </a:p>
        </p:txBody>
      </p:sp>
      <p:sp>
        <p:nvSpPr>
          <p:cNvPr id="20" name="Shape 17"/>
          <p:cNvSpPr/>
          <p:nvPr/>
        </p:nvSpPr>
        <p:spPr>
          <a:xfrm>
            <a:off x="6400800" y="2468880"/>
            <a:ext cx="2240280" cy="868680"/>
          </a:xfrm>
          <a:prstGeom prst="rect">
            <a:avLst/>
          </a:prstGeom>
          <a:solidFill>
            <a:srgbClr val="FFFFFF"/>
          </a:solidFill>
          <a:ln w="12700">
            <a:solidFill>
              <a:srgbClr val="D9DCE1"/>
            </a:solidFill>
            <a:prstDash val="solid"/>
          </a:ln>
          <a:effectLst>
            <a:outerShdw sx="100000" sy="100000" kx="0" ky="0" algn="bl" rotWithShape="0" blurRad="25400" dist="12700" dir="2700000">
              <a:srgbClr val="000000">
                <a:alpha val="15000"/>
              </a:srgbClr>
            </a:outerShdw>
          </a:effectLst>
        </p:spPr>
      </p:sp>
      <p:sp>
        <p:nvSpPr>
          <p:cNvPr id="21" name="Text 18"/>
          <p:cNvSpPr txBox="1"/>
          <p:nvPr/>
        </p:nvSpPr>
        <p:spPr>
          <a:xfrm>
            <a:off x="6492240" y="2514600"/>
            <a:ext cx="2057400" cy="77724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Assigner un analyste · PR #12</a:t>
            </a:r>
            <a:endParaRPr lang="en-US" sz="1350" dirty="0"/>
          </a:p>
        </p:txBody>
      </p:sp>
      <p:sp>
        <p:nvSpPr>
          <p:cNvPr id="22" name="Shape 19"/>
          <p:cNvSpPr/>
          <p:nvPr/>
        </p:nvSpPr>
        <p:spPr>
          <a:xfrm>
            <a:off x="9006840" y="1783080"/>
            <a:ext cx="2606040" cy="4023360"/>
          </a:xfrm>
          <a:prstGeom prst="roundRect">
            <a:avLst>
              <a:gd name="adj" fmla="val 2807"/>
            </a:avLst>
          </a:prstGeom>
          <a:solidFill>
            <a:srgbClr val="F2F3F5"/>
          </a:solidFill>
          <a:ln w="12700">
            <a:solidFill>
              <a:srgbClr val="F2F3F5"/>
            </a:solidFill>
            <a:prstDash val="solid"/>
          </a:ln>
        </p:spPr>
      </p:sp>
      <p:sp>
        <p:nvSpPr>
          <p:cNvPr id="23" name="Text 20"/>
          <p:cNvSpPr txBox="1"/>
          <p:nvPr/>
        </p:nvSpPr>
        <p:spPr>
          <a:xfrm>
            <a:off x="9189720" y="1874520"/>
            <a:ext cx="2240280" cy="45720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Terminé</a:t>
            </a:r>
            <a:endParaRPr lang="en-US" sz="1700" dirty="0"/>
          </a:p>
        </p:txBody>
      </p:sp>
      <p:sp>
        <p:nvSpPr>
          <p:cNvPr id="24" name="Shape 21"/>
          <p:cNvSpPr/>
          <p:nvPr/>
        </p:nvSpPr>
        <p:spPr>
          <a:xfrm>
            <a:off x="9189720" y="2468880"/>
            <a:ext cx="2240280" cy="868680"/>
          </a:xfrm>
          <a:prstGeom prst="rect">
            <a:avLst/>
          </a:prstGeom>
          <a:solidFill>
            <a:srgbClr val="FFFFFF"/>
          </a:solidFill>
          <a:ln w="12700">
            <a:solidFill>
              <a:srgbClr val="D9DCE1"/>
            </a:solidFill>
            <a:prstDash val="solid"/>
          </a:ln>
          <a:effectLst>
            <a:outerShdw sx="100000" sy="100000" kx="0" ky="0" algn="bl" rotWithShape="0" blurRad="25400" dist="12700" dir="2700000">
              <a:srgbClr val="000000">
                <a:alpha val="15000"/>
              </a:srgbClr>
            </a:outerShdw>
          </a:effectLst>
        </p:spPr>
      </p:sp>
      <p:sp>
        <p:nvSpPr>
          <p:cNvPr id="25" name="Text 22"/>
          <p:cNvSpPr txBox="1"/>
          <p:nvPr/>
        </p:nvSpPr>
        <p:spPr>
          <a:xfrm>
            <a:off x="9281160" y="2514600"/>
            <a:ext cx="2057400" cy="77724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Signaler un incident</a:t>
            </a:r>
            <a:endParaRPr lang="en-US" sz="1350" dirty="0"/>
          </a:p>
        </p:txBody>
      </p:sp>
      <p:sp>
        <p:nvSpPr>
          <p:cNvPr id="26" name="Shape 23"/>
          <p:cNvSpPr/>
          <p:nvPr/>
        </p:nvSpPr>
        <p:spPr>
          <a:xfrm>
            <a:off x="9189720" y="3520440"/>
            <a:ext cx="2240280" cy="868680"/>
          </a:xfrm>
          <a:prstGeom prst="rect">
            <a:avLst/>
          </a:prstGeom>
          <a:solidFill>
            <a:srgbClr val="FFFFFF"/>
          </a:solidFill>
          <a:ln w="12700">
            <a:solidFill>
              <a:srgbClr val="D9DCE1"/>
            </a:solidFill>
            <a:prstDash val="solid"/>
          </a:ln>
          <a:effectLst>
            <a:outerShdw sx="100000" sy="100000" kx="0" ky="0" algn="bl" rotWithShape="0" blurRad="25400" dist="12700" dir="2700000">
              <a:srgbClr val="000000">
                <a:alpha val="15000"/>
              </a:srgbClr>
            </a:outerShdw>
          </a:effectLst>
        </p:spPr>
      </p:sp>
      <p:sp>
        <p:nvSpPr>
          <p:cNvPr id="27" name="Text 24"/>
          <p:cNvSpPr txBox="1"/>
          <p:nvPr/>
        </p:nvSpPr>
        <p:spPr>
          <a:xfrm>
            <a:off x="9281160" y="3566160"/>
            <a:ext cx="2057400" cy="777240"/>
          </a:xfrm>
          <a:prstGeom prst="rect">
            <a:avLst/>
          </a:prstGeom>
          <a:noFill/>
          <a:ln/>
        </p:spPr>
        <p:txBody>
          <a:bodyPr wrap="square" lIns="0" tIns="0" rIns="0" bIns="0" rtlCol="0" anchor="ctr"/>
          <a:lstStyle/>
          <a:p>
            <a:pPr indent="0" marL="0">
              <a:buNone/>
            </a:pPr>
            <a:r>
              <a:rPr lang="en-US" sz="1350" dirty="0">
                <a:solidFill>
                  <a:srgbClr val="16181D"/>
                </a:solidFill>
                <a:latin typeface="Calibri" pitchFamily="34" charset="0"/>
                <a:ea typeface="Calibri" pitchFamily="34" charset="-122"/>
                <a:cs typeface="Calibri" pitchFamily="34" charset="-120"/>
              </a:rPr>
              <a:t>Clôturer un incident</a:t>
            </a:r>
            <a:endParaRPr lang="en-US" sz="1350" dirty="0"/>
          </a:p>
        </p:txBody>
      </p:sp>
      <p:sp>
        <p:nvSpPr>
          <p:cNvPr id="28" name="Text 25"/>
          <p:cNvSpPr txBox="1"/>
          <p:nvPr/>
        </p:nvSpPr>
        <p:spPr>
          <a:xfrm>
            <a:off x="640080" y="5897880"/>
            <a:ext cx="10911535" cy="36576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 En revue » = la pull request. Rien n'est terminé sans relecture.</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463040"/>
            <a:ext cx="2743200" cy="1280160"/>
          </a:xfrm>
          <a:prstGeom prst="rect">
            <a:avLst/>
          </a:prstGeom>
          <a:noFill/>
          <a:ln/>
        </p:spPr>
        <p:txBody>
          <a:bodyPr wrap="square" lIns="0" tIns="0" rIns="0" bIns="0" rtlCol="0" anchor="ctr"/>
          <a:lstStyle/>
          <a:p>
            <a:pPr indent="0" marL="0">
              <a:buNone/>
            </a:pPr>
            <a:r>
              <a:rPr lang="en-US" sz="9600" b="1" dirty="0">
                <a:solidFill>
                  <a:srgbClr val="E8590C"/>
                </a:solidFill>
                <a:latin typeface="Arial" pitchFamily="34" charset="0"/>
                <a:ea typeface="Arial" pitchFamily="34" charset="-122"/>
                <a:cs typeface="Arial" pitchFamily="34" charset="-120"/>
              </a:rPr>
              <a:t>06</a:t>
            </a:r>
            <a:endParaRPr lang="en-US" sz="9600" dirty="0"/>
          </a:p>
        </p:txBody>
      </p:sp>
      <p:sp>
        <p:nvSpPr>
          <p:cNvPr id="3" name="Text 1"/>
          <p:cNvSpPr txBox="1"/>
          <p:nvPr/>
        </p:nvSpPr>
        <p:spPr>
          <a:xfrm>
            <a:off x="640080" y="2834640"/>
            <a:ext cx="10911535"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Le Livrable 1</a:t>
            </a:r>
            <a:endParaRPr lang="en-US" sz="4400" dirty="0"/>
          </a:p>
        </p:txBody>
      </p:sp>
      <p:sp>
        <p:nvSpPr>
          <p:cNvPr id="4" name="Text 2"/>
          <p:cNvSpPr txBox="1"/>
          <p:nvPr/>
        </p:nvSpPr>
        <p:spPr>
          <a:xfrm>
            <a:off x="640080" y="3840480"/>
            <a:ext cx="10911535" cy="73152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Le domaine IncidentHub, versionné avec Git</a:t>
            </a:r>
            <a:endParaRPr lang="en-US" sz="20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32</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LIVRABLE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Le domaine IncidentHub</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33</a:t>
            </a:r>
            <a:endParaRPr lang="en-US" sz="1000" dirty="0"/>
          </a:p>
        </p:txBody>
      </p:sp>
      <p:sp>
        <p:nvSpPr>
          <p:cNvPr id="8" name="Shape 5"/>
          <p:cNvSpPr/>
          <p:nvPr/>
        </p:nvSpPr>
        <p:spPr>
          <a:xfrm>
            <a:off x="640080" y="1783080"/>
            <a:ext cx="3474720" cy="4023360"/>
          </a:xfrm>
          <a:prstGeom prst="roundRect">
            <a:avLst>
              <a:gd name="adj" fmla="val 2105"/>
            </a:avLst>
          </a:prstGeom>
          <a:solidFill>
            <a:srgbClr val="F2F3F5"/>
          </a:solidFill>
          <a:ln w="12700">
            <a:solidFill>
              <a:srgbClr val="F2F3F5"/>
            </a:solidFill>
            <a:prstDash val="solid"/>
          </a:ln>
        </p:spPr>
      </p:sp>
      <p:sp>
        <p:nvSpPr>
          <p:cNvPr id="9" name="Text 6"/>
          <p:cNvSpPr txBox="1"/>
          <p:nvPr/>
        </p:nvSpPr>
        <p:spPr>
          <a:xfrm>
            <a:off x="914400" y="1920240"/>
            <a:ext cx="292608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Le code</a:t>
            </a:r>
            <a:endParaRPr lang="en-US" sz="2000" dirty="0"/>
          </a:p>
        </p:txBody>
      </p:sp>
      <p:sp>
        <p:nvSpPr>
          <p:cNvPr id="10" name="Text 7"/>
          <p:cNvSpPr txBox="1"/>
          <p:nvPr/>
        </p:nvSpPr>
        <p:spPr>
          <a:xfrm>
            <a:off x="91440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Incident et ses règles (S1)</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User abstraite, Reporter, Analyst, Manager (S2)</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Comment en composition (S2)</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INotifier et une implémentation (S2)</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Program.cs : un scénario complet et un cas refusé</a:t>
            </a:r>
            <a:endParaRPr lang="en-US" sz="1450" dirty="0"/>
          </a:p>
        </p:txBody>
      </p:sp>
      <p:sp>
        <p:nvSpPr>
          <p:cNvPr id="11" name="Shape 8"/>
          <p:cNvSpPr/>
          <p:nvPr/>
        </p:nvSpPr>
        <p:spPr>
          <a:xfrm>
            <a:off x="4343400" y="1783080"/>
            <a:ext cx="3474720" cy="4023360"/>
          </a:xfrm>
          <a:prstGeom prst="roundRect">
            <a:avLst>
              <a:gd name="adj" fmla="val 2105"/>
            </a:avLst>
          </a:prstGeom>
          <a:solidFill>
            <a:srgbClr val="F2F3F5"/>
          </a:solidFill>
          <a:ln w="12700">
            <a:solidFill>
              <a:srgbClr val="F2F3F5"/>
            </a:solidFill>
            <a:prstDash val="solid"/>
          </a:ln>
        </p:spPr>
      </p:sp>
      <p:sp>
        <p:nvSpPr>
          <p:cNvPr id="12" name="Text 9"/>
          <p:cNvSpPr txBox="1"/>
          <p:nvPr/>
        </p:nvSpPr>
        <p:spPr>
          <a:xfrm>
            <a:off x="4617720" y="1920240"/>
            <a:ext cx="292608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La documentation</a:t>
            </a:r>
            <a:endParaRPr lang="en-US" sz="2000" dirty="0"/>
          </a:p>
        </p:txBody>
      </p:sp>
      <p:sp>
        <p:nvSpPr>
          <p:cNvPr id="13" name="Text 10"/>
          <p:cNvSpPr txBox="1"/>
          <p:nvPr/>
        </p:nvSpPr>
        <p:spPr>
          <a:xfrm>
            <a:off x="461772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docs/modele.md : diagramme de classes Mermaid, cohérent avec le code</a:t>
            </a:r>
            <a:endParaRPr lang="en-US" sz="1450" dirty="0"/>
          </a:p>
          <a:p>
            <a:pPr marL="228600" indent="-228600">
              <a:spcAft>
                <a:spcPts val="800"/>
              </a:spcAft>
              <a:buSzPct val="100000"/>
              <a:buChar char="•"/>
            </a:pPr>
            <a:r>
              <a:rPr lang="en-US" sz="1450" dirty="0">
                <a:solidFill>
                  <a:srgbClr val="16181D"/>
                </a:solidFill>
                <a:latin typeface="Calibri" pitchFamily="34" charset="0"/>
                <a:ea typeface="Calibri" pitchFamily="34" charset="-122"/>
                <a:cs typeface="Calibri" pitchFamily="34" charset="-120"/>
              </a:rPr>
              <a:t>AI-LOG.md : usages de l'IA</a:t>
            </a:r>
            <a:endParaRPr lang="en-US" sz="1450" dirty="0"/>
          </a:p>
        </p:txBody>
      </p:sp>
      <p:sp>
        <p:nvSpPr>
          <p:cNvPr id="14" name="Shape 11"/>
          <p:cNvSpPr/>
          <p:nvPr/>
        </p:nvSpPr>
        <p:spPr>
          <a:xfrm>
            <a:off x="8046720" y="1783080"/>
            <a:ext cx="3474720" cy="4023360"/>
          </a:xfrm>
          <a:prstGeom prst="roundRect">
            <a:avLst>
              <a:gd name="adj" fmla="val 2105"/>
            </a:avLst>
          </a:prstGeom>
          <a:solidFill>
            <a:srgbClr val="16181D"/>
          </a:solidFill>
          <a:ln w="12700">
            <a:solidFill>
              <a:srgbClr val="16181D"/>
            </a:solidFill>
            <a:prstDash val="solid"/>
          </a:ln>
        </p:spPr>
      </p:sp>
      <p:sp>
        <p:nvSpPr>
          <p:cNvPr id="15" name="Text 12"/>
          <p:cNvSpPr txBox="1"/>
          <p:nvPr/>
        </p:nvSpPr>
        <p:spPr>
          <a:xfrm>
            <a:off x="8321040" y="1920240"/>
            <a:ext cx="2926080" cy="45720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Git</a:t>
            </a:r>
            <a:endParaRPr lang="en-US" sz="2000" dirty="0"/>
          </a:p>
        </p:txBody>
      </p:sp>
      <p:sp>
        <p:nvSpPr>
          <p:cNvPr id="16" name="Text 13"/>
          <p:cNvSpPr txBox="1"/>
          <p:nvPr/>
        </p:nvSpPr>
        <p:spPr>
          <a:xfrm>
            <a:off x="8321040" y="251460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Un dépôt avec la solution à la racine</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Des commits réguliers</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Messages au format Conventional Commits</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Remise : lien du dépôt via Forms</a:t>
            </a:r>
            <a:endParaRPr lang="en-US" sz="1450" dirty="0"/>
          </a:p>
          <a:p>
            <a:pPr marL="228600" indent="-228600">
              <a:spcAft>
                <a:spcPts val="800"/>
              </a:spcAft>
              <a:buSzPct val="100000"/>
              <a:buChar char="•"/>
            </a:pPr>
            <a:r>
              <a:rPr lang="en-US" sz="1450" dirty="0">
                <a:solidFill>
                  <a:srgbClr val="FFFFFF"/>
                </a:solidFill>
                <a:latin typeface="Calibri" pitchFamily="34" charset="0"/>
                <a:ea typeface="Calibri" pitchFamily="34" charset="-122"/>
                <a:cs typeface="Calibri" pitchFamily="34" charset="-120"/>
              </a:rPr>
              <a:t>Date : [DATE À FIXER]</a:t>
            </a:r>
            <a:endParaRPr lang="en-US" sz="14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LIVRABLE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Deux parcours, un même contrat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34</a:t>
            </a:r>
            <a:endParaRPr lang="en-US" sz="1000" dirty="0"/>
          </a:p>
        </p:txBody>
      </p:sp>
      <p:sp>
        <p:nvSpPr>
          <p:cNvPr id="8" name="Shape 5"/>
          <p:cNvSpPr/>
          <p:nvPr/>
        </p:nvSpPr>
        <p:spPr>
          <a:xfrm>
            <a:off x="640080" y="1783080"/>
            <a:ext cx="5303520" cy="3108960"/>
          </a:xfrm>
          <a:prstGeom prst="roundRect">
            <a:avLst>
              <a:gd name="adj" fmla="val 2353"/>
            </a:avLst>
          </a:prstGeom>
          <a:solidFill>
            <a:srgbClr val="F2F3F5"/>
          </a:solidFill>
          <a:ln w="12700">
            <a:solidFill>
              <a:srgbClr val="F2F3F5"/>
            </a:solidFill>
            <a:prstDash val="solid"/>
          </a:ln>
        </p:spPr>
      </p:sp>
      <p:sp>
        <p:nvSpPr>
          <p:cNvPr id="9" name="Shape 6"/>
          <p:cNvSpPr/>
          <p:nvPr/>
        </p:nvSpPr>
        <p:spPr>
          <a:xfrm>
            <a:off x="960120" y="2011680"/>
            <a:ext cx="320040" cy="320040"/>
          </a:xfrm>
          <a:prstGeom prst="ellipse">
            <a:avLst/>
          </a:prstGeom>
          <a:solidFill>
            <a:srgbClr val="2F9E44"/>
          </a:solidFill>
          <a:ln w="12700">
            <a:solidFill>
              <a:srgbClr val="2F9E44"/>
            </a:solidFill>
            <a:prstDash val="solid"/>
          </a:ln>
        </p:spPr>
      </p:sp>
      <p:sp>
        <p:nvSpPr>
          <p:cNvPr id="10" name="Text 7"/>
          <p:cNvSpPr txBox="1"/>
          <p:nvPr/>
        </p:nvSpPr>
        <p:spPr>
          <a:xfrm>
            <a:off x="1417320" y="1938528"/>
            <a:ext cx="4114800" cy="457200"/>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Apprendre</a:t>
            </a:r>
            <a:endParaRPr lang="en-US" sz="2200" dirty="0"/>
          </a:p>
        </p:txBody>
      </p:sp>
      <p:sp>
        <p:nvSpPr>
          <p:cNvPr id="11" name="Text 8"/>
          <p:cNvSpPr txBox="1"/>
          <p:nvPr/>
        </p:nvSpPr>
        <p:spPr>
          <a:xfrm>
            <a:off x="960120" y="2560320"/>
            <a:ext cx="4663440" cy="2286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Point de départ : le template</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Des TODO numérotés, étape par étape</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Après chaque étape : lancer le programme, faire un commit</a:t>
            </a:r>
            <a:endParaRPr lang="en-US" sz="1600" dirty="0"/>
          </a:p>
        </p:txBody>
      </p:sp>
      <p:sp>
        <p:nvSpPr>
          <p:cNvPr id="12" name="Shape 9"/>
          <p:cNvSpPr/>
          <p:nvPr/>
        </p:nvSpPr>
        <p:spPr>
          <a:xfrm>
            <a:off x="6217920" y="1783080"/>
            <a:ext cx="5303520" cy="3108960"/>
          </a:xfrm>
          <a:prstGeom prst="roundRect">
            <a:avLst>
              <a:gd name="adj" fmla="val 2353"/>
            </a:avLst>
          </a:prstGeom>
          <a:solidFill>
            <a:srgbClr val="F2F3F5"/>
          </a:solidFill>
          <a:ln w="12700">
            <a:solidFill>
              <a:srgbClr val="F2F3F5"/>
            </a:solidFill>
            <a:prstDash val="solid"/>
          </a:ln>
        </p:spPr>
      </p:sp>
      <p:sp>
        <p:nvSpPr>
          <p:cNvPr id="13" name="Shape 10"/>
          <p:cNvSpPr/>
          <p:nvPr/>
        </p:nvSpPr>
        <p:spPr>
          <a:xfrm>
            <a:off x="6537960" y="2011680"/>
            <a:ext cx="320040" cy="320040"/>
          </a:xfrm>
          <a:prstGeom prst="ellipse">
            <a:avLst/>
          </a:prstGeom>
          <a:solidFill>
            <a:srgbClr val="1C63B7"/>
          </a:solidFill>
          <a:ln w="12700">
            <a:solidFill>
              <a:srgbClr val="1C63B7"/>
            </a:solidFill>
            <a:prstDash val="solid"/>
          </a:ln>
        </p:spPr>
      </p:sp>
      <p:sp>
        <p:nvSpPr>
          <p:cNvPr id="14" name="Text 11"/>
          <p:cNvSpPr txBox="1"/>
          <p:nvPr/>
        </p:nvSpPr>
        <p:spPr>
          <a:xfrm>
            <a:off x="6995160" y="1938528"/>
            <a:ext cx="4114800" cy="457200"/>
          </a:xfrm>
          <a:prstGeom prst="rect">
            <a:avLst/>
          </a:prstGeom>
          <a:noFill/>
          <a:ln/>
        </p:spPr>
        <p:txBody>
          <a:bodyPr wrap="square" lIns="0" tIns="0" rIns="0" bIns="0" rtlCol="0" anchor="ctr"/>
          <a:lstStyle/>
          <a:p>
            <a:pPr indent="0" marL="0">
              <a:buNone/>
            </a:pPr>
            <a:r>
              <a:rPr lang="en-US" sz="2200" b="1" dirty="0">
                <a:solidFill>
                  <a:srgbClr val="16181D"/>
                </a:solidFill>
                <a:latin typeface="Arial" pitchFamily="34" charset="0"/>
                <a:ea typeface="Arial" pitchFamily="34" charset="-122"/>
                <a:cs typeface="Arial" pitchFamily="34" charset="-120"/>
              </a:rPr>
              <a:t>Approfondir</a:t>
            </a:r>
            <a:endParaRPr lang="en-US" sz="2200" dirty="0"/>
          </a:p>
        </p:txBody>
      </p:sp>
      <p:sp>
        <p:nvSpPr>
          <p:cNvPr id="15" name="Text 12"/>
          <p:cNvSpPr txBox="1"/>
          <p:nvPr/>
        </p:nvSpPr>
        <p:spPr>
          <a:xfrm>
            <a:off x="6537960" y="2560320"/>
            <a:ext cx="4663440" cy="22860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Point de départ : une solution vide</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Le même contrat (noms des classes et méthodes)</a:t>
            </a:r>
            <a:endParaRPr lang="en-US" sz="1600" dirty="0"/>
          </a:p>
          <a:p>
            <a:pPr marL="228600" indent="-228600">
              <a:spcAft>
                <a:spcPts val="800"/>
              </a:spcAft>
              <a:buSzPct val="100000"/>
              <a:buChar char="•"/>
            </a:pPr>
            <a:r>
              <a:rPr lang="en-US" sz="1600" dirty="0">
                <a:solidFill>
                  <a:srgbClr val="16181D"/>
                </a:solidFill>
                <a:latin typeface="Calibri" pitchFamily="34" charset="0"/>
                <a:ea typeface="Calibri" pitchFamily="34" charset="-122"/>
                <a:cs typeface="Calibri" pitchFamily="34" charset="-120"/>
              </a:rPr>
              <a:t>Une extension : historique des états, filtres LINQ, ou notification dans un fichier</a:t>
            </a:r>
            <a:endParaRPr lang="en-US" sz="1600" dirty="0"/>
          </a:p>
        </p:txBody>
      </p:sp>
      <p:sp>
        <p:nvSpPr>
          <p:cNvPr id="16" name="Shape 13"/>
          <p:cNvSpPr/>
          <p:nvPr/>
        </p:nvSpPr>
        <p:spPr>
          <a:xfrm>
            <a:off x="640080" y="5120640"/>
            <a:ext cx="10911535" cy="777240"/>
          </a:xfrm>
          <a:prstGeom prst="roundRect">
            <a:avLst>
              <a:gd name="adj" fmla="val 9412"/>
            </a:avLst>
          </a:prstGeom>
          <a:solidFill>
            <a:srgbClr val="16181D"/>
          </a:solidFill>
          <a:ln w="12700">
            <a:solidFill>
              <a:srgbClr val="16181D"/>
            </a:solidFill>
            <a:prstDash val="solid"/>
          </a:ln>
        </p:spPr>
      </p:sp>
      <p:sp>
        <p:nvSpPr>
          <p:cNvPr id="17" name="Text 14"/>
          <p:cNvSpPr txBox="1"/>
          <p:nvPr/>
        </p:nvSpPr>
        <p:spPr>
          <a:xfrm>
            <a:off x="914400" y="5120640"/>
            <a:ext cx="10362895" cy="7772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La vérification est automatique à la correction : rien d'autre à lancer de votre côté.</a:t>
            </a:r>
            <a:endParaRPr lang="en-US" sz="17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LIVRABLE 1</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L'évaluation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35</a:t>
            </a:r>
            <a:endParaRPr lang="en-US" sz="1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8412480"/>
                <a:gridCol w="2496312"/>
              </a:tblGrid>
              <a:tr h="457200">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Critère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Vérification</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457200">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La solution compile, le programme joue le scénario</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automatique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Les règles de l'incident sont respectées (titre, transitions, assignation)</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automatique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User est abstraite, trois rôles héritent de User</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automatique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Les commentaires sont en composition, en lecture seule de l'extérieur</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automatique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Le diagramme Mermaid contient les classes et les relations</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automatique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457200">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Les messages de commit respectent Conventional Commits</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automatique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457200">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AI-LOG.md renseigné (problème, correction, appris)</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50" dirty="0">
                          <a:solidFill>
                            <a:srgbClr val="16181D"/>
                          </a:solidFill>
                          <a:latin typeface="Calibri" pitchFamily="34" charset="0"/>
                          <a:ea typeface="Calibri" pitchFamily="34" charset="-122"/>
                          <a:cs typeface="Calibri" pitchFamily="34" charset="-120"/>
                        </a:rPr>
                        <a:t>relecture</a:t>
                      </a:r>
                      <a:endParaRPr lang="en-US" sz="155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bl>
          </a:graphicData>
        </a:graphic>
      </p:graphicFrame>
      <p:sp>
        <p:nvSpPr>
          <p:cNvPr id="9" name="Text 5"/>
          <p:cNvSpPr txBox="1"/>
          <p:nvPr/>
        </p:nvSpPr>
        <p:spPr>
          <a:xfrm>
            <a:off x="640080" y="5623560"/>
            <a:ext cx="10911535" cy="365760"/>
          </a:xfrm>
          <a:prstGeom prst="rect">
            <a:avLst/>
          </a:prstGeom>
          <a:noFill/>
          <a:ln/>
        </p:spPr>
        <p:txBody>
          <a:bodyPr wrap="square" lIns="0" tIns="0" rIns="0" bIns="0" rtlCol="0" anchor="ctr"/>
          <a:lstStyle/>
          <a:p>
            <a:pPr indent="0" marL="0">
              <a:buNone/>
            </a:pPr>
            <a:r>
              <a:rPr lang="en-US" sz="1500" b="1" dirty="0">
                <a:solidFill>
                  <a:srgbClr val="16181D"/>
                </a:solidFill>
                <a:latin typeface="Calibri" pitchFamily="34" charset="0"/>
                <a:ea typeface="Calibri" pitchFamily="34" charset="-122"/>
                <a:cs typeface="Calibri" pitchFamily="34" charset="-120"/>
              </a:rPr>
              <a:t>2 points sur 20. Les QCM contiendront aussi des questions sur ce code.</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À RETENIR</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Travailler en équipe, en quatre réflexes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36</a:t>
            </a:r>
            <a:endParaRPr lang="en-US" sz="1000" dirty="0"/>
          </a:p>
        </p:txBody>
      </p:sp>
      <p:sp>
        <p:nvSpPr>
          <p:cNvPr id="8" name="Shape 5"/>
          <p:cNvSpPr/>
          <p:nvPr/>
        </p:nvSpPr>
        <p:spPr>
          <a:xfrm>
            <a:off x="640080" y="1920240"/>
            <a:ext cx="2560320" cy="3108960"/>
          </a:xfrm>
          <a:prstGeom prst="roundRect">
            <a:avLst>
              <a:gd name="adj" fmla="val 2857"/>
            </a:avLst>
          </a:prstGeom>
          <a:solidFill>
            <a:srgbClr val="16181D"/>
          </a:solidFill>
          <a:ln w="12700">
            <a:solidFill>
              <a:srgbClr val="16181D"/>
            </a:solidFill>
            <a:prstDash val="solid"/>
          </a:ln>
        </p:spPr>
      </p:sp>
      <p:sp>
        <p:nvSpPr>
          <p:cNvPr id="9" name="Text 6"/>
          <p:cNvSpPr txBox="1"/>
          <p:nvPr/>
        </p:nvSpPr>
        <p:spPr>
          <a:xfrm>
            <a:off x="868680" y="2148840"/>
            <a:ext cx="2194560" cy="54864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Commit</a:t>
            </a:r>
            <a:endParaRPr lang="en-US" sz="2000" dirty="0"/>
          </a:p>
        </p:txBody>
      </p:sp>
      <p:sp>
        <p:nvSpPr>
          <p:cNvPr id="10" name="Text 7"/>
          <p:cNvSpPr txBox="1"/>
          <p:nvPr/>
        </p:nvSpPr>
        <p:spPr>
          <a:xfrm>
            <a:off x="868680" y="2788920"/>
            <a:ext cx="2148840" cy="21031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Un colis étiqueté : un changement, un message clair (Conventional Commits).</a:t>
            </a:r>
            <a:endParaRPr lang="en-US" sz="1600" dirty="0"/>
          </a:p>
        </p:txBody>
      </p:sp>
      <p:sp>
        <p:nvSpPr>
          <p:cNvPr id="11" name="Shape 8"/>
          <p:cNvSpPr/>
          <p:nvPr/>
        </p:nvSpPr>
        <p:spPr>
          <a:xfrm>
            <a:off x="3383280" y="1920240"/>
            <a:ext cx="2560320" cy="3108960"/>
          </a:xfrm>
          <a:prstGeom prst="roundRect">
            <a:avLst>
              <a:gd name="adj" fmla="val 2857"/>
            </a:avLst>
          </a:prstGeom>
          <a:solidFill>
            <a:srgbClr val="16181D"/>
          </a:solidFill>
          <a:ln w="12700">
            <a:solidFill>
              <a:srgbClr val="16181D"/>
            </a:solidFill>
            <a:prstDash val="solid"/>
          </a:ln>
        </p:spPr>
      </p:sp>
      <p:sp>
        <p:nvSpPr>
          <p:cNvPr id="12" name="Text 9"/>
          <p:cNvSpPr txBox="1"/>
          <p:nvPr/>
        </p:nvSpPr>
        <p:spPr>
          <a:xfrm>
            <a:off x="3611880" y="2148840"/>
            <a:ext cx="2194560" cy="54864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Branche</a:t>
            </a:r>
            <a:endParaRPr lang="en-US" sz="2000" dirty="0"/>
          </a:p>
        </p:txBody>
      </p:sp>
      <p:sp>
        <p:nvSpPr>
          <p:cNvPr id="13" name="Text 10"/>
          <p:cNvSpPr txBox="1"/>
          <p:nvPr/>
        </p:nvSpPr>
        <p:spPr>
          <a:xfrm>
            <a:off x="3611880" y="2788920"/>
            <a:ext cx="2148840" cy="21031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Un brouillon : main reste stable.</a:t>
            </a:r>
            <a:endParaRPr lang="en-US" sz="1600" dirty="0"/>
          </a:p>
        </p:txBody>
      </p:sp>
      <p:sp>
        <p:nvSpPr>
          <p:cNvPr id="14" name="Shape 11"/>
          <p:cNvSpPr/>
          <p:nvPr/>
        </p:nvSpPr>
        <p:spPr>
          <a:xfrm>
            <a:off x="6126480" y="1920240"/>
            <a:ext cx="2560320" cy="3108960"/>
          </a:xfrm>
          <a:prstGeom prst="roundRect">
            <a:avLst>
              <a:gd name="adj" fmla="val 2857"/>
            </a:avLst>
          </a:prstGeom>
          <a:solidFill>
            <a:srgbClr val="16181D"/>
          </a:solidFill>
          <a:ln w="12700">
            <a:solidFill>
              <a:srgbClr val="16181D"/>
            </a:solidFill>
            <a:prstDash val="solid"/>
          </a:ln>
        </p:spPr>
      </p:sp>
      <p:sp>
        <p:nvSpPr>
          <p:cNvPr id="15" name="Text 12"/>
          <p:cNvSpPr txBox="1"/>
          <p:nvPr/>
        </p:nvSpPr>
        <p:spPr>
          <a:xfrm>
            <a:off x="6355080" y="2148840"/>
            <a:ext cx="2194560" cy="54864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Pull request</a:t>
            </a:r>
            <a:endParaRPr lang="en-US" sz="2000" dirty="0"/>
          </a:p>
        </p:txBody>
      </p:sp>
      <p:sp>
        <p:nvSpPr>
          <p:cNvPr id="16" name="Text 13"/>
          <p:cNvSpPr txBox="1"/>
          <p:nvPr/>
        </p:nvSpPr>
        <p:spPr>
          <a:xfrm>
            <a:off x="6355080" y="2788920"/>
            <a:ext cx="2148840" cy="21031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Quatre yeux : rien n'arrive dans main sans relecture.</a:t>
            </a:r>
            <a:endParaRPr lang="en-US" sz="1600" dirty="0"/>
          </a:p>
        </p:txBody>
      </p:sp>
      <p:sp>
        <p:nvSpPr>
          <p:cNvPr id="17" name="Shape 14"/>
          <p:cNvSpPr/>
          <p:nvPr/>
        </p:nvSpPr>
        <p:spPr>
          <a:xfrm>
            <a:off x="8869680" y="1920240"/>
            <a:ext cx="2560320" cy="3108960"/>
          </a:xfrm>
          <a:prstGeom prst="roundRect">
            <a:avLst>
              <a:gd name="adj" fmla="val 2857"/>
            </a:avLst>
          </a:prstGeom>
          <a:solidFill>
            <a:srgbClr val="16181D"/>
          </a:solidFill>
          <a:ln w="12700">
            <a:solidFill>
              <a:srgbClr val="16181D"/>
            </a:solidFill>
            <a:prstDash val="solid"/>
          </a:ln>
        </p:spPr>
      </p:sp>
      <p:sp>
        <p:nvSpPr>
          <p:cNvPr id="18" name="Text 15"/>
          <p:cNvSpPr txBox="1"/>
          <p:nvPr/>
        </p:nvSpPr>
        <p:spPr>
          <a:xfrm>
            <a:off x="9098280" y="2148840"/>
            <a:ext cx="2194560" cy="548640"/>
          </a:xfrm>
          <a:prstGeom prst="rect">
            <a:avLst/>
          </a:prstGeom>
          <a:noFill/>
          <a:ln/>
        </p:spPr>
        <p:txBody>
          <a:bodyPr wrap="square" lIns="0" tIns="0" rIns="0" bIns="0" rtlCol="0" anchor="ctr"/>
          <a:lstStyle/>
          <a:p>
            <a:pPr indent="0" marL="0">
              <a:buNone/>
            </a:pPr>
            <a:r>
              <a:rPr lang="en-US" sz="2000" b="1" dirty="0">
                <a:solidFill>
                  <a:srgbClr val="E8590C"/>
                </a:solidFill>
                <a:latin typeface="Arial" pitchFamily="34" charset="0"/>
                <a:ea typeface="Arial" pitchFamily="34" charset="-122"/>
                <a:cs typeface="Arial" pitchFamily="34" charset="-120"/>
              </a:rPr>
              <a:t>Secret</a:t>
            </a:r>
            <a:endParaRPr lang="en-US" sz="2000" dirty="0"/>
          </a:p>
        </p:txBody>
      </p:sp>
      <p:sp>
        <p:nvSpPr>
          <p:cNvPr id="19" name="Text 16"/>
          <p:cNvSpPr txBox="1"/>
          <p:nvPr/>
        </p:nvSpPr>
        <p:spPr>
          <a:xfrm>
            <a:off x="9098280" y="2788920"/>
            <a:ext cx="2148840" cy="21031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Jamais dans le code. Publié = changé (Toyota).</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CLÔTURE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Check-in et QCM de la séance 4 · 5 minutes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Complément Application · S4</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37</a:t>
            </a:r>
            <a:endParaRPr lang="en-US" sz="1000" dirty="0"/>
          </a:p>
        </p:txBody>
      </p:sp>
      <p:sp>
        <p:nvSpPr>
          <p:cNvPr id="8" name="Text 5"/>
          <p:cNvSpPr txBox="1"/>
          <p:nvPr/>
        </p:nvSpPr>
        <p:spPr>
          <a:xfrm>
            <a:off x="640080" y="1920240"/>
            <a:ext cx="10911535" cy="731520"/>
          </a:xfrm>
          <a:prstGeom prst="rect">
            <a:avLst/>
          </a:prstGeom>
          <a:noFill/>
          <a:ln/>
        </p:spPr>
        <p:txBody>
          <a:bodyPr wrap="square" lIns="0" tIns="0" rIns="0" bIns="0" rtlCol="0" anchor="ctr"/>
          <a:lstStyle/>
          <a:p>
            <a:pPr indent="0" marL="0">
              <a:buNone/>
            </a:pPr>
            <a:r>
              <a:rPr lang="en-US" sz="3000" b="1" dirty="0">
                <a:solidFill>
                  <a:srgbClr val="E8590C"/>
                </a:solidFill>
                <a:latin typeface="Arial" pitchFamily="34" charset="0"/>
                <a:ea typeface="Arial" pitchFamily="34" charset="-122"/>
                <a:cs typeface="Arial" pitchFamily="34" charset="-120"/>
              </a:rPr>
              <a:t>Lien dans le chat.</a:t>
            </a:r>
            <a:endParaRPr lang="en-US" sz="3000" dirty="0"/>
          </a:p>
        </p:txBody>
      </p:sp>
      <p:sp>
        <p:nvSpPr>
          <p:cNvPr id="9" name="Text 6"/>
          <p:cNvSpPr txBox="1"/>
          <p:nvPr/>
        </p:nvSpPr>
        <p:spPr>
          <a:xfrm>
            <a:off x="640080" y="2926080"/>
            <a:ext cx="8229600" cy="237744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Votre présence du jour</a:t>
            </a:r>
            <a:endParaRPr lang="en-US" sz="2100" dirty="0"/>
          </a:p>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6 questions sur Git, Conventional Commits, la code review et Scrum</a:t>
            </a:r>
            <a:endParaRPr lang="en-US" sz="2100" dirty="0"/>
          </a:p>
          <a:p>
            <a:pPr marL="228600" indent="-228600">
              <a:spcAft>
                <a:spcPts val="800"/>
              </a:spcAft>
              <a:buSzPct val="100000"/>
              <a:buChar char="•"/>
            </a:pPr>
            <a:r>
              <a:rPr lang="en-US" sz="2100" dirty="0">
                <a:solidFill>
                  <a:srgbClr val="16181D"/>
                </a:solidFill>
                <a:latin typeface="Calibri" pitchFamily="34" charset="0"/>
                <a:ea typeface="Calibri" pitchFamily="34" charset="-122"/>
                <a:cs typeface="Calibri" pitchFamily="34" charset="-120"/>
              </a:rPr>
              <a:t>Couleur rouge : sans IA</a:t>
            </a:r>
            <a:endParaRPr lang="en-US" sz="2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6181D"/>
        </a:solidFill>
      </p:bgPr>
    </p:bg>
    <p:spTree>
      <p:nvGrpSpPr>
        <p:cNvPr id="1" name=""/>
        <p:cNvGrpSpPr/>
        <p:nvPr/>
      </p:nvGrpSpPr>
      <p:grpSpPr>
        <a:xfrm>
          <a:off x="0" y="0"/>
          <a:ext cx="0" cy="0"/>
          <a:chOff x="0" y="0"/>
          <a:chExt cx="0" cy="0"/>
        </a:xfrm>
      </p:grpSpPr>
      <p:sp>
        <p:nvSpPr>
          <p:cNvPr id="2" name="Shape 0"/>
          <p:cNvSpPr/>
          <p:nvPr/>
        </p:nvSpPr>
        <p:spPr>
          <a:xfrm>
            <a:off x="640080" y="2286000"/>
            <a:ext cx="274320" cy="274320"/>
          </a:xfrm>
          <a:prstGeom prst="rect">
            <a:avLst/>
          </a:prstGeom>
          <a:solidFill>
            <a:srgbClr val="E8590C"/>
          </a:solidFill>
          <a:ln w="12700">
            <a:solidFill>
              <a:srgbClr val="E8590C"/>
            </a:solidFill>
            <a:prstDash val="solid"/>
          </a:ln>
        </p:spPr>
      </p:sp>
      <p:sp>
        <p:nvSpPr>
          <p:cNvPr id="3" name="Text 1"/>
          <p:cNvSpPr txBox="1"/>
          <p:nvPr/>
        </p:nvSpPr>
        <p:spPr>
          <a:xfrm>
            <a:off x="640080" y="2743200"/>
            <a:ext cx="10911535" cy="9144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Merci. À mercredi prochain.</a:t>
            </a:r>
            <a:endParaRPr lang="en-US" sz="4400" dirty="0"/>
          </a:p>
        </p:txBody>
      </p:sp>
      <p:sp>
        <p:nvSpPr>
          <p:cNvPr id="4" name="Text 2"/>
          <p:cNvSpPr txBox="1"/>
          <p:nvPr/>
        </p:nvSpPr>
        <p:spPr>
          <a:xfrm>
            <a:off x="640080" y="3749040"/>
            <a:ext cx="10911535" cy="548640"/>
          </a:xfrm>
          <a:prstGeom prst="rect">
            <a:avLst/>
          </a:prstGeom>
          <a:noFill/>
          <a:ln/>
        </p:spPr>
        <p:txBody>
          <a:bodyPr wrap="square" lIns="0" tIns="0" rIns="0" bIns="0" rtlCol="0" anchor="ctr"/>
          <a:lstStyle/>
          <a:p>
            <a:pPr indent="0" marL="0">
              <a:buNone/>
            </a:pPr>
            <a:r>
              <a:rPr lang="en-US" sz="2000" dirty="0">
                <a:solidFill>
                  <a:srgbClr val="C9CDD3"/>
                </a:solidFill>
                <a:latin typeface="Calibri" pitchFamily="34" charset="0"/>
                <a:ea typeface="Calibri" pitchFamily="34" charset="-122"/>
                <a:cs typeface="Calibri" pitchFamily="34" charset="-120"/>
              </a:rPr>
              <a:t>Séance 5 · Les données : SQL, modélisation, Merise</a:t>
            </a:r>
            <a:endParaRPr lang="en-US" sz="2000" dirty="0"/>
          </a:p>
        </p:txBody>
      </p:sp>
      <p:sp>
        <p:nvSpPr>
          <p:cNvPr id="5" name="Text 3"/>
          <p:cNvSpPr txBox="1"/>
          <p:nvPr/>
        </p:nvSpPr>
        <p:spPr>
          <a:xfrm>
            <a:off x="640080" y="5303520"/>
            <a:ext cx="10911535" cy="365760"/>
          </a:xfrm>
          <a:prstGeom prst="rect">
            <a:avLst/>
          </a:prstGeom>
          <a:noFill/>
          <a:ln/>
        </p:spPr>
        <p:txBody>
          <a:bodyPr wrap="square" lIns="0" tIns="0" rIns="0" bIns="0" rtlCol="0" anchor="ctr"/>
          <a:lstStyle/>
          <a:p>
            <a:pPr indent="0" marL="0">
              <a:buNone/>
            </a:pPr>
            <a:r>
              <a:rPr lang="en-US" sz="1400" dirty="0">
                <a:solidFill>
                  <a:srgbClr val="9AA0A8"/>
                </a:solidFill>
                <a:latin typeface="Calibri" pitchFamily="34" charset="0"/>
                <a:ea typeface="Calibri" pitchFamily="34" charset="-122"/>
                <a:cs typeface="Calibri" pitchFamily="34" charset="-120"/>
              </a:rPr>
              <a:t>Le Livrable 1 est dans Teams. Questions : canal Entraide.</a:t>
            </a:r>
            <a:endParaRPr lang="en-US" sz="14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38</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Complément Application — Séance 4</dc:title>
  <dc:subject>PptxGenJS Presentation</dc:subject>
  <dc:creator>Ludwig Lebrun</dc:creator>
  <cp:lastModifiedBy>Ludwig Lebrun</cp:lastModifiedBy>
  <cp:revision>1</cp:revision>
  <dcterms:created xsi:type="dcterms:W3CDTF">2026-10-14T15:57:42Z</dcterms:created>
  <dcterms:modified xsi:type="dcterms:W3CDTF">2026-10-14T15:57:42Z</dcterms:modified>
</cp:coreProperties>
</file>