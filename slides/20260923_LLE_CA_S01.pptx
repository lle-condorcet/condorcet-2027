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charts/chart2.xml" ContentType="application/vnd.openxmlformats-officedocument.drawingml.chart+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5"/>
  </p:notesMasterIdLst>
  <p:sldIdLst>
    <p:sldId id="256" r:id="rId2"/>
    <p:sldId id="257" r:id="rId3"/>
    <p:sldId id="269" r:id="rId4"/>
    <p:sldId id="258" r:id="rId5"/>
    <p:sldId id="259" r:id="rId6"/>
    <p:sldId id="260" r:id="rId7"/>
    <p:sldId id="261" r:id="rId8"/>
    <p:sldId id="262" r:id="rId9"/>
    <p:sldId id="263" r:id="rId10"/>
    <p:sldId id="264" r:id="rId11"/>
    <p:sldId id="265" r:id="rId12"/>
    <p:sldId id="266" r:id="rId13"/>
    <p:sldId id="267" r:id="rId14"/>
    <p:sldId id="268"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8" d="100"/>
          <a:sy n="108" d="100"/>
        </p:scale>
        <p:origin x="138" y="123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0"/>
        <c:ser>
          <c:idx val="0"/>
          <c:order val="0"/>
          <c:tx>
            <c:strRef>
              <c:f>Sheet1!$B$1</c:f>
              <c:strCache>
                <c:ptCount val="1"/>
                <c:pt idx="0">
                  <c:v>Avec IA</c:v>
                </c:pt>
              </c:strCache>
            </c:strRef>
          </c:tx>
          <c:spPr>
            <a:solidFill>
              <a:srgbClr val="E8590C"/>
            </a:solidFill>
            <a:effectLst/>
          </c:spPr>
          <c:invertIfNegative val="0"/>
          <c:dLbls>
            <c:numFmt formatCode="0&quot;%&quot;" sourceLinked="0"/>
            <c:spPr>
              <a:noFill/>
              <a:ln>
                <a:noFill/>
              </a:ln>
              <a:effectLst/>
            </c:spPr>
            <c:txPr>
              <a:bodyPr/>
              <a:lstStyle/>
              <a:p>
                <a:pPr>
                  <a:defRPr sz="1300" b="0" i="0" u="none" strike="noStrike">
                    <a:solidFill>
                      <a:srgbClr val="16181D"/>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Chiffrement</c:v>
                </c:pt>
                <c:pt idx="1">
                  <c:v>Signature</c:v>
                </c:pt>
                <c:pt idx="2">
                  <c:v>Accès à un dossier</c:v>
                </c:pt>
                <c:pt idx="3">
                  <c:v>Écriture SQL</c:v>
                </c:pt>
              </c:strCache>
            </c:strRef>
          </c:cat>
          <c:val>
            <c:numRef>
              <c:f>Sheet1!$B$2:$B$5</c:f>
              <c:numCache>
                <c:formatCode>General</c:formatCode>
                <c:ptCount val="4"/>
                <c:pt idx="0">
                  <c:v>21</c:v>
                </c:pt>
                <c:pt idx="1">
                  <c:v>3</c:v>
                </c:pt>
                <c:pt idx="2">
                  <c:v>12</c:v>
                </c:pt>
                <c:pt idx="3">
                  <c:v>24</c:v>
                </c:pt>
              </c:numCache>
            </c:numRef>
          </c:val>
          <c:extLst>
            <c:ext xmlns:c16="http://schemas.microsoft.com/office/drawing/2014/chart" uri="{C3380CC4-5D6E-409C-BE32-E72D297353CC}">
              <c16:uniqueId val="{00000000-AD52-46FB-9164-240262BFFB2D}"/>
            </c:ext>
          </c:extLst>
        </c:ser>
        <c:ser>
          <c:idx val="1"/>
          <c:order val="1"/>
          <c:tx>
            <c:strRef>
              <c:f>Sheet1!$C$1</c:f>
              <c:strCache>
                <c:ptCount val="1"/>
                <c:pt idx="0">
                  <c:v>Sans IA</c:v>
                </c:pt>
              </c:strCache>
            </c:strRef>
          </c:tx>
          <c:spPr>
            <a:solidFill>
              <a:srgbClr val="16181D"/>
            </a:solidFill>
            <a:effectLst/>
          </c:spPr>
          <c:invertIfNegative val="0"/>
          <c:dLbls>
            <c:numFmt formatCode="0&quot;%&quot;" sourceLinked="0"/>
            <c:spPr>
              <a:noFill/>
              <a:ln>
                <a:noFill/>
              </a:ln>
              <a:effectLst/>
            </c:spPr>
            <c:txPr>
              <a:bodyPr/>
              <a:lstStyle/>
              <a:p>
                <a:pPr>
                  <a:defRPr sz="1300" b="0" i="0" u="none" strike="noStrike">
                    <a:solidFill>
                      <a:srgbClr val="16181D"/>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Chiffrement</c:v>
                </c:pt>
                <c:pt idx="1">
                  <c:v>Signature</c:v>
                </c:pt>
                <c:pt idx="2">
                  <c:v>Accès à un dossier</c:v>
                </c:pt>
                <c:pt idx="3">
                  <c:v>Écriture SQL</c:v>
                </c:pt>
              </c:strCache>
            </c:strRef>
          </c:cat>
          <c:val>
            <c:numRef>
              <c:f>Sheet1!$C$2:$C$5</c:f>
              <c:numCache>
                <c:formatCode>General</c:formatCode>
                <c:ptCount val="4"/>
                <c:pt idx="0">
                  <c:v>36</c:v>
                </c:pt>
                <c:pt idx="1">
                  <c:v>21</c:v>
                </c:pt>
                <c:pt idx="2">
                  <c:v>29</c:v>
                </c:pt>
                <c:pt idx="3">
                  <c:v>50</c:v>
                </c:pt>
              </c:numCache>
            </c:numRef>
          </c:val>
          <c:extLst>
            <c:ext xmlns:c16="http://schemas.microsoft.com/office/drawing/2014/chart" uri="{C3380CC4-5D6E-409C-BE32-E72D297353CC}">
              <c16:uniqueId val="{00000001-AD52-46FB-9164-240262BFFB2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6181D"/>
                </a:solidFill>
                <a:latin typeface="Arial"/>
              </a:defRPr>
            </a:pPr>
            <a:endParaRPr lang="en-US"/>
          </a:p>
        </c:txPr>
        <c:crossAx val="2094734552"/>
        <c:crosses val="autoZero"/>
        <c:auto val="1"/>
        <c:lblAlgn val="ctr"/>
        <c:lblOffset val="100"/>
        <c:noMultiLvlLbl val="1"/>
      </c:catAx>
      <c:valAx>
        <c:axId val="2094734552"/>
        <c:scaling>
          <c:orientation val="minMax"/>
          <c:max val="6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t"/>
      <c:overlay val="0"/>
      <c:txPr>
        <a:bodyPr/>
        <a:lstStyle/>
        <a:p>
          <a:pPr>
            <a:defRPr sz="1400"/>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bar"/>
        <c:grouping val="clustered"/>
        <c:varyColors val="0"/>
        <c:ser>
          <c:idx val="0"/>
          <c:order val="0"/>
          <c:tx>
            <c:strRef>
              <c:f>Sheet1!$B$1</c:f>
              <c:strCache>
                <c:ptCount val="1"/>
                <c:pt idx="0">
                  <c:v>Utilisation</c:v>
                </c:pt>
              </c:strCache>
            </c:strRef>
          </c:tx>
          <c:spPr>
            <a:solidFill>
              <a:srgbClr val="16181D"/>
            </a:solidFill>
            <a:effectLst/>
          </c:spPr>
          <c:invertIfNegative val="0"/>
          <c:dLbls>
            <c:numFmt formatCode="0.0&quot;%&quot;" sourceLinked="0"/>
            <c:spPr>
              <a:noFill/>
              <a:ln>
                <a:noFill/>
              </a:ln>
              <a:effectLst/>
            </c:spPr>
            <c:txPr>
              <a:bodyPr/>
              <a:lstStyle/>
              <a:p>
                <a:pPr>
                  <a:defRPr sz="14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Python</c:v>
                </c:pt>
                <c:pt idx="1">
                  <c:v>TypeScript</c:v>
                </c:pt>
                <c:pt idx="2">
                  <c:v>Java</c:v>
                </c:pt>
                <c:pt idx="3">
                  <c:v>C#</c:v>
                </c:pt>
                <c:pt idx="4">
                  <c:v>C++</c:v>
                </c:pt>
              </c:strCache>
            </c:strRef>
          </c:cat>
          <c:val>
            <c:numRef>
              <c:f>Sheet1!$B$2:$B$6</c:f>
              <c:numCache>
                <c:formatCode>General</c:formatCode>
                <c:ptCount val="5"/>
                <c:pt idx="0">
                  <c:v>57.9</c:v>
                </c:pt>
                <c:pt idx="1">
                  <c:v>43.6</c:v>
                </c:pt>
                <c:pt idx="2">
                  <c:v>29.4</c:v>
                </c:pt>
                <c:pt idx="3">
                  <c:v>27.8</c:v>
                </c:pt>
                <c:pt idx="4">
                  <c:v>23.5</c:v>
                </c:pt>
              </c:numCache>
            </c:numRef>
          </c:val>
          <c:extLst>
            <c:ext xmlns:c16="http://schemas.microsoft.com/office/drawing/2014/chart" uri="{C3380CC4-5D6E-409C-BE32-E72D297353CC}">
              <c16:uniqueId val="{00000000-1BEC-4A98-8FF8-327567624179}"/>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600" b="0" i="0" u="none" strike="noStrike">
                <a:solidFill>
                  <a:srgbClr val="16181D"/>
                </a:solidFill>
                <a:latin typeface="Arial"/>
              </a:defRPr>
            </a:pPr>
            <a:endParaRPr lang="en-US"/>
          </a:p>
        </c:txPr>
        <c:crossAx val="2094734552"/>
        <c:crosses val="autoZero"/>
        <c:auto val="1"/>
        <c:lblAlgn val="ctr"/>
        <c:lblOffset val="100"/>
        <c:noMultiLvlLbl val="1"/>
      </c:catAx>
      <c:valAx>
        <c:axId val="2094734552"/>
        <c:scaling>
          <c:orientation val="minMax"/>
          <c:max val="7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932916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1 min] Ouvrir 5 minutes avant. Lancer l'enregistrement si vous le faites. Dire bonjour dans le chat.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[0:01 – 3 min] Ton détendu. On est 60 et à distance : ces quelques habitudes permettent à tout le monde de suivre et de poser ses questions. Dire que les questions sont bienvenues, vraiment : je les regroupe pour que tout le monde profite de la réponse.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[0:28 – 2 min] Rester court. Le message : j'ai été développeur longtemps, je sais ce qu'est une application en production, je pilote aujourd'hui des équipes qui livrent. Enseignant ici depuis 2021.</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[0:04 – 3 min] Pourquoi commencer par là : la cybersécurité, ce n'est pas seulement des pare-feu et des antivirus. Beaucoup d'attaques exploitent une faille dans le code d'une application. MOVEit Transfer est un logiciel d'échange de fichiers utilisé par des entreprises et des administrations. Fin mai 2023, le groupe criminel Cl0p exploite une injection SQL (CVE-2023-34362) pour voler des données en masse ; parmi les victimes, la BBC et British Airways (via leur prestataire de paie). La cause : une requête SQL construite avec des données venues de l'extérieur. On démontera ce type de faille au Q2. Transition : qui écrit ce code aujourd'hui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[0:07 – 2 min] Chez Google, le PDG annonçait fin 2024 que plus d'un quart du nouveau code était généré par IA, puis relu et validé par des ingénieurs. En avril 2026, il parle de 75 %. Ce sont des chiffres annoncés par l'entreprise, sans méthode publiée : à prendre comme une tendance. La question qui nous intéresse, en cybersécurité : ce code est-il sûr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[0:09 – 3 min] Des chercheurs de Stanford, dont Dan Boneh (une référence mondiale en cryptographie), ont voulu mesurer l'effet d'un assistant IA sur la sécurité du code. Le protocole est simple : 47 développeurs, étudiants et professionnels, répartis au hasard en deux groupes. Même consigne pour tous, cinq exercices où une erreur de sécurité est facile à faire. Des experts relisent chaque réponse et la classent sûre ou non sûre. À la fin, chaque participant dit s'il pense avoir écrit du code sûr. L'assistant utilisé, Codex d'OpenAI, était le moteur des débuts de GitHub Copilot. Réaction : selon vous, quel groupe s'en sort le mieux ? 👍 avec IA, ❤️ sans IA.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[0:12 – 2 min] Expliquer chaque piège en une phrase, sans jargon. Chiffrer : utiliser un algorithme « maison » ou mal configuré. Signer : utiliser un aléa prévisible, ce qui permet de fabriquer de fausses signatures. Dossier : un nom de fichier comme ../../etc/passwd permet de sortir du dossier autorisé (path traversal). SQL : l'injection, la même faille que MOVEit. C : écrire plus de caractères que la mémoire prévue (buffer overflow). Message clé : ce sont exactement les thèmes de Programmation sécurisée au Q2. Cette étude, c'est notre programme.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[0:14 – 2 min] Lire le graphique : chaque barre est la part des participants dont la réponse a été jugée sûre. Sur 4 exercices sur 5, le groupe avec IA fait nettement moins bien. Sur la signature : 3 % contre 21 %. Sur l'exercice SQL : un quart seulement de réponses sûres avec IA, contre la moitié sans. Le 5e exercice (C) ne montre pas de différence nette. Ce n'est pas que l'IA « code mal » : les participants acceptaient ses propositions sans vérifier.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[0:16 – 2 min] Un participant (n°1042 dans l'étude) a reçu de l'IA une requête construite en collant des morceaux de texte, et l'a acceptée telle quelle. Montrer ce qu'un utilisateur malveillant peut saisir dans le champ « nom ». C'est une injection SQL : la même famille de faille que MOVEit. La version correcte passe les valeurs à part (requête paramétrée) : la base ne les exécute jamais comme du code. On la démontera en détail au Q2.</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[0:18 – 2 min] Après les exercices, chaque participant a noté sa confiance dans l'IA, de 1 à 5. Sur l'exercice « accès à un dossier », ceux dont la réponse n'était pas sûre donnaient en moyenne 4 sur 5 ; ceux dont la réponse était sûre, 1,5. Autrement dit : ceux qui se méfiaient de l'IA vérifiaient, et avaient juste. Ceux qui lui faisaient confiance ne vérifiaient pas. Et globalement, le groupe avec IA se croyait plus en sécurité que l'autre. En cybersécurité, c'est le pire des cas : une faille dont personne ne soupçonne l'existence.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 2 min] Objection attendue : « c'était en 2022, les IA ont progressé ». Veracode, un éditeur d'outils d'analyse de code, teste chaque année plus de 150 modèles sur 80 tâches (Java, JavaScript, C#, Python) et cherche des failles connues : injection SQL, XSS, injection dans les logs, chiffrement faible. Résultat 2026 : plus de 95 % du code compile, mais seulement 55 % passe les tests de sécurité, et ce taux n'a pas bougé depuis 2023. Esprit critique : Veracode vend des outils de sécurité, il a intérêt à ce résultat ; mais la méthode est publiée et d'autres études vont dans le même sens.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[0:22 – 2 min] Faire le lien avec les deux cours. Pour savoir si un code est sûr, qu'il soit écrit par vous, un collègue ou une IA, il faut d'abord savoir le lire. C'est le Q1. Ensuite, il faut connaître les failles et savoir les corriger. C'est le Q2. Et c'est pour ça que ce cours commence par une étude sur l'IA.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[0:24 – 2 min] Autre fait réel. Samsung, avril 2023 : en 20 jours, trois incidents où des ingénieurs de la division semi-conducteurs collent des données confidentielles dans ChatGPT (du code source pour corriger un bug, un algorithme de test de puces, la transcription d'une réunion). Ces données partent sur les serveurs d'un tiers. Début mai, Samsung interdit les IA génératives sur ses appareils. Lien avec la cybersécurité : c'est une fuite de données, sans aucun pirate.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[0:26 – 2 min] Réponse franche : non. Et l'Europe va dans le même sens : depuis le 2 février 2025, l'article 4 de l'AI Act oblige les organisations qui utilisent l'IA à former leur personnel (contrôles depuis le 2 août 2026). Vos employeurs vont vous le demander. Ce que j'évalue : pas si vous avez utilisé l'IA, mais si vous comprenez ce que vous rendez.</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 2 min] Un exemple concret par carte (sans nom de client). Insister sur la dernière phrase : c'est moi qui signe. C'est exactement ce que je vous demanderai.</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[0:32 – 1 min] Dire la phrase avec conviction. Enchaîner : c'est l'attitude que j'attends de vous. Transition : maintenant, c'est à vous.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[0:33 – 1 min] Expliquer la mécanique. Garder la fenêtre des participants ouverte. Annoncer le chiffre approximatif et le noter dans leve-la-main.md. 15 secondes par question, sans commenter longuement.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[0:34 – 40 s] Lire, attendre les réactions, annoncer le chiffre, noter.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 40 s] Lire, attendre les réactions, annoncer le chiffre, noter.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 40 s] Lire, attendre les réactions, annoncer le chiffre, noter.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[0:36 – 40 s] Lire, attendre les réactions, annoncer le chiffre, noter.</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[0:37 – 40 s] Lire, attendre les réactions, annoncer le chiffre, noter.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[0:37 – 40 s] Lire, attendre les réactions, annoncer le chiffre, noter.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[0:38 – 40 s] Lire, attendre les réactions, annoncer le chiffre, noter.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[0:39 – 40 s] Lire, attendre les réactions, annoncer le chiffre, noter. Question volontairement piège, sur le ton de l'humour. Rebondir : « c'est normal ; souvenez-vous de Stanford ; c'est précisément ce qu'on va apprendre à ne plus faire ».</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[0:39 – 6 min] Coller le lien Forms dans le chat. Le questionnaire est nominatif : il sert à constituer les parcours, à repérer les tuteurs, et à anticiper les soucis d'installation (un PC professionnel sans droits administrateur bloque souvent l'installation de .NET). À 5 minutes, annoncer « encore 2 minutes ».</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Bloc de 16 minutes.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 3 min] Ancrer dans le réel belge. Depuis le 18 octobre 2024, la loi NIS2 impose à de nombreuses entités (énergie, santé, transport, administrations, industrie…) de notifier leurs incidents significatifs au CCB : alerte précoce en 24 h, notification en 72 h, rapport final dans le mois. Le RGPD impose en plus de notifier une fuite de données personnelles à l'APD en 72 h. Pour tenir ces délais, il faut savoir exactement qui a signalé quoi, quand, et ce qui a été fait. C'est le rôle d'une application de gestion d'incidents.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[0:48 – 2 min] Réaction ✋ : qui utilise un de ces outils au travail ? On ne va pas refaire GLPI ou ServiceNow. On construit une version volontairement simple pour comprendre ce qu'il y a à l'intérieur : des objets, une base de données, une API, des règles. Et au Q2, parce que c'est notre code, on pourra l'attaquer et le protéger.</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 2 min] Présenter les trois rôles avec un exemple chacun. Ces rôles deviendront des classes (S2), puis des droits d'accès (Q2, Keycloak).</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[0:52 – 3 min] Parcourir la grille sans s'arrêter sur chaque mot : le but est qu'ils voient le chemin et reconnaissent des termes qu'ils ont déjà entendus au travail. Insister sur trois moments : S3 (on travaille comme une vraie équipe : Git Flow, pull requests, Scrum), S7 (l'API, ce que les applications exposent au monde), S8 (les tests, ce qui aurait évité CrowdStrike en 2024). Les trois livrables tombent après S2, S5 et S8. Réaction : ✋ si vous avez déjà entendu au moins la moitié de ces mots.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 – 2 min] Programme indicatif, il sera précisé au Q2. Le principe ne change pas : chaque séance part d'un fait réel, on attaque IncidentHub (votre propre code), puis on corrige. Citer deux ou trois faits divers en teaser : MOVEit (injection SQL), Log4Shell (2021), les fuites de données liées à une API mal protégée. La dernière séance est un bug bounty : les équipes cherchent les failles dans les applications des autres.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[0:57 – 2 min] Le public est varié : c'est une force. Apprendre : le template guide, on ne vous laisse pas seul. Approfondir : même socle, sans filet, avec une extension ou en jouant le rôle de tuteur. Même grille pour tous sur le socle. Changement possible une fois, jusqu'à la S3.</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[0:59 – 2 min] Plus de note plancher : la présence seule ne suffit plus. Pourquoi : récompenser la régularité et la compréhension. Les 2 moins bons QCM sont retirés (une absence, une mauvaise semaine). Les livrables passent des tests automatiques puis sont relus. Les QCM contiennent des questions sur le code du fil rouge. [À valider avec le règlement des études.]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 – 2 min] .NET sort une version chaque novembre. Les versions paires sont LTS (Long Term Support, 3 ans de support), les impaires STS (2 ans). .NET 10 est sortie en novembre 2025, supportée jusqu'en novembre 2028 : c'est ce qu'une entreprise choisit pour une application qui doit durer. .NET 8 et .NET 9 arrivent en fin de support en novembre 2026, en plein cours. Rider : gratuit pour l'enseignement, sous Windows, macOS et Linux. Installation avant la S2.</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 Bloc de 8 minutes. Rappeler Stanford et Samsung : les deux pièges.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 – 2 min] Les couleurs sont indiquées en haut de chaque énoncé. Vert : faites ce que vous voulez. Orange : le cas le plus fréquent, IA autorisée mais vous documentez dans AI-LOG.md. Rouge : les QCM, sans IA, c'est là qu'on vérifie ce que vous savez vraiment. Rappel Samsung : ne collez jamais de données de votre employeur dans un outil public.</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 – 2 min] Un exemple réaliste. Ce n'est pas une punition : c'est ce qu'un bon développeur fait mentalement. Un AI-LOG honnête qui dit « l'IA s'est trompée ici et j'ai corrigé » vaut plus qu'un code parfait sans explication.</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[1:07 – 3 min] Trois façons, au choix. 1) À la main : un modèle est fourni dans le template de chaque livrable, on copie un bloc par session. 2) Demander à l'IA, en fin de session, de résumer ce qu'on a fait : le prompt est fourni. 3) Automatique : une consigne permanente dans un fichier d'instructions que l'assistant relit à chaque fois. AGENTS.md est reconnu par plusieurs assistants de code (Codex, GitHub Copilot, Cursor…) ; Claude Code lit CLAUDE.md. Tous ces fichiers sont dans Teams, dossier AI-LOG. Dans les trois cas, la partie réflexion (ce qui était faux, ce que j'ai corrigé, ce que j'ai appris) est écrite par vous : c'est elle qui compte.</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 3 min] Rendre la règle concrète. En entreprise, Git garde le nom de la personne qui a écrit chaque ligne (commande git blame). Ici, Sophie a poussé une méthode Close() qui clôture un incident depuis n'importe quel état : un incident jamais traité peut être fermé. Si ça pose problème en production à 3 h du matin, c'est Sophie qu'on appelle, pas l'IA. Dans ce cours, c'est pareil : au QCM, je montre un extrait de code du fil rouge et je demande ce qui se passe si… Si vous avez compris, c'est facile. Si vous avez copié, ça se voit.</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[1:13 – 4 min] Regrouper les questions similaires. 5 minutes maximum ; renvoyer les questions individuelles vers le canal Entraide ou la fin du cours.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[1:17 – 10 min] Écrire l'heure de reprise dans le chat. Pendant la pause : ouvrir Rider sur incidenthub-demo, git checkout s01-etape0-solution-vide, police 18+.</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[1:27] Rassurer : personne ne code aujourd'hui. On part de l'histoire, puis du réel.</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[1:27 – 3 min] Avant la POO, un programme ressemblait à une longue recette de cuisine de milliers de lignes où tout le monde touche à tous les ingrédients (les variables globales). Une modification à la ligne 200 casse la ligne 4 000 : c'est le « code spaghetti ». La POO découpe le programme en briques, comme des Lego : chaque brique a un rôle, des données qu'elle protège et des points d'attache définis. On remplace une brique sans reconstruire la maison.</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 4 min] Raconter. 1962-1967, Oslo : Kristen Nygaard et Ole-Johan Dahl veulent simuler des systèmes réels (navires, files d'attente) ; ils inventent les classes, les objets et l'héritage dans Simula 67. 1972, Xerox PARC : Alan Kay crée Smalltalk et le terme « orienté objet » ; des objets qui s'envoient des messages ; c'est aussi là que naît l'interface graphique qui inspirera le Macintosh. 1985, Bell Labs : Bjarne Stroustrup ajoute les classes au langage C, c'est C++. 1995, Sun : James Gosling crée Java, « write once, run anywhere ». 2002, Microsoft : Anders Hejlsberg (auteur de Turbo Pascal et Delphi, plus tard de TypeScript) crée C# avec .NET. Dahl et Nygaard (2001) puis Kay (2003) ont reçu le prix Turing, l'équivalent du Nobel en informatique.</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[1:34 – 1 min] Stack Overflow interroge chaque année des dizaines de milliers de développeurs. En 2025 : Python, TypeScript, Java, C#, C++ sont tous orientés objet (ou multi-paradigmes). JavaScript (66 %) utilise aussi des objets, à sa façon. Apprendre la POO en C#, c'est apprendre une façon de penser qui sert partout.</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 – 5 min] Objectif (le dire) : on va trouver nous-mêmes ce que notre programme devra connaître et savoir faire. C'est la première étape de toute application : observer le réel. Lire le scénario. Puis dans le chat : vous êtes l'analyste qui prend l'appel, qu'allez-vous noter ? Laisser 2 minutes, lire une dizaine de réponses à voix haute. Attendus : qui signale, quand, quoi, la gravité (elle a saisi son mot de passe !), le statut, qui s'en occupe. Puis : qu'allez-vous faire de ce signalement ? (le prendre en charge, le résoudre, le clôturer).</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 – 2 min] Reprendre leurs réponses, les ranger en deux colonnes. Ce qu'un incident EST (des données) et ce qu'on en FAIT (des actions). En POO : les données s'appellent des attributs, les actions s'appellent des méthodes. Les deux réunies forment un objet. Le reste de la séance : comment écrire ça proprement.</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[1:42 – 3 min] L'analogie : la classe, c'est le formulaire vierge de déclaration d'incident, imprimé une fois. L'objet, c'est un formulaire rempli : l'incident n°1042 de Sophie. Un seul modèle, des milliers d'incidents. Créer un objet à partir d'une classe s'appelle l'instanciation (en C# : new Incident(...)).</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 – 3 min] Vous ne passez pas derrière le comptoir pour modifier votre solde. Vous passez par le guichet, qui vérifie votre identité et refuse un retrait supérieur au solde. En code : les données sont derrière le comptoir (private), les méthodes sont le guichet (public). C'est le principe le plus important du jour : l'objet protège ses données et fait respecter ses règles.</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[1:48 – 2 min] Réaction : un incident clôturé peut-il revenir à « ouvert » ? 👍 oui / ❤️ non. Dans notre application : non. Ce sont des règles métier : elles viennent du métier (le helpdesk, le SOC), pas de l'informatique. À droite, le diagramme d'états UML qui les représente ; on va voir tout de suite comment on lit ce genre de dessin. Et c'est l'objet qui doit les faire respecter, pas le développeur qui « fait attention ».</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 Bloc UML. Aujourd'hui : lire un diagramme de classes simple. Les autres notations (héritage, composition, protected…) viennent en S2, quand on aura vu les concepts.</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 – 3 min] Début des années 1990 : des dizaines de méthodes de modélisation objet concurrentes, chacune avec ses propres dessins. Les trois plus connues : Booch (Grady Booch), OMT (James Rumbaugh), OOSE (Ivar Jacobson, inventeur des cas d'utilisation). En 1994-1995, les trois se retrouvent chez Rational Software (on les surnomme les « Three Amigos ») et fusionnent leurs notations : c'est l'Unified Modeling Language. En 1997, l'OMG (Object Management Group, qui gère aussi BPMN) l'adopte comme standard. Dernière version : UML 2.5.1, décembre 2017. Également normalisé à l'ISO (ISO/IEC 19505).</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[1:53 – 2 min] UML définit 14 types de diagrammes en deux familles. Structure : ce que le système EST (les pièces). Comportement : ce que le système FAIT (les mouvements). Les cases orange sont ceux qu'on utilisera dans le cours, et ceux que vous croiserez réellement en entreprise. Personne n'utilise les 14.</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[1:55 – 2 min] Montrer deux autres diagrammes utiles, sans entrer dans le détail (on y reviendra en S2 et S7). À gauche, le diagramme de cas d'utilisation : qui fait quoi avec l'application (les bonshommes sont des acteurs, les ovales des services rendus). À droite, le diagramme de séquence : qui appelle qui, dans quel ordre, quand un déclarant signale un incident par l'API.</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[1:57 – 3 min] Une classe = un rectangle en trois compartiments : le nom, les attributs (les données), les opérations (les méthodes). Un attribut s'écrit : symbole, nom, deux-points, type, et éventuellement une valeur par défaut. Une opération : symbole, nom, paramètres entre parenthèses, type de retour. Les deux symboles du jour renvoient directement au guichet : le signe moins, c'est private, le coffre (seule la classe y touche) ; le signe plus, c'est public, le guichet (tout le monde peut l'utiliser). Il existe d'autres symboles : on les verra en S2, quand on aura vu l'héritage.</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 3 min] Une association est un trait entre deux classes : « un incident est lié à un utilisateur ». La flèche indique dans quel sens on navigue (depuis l'incident, on retrouve son déclarant). Le nom sur le trait dit la nature du lien : reportedBy, « déclaré par ». Les chiffres aux extrémités sont les multiplicités : combien d'objets de l'autre côté. Lire dans les deux sens : un incident est déclaré par exactement 1 utilisateur ; un utilisateur déclare de 0 à plusieurs incidents. C'est souvent là que se cachent les règles métier. Les autres relations (héritage, composition…) viendront en S2 avec les concepts correspondants.</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[2:03 – 2 min] Trois endroits. 1) Une contrainte entre accolades directement sur l'élément : {non vide}. 2) Une note, en français ou dans une forme formelle comme OCL (Object Constraint Language, le langage de contraintes standard de l'OMG) : ici, le titre ne peut pas être vide. On verra des règles OCL plus riches en S2. 3) Un diagramme d'états pour les transitions (vu tout à l'heure). En 2026, on ajoute un 4e endroit : les tests automatisés, qui vérifient ces règles à chaque modification (S8).</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 – 1 min] Des conventions partagées rendent un modèle lisible par n'importe qui. Côté C#, on suit les conventions de Microsoft : les membres publics en PascalCase (Title, StartWork). En UML on écrit souvent en camelCase (title, startWork) ; l'important est d'être cohérent dans un même document.</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[2:06 – 2 min] Tout assembler : lire ce diagramme à voix haute avec ce qu'on vient de voir. Deux listes fermées (enumeration) : la gravité et le statut. Un incident a des attributs privés, trois opérations publiques, une contrainte (le titre ne peut pas être vide). Il est déclaré par exactement un utilisateur. C'est exactement ce qu'on va retrouver dans le code dans quelques minutes. En S2, on ajoutera les analystes, les commentaires et l'héritage.</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[2:08 – 2 min] Être honnête : l'UML « complet » des années 2000 (des centaines de pages de diagrammes avant d'écrire une ligne de code) a quasiment disparu avec les méthodes agiles (Manifeste agile, 2001 : « des logiciels opérationnels plus qu'une documentation exhaustive »). Ce qui reste : l'UML croquis, pour se mettre d'accord vite. Et une raison nouvelle : un diagramme est un excellent prompt. Donner un diagramme de classes à une IA, c'est lui donner vos règles sans ambiguïté. Réaction : qui a déjà vu un diagramme UML au travail ? ✋</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 – 1 min] Chaque modèle répond à une question différente et s'adresse à un public différent. On en regarde quatre, une slide chacun.</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 – 2 min] Philosophie : C4 est né d'un constat de Simon Brown. Les équipes agiles avaient arrêté de dessiner, parce que l'UML leur paraissait trop lourd, et plus personne ne comprenait l'architecture. Son idée : « les abstractions d'abord, la notation ensuite ». On se met d'accord sur quelques notions simples (personne, système, conteneur, composant), et on dessine comme on veut, du moment que tout le monde comprend. Comme une carte routière : le touriste regarde le pays, le livreur la rue. Créé par Simon Brown (entre 2006 et 2011). Quatre niveaux de zoom : Contexte (le système et son entourage), Conteneurs (applications, bases de données), Composants, Code. Très utilisé aujourd'hui pour documenter l'architecture, parce qu'il est simple et parlant pour tout le monde. Voici IncidentHub au niveau 1 (contexte) : qui l'utilise, avec quels systèmes il échange. On y voit déjà Keycloak (Q2) et la plateforme du CCB (NIS2).</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[2:13 – 2 min] Philosophie : Alberto Brandolini résume son idée ainsi : « c'est la compréhension des développeurs, pas la connaissance des experts, qui part en production ». Si le développeur a mal compris le métier, le logiciel sera faux, même parfaitement codé. Donc on met tout le monde devant le même mur, on parle le langage du métier, et on part des événements (ce qui s'est passé), parce que tout le monde sait raconter ce qui s'est passé. C'est rapide, visuel, et ça fait remonter les désaccords (les post-its roses). Inventé par Alberto Brandolini en 2013. On réunit le métier et l'équipe devant un grand mur (ou un tableau blanc en ligne comme Miro) et on colle des post-its de couleur dans l'ordre du temps. Orange : ce qui s'est passé (verbe au passé). Bleu : l'action qui le déclenche. Jaune : qui agit. Lilas : une règle automatique. Rose : une question ouverte. Très efficace pour découvrir un métier qu'on ne connaît pas, avant tout diagramme UML.</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 – 2 min] Philosophie : Merise sépare les niveaux. D'abord le conceptuel : quelles sont les données du métier, indépendamment de toute technique (le MCD). Ensuite seulement le logique (les tables) et le physique (le SGBD choisi). L'idée : un modèle qui survit aux changements de technologie. Deuxième principe : séparer les données et les traitements. C'est exactement l'inverse de la POO, qui réunit données et comportements dans un même objet : c'est une belle question de débat. Merise est née en France à la fin des années 1970, pour l'informatisation des administrations. Elle est encore très enseignée en Belgique et en France. Son MCD (modèle conceptuel de données) décrit les entités, leurs identifiants et les associations, avec des cardinalités min,max de chaque côté. Lire : un utilisateur déclare 0 à n incidents ; un incident est déclaré par un et un seul utilisateur. Ce MCD se transforme ensuite en tables (MLD), ce qu'on fera en séance 4.</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[2:17 – 2 min] Philosophie : BPMN veut être le pont entre le métier et l'informatique. Le même dessin doit être compris par un directeur sans formation, et être assez précis pour qu'un moteur de workflow (Camunda, par exemple) l'exécute tel quel. C'est pour ça que ses symboles sont peu nombreux et très codifiés. BPMN (Business Process Model and Notation) : créé en 2004, repris par l'OMG (comme UML), version 2.0 en 2011, norme ISO/IEC 19510. Il décrit un processus métier : cercle fin = début, rectangle arrondi = tâche, losange = décision, cercle épais = fin, couloirs = qui fait quoi. Ici, le traitement d'un incident avec la décision NIS2. Les non-informaticiens le lisent sans formation : c'est sa force.</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[2:19 – 2 min] Mermaid (créé en 2014) : on écrit le diagramme en texte, l'outil le dessine. À droite, le vrai rendu Mermaid de ce texte. Avantages : il se versionne dans Git avec le code, s'affiche directement dans Forgejo, GitHub ou GitLab, et une IA sait le lire et l'écrire. C'est ce que vous utiliserez dans les livrables : un fichier docs/modele.md avec le diagramme Mermaid. PlantUML (2009) fait la même chose : les diagrammes UML de cette séance ont été générés avec lui.</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[2:21] Partage d'écran Rider, police grande. Rassurer : on lit ensemble, personne n'a besoin de suivre dans son propre éditeur.</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[2:21 – 2 min] Ouvrir Incident.cs puis Program.cs. Lire lentement. Faire le lien avec le diagramme UML : chaque attribut = une propriété. Lancer : ça marche. La slide suivante montre le problème.</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[2:23 – 2 min] Montrer que rien n'empêche d'écrire n'importe quoi. Question au chat (30 s) : qu'est-ce qui ne va pas ? Réponses attendues : titre vide, gravité en texte libre, statut « banane », tout le monde peut tout modifier. Chaque problème correspond à un outil vu dans les 3 étapes suivantes.</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[2:25 – 2 min] Un enum = une liste fermée de valeurs possibles, comme un menu déroulant au lieu d'un champ texte libre. Montrer l'erreur de compilation.</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[2:27 – 3 min] Rappeler le guichet de la banque. private set = le comptoir. Le constructeur = le guichet d'entrée qui refuse un titre vide. Lancer pour montrer l'exception. Préciser : sur le diagramme de classes, les attributs sont notés « - » (privés) ; en C#, on les expose souvent en lecture publique (get) avec une écriture privée (private set). Le diagramme simplifie.</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 – 3 min] L'objet fait respecter ses propres règles : c'est le diagramme d'états, traduit en code. Lancer Program.cs : cas valide, puis cas refusé avec message clair.</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[2:33 – 1 min] Aujourd'hui : encapsulation. Les trois autres en S2. Nommer chaque pilier avec son image : ce sont ces images qu'il faut retenir.</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[2:34] Bloc de 11 minutes. Tout est préparé dans prompts.md ; sorties de référence sur les branches demo/s01-ia-*.</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[2:34 – 2 min] Lancer le prompt en direct. Pendant la génération : c'est la façon dont la plupart des gens demandent. Si la sortie diffère de la référence : le dire (« l'IA n'est pas déterministe, c'est une leçon en soi ») et basculer sur git checkout demo/s01-ia-naif.</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[2:36 – 3 min] Laisser le code affiché dans Rider. Réactions : 👍 = 1 ou 2, ❤️ = 3 ou 4, 😮 = 5 et plus. Puis 3-4 réponses dans le chat. Ils ont les concepts de l'heure passée : ils doivent trouver l'essentiel.</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[2:39 – 2 min] Chaque défaut renvoie à un concept vu aujourd'hui. L'IA n'a pas fait « faux » : elle a fait ce qu'on lui a demandé, avec les hypothèses les plus probables. Ajuster ce tableau à la sortie réellement capturée (prompts.md).</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[2:41 – 3 min] Lancer en direct, puis git checkout demo/s01-ia-structure. Comparer les deux fichiers dans Rider (Compare with Branch). Ce qui a changé : le contexte (qui, quelle version), les contraintes (nos règles métier, celles du diagramme), la demande d'explication (pour pouvoir vérifier). C'est la méthode que recommandent les éditeurs eux-mêmes dans leurs guides de rédaction de prompts.</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[2:44 – 1 min] Boucler avec Stanford : le groupe qui échouait était celui qui ne vérifiait pas. Et remarquer : le prompt structuré, c'est notre diagramme UML écrit en phrases.</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 – 3 min] Trois choses, pas plus. Guides dans Teams. Canal Entraide ouvert dès ce soir. La séance 2, on code : l'environnement doit fonctionner.</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[2:48 – 6 min] Coller le lien Forms. Ce premier QCM est un rodage : non coté, il sert à découvrir le format et à vous donner une photo du niveau. Le check-in de présence est dans le même formulaire.</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[2:54] Fin. Arrêter l'enregistrement. Après la séance : exporter les réponses Forms, remplir leve-la-main.md.</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jp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4.jpg"/><Relationship Id="rId5" Type="http://schemas.openxmlformats.org/officeDocument/2006/relationships/image" Target="../media/image3.jpg"/><Relationship Id="rId4" Type="http://schemas.openxmlformats.org/officeDocument/2006/relationships/image" Target="../media/image2.jpg"/></Relationships>
</file>

<file path=ppt/slides/_rels/slide4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3.xml"/><Relationship Id="rId1" Type="http://schemas.openxmlformats.org/officeDocument/2006/relationships/slideLayout" Target="../slideLayouts/slideLayout1.xml"/><Relationship Id="rId4" Type="http://schemas.openxmlformats.org/officeDocument/2006/relationships/image" Target="../media/image8.jp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640080" y="1737360"/>
            <a:ext cx="274320" cy="274320"/>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640080" y="2194560"/>
            <a:ext cx="10911535" cy="1097280"/>
          </a:xfrm>
          <a:prstGeom prst="rect">
            <a:avLst/>
          </a:prstGeom>
          <a:noFill/>
          <a:ln/>
        </p:spPr>
        <p:txBody>
          <a:bodyPr wrap="square" lIns="0" tIns="0" rIns="0" bIns="0" rtlCol="0" anchor="ctr"/>
          <a:lstStyle/>
          <a:p>
            <a:pPr marL="0" indent="0">
              <a:buNone/>
            </a:pPr>
            <a:r>
              <a:rPr lang="en-US" sz="5400" b="1" dirty="0">
                <a:solidFill>
                  <a:srgbClr val="FFFFFF"/>
                </a:solidFill>
                <a:latin typeface="Arial" pitchFamily="34" charset="0"/>
                <a:ea typeface="Arial" pitchFamily="34" charset="-122"/>
                <a:cs typeface="Arial" pitchFamily="34" charset="-120"/>
              </a:rPr>
              <a:t>Complément Application</a:t>
            </a:r>
            <a:endParaRPr lang="en-US" sz="5400" dirty="0"/>
          </a:p>
        </p:txBody>
      </p:sp>
      <p:sp>
        <p:nvSpPr>
          <p:cNvPr id="4" name="Text 2"/>
          <p:cNvSpPr txBox="1"/>
          <p:nvPr/>
        </p:nvSpPr>
        <p:spPr>
          <a:xfrm>
            <a:off x="640080" y="3291840"/>
            <a:ext cx="10911535" cy="640080"/>
          </a:xfrm>
          <a:prstGeom prst="rect">
            <a:avLst/>
          </a:prstGeom>
          <a:noFill/>
          <a:ln/>
        </p:spPr>
        <p:txBody>
          <a:bodyPr wrap="square" lIns="0" tIns="0" rIns="0" bIns="0" rtlCol="0" anchor="ctr"/>
          <a:lstStyle/>
          <a:p>
            <a:pPr marL="0" indent="0">
              <a:buNone/>
            </a:pPr>
            <a:r>
              <a:rPr lang="en-US" sz="2600" dirty="0">
                <a:solidFill>
                  <a:srgbClr val="C9CDD3"/>
                </a:solidFill>
                <a:latin typeface="Calibri" pitchFamily="34" charset="0"/>
                <a:ea typeface="Calibri" pitchFamily="34" charset="-122"/>
                <a:cs typeface="Calibri" pitchFamily="34" charset="-120"/>
              </a:rPr>
              <a:t>Séance 1 · Lancement</a:t>
            </a:r>
            <a:endParaRPr lang="en-US" sz="2600" dirty="0"/>
          </a:p>
        </p:txBody>
      </p:sp>
      <p:sp>
        <p:nvSpPr>
          <p:cNvPr id="5" name="Text 3"/>
          <p:cNvSpPr txBox="1"/>
          <p:nvPr/>
        </p:nvSpPr>
        <p:spPr>
          <a:xfrm>
            <a:off x="640080" y="5120640"/>
            <a:ext cx="10911535" cy="365760"/>
          </a:xfrm>
          <a:prstGeom prst="rect">
            <a:avLst/>
          </a:prstGeom>
          <a:noFill/>
          <a:ln/>
        </p:spPr>
        <p:txBody>
          <a:bodyPr wrap="square" lIns="0" tIns="0" rIns="0" bIns="0" rtlCol="0" anchor="ctr"/>
          <a:lstStyle/>
          <a:p>
            <a:pPr marL="0" indent="0">
              <a:buNone/>
            </a:pPr>
            <a:r>
              <a:rPr lang="en-US" sz="1400" dirty="0">
                <a:solidFill>
                  <a:srgbClr val="9AA0A8"/>
                </a:solidFill>
                <a:latin typeface="Calibri" pitchFamily="34" charset="0"/>
                <a:ea typeface="Calibri" pitchFamily="34" charset="-122"/>
                <a:cs typeface="Calibri" pitchFamily="34" charset="-120"/>
              </a:rPr>
              <a:t>HEPH Condorcet · Bachelier de spécialisation en sécurité des réseaux et systèmes informatiques · 2026-2027</a:t>
            </a:r>
            <a:endParaRPr lang="en-US" sz="1400" dirty="0"/>
          </a:p>
        </p:txBody>
      </p:sp>
      <p:sp>
        <p:nvSpPr>
          <p:cNvPr id="6" name="Text 4"/>
          <p:cNvSpPr txBox="1"/>
          <p:nvPr/>
        </p:nvSpPr>
        <p:spPr>
          <a:xfrm>
            <a:off x="640080" y="5486400"/>
            <a:ext cx="10911535" cy="365760"/>
          </a:xfrm>
          <a:prstGeom prst="rect">
            <a:avLst/>
          </a:prstGeom>
          <a:noFill/>
          <a:ln/>
        </p:spPr>
        <p:txBody>
          <a:bodyPr wrap="square" lIns="0" tIns="0" rIns="0" bIns="0" rtlCol="0" anchor="ctr"/>
          <a:lstStyle/>
          <a:p>
            <a:pPr marL="0" indent="0">
              <a:buNone/>
            </a:pPr>
            <a:r>
              <a:rPr lang="en-US" sz="1400" dirty="0">
                <a:solidFill>
                  <a:srgbClr val="9AA0A8"/>
                </a:solidFill>
                <a:latin typeface="Calibri" pitchFamily="34" charset="0"/>
                <a:ea typeface="Calibri" pitchFamily="34" charset="-122"/>
                <a:cs typeface="Calibri" pitchFamily="34" charset="-120"/>
              </a:rPr>
              <a:t>Ludwig Lebrun · 23 septembre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AVANT DE COMMENCER</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Comment on va fonctionner ensemble</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2</a:t>
            </a:r>
            <a:endParaRPr lang="en-US" sz="1000" dirty="0"/>
          </a:p>
        </p:txBody>
      </p:sp>
      <p:sp>
        <p:nvSpPr>
          <p:cNvPr id="8" name="Shape 5"/>
          <p:cNvSpPr/>
          <p:nvPr/>
        </p:nvSpPr>
        <p:spPr>
          <a:xfrm>
            <a:off x="640080" y="2103120"/>
            <a:ext cx="5303520" cy="1645920"/>
          </a:xfrm>
          <a:prstGeom prst="roundRect">
            <a:avLst>
              <a:gd name="adj" fmla="val 4444"/>
            </a:avLst>
          </a:prstGeom>
          <a:solidFill>
            <a:srgbClr val="F2F3F5"/>
          </a:solidFill>
          <a:ln w="12700">
            <a:solidFill>
              <a:srgbClr val="F2F3F5"/>
            </a:solidFill>
            <a:prstDash val="solid"/>
          </a:ln>
        </p:spPr>
        <p:txBody>
          <a:bodyPr/>
          <a:lstStyle/>
          <a:p>
            <a:endParaRPr lang="fr-BE"/>
          </a:p>
        </p:txBody>
      </p:sp>
      <p:sp>
        <p:nvSpPr>
          <p:cNvPr id="9" name="Text 6"/>
          <p:cNvSpPr txBox="1"/>
          <p:nvPr/>
        </p:nvSpPr>
        <p:spPr>
          <a:xfrm>
            <a:off x="960120" y="2377440"/>
            <a:ext cx="4663440" cy="457200"/>
          </a:xfrm>
          <a:prstGeom prst="rect">
            <a:avLst/>
          </a:prstGeom>
          <a:noFill/>
          <a:ln/>
        </p:spPr>
        <p:txBody>
          <a:bodyPr wrap="square" lIns="0" tIns="0" rIns="0" bIns="0" rtlCol="0" anchor="ctr"/>
          <a:lstStyle/>
          <a:p>
            <a:pPr marL="0" indent="0">
              <a:buNone/>
            </a:pPr>
            <a:r>
              <a:rPr lang="en-US" sz="2200" b="1" dirty="0">
                <a:solidFill>
                  <a:srgbClr val="16181D"/>
                </a:solidFill>
                <a:latin typeface="Arial" pitchFamily="34" charset="0"/>
                <a:ea typeface="Arial" pitchFamily="34" charset="-122"/>
                <a:cs typeface="Arial" pitchFamily="34" charset="-120"/>
              </a:rPr>
              <a:t>Micro coupé par défaut</a:t>
            </a:r>
            <a:endParaRPr lang="en-US" sz="2200" dirty="0"/>
          </a:p>
        </p:txBody>
      </p:sp>
      <p:sp>
        <p:nvSpPr>
          <p:cNvPr id="10" name="Text 7"/>
          <p:cNvSpPr txBox="1"/>
          <p:nvPr/>
        </p:nvSpPr>
        <p:spPr>
          <a:xfrm>
            <a:off x="960120" y="2880360"/>
            <a:ext cx="4663440" cy="731520"/>
          </a:xfrm>
          <a:prstGeom prst="rect">
            <a:avLst/>
          </a:prstGeom>
          <a:noFill/>
          <a:ln/>
        </p:spPr>
        <p:txBody>
          <a:bodyPr wrap="square" lIns="0" tIns="0" rIns="0" bIns="0" rtlCol="0" anchor="t"/>
          <a:lstStyle/>
          <a:p>
            <a:pPr marL="0" indent="0">
              <a:buNone/>
            </a:pPr>
            <a:r>
              <a:rPr lang="en-US" sz="1700" dirty="0">
                <a:solidFill>
                  <a:srgbClr val="5F6670"/>
                </a:solidFill>
                <a:latin typeface="Calibri" pitchFamily="34" charset="0"/>
                <a:ea typeface="Calibri" pitchFamily="34" charset="-122"/>
                <a:cs typeface="Calibri" pitchFamily="34" charset="-120"/>
              </a:rPr>
              <a:t>Pour le confort de tous. Levez la main dans Teams : je vous donne la parole avec plaisir.</a:t>
            </a:r>
            <a:endParaRPr lang="en-US" sz="1700" dirty="0"/>
          </a:p>
        </p:txBody>
      </p:sp>
      <p:sp>
        <p:nvSpPr>
          <p:cNvPr id="11" name="Shape 8"/>
          <p:cNvSpPr/>
          <p:nvPr/>
        </p:nvSpPr>
        <p:spPr>
          <a:xfrm>
            <a:off x="6217920" y="2103120"/>
            <a:ext cx="5303520" cy="1645920"/>
          </a:xfrm>
          <a:prstGeom prst="roundRect">
            <a:avLst>
              <a:gd name="adj" fmla="val 4444"/>
            </a:avLst>
          </a:prstGeom>
          <a:solidFill>
            <a:srgbClr val="F2F3F5"/>
          </a:solidFill>
          <a:ln w="12700">
            <a:solidFill>
              <a:srgbClr val="F2F3F5"/>
            </a:solidFill>
            <a:prstDash val="solid"/>
          </a:ln>
        </p:spPr>
        <p:txBody>
          <a:bodyPr/>
          <a:lstStyle/>
          <a:p>
            <a:endParaRPr lang="fr-BE"/>
          </a:p>
        </p:txBody>
      </p:sp>
      <p:sp>
        <p:nvSpPr>
          <p:cNvPr id="12" name="Text 9"/>
          <p:cNvSpPr txBox="1"/>
          <p:nvPr/>
        </p:nvSpPr>
        <p:spPr>
          <a:xfrm>
            <a:off x="6537960" y="2377440"/>
            <a:ext cx="4663440" cy="457200"/>
          </a:xfrm>
          <a:prstGeom prst="rect">
            <a:avLst/>
          </a:prstGeom>
          <a:noFill/>
          <a:ln/>
        </p:spPr>
        <p:txBody>
          <a:bodyPr wrap="square" lIns="0" tIns="0" rIns="0" bIns="0" rtlCol="0" anchor="ctr"/>
          <a:lstStyle/>
          <a:p>
            <a:pPr marL="0" indent="0">
              <a:buNone/>
            </a:pPr>
            <a:r>
              <a:rPr lang="en-US" sz="2200" b="1" dirty="0">
                <a:solidFill>
                  <a:srgbClr val="16181D"/>
                </a:solidFill>
                <a:latin typeface="Arial" pitchFamily="34" charset="0"/>
                <a:ea typeface="Arial" pitchFamily="34" charset="-122"/>
                <a:cs typeface="Arial" pitchFamily="34" charset="-120"/>
              </a:rPr>
              <a:t>Le chat est à vous</a:t>
            </a:r>
            <a:endParaRPr lang="en-US" sz="2200" dirty="0"/>
          </a:p>
        </p:txBody>
      </p:sp>
      <p:sp>
        <p:nvSpPr>
          <p:cNvPr id="13" name="Text 10"/>
          <p:cNvSpPr txBox="1"/>
          <p:nvPr/>
        </p:nvSpPr>
        <p:spPr>
          <a:xfrm>
            <a:off x="6537960" y="2880360"/>
            <a:ext cx="4663440" cy="731520"/>
          </a:xfrm>
          <a:prstGeom prst="rect">
            <a:avLst/>
          </a:prstGeom>
          <a:noFill/>
          <a:ln/>
        </p:spPr>
        <p:txBody>
          <a:bodyPr wrap="square" lIns="0" tIns="0" rIns="0" bIns="0" rtlCol="0" anchor="t"/>
          <a:lstStyle/>
          <a:p>
            <a:pPr marL="0" indent="0">
              <a:buNone/>
            </a:pPr>
            <a:r>
              <a:rPr lang="en-US" sz="1700" dirty="0">
                <a:solidFill>
                  <a:srgbClr val="5F6670"/>
                </a:solidFill>
                <a:latin typeface="Calibri" pitchFamily="34" charset="0"/>
                <a:ea typeface="Calibri" pitchFamily="34" charset="-122"/>
                <a:cs typeface="Calibri" pitchFamily="34" charset="-120"/>
              </a:rPr>
              <a:t>Posez vos questions quand elles arrivent. Je les regroupe pour répondre à tout le monde.</a:t>
            </a:r>
            <a:endParaRPr lang="en-US" sz="1700" dirty="0"/>
          </a:p>
        </p:txBody>
      </p:sp>
      <p:sp>
        <p:nvSpPr>
          <p:cNvPr id="14" name="Shape 11"/>
          <p:cNvSpPr/>
          <p:nvPr/>
        </p:nvSpPr>
        <p:spPr>
          <a:xfrm>
            <a:off x="640080" y="4023360"/>
            <a:ext cx="5303520" cy="1645920"/>
          </a:xfrm>
          <a:prstGeom prst="roundRect">
            <a:avLst>
              <a:gd name="adj" fmla="val 4444"/>
            </a:avLst>
          </a:prstGeom>
          <a:solidFill>
            <a:srgbClr val="F2F3F5"/>
          </a:solidFill>
          <a:ln w="12700">
            <a:solidFill>
              <a:srgbClr val="F2F3F5"/>
            </a:solidFill>
            <a:prstDash val="solid"/>
          </a:ln>
        </p:spPr>
        <p:txBody>
          <a:bodyPr/>
          <a:lstStyle/>
          <a:p>
            <a:endParaRPr lang="fr-BE"/>
          </a:p>
        </p:txBody>
      </p:sp>
      <p:sp>
        <p:nvSpPr>
          <p:cNvPr id="15" name="Text 12"/>
          <p:cNvSpPr txBox="1"/>
          <p:nvPr/>
        </p:nvSpPr>
        <p:spPr>
          <a:xfrm>
            <a:off x="960120" y="4297680"/>
            <a:ext cx="4663440" cy="457200"/>
          </a:xfrm>
          <a:prstGeom prst="rect">
            <a:avLst/>
          </a:prstGeom>
          <a:noFill/>
          <a:ln/>
        </p:spPr>
        <p:txBody>
          <a:bodyPr wrap="square" lIns="0" tIns="0" rIns="0" bIns="0" rtlCol="0" anchor="ctr"/>
          <a:lstStyle/>
          <a:p>
            <a:pPr marL="0" indent="0">
              <a:buNone/>
            </a:pPr>
            <a:r>
              <a:rPr lang="en-US" sz="2200" b="1" dirty="0">
                <a:solidFill>
                  <a:srgbClr val="16181D"/>
                </a:solidFill>
                <a:latin typeface="Arial" pitchFamily="34" charset="0"/>
                <a:ea typeface="Arial" pitchFamily="34" charset="-122"/>
                <a:cs typeface="Arial" pitchFamily="34" charset="-120"/>
              </a:rPr>
              <a:t>Les réactions Teams</a:t>
            </a:r>
            <a:endParaRPr lang="en-US" sz="2200" dirty="0"/>
          </a:p>
        </p:txBody>
      </p:sp>
      <p:sp>
        <p:nvSpPr>
          <p:cNvPr id="16" name="Text 13"/>
          <p:cNvSpPr txBox="1"/>
          <p:nvPr/>
        </p:nvSpPr>
        <p:spPr>
          <a:xfrm>
            <a:off x="960120" y="4800600"/>
            <a:ext cx="4663440" cy="731520"/>
          </a:xfrm>
          <a:prstGeom prst="rect">
            <a:avLst/>
          </a:prstGeom>
          <a:noFill/>
          <a:ln/>
        </p:spPr>
        <p:txBody>
          <a:bodyPr wrap="square" lIns="0" tIns="0" rIns="0" bIns="0" rtlCol="0" anchor="t"/>
          <a:lstStyle/>
          <a:p>
            <a:pPr marL="0" indent="0">
              <a:buNone/>
            </a:pPr>
            <a:r>
              <a:rPr lang="en-US" sz="1700" dirty="0">
                <a:solidFill>
                  <a:srgbClr val="5F6670"/>
                </a:solidFill>
                <a:latin typeface="Calibri" pitchFamily="34" charset="0"/>
                <a:ea typeface="Calibri" pitchFamily="34" charset="-122"/>
                <a:cs typeface="Calibri" pitchFamily="34" charset="-120"/>
              </a:rPr>
              <a:t>On s'en sert pour voter en un clic. ✋ 👍 ❤️</a:t>
            </a:r>
            <a:endParaRPr lang="en-US" sz="1700" dirty="0"/>
          </a:p>
        </p:txBody>
      </p:sp>
      <p:sp>
        <p:nvSpPr>
          <p:cNvPr id="17" name="Shape 14"/>
          <p:cNvSpPr/>
          <p:nvPr/>
        </p:nvSpPr>
        <p:spPr>
          <a:xfrm>
            <a:off x="6217920" y="4023360"/>
            <a:ext cx="5303520" cy="1645920"/>
          </a:xfrm>
          <a:prstGeom prst="roundRect">
            <a:avLst>
              <a:gd name="adj" fmla="val 4444"/>
            </a:avLst>
          </a:prstGeom>
          <a:solidFill>
            <a:srgbClr val="F2F3F5"/>
          </a:solidFill>
          <a:ln w="12700">
            <a:solidFill>
              <a:srgbClr val="F2F3F5"/>
            </a:solidFill>
            <a:prstDash val="solid"/>
          </a:ln>
        </p:spPr>
        <p:txBody>
          <a:bodyPr/>
          <a:lstStyle/>
          <a:p>
            <a:endParaRPr lang="fr-BE"/>
          </a:p>
        </p:txBody>
      </p:sp>
      <p:sp>
        <p:nvSpPr>
          <p:cNvPr id="18" name="Text 15"/>
          <p:cNvSpPr txBox="1"/>
          <p:nvPr/>
        </p:nvSpPr>
        <p:spPr>
          <a:xfrm>
            <a:off x="6537960" y="4297680"/>
            <a:ext cx="4663440" cy="457200"/>
          </a:xfrm>
          <a:prstGeom prst="rect">
            <a:avLst/>
          </a:prstGeom>
          <a:noFill/>
          <a:ln/>
        </p:spPr>
        <p:txBody>
          <a:bodyPr wrap="square" lIns="0" tIns="0" rIns="0" bIns="0" rtlCol="0" anchor="ctr"/>
          <a:lstStyle/>
          <a:p>
            <a:pPr marL="0" indent="0">
              <a:buNone/>
            </a:pPr>
            <a:r>
              <a:rPr lang="en-US" sz="2200" b="1" dirty="0">
                <a:solidFill>
                  <a:srgbClr val="16181D"/>
                </a:solidFill>
                <a:latin typeface="Arial" pitchFamily="34" charset="0"/>
                <a:ea typeface="Arial" pitchFamily="34" charset="-122"/>
                <a:cs typeface="Arial" pitchFamily="34" charset="-120"/>
              </a:rPr>
              <a:t>La caméra</a:t>
            </a:r>
            <a:endParaRPr lang="en-US" sz="2200" dirty="0"/>
          </a:p>
        </p:txBody>
      </p:sp>
      <p:sp>
        <p:nvSpPr>
          <p:cNvPr id="19" name="Text 16"/>
          <p:cNvSpPr txBox="1"/>
          <p:nvPr/>
        </p:nvSpPr>
        <p:spPr>
          <a:xfrm>
            <a:off x="6537960" y="4800600"/>
            <a:ext cx="4663440" cy="731520"/>
          </a:xfrm>
          <a:prstGeom prst="rect">
            <a:avLst/>
          </a:prstGeom>
          <a:noFill/>
          <a:ln/>
        </p:spPr>
        <p:txBody>
          <a:bodyPr wrap="square" lIns="0" tIns="0" rIns="0" bIns="0" rtlCol="0" anchor="t"/>
          <a:lstStyle/>
          <a:p>
            <a:pPr marL="0" indent="0">
              <a:buNone/>
            </a:pPr>
            <a:r>
              <a:rPr lang="en-US" sz="1700" dirty="0">
                <a:solidFill>
                  <a:srgbClr val="5F6670"/>
                </a:solidFill>
                <a:latin typeface="Calibri" pitchFamily="34" charset="0"/>
                <a:ea typeface="Calibri" pitchFamily="34" charset="-122"/>
                <a:cs typeface="Calibri" pitchFamily="34" charset="-120"/>
              </a:rPr>
              <a:t>Comme vous le sentez. C'est toujours agréable de voir des visages.</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PRÉSENTATION</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Ludwig Lebrun</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14</a:t>
            </a:r>
            <a:endParaRPr lang="en-US" sz="1000" dirty="0"/>
          </a:p>
        </p:txBody>
      </p:sp>
      <p:sp>
        <p:nvSpPr>
          <p:cNvPr id="8" name="Shape 5"/>
          <p:cNvSpPr/>
          <p:nvPr/>
        </p:nvSpPr>
        <p:spPr>
          <a:xfrm>
            <a:off x="731520" y="2697480"/>
            <a:ext cx="10728655" cy="0"/>
          </a:xfrm>
          <a:prstGeom prst="line">
            <a:avLst/>
          </a:prstGeom>
          <a:noFill/>
          <a:ln w="25400">
            <a:solidFill>
              <a:srgbClr val="D9DCE1"/>
            </a:solidFill>
            <a:prstDash val="solid"/>
          </a:ln>
        </p:spPr>
        <p:txBody>
          <a:bodyPr/>
          <a:lstStyle/>
          <a:p>
            <a:endParaRPr lang="fr-BE"/>
          </a:p>
        </p:txBody>
      </p:sp>
      <p:sp>
        <p:nvSpPr>
          <p:cNvPr id="9" name="Shape 6"/>
          <p:cNvSpPr/>
          <p:nvPr/>
        </p:nvSpPr>
        <p:spPr>
          <a:xfrm>
            <a:off x="658368" y="2560320"/>
            <a:ext cx="274320" cy="274320"/>
          </a:xfrm>
          <a:prstGeom prst="ellipse">
            <a:avLst/>
          </a:prstGeom>
          <a:solidFill>
            <a:srgbClr val="16181D"/>
          </a:solidFill>
          <a:ln w="25400">
            <a:solidFill>
              <a:srgbClr val="FFFFFF"/>
            </a:solidFill>
            <a:prstDash val="solid"/>
          </a:ln>
        </p:spPr>
        <p:txBody>
          <a:bodyPr/>
          <a:lstStyle/>
          <a:p>
            <a:endParaRPr lang="fr-BE"/>
          </a:p>
        </p:txBody>
      </p:sp>
      <p:sp>
        <p:nvSpPr>
          <p:cNvPr id="10" name="Text 7"/>
          <p:cNvSpPr txBox="1"/>
          <p:nvPr/>
        </p:nvSpPr>
        <p:spPr>
          <a:xfrm>
            <a:off x="640080" y="3017520"/>
            <a:ext cx="1999427" cy="365760"/>
          </a:xfrm>
          <a:prstGeom prst="rect">
            <a:avLst/>
          </a:prstGeom>
          <a:noFill/>
          <a:ln/>
        </p:spPr>
        <p:txBody>
          <a:bodyPr wrap="square" lIns="0" tIns="0" rIns="0" bIns="0" rtlCol="0" anchor="ctr"/>
          <a:lstStyle/>
          <a:p>
            <a:pPr marL="0" indent="0">
              <a:buNone/>
            </a:pPr>
            <a:r>
              <a:rPr lang="en-US" sz="1800" b="1" dirty="0">
                <a:solidFill>
                  <a:srgbClr val="16181D"/>
                </a:solidFill>
                <a:latin typeface="Arial" pitchFamily="34" charset="0"/>
                <a:ea typeface="Arial" pitchFamily="34" charset="-122"/>
                <a:cs typeface="Arial" pitchFamily="34" charset="-120"/>
              </a:rPr>
              <a:t>2017</a:t>
            </a:r>
            <a:endParaRPr lang="en-US" sz="1800" dirty="0"/>
          </a:p>
        </p:txBody>
      </p:sp>
      <p:sp>
        <p:nvSpPr>
          <p:cNvPr id="11" name="Text 8"/>
          <p:cNvSpPr txBox="1"/>
          <p:nvPr/>
        </p:nvSpPr>
        <p:spPr>
          <a:xfrm>
            <a:off x="640080" y="3429000"/>
            <a:ext cx="1953707" cy="1188720"/>
          </a:xfrm>
          <a:prstGeom prst="rect">
            <a:avLst/>
          </a:prstGeom>
          <a:noFill/>
          <a:ln/>
        </p:spPr>
        <p:txBody>
          <a:bodyPr wrap="square" lIns="0" tIns="0" rIns="0" bIns="0" rtlCol="0" anchor="t"/>
          <a:lstStyle/>
          <a:p>
            <a:pPr marL="0" indent="0">
              <a:buNone/>
            </a:pPr>
            <a:r>
              <a:rPr lang="en-US" sz="1500" dirty="0">
                <a:solidFill>
                  <a:srgbClr val="5F6670"/>
                </a:solidFill>
                <a:latin typeface="Calibri" pitchFamily="34" charset="0"/>
                <a:ea typeface="Calibri" pitchFamily="34" charset="-122"/>
                <a:cs typeface="Calibri" pitchFamily="34" charset="-120"/>
              </a:rPr>
              <a:t>Stage puis développeur .NET</a:t>
            </a:r>
            <a:endParaRPr lang="en-US" sz="1500" dirty="0"/>
          </a:p>
        </p:txBody>
      </p:sp>
      <p:sp>
        <p:nvSpPr>
          <p:cNvPr id="12" name="Shape 9"/>
          <p:cNvSpPr/>
          <p:nvPr/>
        </p:nvSpPr>
        <p:spPr>
          <a:xfrm>
            <a:off x="2840675" y="2560320"/>
            <a:ext cx="274320" cy="274320"/>
          </a:xfrm>
          <a:prstGeom prst="ellipse">
            <a:avLst/>
          </a:prstGeom>
          <a:solidFill>
            <a:srgbClr val="16181D"/>
          </a:solidFill>
          <a:ln w="25400">
            <a:solidFill>
              <a:srgbClr val="FFFFFF"/>
            </a:solidFill>
            <a:prstDash val="solid"/>
          </a:ln>
        </p:spPr>
        <p:txBody>
          <a:bodyPr/>
          <a:lstStyle/>
          <a:p>
            <a:endParaRPr lang="fr-BE"/>
          </a:p>
        </p:txBody>
      </p:sp>
      <p:sp>
        <p:nvSpPr>
          <p:cNvPr id="13" name="Text 10"/>
          <p:cNvSpPr txBox="1"/>
          <p:nvPr/>
        </p:nvSpPr>
        <p:spPr>
          <a:xfrm>
            <a:off x="2822387" y="3017520"/>
            <a:ext cx="1999427" cy="365760"/>
          </a:xfrm>
          <a:prstGeom prst="rect">
            <a:avLst/>
          </a:prstGeom>
          <a:noFill/>
          <a:ln/>
        </p:spPr>
        <p:txBody>
          <a:bodyPr wrap="square" lIns="0" tIns="0" rIns="0" bIns="0" rtlCol="0" anchor="ctr"/>
          <a:lstStyle/>
          <a:p>
            <a:pPr marL="0" indent="0">
              <a:buNone/>
            </a:pPr>
            <a:r>
              <a:rPr lang="en-US" sz="1800" b="1" dirty="0">
                <a:solidFill>
                  <a:srgbClr val="16181D"/>
                </a:solidFill>
                <a:latin typeface="Arial" pitchFamily="34" charset="0"/>
                <a:ea typeface="Arial" pitchFamily="34" charset="-122"/>
                <a:cs typeface="Arial" pitchFamily="34" charset="-120"/>
              </a:rPr>
              <a:t>2017-2025</a:t>
            </a:r>
            <a:endParaRPr lang="en-US" sz="1800" dirty="0"/>
          </a:p>
        </p:txBody>
      </p:sp>
      <p:sp>
        <p:nvSpPr>
          <p:cNvPr id="14" name="Text 11"/>
          <p:cNvSpPr txBox="1"/>
          <p:nvPr/>
        </p:nvSpPr>
        <p:spPr>
          <a:xfrm>
            <a:off x="2822387" y="3429000"/>
            <a:ext cx="1953707" cy="1188720"/>
          </a:xfrm>
          <a:prstGeom prst="rect">
            <a:avLst/>
          </a:prstGeom>
          <a:noFill/>
          <a:ln/>
        </p:spPr>
        <p:txBody>
          <a:bodyPr wrap="square" lIns="0" tIns="0" rIns="0" bIns="0" rtlCol="0" anchor="t"/>
          <a:lstStyle/>
          <a:p>
            <a:pPr marL="0" indent="0">
              <a:buNone/>
            </a:pPr>
            <a:r>
              <a:rPr lang="en-US" sz="1500" dirty="0">
                <a:solidFill>
                  <a:srgbClr val="5F6670"/>
                </a:solidFill>
                <a:latin typeface="Calibri" pitchFamily="34" charset="0"/>
                <a:ea typeface="Calibri" pitchFamily="34" charset="-122"/>
                <a:cs typeface="Calibri" pitchFamily="34" charset="-120"/>
              </a:rPr>
              <a:t>Développeur full stack .NET</a:t>
            </a:r>
            <a:endParaRPr lang="en-US" sz="1500" dirty="0"/>
          </a:p>
          <a:p>
            <a:pPr marL="0" indent="0">
              <a:buNone/>
            </a:pPr>
            <a:r>
              <a:rPr lang="en-US" sz="1500" dirty="0">
                <a:solidFill>
                  <a:srgbClr val="5F6670"/>
                </a:solidFill>
                <a:latin typeface="Calibri" pitchFamily="34" charset="0"/>
                <a:ea typeface="Calibri" pitchFamily="34" charset="-122"/>
                <a:cs typeface="Calibri" pitchFamily="34" charset="-120"/>
              </a:rPr>
              <a:t>Clean Architecture, DDD, microservices</a:t>
            </a:r>
            <a:endParaRPr lang="en-US" sz="1500" dirty="0"/>
          </a:p>
        </p:txBody>
      </p:sp>
      <p:sp>
        <p:nvSpPr>
          <p:cNvPr id="15" name="Shape 12"/>
          <p:cNvSpPr/>
          <p:nvPr/>
        </p:nvSpPr>
        <p:spPr>
          <a:xfrm>
            <a:off x="5022982" y="2560320"/>
            <a:ext cx="274320" cy="274320"/>
          </a:xfrm>
          <a:prstGeom prst="ellipse">
            <a:avLst/>
          </a:prstGeom>
          <a:solidFill>
            <a:srgbClr val="16181D"/>
          </a:solidFill>
          <a:ln w="25400">
            <a:solidFill>
              <a:srgbClr val="FFFFFF"/>
            </a:solidFill>
            <a:prstDash val="solid"/>
          </a:ln>
        </p:spPr>
        <p:txBody>
          <a:bodyPr/>
          <a:lstStyle/>
          <a:p>
            <a:endParaRPr lang="fr-BE"/>
          </a:p>
        </p:txBody>
      </p:sp>
      <p:sp>
        <p:nvSpPr>
          <p:cNvPr id="16" name="Text 13"/>
          <p:cNvSpPr txBox="1"/>
          <p:nvPr/>
        </p:nvSpPr>
        <p:spPr>
          <a:xfrm>
            <a:off x="5004694" y="3017520"/>
            <a:ext cx="1999427" cy="365760"/>
          </a:xfrm>
          <a:prstGeom prst="rect">
            <a:avLst/>
          </a:prstGeom>
          <a:noFill/>
          <a:ln/>
        </p:spPr>
        <p:txBody>
          <a:bodyPr wrap="square" lIns="0" tIns="0" rIns="0" bIns="0" rtlCol="0" anchor="ctr"/>
          <a:lstStyle/>
          <a:p>
            <a:pPr marL="0" indent="0">
              <a:buNone/>
            </a:pPr>
            <a:r>
              <a:rPr lang="en-US" sz="1800" b="1" dirty="0">
                <a:solidFill>
                  <a:srgbClr val="16181D"/>
                </a:solidFill>
                <a:latin typeface="Arial" pitchFamily="34" charset="0"/>
                <a:ea typeface="Arial" pitchFamily="34" charset="-122"/>
                <a:cs typeface="Arial" pitchFamily="34" charset="-120"/>
              </a:rPr>
              <a:t>2020-2022</a:t>
            </a:r>
            <a:endParaRPr lang="en-US" sz="1800" dirty="0"/>
          </a:p>
        </p:txBody>
      </p:sp>
      <p:sp>
        <p:nvSpPr>
          <p:cNvPr id="17" name="Text 14"/>
          <p:cNvSpPr txBox="1"/>
          <p:nvPr/>
        </p:nvSpPr>
        <p:spPr>
          <a:xfrm>
            <a:off x="5004694" y="3429000"/>
            <a:ext cx="1953707" cy="1188720"/>
          </a:xfrm>
          <a:prstGeom prst="rect">
            <a:avLst/>
          </a:prstGeom>
          <a:noFill/>
          <a:ln/>
        </p:spPr>
        <p:txBody>
          <a:bodyPr wrap="square" lIns="0" tIns="0" rIns="0" bIns="0" rtlCol="0" anchor="t"/>
          <a:lstStyle/>
          <a:p>
            <a:pPr marL="0" indent="0">
              <a:buNone/>
            </a:pPr>
            <a:r>
              <a:rPr lang="en-US" sz="1500" dirty="0">
                <a:solidFill>
                  <a:srgbClr val="5F6670"/>
                </a:solidFill>
                <a:latin typeface="Calibri" pitchFamily="34" charset="0"/>
                <a:ea typeface="Calibri" pitchFamily="34" charset="-122"/>
                <a:cs typeface="Calibri" pitchFamily="34" charset="-120"/>
              </a:rPr>
              <a:t>Analyste, chef de projet</a:t>
            </a:r>
            <a:endParaRPr lang="en-US" sz="1500" dirty="0"/>
          </a:p>
          <a:p>
            <a:pPr marL="0" indent="0">
              <a:buNone/>
            </a:pPr>
            <a:r>
              <a:rPr lang="en-US" sz="1500" dirty="0">
                <a:solidFill>
                  <a:srgbClr val="5F6670"/>
                </a:solidFill>
                <a:latin typeface="Calibri" pitchFamily="34" charset="0"/>
                <a:ea typeface="Calibri" pitchFamily="34" charset="-122"/>
                <a:cs typeface="Calibri" pitchFamily="34" charset="-120"/>
              </a:rPr>
              <a:t>Team leader développement</a:t>
            </a:r>
            <a:endParaRPr lang="en-US" sz="1500" dirty="0"/>
          </a:p>
        </p:txBody>
      </p:sp>
      <p:sp>
        <p:nvSpPr>
          <p:cNvPr id="18" name="Shape 15"/>
          <p:cNvSpPr/>
          <p:nvPr/>
        </p:nvSpPr>
        <p:spPr>
          <a:xfrm>
            <a:off x="7205289" y="2560320"/>
            <a:ext cx="274320" cy="274320"/>
          </a:xfrm>
          <a:prstGeom prst="ellipse">
            <a:avLst/>
          </a:prstGeom>
          <a:solidFill>
            <a:srgbClr val="16181D"/>
          </a:solidFill>
          <a:ln w="25400">
            <a:solidFill>
              <a:srgbClr val="FFFFFF"/>
            </a:solidFill>
            <a:prstDash val="solid"/>
          </a:ln>
        </p:spPr>
        <p:txBody>
          <a:bodyPr/>
          <a:lstStyle/>
          <a:p>
            <a:endParaRPr lang="fr-BE"/>
          </a:p>
        </p:txBody>
      </p:sp>
      <p:sp>
        <p:nvSpPr>
          <p:cNvPr id="19" name="Text 16"/>
          <p:cNvSpPr txBox="1"/>
          <p:nvPr/>
        </p:nvSpPr>
        <p:spPr>
          <a:xfrm>
            <a:off x="7187001" y="3017520"/>
            <a:ext cx="1999427" cy="365760"/>
          </a:xfrm>
          <a:prstGeom prst="rect">
            <a:avLst/>
          </a:prstGeom>
          <a:noFill/>
          <a:ln/>
        </p:spPr>
        <p:txBody>
          <a:bodyPr wrap="square" lIns="0" tIns="0" rIns="0" bIns="0" rtlCol="0" anchor="ctr"/>
          <a:lstStyle/>
          <a:p>
            <a:pPr marL="0" indent="0">
              <a:buNone/>
            </a:pPr>
            <a:r>
              <a:rPr lang="en-US" sz="1800" b="1" dirty="0">
                <a:solidFill>
                  <a:srgbClr val="16181D"/>
                </a:solidFill>
                <a:latin typeface="Arial" pitchFamily="34" charset="0"/>
                <a:ea typeface="Arial" pitchFamily="34" charset="-122"/>
                <a:cs typeface="Arial" pitchFamily="34" charset="-120"/>
              </a:rPr>
              <a:t>2021-2025</a:t>
            </a:r>
            <a:endParaRPr lang="en-US" sz="1800" dirty="0"/>
          </a:p>
        </p:txBody>
      </p:sp>
      <p:sp>
        <p:nvSpPr>
          <p:cNvPr id="20" name="Text 17"/>
          <p:cNvSpPr txBox="1"/>
          <p:nvPr/>
        </p:nvSpPr>
        <p:spPr>
          <a:xfrm>
            <a:off x="7187001" y="3429000"/>
            <a:ext cx="1953707" cy="1188720"/>
          </a:xfrm>
          <a:prstGeom prst="rect">
            <a:avLst/>
          </a:prstGeom>
          <a:noFill/>
          <a:ln/>
        </p:spPr>
        <p:txBody>
          <a:bodyPr wrap="square" lIns="0" tIns="0" rIns="0" bIns="0" rtlCol="0" anchor="t"/>
          <a:lstStyle/>
          <a:p>
            <a:pPr marL="0" indent="0">
              <a:buNone/>
            </a:pPr>
            <a:r>
              <a:rPr lang="en-US" sz="1500" dirty="0">
                <a:solidFill>
                  <a:srgbClr val="5F6670"/>
                </a:solidFill>
                <a:latin typeface="Calibri" pitchFamily="34" charset="0"/>
                <a:ea typeface="Calibri" pitchFamily="34" charset="-122"/>
                <a:cs typeface="Calibri" pitchFamily="34" charset="-120"/>
              </a:rPr>
              <a:t>Chief Maintenance Officer</a:t>
            </a:r>
            <a:endParaRPr lang="en-US" sz="1500" dirty="0"/>
          </a:p>
          <a:p>
            <a:pPr marL="0" indent="0">
              <a:buNone/>
            </a:pPr>
            <a:r>
              <a:rPr lang="en-US" sz="1500" dirty="0">
                <a:solidFill>
                  <a:srgbClr val="5F6670"/>
                </a:solidFill>
                <a:latin typeface="Calibri" pitchFamily="34" charset="0"/>
                <a:ea typeface="Calibri" pitchFamily="34" charset="-122"/>
                <a:cs typeface="Calibri" pitchFamily="34" charset="-120"/>
              </a:rPr>
              <a:t>Toutes les applis en production</a:t>
            </a:r>
            <a:endParaRPr lang="en-US" sz="1500" dirty="0"/>
          </a:p>
        </p:txBody>
      </p:sp>
      <p:sp>
        <p:nvSpPr>
          <p:cNvPr id="21" name="Shape 18"/>
          <p:cNvSpPr/>
          <p:nvPr/>
        </p:nvSpPr>
        <p:spPr>
          <a:xfrm>
            <a:off x="9387596" y="2560320"/>
            <a:ext cx="274320" cy="274320"/>
          </a:xfrm>
          <a:prstGeom prst="ellipse">
            <a:avLst/>
          </a:prstGeom>
          <a:solidFill>
            <a:srgbClr val="E8590C"/>
          </a:solidFill>
          <a:ln w="25400">
            <a:solidFill>
              <a:srgbClr val="FFFFFF"/>
            </a:solidFill>
            <a:prstDash val="solid"/>
          </a:ln>
        </p:spPr>
        <p:txBody>
          <a:bodyPr/>
          <a:lstStyle/>
          <a:p>
            <a:endParaRPr lang="fr-BE"/>
          </a:p>
        </p:txBody>
      </p:sp>
      <p:sp>
        <p:nvSpPr>
          <p:cNvPr id="22" name="Text 19"/>
          <p:cNvSpPr txBox="1"/>
          <p:nvPr/>
        </p:nvSpPr>
        <p:spPr>
          <a:xfrm>
            <a:off x="9369308" y="3017520"/>
            <a:ext cx="1999427" cy="365760"/>
          </a:xfrm>
          <a:prstGeom prst="rect">
            <a:avLst/>
          </a:prstGeom>
          <a:noFill/>
          <a:ln/>
        </p:spPr>
        <p:txBody>
          <a:bodyPr wrap="square" lIns="0" tIns="0" rIns="0" bIns="0" rtlCol="0" anchor="ctr"/>
          <a:lstStyle/>
          <a:p>
            <a:pPr marL="0" indent="0">
              <a:buNone/>
            </a:pPr>
            <a:r>
              <a:rPr lang="en-US" sz="1800" b="1" dirty="0">
                <a:solidFill>
                  <a:srgbClr val="E8590C"/>
                </a:solidFill>
                <a:latin typeface="Arial" pitchFamily="34" charset="0"/>
                <a:ea typeface="Arial" pitchFamily="34" charset="-122"/>
                <a:cs typeface="Arial" pitchFamily="34" charset="-120"/>
              </a:rPr>
              <a:t>2025</a:t>
            </a:r>
            <a:endParaRPr lang="en-US" sz="1800" dirty="0"/>
          </a:p>
        </p:txBody>
      </p:sp>
      <p:sp>
        <p:nvSpPr>
          <p:cNvPr id="23" name="Text 20"/>
          <p:cNvSpPr txBox="1"/>
          <p:nvPr/>
        </p:nvSpPr>
        <p:spPr>
          <a:xfrm>
            <a:off x="9369308" y="3429000"/>
            <a:ext cx="1953707" cy="1188720"/>
          </a:xfrm>
          <a:prstGeom prst="rect">
            <a:avLst/>
          </a:prstGeom>
          <a:noFill/>
          <a:ln/>
        </p:spPr>
        <p:txBody>
          <a:bodyPr wrap="square" lIns="0" tIns="0" rIns="0" bIns="0" rtlCol="0" anchor="t"/>
          <a:lstStyle/>
          <a:p>
            <a:pPr marL="0" indent="0">
              <a:buNone/>
            </a:pPr>
            <a:r>
              <a:rPr lang="en-US" sz="1500" dirty="0">
                <a:solidFill>
                  <a:srgbClr val="5F6670"/>
                </a:solidFill>
                <a:latin typeface="Calibri" pitchFamily="34" charset="0"/>
                <a:ea typeface="Calibri" pitchFamily="34" charset="-122"/>
                <a:cs typeface="Calibri" pitchFamily="34" charset="-120"/>
              </a:rPr>
              <a:t>Delivery Manager @ Eonix</a:t>
            </a:r>
            <a:endParaRPr lang="en-US" sz="1500" dirty="0"/>
          </a:p>
        </p:txBody>
      </p:sp>
      <p:sp>
        <p:nvSpPr>
          <p:cNvPr id="24" name="Text 21"/>
          <p:cNvSpPr txBox="1"/>
          <p:nvPr/>
        </p:nvSpPr>
        <p:spPr>
          <a:xfrm>
            <a:off x="640080" y="4937760"/>
            <a:ext cx="10911535" cy="914400"/>
          </a:xfrm>
          <a:prstGeom prst="rect">
            <a:avLst/>
          </a:prstGeom>
          <a:noFill/>
          <a:ln/>
        </p:spPr>
        <p:txBody>
          <a:bodyPr wrap="square" lIns="0" tIns="0" rIns="0" bIns="0" rtlCol="0" anchor="t"/>
          <a:lstStyle/>
          <a:p>
            <a:pPr marL="0" indent="0">
              <a:buNone/>
            </a:pPr>
            <a:r>
              <a:rPr lang="en-US" sz="1600" dirty="0">
                <a:solidFill>
                  <a:srgbClr val="16181D"/>
                </a:solidFill>
                <a:latin typeface="Calibri" pitchFamily="34" charset="0"/>
                <a:ea typeface="Calibri" pitchFamily="34" charset="-122"/>
                <a:cs typeface="Calibri" pitchFamily="34" charset="-120"/>
              </a:rPr>
              <a:t>Aujourd'hui : je pilote les équipes projet, analyse et maintenance, je supervise les applications internes et j'accompagne l'arrivée de l'IA dans nos métiers (développement, analyse, gestion de projet).  ·  Enseignant à Condorcet depuis 2021.</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16181D"/>
        </a:solidFill>
        <a:effectLst/>
      </p:bgPr>
    </p:bg>
    <p:spTree>
      <p:nvGrpSpPr>
        <p:cNvPr id="1" name=""/>
        <p:cNvGrpSpPr/>
        <p:nvPr/>
      </p:nvGrpSpPr>
      <p:grpSpPr>
        <a:xfrm>
          <a:off x="0" y="0"/>
          <a:ext cx="0" cy="0"/>
          <a:chOff x="0" y="0"/>
          <a:chExt cx="0" cy="0"/>
        </a:xfrm>
      </p:grpSpPr>
      <p:sp>
        <p:nvSpPr>
          <p:cNvPr id="2" name="Text 0"/>
          <p:cNvSpPr txBox="1"/>
          <p:nvPr/>
        </p:nvSpPr>
        <p:spPr>
          <a:xfrm>
            <a:off x="640080" y="1097280"/>
            <a:ext cx="10911535" cy="457200"/>
          </a:xfrm>
          <a:prstGeom prst="rect">
            <a:avLst/>
          </a:prstGeom>
          <a:noFill/>
          <a:ln/>
        </p:spPr>
        <p:txBody>
          <a:bodyPr wrap="square" lIns="0" tIns="0" rIns="0" bIns="0" rtlCol="0" anchor="ctr"/>
          <a:lstStyle/>
          <a:p>
            <a:pPr marL="0" indent="0">
              <a:buNone/>
            </a:pPr>
            <a:r>
              <a:rPr lang="en-US" sz="1800" b="1" kern="0" spc="300" dirty="0">
                <a:solidFill>
                  <a:srgbClr val="E8590C"/>
                </a:solidFill>
                <a:latin typeface="Calibri" pitchFamily="34" charset="0"/>
                <a:ea typeface="Calibri" pitchFamily="34" charset="-122"/>
                <a:cs typeface="Calibri" pitchFamily="34" charset="-120"/>
              </a:rPr>
              <a:t>Mai 2023</a:t>
            </a:r>
            <a:endParaRPr lang="en-US" sz="1800" dirty="0"/>
          </a:p>
        </p:txBody>
      </p:sp>
      <p:sp>
        <p:nvSpPr>
          <p:cNvPr id="3" name="Text 1"/>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9AA0A8"/>
                </a:solidFill>
                <a:latin typeface="Calibri" pitchFamily="34" charset="0"/>
                <a:ea typeface="Calibri" pitchFamily="34" charset="-122"/>
                <a:cs typeface="Calibri" pitchFamily="34" charset="-120"/>
              </a:rPr>
              <a:t>Complément Application · S1</a:t>
            </a:r>
            <a:endParaRPr lang="en-US" sz="1000" dirty="0"/>
          </a:p>
        </p:txBody>
      </p:sp>
      <p:sp>
        <p:nvSpPr>
          <p:cNvPr id="4" name="Text 2"/>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9AA0A8"/>
                </a:solidFill>
                <a:latin typeface="Calibri" pitchFamily="34" charset="0"/>
                <a:ea typeface="Calibri" pitchFamily="34" charset="-122"/>
                <a:cs typeface="Calibri" pitchFamily="34" charset="-120"/>
              </a:rPr>
              <a:t>3</a:t>
            </a:r>
            <a:endParaRPr lang="en-US" sz="1000" dirty="0"/>
          </a:p>
        </p:txBody>
      </p:sp>
      <p:sp>
        <p:nvSpPr>
          <p:cNvPr id="6" name="Text 3"/>
          <p:cNvSpPr txBox="1"/>
          <p:nvPr/>
        </p:nvSpPr>
        <p:spPr>
          <a:xfrm>
            <a:off x="640080" y="1645920"/>
            <a:ext cx="10911535" cy="1097280"/>
          </a:xfrm>
          <a:prstGeom prst="rect">
            <a:avLst/>
          </a:prstGeom>
          <a:noFill/>
          <a:ln/>
        </p:spPr>
        <p:txBody>
          <a:bodyPr wrap="square" lIns="0" tIns="0" rIns="0" bIns="0" rtlCol="0" anchor="t"/>
          <a:lstStyle/>
          <a:p>
            <a:pPr marL="0" indent="0">
              <a:buNone/>
            </a:pPr>
            <a:r>
              <a:rPr lang="en-US" sz="3200" b="1" dirty="0">
                <a:solidFill>
                  <a:srgbClr val="FFFFFF"/>
                </a:solidFill>
                <a:latin typeface="Arial" pitchFamily="34" charset="0"/>
                <a:ea typeface="Arial" pitchFamily="34" charset="-122"/>
                <a:cs typeface="Arial" pitchFamily="34" charset="-120"/>
              </a:rPr>
              <a:t>MOVEit : une faille dans le code, des centaines d'organisations touchées</a:t>
            </a:r>
            <a:endParaRPr lang="en-US" sz="3200" dirty="0"/>
          </a:p>
        </p:txBody>
      </p:sp>
      <p:sp>
        <p:nvSpPr>
          <p:cNvPr id="7" name="Text 4"/>
          <p:cNvSpPr txBox="1"/>
          <p:nvPr/>
        </p:nvSpPr>
        <p:spPr>
          <a:xfrm>
            <a:off x="640080" y="2880360"/>
            <a:ext cx="6583680" cy="1371600"/>
          </a:xfrm>
          <a:prstGeom prst="rect">
            <a:avLst/>
          </a:prstGeom>
          <a:noFill/>
          <a:ln/>
        </p:spPr>
        <p:txBody>
          <a:bodyPr wrap="square" lIns="0" tIns="0" rIns="0" bIns="0" rtlCol="0" anchor="t"/>
          <a:lstStyle/>
          <a:p>
            <a:pPr marL="0" indent="0">
              <a:buNone/>
            </a:pPr>
            <a:r>
              <a:rPr lang="en-US" sz="1800" dirty="0">
                <a:solidFill>
                  <a:srgbClr val="C9CDD3"/>
                </a:solidFill>
                <a:latin typeface="Calibri" pitchFamily="34" charset="0"/>
                <a:ea typeface="Calibri" pitchFamily="34" charset="-122"/>
                <a:cs typeface="Calibri" pitchFamily="34" charset="-120"/>
              </a:rPr>
              <a:t>MOVEit Transfer est un logiciel d'échange de fichiers utilisé par des entreprises et des administrations. Le groupe criminel Cl0p y exploite une faille pour voler des données en masse.</a:t>
            </a:r>
            <a:endParaRPr lang="en-US" sz="1800" dirty="0"/>
          </a:p>
        </p:txBody>
      </p:sp>
      <p:sp>
        <p:nvSpPr>
          <p:cNvPr id="8" name="Shape 5"/>
          <p:cNvSpPr/>
          <p:nvPr/>
        </p:nvSpPr>
        <p:spPr>
          <a:xfrm>
            <a:off x="640080" y="4343400"/>
            <a:ext cx="5212080" cy="1417320"/>
          </a:xfrm>
          <a:prstGeom prst="roundRect">
            <a:avLst>
              <a:gd name="adj" fmla="val 5161"/>
            </a:avLst>
          </a:prstGeom>
          <a:solidFill>
            <a:srgbClr val="2A2D34"/>
          </a:solidFill>
          <a:ln w="12700">
            <a:solidFill>
              <a:srgbClr val="2A2D34"/>
            </a:solidFill>
            <a:prstDash val="solid"/>
          </a:ln>
        </p:spPr>
        <p:txBody>
          <a:bodyPr/>
          <a:lstStyle/>
          <a:p>
            <a:endParaRPr lang="fr-BE"/>
          </a:p>
        </p:txBody>
      </p:sp>
      <p:sp>
        <p:nvSpPr>
          <p:cNvPr id="9" name="Text 6"/>
          <p:cNvSpPr txBox="1"/>
          <p:nvPr/>
        </p:nvSpPr>
        <p:spPr>
          <a:xfrm>
            <a:off x="914400" y="4480560"/>
            <a:ext cx="4663440" cy="365760"/>
          </a:xfrm>
          <a:prstGeom prst="rect">
            <a:avLst/>
          </a:prstGeom>
          <a:noFill/>
          <a:ln/>
        </p:spPr>
        <p:txBody>
          <a:bodyPr wrap="square" lIns="0" tIns="0" rIns="0" bIns="0" rtlCol="0" anchor="ctr"/>
          <a:lstStyle/>
          <a:p>
            <a:pPr marL="0" indent="0">
              <a:buNone/>
            </a:pPr>
            <a:r>
              <a:rPr lang="en-US" sz="1700" b="1" dirty="0">
                <a:solidFill>
                  <a:srgbClr val="E8590C"/>
                </a:solidFill>
                <a:latin typeface="Arial" pitchFamily="34" charset="0"/>
                <a:ea typeface="Arial" pitchFamily="34" charset="-122"/>
                <a:cs typeface="Arial" pitchFamily="34" charset="-120"/>
              </a:rPr>
              <a:t>La faille</a:t>
            </a:r>
            <a:endParaRPr lang="en-US" sz="1700" dirty="0"/>
          </a:p>
        </p:txBody>
      </p:sp>
      <p:sp>
        <p:nvSpPr>
          <p:cNvPr id="10" name="Text 7"/>
          <p:cNvSpPr txBox="1"/>
          <p:nvPr/>
        </p:nvSpPr>
        <p:spPr>
          <a:xfrm>
            <a:off x="914400" y="4892040"/>
            <a:ext cx="4663440" cy="77724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Une injection SQL (CVE-2023-34362) : une requête construite avec des données venues de l'extérieur.</a:t>
            </a:r>
            <a:endParaRPr lang="en-US" sz="1500" dirty="0"/>
          </a:p>
        </p:txBody>
      </p:sp>
      <p:sp>
        <p:nvSpPr>
          <p:cNvPr id="11" name="Shape 8"/>
          <p:cNvSpPr/>
          <p:nvPr/>
        </p:nvSpPr>
        <p:spPr>
          <a:xfrm>
            <a:off x="6080760" y="4343400"/>
            <a:ext cx="5212080" cy="1417320"/>
          </a:xfrm>
          <a:prstGeom prst="roundRect">
            <a:avLst>
              <a:gd name="adj" fmla="val 5161"/>
            </a:avLst>
          </a:prstGeom>
          <a:solidFill>
            <a:srgbClr val="2A2D34"/>
          </a:solidFill>
          <a:ln w="12700">
            <a:solidFill>
              <a:srgbClr val="2A2D34"/>
            </a:solidFill>
            <a:prstDash val="solid"/>
          </a:ln>
        </p:spPr>
        <p:txBody>
          <a:bodyPr/>
          <a:lstStyle/>
          <a:p>
            <a:endParaRPr lang="fr-BE"/>
          </a:p>
        </p:txBody>
      </p:sp>
      <p:sp>
        <p:nvSpPr>
          <p:cNvPr id="12" name="Text 9"/>
          <p:cNvSpPr txBox="1"/>
          <p:nvPr/>
        </p:nvSpPr>
        <p:spPr>
          <a:xfrm>
            <a:off x="6355080" y="4480560"/>
            <a:ext cx="4663440" cy="365760"/>
          </a:xfrm>
          <a:prstGeom prst="rect">
            <a:avLst/>
          </a:prstGeom>
          <a:noFill/>
          <a:ln/>
        </p:spPr>
        <p:txBody>
          <a:bodyPr wrap="square" lIns="0" tIns="0" rIns="0" bIns="0" rtlCol="0" anchor="ctr"/>
          <a:lstStyle/>
          <a:p>
            <a:pPr marL="0" indent="0">
              <a:buNone/>
            </a:pPr>
            <a:r>
              <a:rPr lang="en-US" sz="1700" b="1" dirty="0">
                <a:solidFill>
                  <a:srgbClr val="E8590C"/>
                </a:solidFill>
                <a:latin typeface="Arial" pitchFamily="34" charset="0"/>
                <a:ea typeface="Arial" pitchFamily="34" charset="-122"/>
                <a:cs typeface="Arial" pitchFamily="34" charset="-120"/>
              </a:rPr>
              <a:t>Parmi les victimes</a:t>
            </a:r>
            <a:endParaRPr lang="en-US" sz="1700" dirty="0"/>
          </a:p>
        </p:txBody>
      </p:sp>
      <p:sp>
        <p:nvSpPr>
          <p:cNvPr id="13" name="Text 10"/>
          <p:cNvSpPr txBox="1"/>
          <p:nvPr/>
        </p:nvSpPr>
        <p:spPr>
          <a:xfrm>
            <a:off x="6355080" y="4892040"/>
            <a:ext cx="4663440" cy="77724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BBC, British Airways (via leur prestataire de paie), des administrations américaines.</a:t>
            </a:r>
            <a:endParaRPr lang="en-US" sz="1500" dirty="0"/>
          </a:p>
        </p:txBody>
      </p:sp>
      <p:sp>
        <p:nvSpPr>
          <p:cNvPr id="14" name="Shape 11"/>
          <p:cNvSpPr/>
          <p:nvPr/>
        </p:nvSpPr>
        <p:spPr>
          <a:xfrm>
            <a:off x="7589520" y="2880360"/>
            <a:ext cx="3931920" cy="1280160"/>
          </a:xfrm>
          <a:prstGeom prst="roundRect">
            <a:avLst>
              <a:gd name="adj" fmla="val 5714"/>
            </a:avLst>
          </a:prstGeom>
          <a:solidFill>
            <a:srgbClr val="E8590C"/>
          </a:solidFill>
          <a:ln w="12700">
            <a:solidFill>
              <a:srgbClr val="E8590C"/>
            </a:solidFill>
            <a:prstDash val="solid"/>
          </a:ln>
        </p:spPr>
        <p:txBody>
          <a:bodyPr/>
          <a:lstStyle/>
          <a:p>
            <a:endParaRPr lang="fr-BE"/>
          </a:p>
        </p:txBody>
      </p:sp>
      <p:sp>
        <p:nvSpPr>
          <p:cNvPr id="15" name="Text 12"/>
          <p:cNvSpPr txBox="1"/>
          <p:nvPr/>
        </p:nvSpPr>
        <p:spPr>
          <a:xfrm>
            <a:off x="7772400" y="2880360"/>
            <a:ext cx="3566160" cy="1280160"/>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La cybersécurité commence dans le code.</a:t>
            </a:r>
            <a:endParaRPr lang="en-US" sz="1900" dirty="0"/>
          </a:p>
        </p:txBody>
      </p:sp>
      <p:sp>
        <p:nvSpPr>
          <p:cNvPr id="16" name="Text 13"/>
          <p:cNvSpPr txBox="1"/>
          <p:nvPr/>
        </p:nvSpPr>
        <p:spPr>
          <a:xfrm>
            <a:off x="640080" y="5989320"/>
            <a:ext cx="10911535" cy="320040"/>
          </a:xfrm>
          <a:prstGeom prst="rect">
            <a:avLst/>
          </a:prstGeom>
          <a:noFill/>
          <a:ln/>
        </p:spPr>
        <p:txBody>
          <a:bodyPr wrap="square" lIns="0" tIns="0" rIns="0" bIns="0" rtlCol="0" anchor="ctr"/>
          <a:lstStyle/>
          <a:p>
            <a:pPr marL="0" indent="0">
              <a:buNone/>
            </a:pPr>
            <a:r>
              <a:rPr lang="en-US" sz="1000" i="1" dirty="0">
                <a:solidFill>
                  <a:srgbClr val="9AA0A8"/>
                </a:solidFill>
                <a:latin typeface="Calibri" pitchFamily="34" charset="0"/>
                <a:ea typeface="Calibri" pitchFamily="34" charset="-122"/>
                <a:cs typeface="Calibri" pitchFamily="34" charset="-120"/>
              </a:rPr>
              <a:t>Source : CISA et FBI, avis AA23-158A « CL0P Ransomware Gang Exploits CVE-2023-34362 MOVEit Vulnerability », 7 juin 2023.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ET AUJOURD'HUI</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Qui écrit le code des applications ?</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4</a:t>
            </a:r>
            <a:endParaRPr lang="en-US" sz="1000" dirty="0"/>
          </a:p>
        </p:txBody>
      </p:sp>
      <p:sp>
        <p:nvSpPr>
          <p:cNvPr id="8" name="Shape 5"/>
          <p:cNvSpPr/>
          <p:nvPr/>
        </p:nvSpPr>
        <p:spPr>
          <a:xfrm>
            <a:off x="640080" y="1920240"/>
            <a:ext cx="3657600" cy="2743200"/>
          </a:xfrm>
          <a:prstGeom prst="roundRect">
            <a:avLst>
              <a:gd name="adj" fmla="val 2667"/>
            </a:avLst>
          </a:prstGeom>
          <a:solidFill>
            <a:srgbClr val="F2F3F5"/>
          </a:solidFill>
          <a:ln w="12700">
            <a:solidFill>
              <a:srgbClr val="F2F3F5"/>
            </a:solidFill>
            <a:prstDash val="solid"/>
          </a:ln>
        </p:spPr>
        <p:txBody>
          <a:bodyPr/>
          <a:lstStyle/>
          <a:p>
            <a:endParaRPr lang="fr-BE"/>
          </a:p>
        </p:txBody>
      </p:sp>
      <p:sp>
        <p:nvSpPr>
          <p:cNvPr id="9" name="Text 6"/>
          <p:cNvSpPr txBox="1"/>
          <p:nvPr/>
        </p:nvSpPr>
        <p:spPr>
          <a:xfrm>
            <a:off x="960120" y="2057400"/>
            <a:ext cx="3108960" cy="1188720"/>
          </a:xfrm>
          <a:prstGeom prst="rect">
            <a:avLst/>
          </a:prstGeom>
          <a:noFill/>
          <a:ln/>
        </p:spPr>
        <p:txBody>
          <a:bodyPr wrap="square" lIns="0" tIns="0" rIns="0" bIns="0" rtlCol="0" anchor="ctr"/>
          <a:lstStyle/>
          <a:p>
            <a:pPr marL="0" indent="0">
              <a:buNone/>
            </a:pPr>
            <a:r>
              <a:rPr lang="en-US" sz="6600" b="1" dirty="0">
                <a:solidFill>
                  <a:srgbClr val="16181D"/>
                </a:solidFill>
                <a:latin typeface="Arial" pitchFamily="34" charset="0"/>
                <a:ea typeface="Arial" pitchFamily="34" charset="-122"/>
                <a:cs typeface="Arial" pitchFamily="34" charset="-120"/>
              </a:rPr>
              <a:t>25 %</a:t>
            </a:r>
            <a:endParaRPr lang="en-US" sz="6600" dirty="0"/>
          </a:p>
        </p:txBody>
      </p:sp>
      <p:sp>
        <p:nvSpPr>
          <p:cNvPr id="10" name="Text 7"/>
          <p:cNvSpPr txBox="1"/>
          <p:nvPr/>
        </p:nvSpPr>
        <p:spPr>
          <a:xfrm>
            <a:off x="960120" y="3291840"/>
            <a:ext cx="3017520" cy="731520"/>
          </a:xfrm>
          <a:prstGeom prst="rect">
            <a:avLst/>
          </a:prstGeom>
          <a:noFill/>
          <a:ln/>
        </p:spPr>
        <p:txBody>
          <a:bodyPr wrap="square" lIns="0" tIns="0" rIns="0" bIns="0" rtlCol="0" anchor="t"/>
          <a:lstStyle/>
          <a:p>
            <a:pPr marL="0" indent="0">
              <a:buNone/>
            </a:pPr>
            <a:r>
              <a:rPr lang="en-US" sz="1700" dirty="0">
                <a:solidFill>
                  <a:srgbClr val="16181D"/>
                </a:solidFill>
                <a:latin typeface="Calibri" pitchFamily="34" charset="0"/>
                <a:ea typeface="Calibri" pitchFamily="34" charset="-122"/>
                <a:cs typeface="Calibri" pitchFamily="34" charset="-120"/>
              </a:rPr>
              <a:t>du nouveau code de Google généré par IA</a:t>
            </a:r>
            <a:endParaRPr lang="en-US" sz="1700" dirty="0"/>
          </a:p>
        </p:txBody>
      </p:sp>
      <p:sp>
        <p:nvSpPr>
          <p:cNvPr id="11" name="Text 8"/>
          <p:cNvSpPr txBox="1"/>
          <p:nvPr/>
        </p:nvSpPr>
        <p:spPr>
          <a:xfrm>
            <a:off x="960120" y="4114800"/>
            <a:ext cx="3017520" cy="365760"/>
          </a:xfrm>
          <a:prstGeom prst="rect">
            <a:avLst/>
          </a:prstGeom>
          <a:noFill/>
          <a:ln/>
        </p:spPr>
        <p:txBody>
          <a:bodyPr wrap="square" lIns="0" tIns="0" rIns="0" bIns="0" rtlCol="0" anchor="ctr"/>
          <a:lstStyle/>
          <a:p>
            <a:pPr marL="0" indent="0">
              <a:buNone/>
            </a:pPr>
            <a:r>
              <a:rPr lang="en-US" sz="1400" b="1" dirty="0">
                <a:solidFill>
                  <a:srgbClr val="5F6670"/>
                </a:solidFill>
                <a:latin typeface="Calibri" pitchFamily="34" charset="0"/>
                <a:ea typeface="Calibri" pitchFamily="34" charset="-122"/>
                <a:cs typeface="Calibri" pitchFamily="34" charset="-120"/>
              </a:rPr>
              <a:t>Octobre 2024</a:t>
            </a:r>
            <a:endParaRPr lang="en-US" sz="1400" dirty="0"/>
          </a:p>
        </p:txBody>
      </p:sp>
      <p:sp>
        <p:nvSpPr>
          <p:cNvPr id="12" name="Shape 9"/>
          <p:cNvSpPr/>
          <p:nvPr/>
        </p:nvSpPr>
        <p:spPr>
          <a:xfrm>
            <a:off x="4572000" y="1920240"/>
            <a:ext cx="3657600" cy="2743200"/>
          </a:xfrm>
          <a:prstGeom prst="roundRect">
            <a:avLst>
              <a:gd name="adj" fmla="val 2667"/>
            </a:avLst>
          </a:prstGeom>
          <a:solidFill>
            <a:srgbClr val="F2F3F5"/>
          </a:solidFill>
          <a:ln w="12700">
            <a:solidFill>
              <a:srgbClr val="F2F3F5"/>
            </a:solidFill>
            <a:prstDash val="solid"/>
          </a:ln>
        </p:spPr>
        <p:txBody>
          <a:bodyPr/>
          <a:lstStyle/>
          <a:p>
            <a:endParaRPr lang="fr-BE"/>
          </a:p>
        </p:txBody>
      </p:sp>
      <p:sp>
        <p:nvSpPr>
          <p:cNvPr id="13" name="Text 10"/>
          <p:cNvSpPr txBox="1"/>
          <p:nvPr/>
        </p:nvSpPr>
        <p:spPr>
          <a:xfrm>
            <a:off x="4892040" y="2057400"/>
            <a:ext cx="3108960" cy="1188720"/>
          </a:xfrm>
          <a:prstGeom prst="rect">
            <a:avLst/>
          </a:prstGeom>
          <a:noFill/>
          <a:ln/>
        </p:spPr>
        <p:txBody>
          <a:bodyPr wrap="square" lIns="0" tIns="0" rIns="0" bIns="0" rtlCol="0" anchor="ctr"/>
          <a:lstStyle/>
          <a:p>
            <a:pPr marL="0" indent="0">
              <a:buNone/>
            </a:pPr>
            <a:r>
              <a:rPr lang="en-US" sz="6600" b="1" dirty="0">
                <a:solidFill>
                  <a:srgbClr val="E8590C"/>
                </a:solidFill>
                <a:latin typeface="Arial" pitchFamily="34" charset="0"/>
                <a:ea typeface="Arial" pitchFamily="34" charset="-122"/>
                <a:cs typeface="Arial" pitchFamily="34" charset="-120"/>
              </a:rPr>
              <a:t>75 %</a:t>
            </a:r>
            <a:endParaRPr lang="en-US" sz="6600" dirty="0"/>
          </a:p>
        </p:txBody>
      </p:sp>
      <p:sp>
        <p:nvSpPr>
          <p:cNvPr id="14" name="Text 11"/>
          <p:cNvSpPr txBox="1"/>
          <p:nvPr/>
        </p:nvSpPr>
        <p:spPr>
          <a:xfrm>
            <a:off x="4892040" y="3291840"/>
            <a:ext cx="3017520" cy="731520"/>
          </a:xfrm>
          <a:prstGeom prst="rect">
            <a:avLst/>
          </a:prstGeom>
          <a:noFill/>
          <a:ln/>
        </p:spPr>
        <p:txBody>
          <a:bodyPr wrap="square" lIns="0" tIns="0" rIns="0" bIns="0" rtlCol="0" anchor="t"/>
          <a:lstStyle/>
          <a:p>
            <a:pPr marL="0" indent="0">
              <a:buNone/>
            </a:pPr>
            <a:r>
              <a:rPr lang="en-US" sz="1700" dirty="0">
                <a:solidFill>
                  <a:srgbClr val="16181D"/>
                </a:solidFill>
                <a:latin typeface="Calibri" pitchFamily="34" charset="0"/>
                <a:ea typeface="Calibri" pitchFamily="34" charset="-122"/>
                <a:cs typeface="Calibri" pitchFamily="34" charset="-120"/>
              </a:rPr>
              <a:t>selon son PDG, en avril 2026</a:t>
            </a:r>
            <a:endParaRPr lang="en-US" sz="1700" dirty="0"/>
          </a:p>
        </p:txBody>
      </p:sp>
      <p:sp>
        <p:nvSpPr>
          <p:cNvPr id="15" name="Text 12"/>
          <p:cNvSpPr txBox="1"/>
          <p:nvPr/>
        </p:nvSpPr>
        <p:spPr>
          <a:xfrm>
            <a:off x="4892040" y="4114800"/>
            <a:ext cx="3017520" cy="365760"/>
          </a:xfrm>
          <a:prstGeom prst="rect">
            <a:avLst/>
          </a:prstGeom>
          <a:noFill/>
          <a:ln/>
        </p:spPr>
        <p:txBody>
          <a:bodyPr wrap="square" lIns="0" tIns="0" rIns="0" bIns="0" rtlCol="0" anchor="ctr"/>
          <a:lstStyle/>
          <a:p>
            <a:pPr marL="0" indent="0">
              <a:buNone/>
            </a:pPr>
            <a:r>
              <a:rPr lang="en-US" sz="1400" b="1" dirty="0">
                <a:solidFill>
                  <a:srgbClr val="5F6670"/>
                </a:solidFill>
                <a:latin typeface="Calibri" pitchFamily="34" charset="0"/>
                <a:ea typeface="Calibri" pitchFamily="34" charset="-122"/>
                <a:cs typeface="Calibri" pitchFamily="34" charset="-120"/>
              </a:rPr>
              <a:t>Avril 2026</a:t>
            </a:r>
            <a:endParaRPr lang="en-US" sz="1400" dirty="0"/>
          </a:p>
        </p:txBody>
      </p:sp>
      <p:sp>
        <p:nvSpPr>
          <p:cNvPr id="16" name="Shape 13"/>
          <p:cNvSpPr/>
          <p:nvPr/>
        </p:nvSpPr>
        <p:spPr>
          <a:xfrm>
            <a:off x="8595360" y="1920240"/>
            <a:ext cx="2926080" cy="2743200"/>
          </a:xfrm>
          <a:prstGeom prst="roundRect">
            <a:avLst>
              <a:gd name="adj" fmla="val 2667"/>
            </a:avLst>
          </a:prstGeom>
          <a:solidFill>
            <a:srgbClr val="16181D"/>
          </a:solidFill>
          <a:ln w="12700">
            <a:solidFill>
              <a:srgbClr val="16181D"/>
            </a:solidFill>
            <a:prstDash val="solid"/>
          </a:ln>
        </p:spPr>
        <p:txBody>
          <a:bodyPr/>
          <a:lstStyle/>
          <a:p>
            <a:endParaRPr lang="fr-BE"/>
          </a:p>
        </p:txBody>
      </p:sp>
      <p:sp>
        <p:nvSpPr>
          <p:cNvPr id="17" name="Text 14"/>
          <p:cNvSpPr txBox="1"/>
          <p:nvPr/>
        </p:nvSpPr>
        <p:spPr>
          <a:xfrm>
            <a:off x="8778240" y="2103120"/>
            <a:ext cx="2560320" cy="2377440"/>
          </a:xfrm>
          <a:prstGeom prst="rect">
            <a:avLst/>
          </a:prstGeom>
          <a:noFill/>
          <a:ln/>
        </p:spPr>
        <p:txBody>
          <a:bodyPr wrap="square" lIns="0" tIns="0" rIns="0" bIns="0" rtlCol="0" anchor="t"/>
          <a:lstStyle/>
          <a:p>
            <a:pPr marL="0" indent="0">
              <a:buNone/>
            </a:pPr>
            <a:r>
              <a:rPr lang="en-US" sz="1800" b="1" dirty="0">
                <a:solidFill>
                  <a:srgbClr val="E8590C"/>
                </a:solidFill>
                <a:latin typeface="Calibri" pitchFamily="34" charset="0"/>
                <a:ea typeface="Calibri" pitchFamily="34" charset="-122"/>
                <a:cs typeface="Calibri" pitchFamily="34" charset="-120"/>
              </a:rPr>
              <a:t>La question</a:t>
            </a:r>
            <a:endParaRPr lang="en-US" sz="1800" dirty="0"/>
          </a:p>
          <a:p>
            <a:pPr marL="0" indent="0">
              <a:buNone/>
            </a:pPr>
            <a:endParaRPr lang="en-US" sz="1800" dirty="0"/>
          </a:p>
          <a:p>
            <a:pPr marL="0" indent="0">
              <a:buNone/>
            </a:pPr>
            <a:r>
              <a:rPr lang="en-US" sz="1700" dirty="0">
                <a:solidFill>
                  <a:srgbClr val="FFFFFF"/>
                </a:solidFill>
                <a:latin typeface="Calibri" pitchFamily="34" charset="0"/>
                <a:ea typeface="Calibri" pitchFamily="34" charset="-122"/>
                <a:cs typeface="Calibri" pitchFamily="34" charset="-120"/>
              </a:rPr>
              <a:t>Ce code est-il plus sûr, ou moins sûr, que celui écrit par des humains ?</a:t>
            </a:r>
            <a:endParaRPr lang="en-US" sz="1800" dirty="0"/>
          </a:p>
        </p:txBody>
      </p:sp>
      <p:sp>
        <p:nvSpPr>
          <p:cNvPr id="18" name="Text 15"/>
          <p:cNvSpPr txBox="1"/>
          <p:nvPr/>
        </p:nvSpPr>
        <p:spPr>
          <a:xfrm>
            <a:off x="640080" y="5029200"/>
            <a:ext cx="10911535" cy="411480"/>
          </a:xfrm>
          <a:prstGeom prst="rect">
            <a:avLst/>
          </a:prstGeom>
          <a:noFill/>
          <a:ln/>
        </p:spPr>
        <p:txBody>
          <a:bodyPr wrap="square" lIns="0" tIns="0" rIns="0" bIns="0" rtlCol="0" anchor="ctr"/>
          <a:lstStyle/>
          <a:p>
            <a:pPr marL="0" indent="0">
              <a:buNone/>
            </a:pPr>
            <a:r>
              <a:rPr lang="en-US" sz="1500" i="1" dirty="0">
                <a:solidFill>
                  <a:srgbClr val="5F6670"/>
                </a:solidFill>
                <a:latin typeface="Calibri" pitchFamily="34" charset="0"/>
                <a:ea typeface="Calibri" pitchFamily="34" charset="-122"/>
                <a:cs typeface="Calibri" pitchFamily="34" charset="-120"/>
              </a:rPr>
              <a:t>Chiffres annoncés par l'entreprise, sans méthode publiée : une tendance, pas une mesure.</a:t>
            </a:r>
            <a:endParaRPr lang="en-US" sz="1500" dirty="0"/>
          </a:p>
        </p:txBody>
      </p:sp>
      <p:sp>
        <p:nvSpPr>
          <p:cNvPr id="19" name="Text 16"/>
          <p:cNvSpPr txBox="1"/>
          <p:nvPr/>
        </p:nvSpPr>
        <p:spPr>
          <a:xfrm>
            <a:off x="640080" y="5989320"/>
            <a:ext cx="10911535" cy="320040"/>
          </a:xfrm>
          <a:prstGeom prst="rect">
            <a:avLst/>
          </a:prstGeom>
          <a:noFill/>
          <a:ln/>
        </p:spPr>
        <p:txBody>
          <a:bodyPr wrap="square" lIns="0" tIns="0" rIns="0" bIns="0" rtlCol="0" anchor="ctr"/>
          <a:lstStyle/>
          <a:p>
            <a:pPr marL="0" indent="0">
              <a:buNone/>
            </a:pPr>
            <a:r>
              <a:rPr lang="en-US" sz="1000" i="1" dirty="0">
                <a:solidFill>
                  <a:srgbClr val="5F6670"/>
                </a:solidFill>
                <a:latin typeface="Calibri" pitchFamily="34" charset="0"/>
                <a:ea typeface="Calibri" pitchFamily="34" charset="-122"/>
                <a:cs typeface="Calibri" pitchFamily="34" charset="-120"/>
              </a:rPr>
              <a:t>Source : Alphabet, conférence sur les résultats du 3e trimestre 2024 (29/10/2024) ; DevOps.com, 29/04/2026.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STANFORD UNIVERSITY, 2022</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La question, testée en laboratoire</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5</a:t>
            </a:r>
            <a:endParaRPr lang="en-US" sz="1000" dirty="0"/>
          </a:p>
        </p:txBody>
      </p:sp>
      <p:sp>
        <p:nvSpPr>
          <p:cNvPr id="8" name="Shape 5"/>
          <p:cNvSpPr/>
          <p:nvPr/>
        </p:nvSpPr>
        <p:spPr>
          <a:xfrm>
            <a:off x="640080" y="1828800"/>
            <a:ext cx="3474720" cy="3383280"/>
          </a:xfrm>
          <a:prstGeom prst="roundRect">
            <a:avLst>
              <a:gd name="adj" fmla="val 2162"/>
            </a:avLst>
          </a:prstGeom>
          <a:solidFill>
            <a:srgbClr val="F2F3F5"/>
          </a:solidFill>
          <a:ln w="12700">
            <a:solidFill>
              <a:srgbClr val="F2F3F5"/>
            </a:solidFill>
            <a:prstDash val="solid"/>
          </a:ln>
        </p:spPr>
        <p:txBody>
          <a:bodyPr/>
          <a:lstStyle/>
          <a:p>
            <a:endParaRPr lang="fr-BE"/>
          </a:p>
        </p:txBody>
      </p:sp>
      <p:sp>
        <p:nvSpPr>
          <p:cNvPr id="9" name="Shape 6"/>
          <p:cNvSpPr/>
          <p:nvPr/>
        </p:nvSpPr>
        <p:spPr>
          <a:xfrm>
            <a:off x="914400" y="2057400"/>
            <a:ext cx="548640" cy="548640"/>
          </a:xfrm>
          <a:prstGeom prst="ellipse">
            <a:avLst/>
          </a:prstGeom>
          <a:solidFill>
            <a:srgbClr val="16181D"/>
          </a:solidFill>
          <a:ln w="12700">
            <a:solidFill>
              <a:srgbClr val="16181D"/>
            </a:solidFill>
            <a:prstDash val="solid"/>
          </a:ln>
        </p:spPr>
        <p:txBody>
          <a:bodyPr/>
          <a:lstStyle/>
          <a:p>
            <a:endParaRPr lang="fr-BE"/>
          </a:p>
        </p:txBody>
      </p:sp>
      <p:sp>
        <p:nvSpPr>
          <p:cNvPr id="10" name="Text 7"/>
          <p:cNvSpPr txBox="1"/>
          <p:nvPr/>
        </p:nvSpPr>
        <p:spPr>
          <a:xfrm>
            <a:off x="914400" y="205740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11" name="Text 8"/>
          <p:cNvSpPr txBox="1"/>
          <p:nvPr/>
        </p:nvSpPr>
        <p:spPr>
          <a:xfrm>
            <a:off x="914400" y="2788920"/>
            <a:ext cx="2926080" cy="457200"/>
          </a:xfrm>
          <a:prstGeom prst="rect">
            <a:avLst/>
          </a:prstGeom>
          <a:noFill/>
          <a:ln/>
        </p:spPr>
        <p:txBody>
          <a:bodyPr wrap="square" lIns="0" tIns="0" rIns="0" bIns="0" rtlCol="0" anchor="ctr"/>
          <a:lstStyle/>
          <a:p>
            <a:pPr marL="0" indent="0">
              <a:buNone/>
            </a:pPr>
            <a:r>
              <a:rPr lang="en-US" sz="1900" b="1" dirty="0">
                <a:solidFill>
                  <a:srgbClr val="16181D"/>
                </a:solidFill>
                <a:latin typeface="Arial" pitchFamily="34" charset="0"/>
                <a:ea typeface="Arial" pitchFamily="34" charset="-122"/>
                <a:cs typeface="Arial" pitchFamily="34" charset="-120"/>
              </a:rPr>
              <a:t>Deux groupes au hasard</a:t>
            </a:r>
            <a:endParaRPr lang="en-US" sz="1900" dirty="0"/>
          </a:p>
        </p:txBody>
      </p:sp>
      <p:sp>
        <p:nvSpPr>
          <p:cNvPr id="12" name="Text 9"/>
          <p:cNvSpPr txBox="1"/>
          <p:nvPr/>
        </p:nvSpPr>
        <p:spPr>
          <a:xfrm>
            <a:off x="914400" y="3291840"/>
            <a:ext cx="2926080" cy="1828800"/>
          </a:xfrm>
          <a:prstGeom prst="rect">
            <a:avLst/>
          </a:prstGeom>
          <a:noFill/>
          <a:ln/>
        </p:spPr>
        <p:txBody>
          <a:bodyPr wrap="square" lIns="0" tIns="0" rIns="0" bIns="0" rtlCol="0" anchor="t"/>
          <a:lstStyle/>
          <a:p>
            <a:pPr marL="0" indent="0">
              <a:buNone/>
            </a:pPr>
            <a:r>
              <a:rPr lang="en-US" sz="1500" dirty="0">
                <a:solidFill>
                  <a:srgbClr val="5F6670"/>
                </a:solidFill>
                <a:latin typeface="Calibri" pitchFamily="34" charset="0"/>
                <a:ea typeface="Calibri" pitchFamily="34" charset="-122"/>
                <a:cs typeface="Calibri" pitchFamily="34" charset="-120"/>
              </a:rPr>
              <a:t>47 développeurs, étudiants et professionnels, tirés au sort : 33 avec un assistant IA (Codex, le moteur des débuts de GitHub Copilot), 14 sans.</a:t>
            </a:r>
            <a:endParaRPr lang="en-US" sz="1500" dirty="0"/>
          </a:p>
        </p:txBody>
      </p:sp>
      <p:sp>
        <p:nvSpPr>
          <p:cNvPr id="13" name="Shape 10"/>
          <p:cNvSpPr/>
          <p:nvPr/>
        </p:nvSpPr>
        <p:spPr>
          <a:xfrm>
            <a:off x="4343400" y="1828800"/>
            <a:ext cx="3474720" cy="3383280"/>
          </a:xfrm>
          <a:prstGeom prst="roundRect">
            <a:avLst>
              <a:gd name="adj" fmla="val 2162"/>
            </a:avLst>
          </a:prstGeom>
          <a:solidFill>
            <a:srgbClr val="F2F3F5"/>
          </a:solidFill>
          <a:ln w="12700">
            <a:solidFill>
              <a:srgbClr val="F2F3F5"/>
            </a:solidFill>
            <a:prstDash val="solid"/>
          </a:ln>
        </p:spPr>
        <p:txBody>
          <a:bodyPr/>
          <a:lstStyle/>
          <a:p>
            <a:endParaRPr lang="fr-BE"/>
          </a:p>
        </p:txBody>
      </p:sp>
      <p:sp>
        <p:nvSpPr>
          <p:cNvPr id="14" name="Shape 11"/>
          <p:cNvSpPr/>
          <p:nvPr/>
        </p:nvSpPr>
        <p:spPr>
          <a:xfrm>
            <a:off x="4617720" y="2057400"/>
            <a:ext cx="548640" cy="548640"/>
          </a:xfrm>
          <a:prstGeom prst="ellipse">
            <a:avLst/>
          </a:prstGeom>
          <a:solidFill>
            <a:srgbClr val="16181D"/>
          </a:solidFill>
          <a:ln w="12700">
            <a:solidFill>
              <a:srgbClr val="16181D"/>
            </a:solidFill>
            <a:prstDash val="solid"/>
          </a:ln>
        </p:spPr>
        <p:txBody>
          <a:bodyPr/>
          <a:lstStyle/>
          <a:p>
            <a:endParaRPr lang="fr-BE"/>
          </a:p>
        </p:txBody>
      </p:sp>
      <p:sp>
        <p:nvSpPr>
          <p:cNvPr id="15" name="Text 12"/>
          <p:cNvSpPr txBox="1"/>
          <p:nvPr/>
        </p:nvSpPr>
        <p:spPr>
          <a:xfrm>
            <a:off x="4617720" y="205740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6" name="Text 13"/>
          <p:cNvSpPr txBox="1"/>
          <p:nvPr/>
        </p:nvSpPr>
        <p:spPr>
          <a:xfrm>
            <a:off x="4617720" y="2788920"/>
            <a:ext cx="2926080" cy="457200"/>
          </a:xfrm>
          <a:prstGeom prst="rect">
            <a:avLst/>
          </a:prstGeom>
          <a:noFill/>
          <a:ln/>
        </p:spPr>
        <p:txBody>
          <a:bodyPr wrap="square" lIns="0" tIns="0" rIns="0" bIns="0" rtlCol="0" anchor="ctr"/>
          <a:lstStyle/>
          <a:p>
            <a:pPr marL="0" indent="0">
              <a:buNone/>
            </a:pPr>
            <a:r>
              <a:rPr lang="en-US" sz="1900" b="1" dirty="0">
                <a:solidFill>
                  <a:srgbClr val="16181D"/>
                </a:solidFill>
                <a:latin typeface="Arial" pitchFamily="34" charset="0"/>
                <a:ea typeface="Arial" pitchFamily="34" charset="-122"/>
                <a:cs typeface="Arial" pitchFamily="34" charset="-120"/>
              </a:rPr>
              <a:t>Les mêmes 5 exercices</a:t>
            </a:r>
            <a:endParaRPr lang="en-US" sz="1900" dirty="0"/>
          </a:p>
        </p:txBody>
      </p:sp>
      <p:sp>
        <p:nvSpPr>
          <p:cNvPr id="17" name="Text 14"/>
          <p:cNvSpPr txBox="1"/>
          <p:nvPr/>
        </p:nvSpPr>
        <p:spPr>
          <a:xfrm>
            <a:off x="4617720" y="3291840"/>
            <a:ext cx="2926080" cy="1828800"/>
          </a:xfrm>
          <a:prstGeom prst="rect">
            <a:avLst/>
          </a:prstGeom>
          <a:noFill/>
          <a:ln/>
        </p:spPr>
        <p:txBody>
          <a:bodyPr wrap="square" lIns="0" tIns="0" rIns="0" bIns="0" rtlCol="0" anchor="t"/>
          <a:lstStyle/>
          <a:p>
            <a:pPr marL="0" indent="0">
              <a:buNone/>
            </a:pPr>
            <a:r>
              <a:rPr lang="en-US" sz="1500" dirty="0">
                <a:solidFill>
                  <a:srgbClr val="5F6670"/>
                </a:solidFill>
                <a:latin typeface="Calibri" pitchFamily="34" charset="0"/>
                <a:ea typeface="Calibri" pitchFamily="34" charset="-122"/>
                <a:cs typeface="Calibri" pitchFamily="34" charset="-120"/>
              </a:rPr>
              <a:t>Des tâches courantes où une erreur de sécurité est facile à faire.</a:t>
            </a:r>
            <a:endParaRPr lang="en-US" sz="1500" dirty="0"/>
          </a:p>
        </p:txBody>
      </p:sp>
      <p:sp>
        <p:nvSpPr>
          <p:cNvPr id="18" name="Shape 15"/>
          <p:cNvSpPr/>
          <p:nvPr/>
        </p:nvSpPr>
        <p:spPr>
          <a:xfrm>
            <a:off x="8046720" y="1828800"/>
            <a:ext cx="3474720" cy="3383280"/>
          </a:xfrm>
          <a:prstGeom prst="roundRect">
            <a:avLst>
              <a:gd name="adj" fmla="val 2162"/>
            </a:avLst>
          </a:prstGeom>
          <a:solidFill>
            <a:srgbClr val="F2F3F5"/>
          </a:solidFill>
          <a:ln w="12700">
            <a:solidFill>
              <a:srgbClr val="F2F3F5"/>
            </a:solidFill>
            <a:prstDash val="solid"/>
          </a:ln>
        </p:spPr>
        <p:txBody>
          <a:bodyPr/>
          <a:lstStyle/>
          <a:p>
            <a:endParaRPr lang="fr-BE"/>
          </a:p>
        </p:txBody>
      </p:sp>
      <p:sp>
        <p:nvSpPr>
          <p:cNvPr id="19" name="Shape 16"/>
          <p:cNvSpPr/>
          <p:nvPr/>
        </p:nvSpPr>
        <p:spPr>
          <a:xfrm>
            <a:off x="8321040" y="2057400"/>
            <a:ext cx="548640" cy="548640"/>
          </a:xfrm>
          <a:prstGeom prst="ellipse">
            <a:avLst/>
          </a:prstGeom>
          <a:solidFill>
            <a:srgbClr val="16181D"/>
          </a:solidFill>
          <a:ln w="12700">
            <a:solidFill>
              <a:srgbClr val="16181D"/>
            </a:solidFill>
            <a:prstDash val="solid"/>
          </a:ln>
        </p:spPr>
        <p:txBody>
          <a:bodyPr/>
          <a:lstStyle/>
          <a:p>
            <a:endParaRPr lang="fr-BE"/>
          </a:p>
        </p:txBody>
      </p:sp>
      <p:sp>
        <p:nvSpPr>
          <p:cNvPr id="20" name="Text 17"/>
          <p:cNvSpPr txBox="1"/>
          <p:nvPr/>
        </p:nvSpPr>
        <p:spPr>
          <a:xfrm>
            <a:off x="8321040" y="205740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21" name="Text 18"/>
          <p:cNvSpPr txBox="1"/>
          <p:nvPr/>
        </p:nvSpPr>
        <p:spPr>
          <a:xfrm>
            <a:off x="8321040" y="2788920"/>
            <a:ext cx="2926080" cy="457200"/>
          </a:xfrm>
          <a:prstGeom prst="rect">
            <a:avLst/>
          </a:prstGeom>
          <a:noFill/>
          <a:ln/>
        </p:spPr>
        <p:txBody>
          <a:bodyPr wrap="square" lIns="0" tIns="0" rIns="0" bIns="0" rtlCol="0" anchor="ctr"/>
          <a:lstStyle/>
          <a:p>
            <a:pPr marL="0" indent="0">
              <a:buNone/>
            </a:pPr>
            <a:r>
              <a:rPr lang="en-US" sz="1900" b="1" dirty="0">
                <a:solidFill>
                  <a:srgbClr val="16181D"/>
                </a:solidFill>
                <a:latin typeface="Arial" pitchFamily="34" charset="0"/>
                <a:ea typeface="Arial" pitchFamily="34" charset="-122"/>
                <a:cs typeface="Arial" pitchFamily="34" charset="-120"/>
              </a:rPr>
              <a:t>Des experts jugent</a:t>
            </a:r>
            <a:endParaRPr lang="en-US" sz="1900" dirty="0"/>
          </a:p>
        </p:txBody>
      </p:sp>
      <p:sp>
        <p:nvSpPr>
          <p:cNvPr id="22" name="Text 19"/>
          <p:cNvSpPr txBox="1"/>
          <p:nvPr/>
        </p:nvSpPr>
        <p:spPr>
          <a:xfrm>
            <a:off x="8321040" y="3291840"/>
            <a:ext cx="2926080" cy="1828800"/>
          </a:xfrm>
          <a:prstGeom prst="rect">
            <a:avLst/>
          </a:prstGeom>
          <a:noFill/>
          <a:ln/>
        </p:spPr>
        <p:txBody>
          <a:bodyPr wrap="square" lIns="0" tIns="0" rIns="0" bIns="0" rtlCol="0" anchor="t"/>
          <a:lstStyle/>
          <a:p>
            <a:pPr marL="0" indent="0">
              <a:buNone/>
            </a:pPr>
            <a:r>
              <a:rPr lang="en-US" sz="1500" dirty="0">
                <a:solidFill>
                  <a:srgbClr val="5F6670"/>
                </a:solidFill>
                <a:latin typeface="Calibri" pitchFamily="34" charset="0"/>
                <a:ea typeface="Calibri" pitchFamily="34" charset="-122"/>
                <a:cs typeface="Calibri" pitchFamily="34" charset="-120"/>
              </a:rPr>
              <a:t>Chaque réponse est classée sûre ou non sûre. Puis chacun dit s'il pense son code sûr.</a:t>
            </a:r>
            <a:endParaRPr lang="en-US" sz="1500" dirty="0"/>
          </a:p>
        </p:txBody>
      </p:sp>
      <p:sp>
        <p:nvSpPr>
          <p:cNvPr id="23" name="Text 20"/>
          <p:cNvSpPr txBox="1"/>
          <p:nvPr/>
        </p:nvSpPr>
        <p:spPr>
          <a:xfrm>
            <a:off x="640080" y="5440680"/>
            <a:ext cx="10911535" cy="411480"/>
          </a:xfrm>
          <a:prstGeom prst="rect">
            <a:avLst/>
          </a:prstGeom>
          <a:noFill/>
          <a:ln/>
        </p:spPr>
        <p:txBody>
          <a:bodyPr wrap="square" lIns="0" tIns="0" rIns="0" bIns="0" rtlCol="0" anchor="ctr"/>
          <a:lstStyle/>
          <a:p>
            <a:pPr marL="0" indent="0">
              <a:buNone/>
            </a:pPr>
            <a:r>
              <a:rPr lang="en-US" sz="1600" b="1" dirty="0">
                <a:solidFill>
                  <a:srgbClr val="E8590C"/>
                </a:solidFill>
                <a:latin typeface="Calibri" pitchFamily="34" charset="0"/>
                <a:ea typeface="Calibri" pitchFamily="34" charset="-122"/>
                <a:cs typeface="Calibri" pitchFamily="34" charset="-120"/>
              </a:rPr>
              <a:t>Votre pronostic dans les réactions : 👍 le groupe avec IA fait mieux · ❤️ le groupe sans IA fait mieux</a:t>
            </a:r>
            <a:endParaRPr lang="en-US" sz="1600" dirty="0"/>
          </a:p>
        </p:txBody>
      </p:sp>
      <p:sp>
        <p:nvSpPr>
          <p:cNvPr id="24" name="Text 21"/>
          <p:cNvSpPr txBox="1"/>
          <p:nvPr/>
        </p:nvSpPr>
        <p:spPr>
          <a:xfrm>
            <a:off x="640080" y="5989320"/>
            <a:ext cx="10911535" cy="320040"/>
          </a:xfrm>
          <a:prstGeom prst="rect">
            <a:avLst/>
          </a:prstGeom>
          <a:noFill/>
          <a:ln/>
        </p:spPr>
        <p:txBody>
          <a:bodyPr wrap="square" lIns="0" tIns="0" rIns="0" bIns="0" rtlCol="0" anchor="ctr"/>
          <a:lstStyle/>
          <a:p>
            <a:pPr marL="0" indent="0">
              <a:buNone/>
            </a:pPr>
            <a:r>
              <a:rPr lang="en-US" sz="1000" i="1" dirty="0">
                <a:solidFill>
                  <a:srgbClr val="5F6670"/>
                </a:solidFill>
                <a:latin typeface="Calibri" pitchFamily="34" charset="0"/>
                <a:ea typeface="Calibri" pitchFamily="34" charset="-122"/>
                <a:cs typeface="Calibri" pitchFamily="34" charset="-120"/>
              </a:rPr>
              <a:t>Source : Perry, Srivastava, Kumar, Boneh — « Do Users Write More Insecure Code with AI Assistants? », ACM CCS 2023 (arXiv 2211.03622).</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STANFORD · LES EXERCICES</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Cinq exercices, cinq classiques de la cybersécurité</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6</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08792" cy="3401568"/>
        </p:xfrm>
        <a:graphic>
          <a:graphicData uri="http://schemas.openxmlformats.org/drawingml/2006/table">
            <a:tbl>
              <a:tblPr/>
              <a:tblGrid>
                <a:gridCol w="3291840">
                  <a:extLst>
                    <a:ext uri="{9D8B030D-6E8A-4147-A177-3AD203B41FA5}">
                      <a16:colId xmlns:a16="http://schemas.microsoft.com/office/drawing/2014/main" val="20000"/>
                    </a:ext>
                  </a:extLst>
                </a:gridCol>
                <a:gridCol w="5303520">
                  <a:extLst>
                    <a:ext uri="{9D8B030D-6E8A-4147-A177-3AD203B41FA5}">
                      <a16:colId xmlns:a16="http://schemas.microsoft.com/office/drawing/2014/main" val="20001"/>
                    </a:ext>
                  </a:extLst>
                </a:gridCol>
                <a:gridCol w="2313432">
                  <a:extLst>
                    <a:ext uri="{9D8B030D-6E8A-4147-A177-3AD203B41FA5}">
                      <a16:colId xmlns:a16="http://schemas.microsoft.com/office/drawing/2014/main" val="20002"/>
                    </a:ext>
                  </a:extLst>
                </a:gridCol>
              </a:tblGrid>
              <a:tr h="566928">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Exercice</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Le piège à éviter</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Au Q2</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extLst>
                  <a:ext uri="{0D108BD9-81ED-4DB2-BD59-A6C34878D82A}">
                    <a16:rowId xmlns:a16="http://schemas.microsoft.com/office/drawing/2014/main" val="10000"/>
                  </a:ext>
                </a:extLst>
              </a:tr>
              <a:tr h="566928">
                <a:tc>
                  <a:txBody>
                    <a:bodyPr/>
                    <a:lstStyle/>
                    <a:p>
                      <a:pPr marL="0" indent="0">
                        <a:buNone/>
                      </a:pPr>
                      <a:r>
                        <a:rPr lang="en-US" sz="1500" dirty="0">
                          <a:solidFill>
                            <a:srgbClr val="16181D"/>
                          </a:solidFill>
                          <a:latin typeface="Calibri" pitchFamily="34" charset="0"/>
                          <a:ea typeface="Calibri" pitchFamily="34" charset="-122"/>
                          <a:cs typeface="Calibri" pitchFamily="34" charset="-120"/>
                        </a:rPr>
                        <a:t>Chiffrer un message (Python)</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500" dirty="0">
                          <a:solidFill>
                            <a:srgbClr val="16181D"/>
                          </a:solidFill>
                          <a:latin typeface="Calibri" pitchFamily="34" charset="0"/>
                          <a:ea typeface="Calibri" pitchFamily="34" charset="-122"/>
                          <a:cs typeface="Calibri" pitchFamily="34" charset="-120"/>
                        </a:rPr>
                        <a:t>Un algorithme « maison » ou mal configuré</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500" dirty="0">
                          <a:solidFill>
                            <a:srgbClr val="16181D"/>
                          </a:solidFill>
                          <a:latin typeface="Calibri" pitchFamily="34" charset="0"/>
                          <a:ea typeface="Calibri" pitchFamily="34" charset="-122"/>
                          <a:cs typeface="Calibri" pitchFamily="34" charset="-120"/>
                        </a:rPr>
                        <a:t>Chiffrement, RGPD</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500" dirty="0">
                          <a:solidFill>
                            <a:srgbClr val="16181D"/>
                          </a:solidFill>
                          <a:latin typeface="Calibri" pitchFamily="34" charset="0"/>
                          <a:ea typeface="Calibri" pitchFamily="34" charset="-122"/>
                          <a:cs typeface="Calibri" pitchFamily="34" charset="-120"/>
                        </a:rPr>
                        <a:t>Signer un message (Python)</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marL="0" indent="0">
                        <a:buNone/>
                      </a:pPr>
                      <a:r>
                        <a:rPr lang="en-US" sz="1500" dirty="0">
                          <a:solidFill>
                            <a:srgbClr val="16181D"/>
                          </a:solidFill>
                          <a:latin typeface="Calibri" pitchFamily="34" charset="0"/>
                          <a:ea typeface="Calibri" pitchFamily="34" charset="-122"/>
                          <a:cs typeface="Calibri" pitchFamily="34" charset="-120"/>
                        </a:rPr>
                        <a:t>Un aléa prévisible : on peut fabriquer de fausses signatures</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marL="0" indent="0">
                        <a:buNone/>
                      </a:pPr>
                      <a:r>
                        <a:rPr lang="en-US" sz="1500" dirty="0">
                          <a:solidFill>
                            <a:srgbClr val="16181D"/>
                          </a:solidFill>
                          <a:latin typeface="Calibri" pitchFamily="34" charset="0"/>
                          <a:ea typeface="Calibri" pitchFamily="34" charset="-122"/>
                          <a:cs typeface="Calibri" pitchFamily="34" charset="-120"/>
                        </a:rPr>
                        <a:t>Signatures, JWT</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extLst>
                  <a:ext uri="{0D108BD9-81ED-4DB2-BD59-A6C34878D82A}">
                    <a16:rowId xmlns:a16="http://schemas.microsoft.com/office/drawing/2014/main" val="10002"/>
                  </a:ext>
                </a:extLst>
              </a:tr>
              <a:tr h="566928">
                <a:tc>
                  <a:txBody>
                    <a:bodyPr/>
                    <a:lstStyle/>
                    <a:p>
                      <a:pPr marL="0" indent="0">
                        <a:buNone/>
                      </a:pPr>
                      <a:r>
                        <a:rPr lang="en-US" sz="1500" dirty="0">
                          <a:solidFill>
                            <a:srgbClr val="16181D"/>
                          </a:solidFill>
                          <a:latin typeface="Calibri" pitchFamily="34" charset="0"/>
                          <a:ea typeface="Calibri" pitchFamily="34" charset="-122"/>
                          <a:cs typeface="Calibri" pitchFamily="34" charset="-120"/>
                        </a:rPr>
                        <a:t>N'autoriser qu'un dossier (Python)</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500" dirty="0">
                          <a:solidFill>
                            <a:srgbClr val="16181D"/>
                          </a:solidFill>
                          <a:latin typeface="Calibri" pitchFamily="34" charset="0"/>
                          <a:ea typeface="Calibri" pitchFamily="34" charset="-122"/>
                          <a:cs typeface="Calibri" pitchFamily="34" charset="-120"/>
                        </a:rPr>
                        <a:t>« ../ » dans un nom de fichier pour en sortir (path traversal)</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500" dirty="0">
                          <a:solidFill>
                            <a:srgbClr val="16181D"/>
                          </a:solidFill>
                          <a:latin typeface="Calibri" pitchFamily="34" charset="0"/>
                          <a:ea typeface="Calibri" pitchFamily="34" charset="-122"/>
                          <a:cs typeface="Calibri" pitchFamily="34" charset="-120"/>
                        </a:rPr>
                        <a:t>Contrôle d'accès</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500" dirty="0">
                          <a:solidFill>
                            <a:srgbClr val="16181D"/>
                          </a:solidFill>
                          <a:latin typeface="Calibri" pitchFamily="34" charset="0"/>
                          <a:ea typeface="Calibri" pitchFamily="34" charset="-122"/>
                          <a:cs typeface="Calibri" pitchFamily="34" charset="-120"/>
                        </a:rPr>
                        <a:t>Enregistrer en base (JavaScript)</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marL="0" indent="0">
                        <a:buNone/>
                      </a:pPr>
                      <a:r>
                        <a:rPr lang="en-US" sz="1500" dirty="0">
                          <a:solidFill>
                            <a:srgbClr val="16181D"/>
                          </a:solidFill>
                          <a:latin typeface="Calibri" pitchFamily="34" charset="0"/>
                          <a:ea typeface="Calibri" pitchFamily="34" charset="-122"/>
                          <a:cs typeface="Calibri" pitchFamily="34" charset="-120"/>
                        </a:rPr>
                        <a:t>L'injection SQL, comme MOVEit</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marL="0" indent="0">
                        <a:buNone/>
                      </a:pPr>
                      <a:r>
                        <a:rPr lang="en-US" sz="1500" dirty="0">
                          <a:solidFill>
                            <a:srgbClr val="16181D"/>
                          </a:solidFill>
                          <a:latin typeface="Calibri" pitchFamily="34" charset="0"/>
                          <a:ea typeface="Calibri" pitchFamily="34" charset="-122"/>
                          <a:cs typeface="Calibri" pitchFamily="34" charset="-120"/>
                        </a:rPr>
                        <a:t>Injections</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extLst>
                  <a:ext uri="{0D108BD9-81ED-4DB2-BD59-A6C34878D82A}">
                    <a16:rowId xmlns:a16="http://schemas.microsoft.com/office/drawing/2014/main" val="10004"/>
                  </a:ext>
                </a:extLst>
              </a:tr>
              <a:tr h="566928">
                <a:tc>
                  <a:txBody>
                    <a:bodyPr/>
                    <a:lstStyle/>
                    <a:p>
                      <a:pPr marL="0" indent="0">
                        <a:buNone/>
                      </a:pPr>
                      <a:r>
                        <a:rPr lang="en-US" sz="1500" dirty="0">
                          <a:solidFill>
                            <a:srgbClr val="16181D"/>
                          </a:solidFill>
                          <a:latin typeface="Calibri" pitchFamily="34" charset="0"/>
                          <a:ea typeface="Calibri" pitchFamily="34" charset="-122"/>
                          <a:cs typeface="Calibri" pitchFamily="34" charset="-120"/>
                        </a:rPr>
                        <a:t>Formater un nombre (C)</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500" dirty="0">
                          <a:solidFill>
                            <a:srgbClr val="16181D"/>
                          </a:solidFill>
                          <a:latin typeface="Calibri" pitchFamily="34" charset="0"/>
                          <a:ea typeface="Calibri" pitchFamily="34" charset="-122"/>
                          <a:cs typeface="Calibri" pitchFamily="34" charset="-120"/>
                        </a:rPr>
                        <a:t>Écrire au-delà de la mémoire prévue (buffer overflow)</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500" dirty="0">
                          <a:solidFill>
                            <a:srgbClr val="16181D"/>
                          </a:solidFill>
                          <a:latin typeface="Calibri" pitchFamily="34" charset="0"/>
                          <a:ea typeface="Calibri" pitchFamily="34" charset="-122"/>
                          <a:cs typeface="Calibri" pitchFamily="34" charset="-120"/>
                        </a:rPr>
                        <a:t>Buffer overflow</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9" name="Shape 5"/>
          <p:cNvSpPr/>
          <p:nvPr/>
        </p:nvSpPr>
        <p:spPr>
          <a:xfrm>
            <a:off x="640080" y="5349240"/>
            <a:ext cx="10911535" cy="594360"/>
          </a:xfrm>
          <a:prstGeom prst="roundRect">
            <a:avLst>
              <a:gd name="adj" fmla="val 12308"/>
            </a:avLst>
          </a:prstGeom>
          <a:solidFill>
            <a:srgbClr val="16181D"/>
          </a:solidFill>
          <a:ln w="12700">
            <a:solidFill>
              <a:srgbClr val="16181D"/>
            </a:solidFill>
            <a:prstDash val="solid"/>
          </a:ln>
        </p:spPr>
        <p:txBody>
          <a:bodyPr/>
          <a:lstStyle/>
          <a:p>
            <a:endParaRPr lang="fr-BE"/>
          </a:p>
        </p:txBody>
      </p:sp>
      <p:sp>
        <p:nvSpPr>
          <p:cNvPr id="10" name="Text 6"/>
          <p:cNvSpPr txBox="1"/>
          <p:nvPr/>
        </p:nvSpPr>
        <p:spPr>
          <a:xfrm>
            <a:off x="914400" y="5349240"/>
            <a:ext cx="10362895" cy="59436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Cette étude, c'est le programme de Programmation sécurisée.</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STANFORD · RÉSULTATS</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Part des réponses jugées sûres par les experts</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7</a:t>
            </a:r>
            <a:endParaRPr lang="en-US" sz="1000" dirty="0"/>
          </a:p>
        </p:txBody>
      </p:sp>
      <p:graphicFrame>
        <p:nvGraphicFramePr>
          <p:cNvPr id="8" name="Chart 0"/>
          <p:cNvGraphicFramePr/>
          <p:nvPr/>
        </p:nvGraphicFramePr>
        <p:xfrm>
          <a:off x="640080" y="1737360"/>
          <a:ext cx="768096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5"/>
          <p:cNvSpPr/>
          <p:nvPr/>
        </p:nvSpPr>
        <p:spPr>
          <a:xfrm>
            <a:off x="8686800" y="1828800"/>
            <a:ext cx="2834640" cy="3840480"/>
          </a:xfrm>
          <a:prstGeom prst="roundRect">
            <a:avLst>
              <a:gd name="adj" fmla="val 2581"/>
            </a:avLst>
          </a:prstGeom>
          <a:solidFill>
            <a:srgbClr val="F2F3F5"/>
          </a:solidFill>
          <a:ln w="12700">
            <a:solidFill>
              <a:srgbClr val="F2F3F5"/>
            </a:solidFill>
            <a:prstDash val="solid"/>
          </a:ln>
        </p:spPr>
        <p:txBody>
          <a:bodyPr/>
          <a:lstStyle/>
          <a:p>
            <a:endParaRPr lang="fr-BE"/>
          </a:p>
        </p:txBody>
      </p:sp>
      <p:sp>
        <p:nvSpPr>
          <p:cNvPr id="10" name="Text 6"/>
          <p:cNvSpPr txBox="1"/>
          <p:nvPr/>
        </p:nvSpPr>
        <p:spPr>
          <a:xfrm>
            <a:off x="8915400" y="2011680"/>
            <a:ext cx="2468880" cy="3566160"/>
          </a:xfrm>
          <a:prstGeom prst="rect">
            <a:avLst/>
          </a:prstGeom>
          <a:noFill/>
          <a:ln/>
        </p:spPr>
        <p:txBody>
          <a:bodyPr wrap="square" lIns="0" tIns="0" rIns="0" bIns="0" rtlCol="0" anchor="t"/>
          <a:lstStyle/>
          <a:p>
            <a:pPr marL="0" indent="0">
              <a:buNone/>
            </a:pPr>
            <a:r>
              <a:rPr lang="en-US" sz="1700" b="1" dirty="0">
                <a:solidFill>
                  <a:srgbClr val="16181D"/>
                </a:solidFill>
                <a:latin typeface="Calibri" pitchFamily="34" charset="0"/>
                <a:ea typeface="Calibri" pitchFamily="34" charset="-122"/>
                <a:cs typeface="Calibri" pitchFamily="34" charset="-120"/>
              </a:rPr>
              <a:t>Comment lire</a:t>
            </a:r>
            <a:endParaRPr lang="en-US" sz="1700" dirty="0"/>
          </a:p>
          <a:p>
            <a:pPr marL="0" indent="0">
              <a:buNone/>
            </a:pPr>
            <a:r>
              <a:rPr lang="en-US" sz="1400" dirty="0">
                <a:solidFill>
                  <a:srgbClr val="5F6670"/>
                </a:solidFill>
                <a:latin typeface="Calibri" pitchFamily="34" charset="0"/>
                <a:ea typeface="Calibri" pitchFamily="34" charset="-122"/>
                <a:cs typeface="Calibri" pitchFamily="34" charset="-120"/>
              </a:rPr>
              <a:t>Chaque barre : la part des participants dont la réponse était sûre.
</a:t>
            </a:r>
            <a:endParaRPr lang="en-US" sz="1700" dirty="0"/>
          </a:p>
          <a:p>
            <a:pPr marL="0" indent="0">
              <a:buNone/>
            </a:pPr>
            <a:r>
              <a:rPr lang="en-US" sz="1700" b="1" dirty="0">
                <a:solidFill>
                  <a:srgbClr val="16181D"/>
                </a:solidFill>
                <a:latin typeface="Calibri" pitchFamily="34" charset="0"/>
                <a:ea typeface="Calibri" pitchFamily="34" charset="-122"/>
                <a:cs typeface="Calibri" pitchFamily="34" charset="-120"/>
              </a:rPr>
              <a:t>Écriture SQL</a:t>
            </a:r>
            <a:endParaRPr lang="en-US" sz="1700" dirty="0"/>
          </a:p>
          <a:p>
            <a:pPr marL="0" indent="0">
              <a:buNone/>
            </a:pPr>
            <a:r>
              <a:rPr lang="en-US" sz="1700" b="1" dirty="0">
                <a:solidFill>
                  <a:srgbClr val="E8590C"/>
                </a:solidFill>
                <a:latin typeface="Calibri" pitchFamily="34" charset="0"/>
                <a:ea typeface="Calibri" pitchFamily="34" charset="-122"/>
                <a:cs typeface="Calibri" pitchFamily="34" charset="-120"/>
              </a:rPr>
              <a:t>avec IA : 1 sur 4</a:t>
            </a:r>
            <a:endParaRPr lang="en-US" sz="1700" dirty="0"/>
          </a:p>
          <a:p>
            <a:pPr marL="0" indent="0">
              <a:buNone/>
            </a:pPr>
            <a:r>
              <a:rPr lang="en-US" sz="1700" b="1" dirty="0">
                <a:solidFill>
                  <a:srgbClr val="E8590C"/>
                </a:solidFill>
                <a:latin typeface="Calibri" pitchFamily="34" charset="0"/>
                <a:ea typeface="Calibri" pitchFamily="34" charset="-122"/>
                <a:cs typeface="Calibri" pitchFamily="34" charset="-120"/>
              </a:rPr>
              <a:t>sans IA : 1 sur 2</a:t>
            </a:r>
            <a:endParaRPr lang="en-US" sz="1700" dirty="0"/>
          </a:p>
        </p:txBody>
      </p:sp>
      <p:sp>
        <p:nvSpPr>
          <p:cNvPr id="11" name="Text 7"/>
          <p:cNvSpPr txBox="1"/>
          <p:nvPr/>
        </p:nvSpPr>
        <p:spPr>
          <a:xfrm>
            <a:off x="640080" y="5989320"/>
            <a:ext cx="10911535" cy="320040"/>
          </a:xfrm>
          <a:prstGeom prst="rect">
            <a:avLst/>
          </a:prstGeom>
          <a:noFill/>
          <a:ln/>
        </p:spPr>
        <p:txBody>
          <a:bodyPr wrap="square" lIns="0" tIns="0" rIns="0" bIns="0" rtlCol="0" anchor="ctr"/>
          <a:lstStyle/>
          <a:p>
            <a:pPr marL="0" indent="0">
              <a:buNone/>
            </a:pPr>
            <a:r>
              <a:rPr lang="en-US" sz="1000" i="1" dirty="0">
                <a:solidFill>
                  <a:srgbClr val="5F6670"/>
                </a:solidFill>
                <a:latin typeface="Calibri" pitchFamily="34" charset="0"/>
                <a:ea typeface="Calibri" pitchFamily="34" charset="-122"/>
                <a:cs typeface="Calibri" pitchFamily="34" charset="-120"/>
              </a:rPr>
              <a:t>Source : Perry et al., ACM CCS 2023, résultats par exercice (le 5e, en C, sans différence significative).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STANFORD · UN CAS RÉEL DE L'ÉTUDE</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L'exercice SQL : ce que l'IA a proposé</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8</a:t>
            </a:r>
            <a:endParaRPr lang="en-US" sz="1000" dirty="0"/>
          </a:p>
        </p:txBody>
      </p:sp>
      <p:sp>
        <p:nvSpPr>
          <p:cNvPr id="8" name="Text 5"/>
          <p:cNvSpPr txBox="1"/>
          <p:nvPr/>
        </p:nvSpPr>
        <p:spPr>
          <a:xfrm>
            <a:off x="640080" y="1737360"/>
            <a:ext cx="5486400" cy="365760"/>
          </a:xfrm>
          <a:prstGeom prst="rect">
            <a:avLst/>
          </a:prstGeom>
          <a:noFill/>
          <a:ln/>
        </p:spPr>
        <p:txBody>
          <a:bodyPr wrap="square" lIns="0" tIns="0" rIns="0" bIns="0" rtlCol="0" anchor="ctr"/>
          <a:lstStyle/>
          <a:p>
            <a:pPr marL="0" indent="0">
              <a:buNone/>
            </a:pPr>
            <a:r>
              <a:rPr lang="en-US" sz="1500" b="1" dirty="0">
                <a:solidFill>
                  <a:srgbClr val="C92A2A"/>
                </a:solidFill>
                <a:latin typeface="Calibri" pitchFamily="34" charset="0"/>
                <a:ea typeface="Calibri" pitchFamily="34" charset="-122"/>
                <a:cs typeface="Calibri" pitchFamily="34" charset="-120"/>
              </a:rPr>
              <a:t>Proposé par l'IA, accepté par le participant</a:t>
            </a:r>
            <a:endParaRPr lang="en-US" sz="1500" dirty="0"/>
          </a:p>
        </p:txBody>
      </p:sp>
      <p:sp>
        <p:nvSpPr>
          <p:cNvPr id="9" name="Shape 6"/>
          <p:cNvSpPr/>
          <p:nvPr/>
        </p:nvSpPr>
        <p:spPr>
          <a:xfrm>
            <a:off x="640080" y="2148840"/>
            <a:ext cx="5486400" cy="1188720"/>
          </a:xfrm>
          <a:prstGeom prst="roundRect">
            <a:avLst>
              <a:gd name="adj" fmla="val 6154"/>
            </a:avLst>
          </a:prstGeom>
          <a:solidFill>
            <a:srgbClr val="1E2127"/>
          </a:solidFill>
          <a:ln w="12700">
            <a:solidFill>
              <a:srgbClr val="1E2127"/>
            </a:solidFill>
            <a:prstDash val="solid"/>
          </a:ln>
        </p:spPr>
        <p:txBody>
          <a:bodyPr/>
          <a:lstStyle/>
          <a:p>
            <a:endParaRPr lang="fr-BE"/>
          </a:p>
        </p:txBody>
      </p:sp>
      <p:sp>
        <p:nvSpPr>
          <p:cNvPr id="10" name="Text 7"/>
          <p:cNvSpPr txBox="1"/>
          <p:nvPr/>
        </p:nvSpPr>
        <p:spPr>
          <a:xfrm>
            <a:off x="914400" y="2377440"/>
            <a:ext cx="4937760" cy="731520"/>
          </a:xfrm>
          <a:prstGeom prst="rect">
            <a:avLst/>
          </a:prstGeom>
          <a:noFill/>
          <a:ln/>
        </p:spPr>
        <p:txBody>
          <a:bodyPr wrap="square" lIns="0" tIns="0" rIns="0" bIns="0" rtlCol="0" anchor="t"/>
          <a:lstStyle/>
          <a:p>
            <a:pPr marL="0" indent="0">
              <a:buNone/>
            </a:pPr>
            <a:r>
              <a:rPr lang="en-US" sz="1600" dirty="0">
                <a:solidFill>
                  <a:srgbClr val="E6E6E6"/>
                </a:solidFill>
                <a:latin typeface="Consolas" pitchFamily="34" charset="0"/>
                <a:ea typeface="Consolas" pitchFamily="34" charset="-122"/>
                <a:cs typeface="Consolas" pitchFamily="34" charset="-120"/>
              </a:rPr>
              <a:t>db.run("INSERT INTO users VALUES ('"</a:t>
            </a:r>
            <a:endParaRPr lang="en-US" sz="1600" dirty="0"/>
          </a:p>
          <a:p>
            <a:pPr marL="0" indent="0">
              <a:buNone/>
            </a:pPr>
            <a:r>
              <a:rPr lang="en-US" sz="1600" dirty="0">
                <a:solidFill>
                  <a:srgbClr val="E6E6E6"/>
                </a:solidFill>
                <a:latin typeface="Consolas" pitchFamily="34" charset="0"/>
                <a:ea typeface="Consolas" pitchFamily="34" charset="-122"/>
                <a:cs typeface="Consolas" pitchFamily="34" charset="-120"/>
              </a:rPr>
              <a:t>       + name + "', " + age + ")");</a:t>
            </a:r>
            <a:endParaRPr lang="en-US" sz="1600" dirty="0"/>
          </a:p>
        </p:txBody>
      </p:sp>
      <p:sp>
        <p:nvSpPr>
          <p:cNvPr id="11" name="Text 8"/>
          <p:cNvSpPr txBox="1"/>
          <p:nvPr/>
        </p:nvSpPr>
        <p:spPr>
          <a:xfrm>
            <a:off x="640080" y="3566160"/>
            <a:ext cx="5669280" cy="365760"/>
          </a:xfrm>
          <a:prstGeom prst="rect">
            <a:avLst/>
          </a:prstGeom>
          <a:noFill/>
          <a:ln/>
        </p:spPr>
        <p:txBody>
          <a:bodyPr wrap="square" lIns="0" tIns="0" rIns="0" bIns="0" rtlCol="0" anchor="ctr"/>
          <a:lstStyle/>
          <a:p>
            <a:pPr marL="0" indent="0">
              <a:buNone/>
            </a:pPr>
            <a:r>
              <a:rPr lang="en-US" sz="1500" b="1" dirty="0">
                <a:solidFill>
                  <a:srgbClr val="2F9E44"/>
                </a:solidFill>
                <a:latin typeface="Calibri" pitchFamily="34" charset="0"/>
                <a:ea typeface="Calibri" pitchFamily="34" charset="-122"/>
                <a:cs typeface="Calibri" pitchFamily="34" charset="-120"/>
              </a:rPr>
              <a:t>Ce qu'il aurait fallu écrire : une requête paramétrée</a:t>
            </a:r>
            <a:endParaRPr lang="en-US" sz="1500" dirty="0"/>
          </a:p>
        </p:txBody>
      </p:sp>
      <p:sp>
        <p:nvSpPr>
          <p:cNvPr id="12" name="Shape 9"/>
          <p:cNvSpPr/>
          <p:nvPr/>
        </p:nvSpPr>
        <p:spPr>
          <a:xfrm>
            <a:off x="640080" y="3977640"/>
            <a:ext cx="5486400" cy="1188720"/>
          </a:xfrm>
          <a:prstGeom prst="roundRect">
            <a:avLst>
              <a:gd name="adj" fmla="val 6154"/>
            </a:avLst>
          </a:prstGeom>
          <a:solidFill>
            <a:srgbClr val="1E2127"/>
          </a:solidFill>
          <a:ln w="12700">
            <a:solidFill>
              <a:srgbClr val="1E2127"/>
            </a:solidFill>
            <a:prstDash val="solid"/>
          </a:ln>
        </p:spPr>
        <p:txBody>
          <a:bodyPr/>
          <a:lstStyle/>
          <a:p>
            <a:endParaRPr lang="fr-BE"/>
          </a:p>
        </p:txBody>
      </p:sp>
      <p:sp>
        <p:nvSpPr>
          <p:cNvPr id="13" name="Text 10"/>
          <p:cNvSpPr txBox="1"/>
          <p:nvPr/>
        </p:nvSpPr>
        <p:spPr>
          <a:xfrm>
            <a:off x="914400" y="4206240"/>
            <a:ext cx="4937760" cy="731520"/>
          </a:xfrm>
          <a:prstGeom prst="rect">
            <a:avLst/>
          </a:prstGeom>
          <a:noFill/>
          <a:ln/>
        </p:spPr>
        <p:txBody>
          <a:bodyPr wrap="square" lIns="0" tIns="0" rIns="0" bIns="0" rtlCol="0" anchor="t"/>
          <a:lstStyle/>
          <a:p>
            <a:pPr marL="0" indent="0">
              <a:buNone/>
            </a:pPr>
            <a:r>
              <a:rPr lang="en-US" sz="1600" dirty="0">
                <a:solidFill>
                  <a:srgbClr val="E6E6E6"/>
                </a:solidFill>
                <a:latin typeface="Consolas" pitchFamily="34" charset="0"/>
                <a:ea typeface="Consolas" pitchFamily="34" charset="-122"/>
                <a:cs typeface="Consolas" pitchFamily="34" charset="-120"/>
              </a:rPr>
              <a:t>db.run("INSERT INTO users VALUES (?, ?)",</a:t>
            </a:r>
            <a:endParaRPr lang="en-US" sz="1600" dirty="0"/>
          </a:p>
          <a:p>
            <a:pPr marL="0" indent="0">
              <a:buNone/>
            </a:pPr>
            <a:r>
              <a:rPr lang="en-US" sz="1600" dirty="0">
                <a:solidFill>
                  <a:srgbClr val="E6E6E6"/>
                </a:solidFill>
                <a:latin typeface="Consolas" pitchFamily="34" charset="0"/>
                <a:ea typeface="Consolas" pitchFamily="34" charset="-122"/>
                <a:cs typeface="Consolas" pitchFamily="34" charset="-120"/>
              </a:rPr>
              <a:t>       [name, age]);</a:t>
            </a:r>
            <a:endParaRPr lang="en-US" sz="1600" dirty="0"/>
          </a:p>
        </p:txBody>
      </p:sp>
      <p:sp>
        <p:nvSpPr>
          <p:cNvPr id="14" name="Shape 11"/>
          <p:cNvSpPr/>
          <p:nvPr/>
        </p:nvSpPr>
        <p:spPr>
          <a:xfrm>
            <a:off x="6492240" y="1737360"/>
            <a:ext cx="5029200" cy="3429000"/>
          </a:xfrm>
          <a:prstGeom prst="roundRect">
            <a:avLst>
              <a:gd name="adj" fmla="val 2133"/>
            </a:avLst>
          </a:prstGeom>
          <a:solidFill>
            <a:srgbClr val="F2F3F5"/>
          </a:solidFill>
          <a:ln w="12700">
            <a:solidFill>
              <a:srgbClr val="F2F3F5"/>
            </a:solidFill>
            <a:prstDash val="solid"/>
          </a:ln>
        </p:spPr>
        <p:txBody>
          <a:bodyPr/>
          <a:lstStyle/>
          <a:p>
            <a:endParaRPr lang="fr-BE"/>
          </a:p>
        </p:txBody>
      </p:sp>
      <p:sp>
        <p:nvSpPr>
          <p:cNvPr id="15" name="Text 12"/>
          <p:cNvSpPr txBox="1"/>
          <p:nvPr/>
        </p:nvSpPr>
        <p:spPr>
          <a:xfrm>
            <a:off x="6766560" y="1920240"/>
            <a:ext cx="4572000" cy="365760"/>
          </a:xfrm>
          <a:prstGeom prst="rect">
            <a:avLst/>
          </a:prstGeom>
          <a:noFill/>
          <a:ln/>
        </p:spPr>
        <p:txBody>
          <a:bodyPr wrap="square" lIns="0" tIns="0" rIns="0" bIns="0" rtlCol="0" anchor="ctr"/>
          <a:lstStyle/>
          <a:p>
            <a:pPr marL="0" indent="0">
              <a:buNone/>
            </a:pPr>
            <a:r>
              <a:rPr lang="en-US" sz="1600" dirty="0">
                <a:solidFill>
                  <a:srgbClr val="5F6670"/>
                </a:solidFill>
                <a:latin typeface="Calibri" pitchFamily="34" charset="0"/>
                <a:ea typeface="Calibri" pitchFamily="34" charset="-122"/>
                <a:cs typeface="Calibri" pitchFamily="34" charset="-120"/>
              </a:rPr>
              <a:t>Si quelqu'un tape comme nom :</a:t>
            </a:r>
            <a:endParaRPr lang="en-US" sz="1600" dirty="0"/>
          </a:p>
        </p:txBody>
      </p:sp>
      <p:sp>
        <p:nvSpPr>
          <p:cNvPr id="16" name="Text 13"/>
          <p:cNvSpPr txBox="1"/>
          <p:nvPr/>
        </p:nvSpPr>
        <p:spPr>
          <a:xfrm>
            <a:off x="6766560" y="2377440"/>
            <a:ext cx="4572000" cy="457200"/>
          </a:xfrm>
          <a:prstGeom prst="rect">
            <a:avLst/>
          </a:prstGeom>
          <a:noFill/>
          <a:ln/>
        </p:spPr>
        <p:txBody>
          <a:bodyPr wrap="square" lIns="0" tIns="0" rIns="0" bIns="0" rtlCol="0" anchor="ctr"/>
          <a:lstStyle/>
          <a:p>
            <a:pPr marL="0" indent="0">
              <a:buNone/>
            </a:pPr>
            <a:r>
              <a:rPr lang="en-US" sz="1700" b="1" dirty="0">
                <a:solidFill>
                  <a:srgbClr val="C92A2A"/>
                </a:solidFill>
                <a:latin typeface="Consolas" pitchFamily="34" charset="0"/>
                <a:ea typeface="Consolas" pitchFamily="34" charset="-122"/>
                <a:cs typeface="Consolas" pitchFamily="34" charset="-120"/>
              </a:rPr>
              <a:t>x', 0); DROP TABLE users; --</a:t>
            </a:r>
            <a:endParaRPr lang="en-US" sz="1700" dirty="0"/>
          </a:p>
        </p:txBody>
      </p:sp>
      <p:sp>
        <p:nvSpPr>
          <p:cNvPr id="17" name="Text 14"/>
          <p:cNvSpPr txBox="1"/>
          <p:nvPr/>
        </p:nvSpPr>
        <p:spPr>
          <a:xfrm>
            <a:off x="6766560" y="2926080"/>
            <a:ext cx="4572000" cy="2103120"/>
          </a:xfrm>
          <a:prstGeom prst="rect">
            <a:avLst/>
          </a:prstGeom>
          <a:noFill/>
          <a:ln/>
        </p:spPr>
        <p:txBody>
          <a:bodyPr wrap="square" lIns="0" tIns="0" rIns="0" bIns="0" rtlCol="0" anchor="t"/>
          <a:lstStyle/>
          <a:p>
            <a:pPr marL="0" indent="0">
              <a:buNone/>
            </a:pPr>
            <a:r>
              <a:rPr lang="en-US" sz="1600" dirty="0">
                <a:solidFill>
                  <a:srgbClr val="16181D"/>
                </a:solidFill>
                <a:latin typeface="Calibri" pitchFamily="34" charset="0"/>
                <a:ea typeface="Calibri" pitchFamily="34" charset="-122"/>
                <a:cs typeface="Calibri" pitchFamily="34" charset="-120"/>
              </a:rPr>
              <a:t>… la base exécute sa commande et supprime la table des utilisateurs.</a:t>
            </a:r>
            <a:endParaRPr lang="en-US" sz="1600" dirty="0"/>
          </a:p>
          <a:p>
            <a:pPr marL="0" indent="0">
              <a:buNone/>
            </a:pPr>
            <a:endParaRPr lang="en-US" sz="1600" dirty="0"/>
          </a:p>
          <a:p>
            <a:pPr marL="0" indent="0">
              <a:buNone/>
            </a:pPr>
            <a:r>
              <a:rPr lang="en-US" sz="1600" dirty="0">
                <a:solidFill>
                  <a:srgbClr val="16181D"/>
                </a:solidFill>
                <a:latin typeface="Calibri" pitchFamily="34" charset="0"/>
                <a:ea typeface="Calibri" pitchFamily="34" charset="-122"/>
                <a:cs typeface="Calibri" pitchFamily="34" charset="-120"/>
              </a:rPr>
              <a:t>Ça compile. Ça marche avec des données normales. C'est la même famille de faille que MOVEit.</a:t>
            </a:r>
            <a:endParaRPr lang="en-US" sz="1600" dirty="0"/>
          </a:p>
        </p:txBody>
      </p:sp>
      <p:sp>
        <p:nvSpPr>
          <p:cNvPr id="18" name="Text 15"/>
          <p:cNvSpPr txBox="1"/>
          <p:nvPr/>
        </p:nvSpPr>
        <p:spPr>
          <a:xfrm>
            <a:off x="640080" y="5989320"/>
            <a:ext cx="10911535" cy="320040"/>
          </a:xfrm>
          <a:prstGeom prst="rect">
            <a:avLst/>
          </a:prstGeom>
          <a:noFill/>
          <a:ln/>
        </p:spPr>
        <p:txBody>
          <a:bodyPr wrap="square" lIns="0" tIns="0" rIns="0" bIns="0" rtlCol="0" anchor="ctr"/>
          <a:lstStyle/>
          <a:p>
            <a:pPr marL="0" indent="0">
              <a:buNone/>
            </a:pPr>
            <a:r>
              <a:rPr lang="en-US" sz="1000" i="1" dirty="0">
                <a:solidFill>
                  <a:srgbClr val="5F6670"/>
                </a:solidFill>
                <a:latin typeface="Calibri" pitchFamily="34" charset="0"/>
                <a:ea typeface="Calibri" pitchFamily="34" charset="-122"/>
                <a:cs typeface="Calibri" pitchFamily="34" charset="-120"/>
              </a:rPr>
              <a:t>Source : Perry et al., ACM CCS 2023 (exemple du participant 1042). La saisie malveillante est ajoutée pour l'illustration.</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16181D"/>
        </a:solidFill>
        <a:effectLst/>
      </p:bgPr>
    </p:bg>
    <p:spTree>
      <p:nvGrpSpPr>
        <p:cNvPr id="1" name=""/>
        <p:cNvGrpSpPr/>
        <p:nvPr/>
      </p:nvGrpSpPr>
      <p:grpSpPr>
        <a:xfrm>
          <a:off x="0" y="0"/>
          <a:ext cx="0" cy="0"/>
          <a:chOff x="0" y="0"/>
          <a:chExt cx="0" cy="0"/>
        </a:xfrm>
      </p:grpSpPr>
      <p:sp>
        <p:nvSpPr>
          <p:cNvPr id="2" name="Text 0"/>
          <p:cNvSpPr txBox="1"/>
          <p:nvPr/>
        </p:nvSpPr>
        <p:spPr>
          <a:xfrm>
            <a:off x="640080" y="1097280"/>
            <a:ext cx="10911535" cy="457200"/>
          </a:xfrm>
          <a:prstGeom prst="rect">
            <a:avLst/>
          </a:prstGeom>
          <a:noFill/>
          <a:ln/>
        </p:spPr>
        <p:txBody>
          <a:bodyPr wrap="square" lIns="0" tIns="0" rIns="0" bIns="0" rtlCol="0" anchor="ctr"/>
          <a:lstStyle/>
          <a:p>
            <a:pPr marL="0" indent="0">
              <a:buNone/>
            </a:pPr>
            <a:r>
              <a:rPr lang="en-US" sz="1800" b="1" kern="0" spc="300" dirty="0">
                <a:solidFill>
                  <a:srgbClr val="E8590C"/>
                </a:solidFill>
                <a:latin typeface="Calibri" pitchFamily="34" charset="0"/>
                <a:ea typeface="Calibri" pitchFamily="34" charset="-122"/>
                <a:cs typeface="Calibri" pitchFamily="34" charset="-120"/>
              </a:rPr>
              <a:t>Stanford · le résultat le plus inquiétant</a:t>
            </a:r>
            <a:endParaRPr lang="en-US" sz="1800" dirty="0"/>
          </a:p>
        </p:txBody>
      </p:sp>
      <p:sp>
        <p:nvSpPr>
          <p:cNvPr id="3" name="Text 1"/>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9AA0A8"/>
                </a:solidFill>
                <a:latin typeface="Calibri" pitchFamily="34" charset="0"/>
                <a:ea typeface="Calibri" pitchFamily="34" charset="-122"/>
                <a:cs typeface="Calibri" pitchFamily="34" charset="-120"/>
              </a:rPr>
              <a:t>Complément Application · S1</a:t>
            </a:r>
            <a:endParaRPr lang="en-US" sz="1000" dirty="0"/>
          </a:p>
        </p:txBody>
      </p:sp>
      <p:sp>
        <p:nvSpPr>
          <p:cNvPr id="4" name="Text 2"/>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9AA0A8"/>
                </a:solidFill>
                <a:latin typeface="Calibri" pitchFamily="34" charset="0"/>
                <a:ea typeface="Calibri" pitchFamily="34" charset="-122"/>
                <a:cs typeface="Calibri" pitchFamily="34" charset="-120"/>
              </a:rPr>
              <a:t>9</a:t>
            </a:r>
            <a:endParaRPr lang="en-US" sz="1000" dirty="0"/>
          </a:p>
        </p:txBody>
      </p:sp>
      <p:sp>
        <p:nvSpPr>
          <p:cNvPr id="6" name="Text 3"/>
          <p:cNvSpPr txBox="1"/>
          <p:nvPr/>
        </p:nvSpPr>
        <p:spPr>
          <a:xfrm>
            <a:off x="640080" y="1645920"/>
            <a:ext cx="10911535" cy="1097280"/>
          </a:xfrm>
          <a:prstGeom prst="rect">
            <a:avLst/>
          </a:prstGeom>
          <a:noFill/>
          <a:ln/>
        </p:spPr>
        <p:txBody>
          <a:bodyPr wrap="square" lIns="0" tIns="0" rIns="0" bIns="0" rtlCol="0" anchor="t"/>
          <a:lstStyle/>
          <a:p>
            <a:pPr marL="0" indent="0">
              <a:buNone/>
            </a:pPr>
            <a:r>
              <a:rPr lang="en-US" sz="3400" b="1" dirty="0">
                <a:solidFill>
                  <a:srgbClr val="FFFFFF"/>
                </a:solidFill>
                <a:latin typeface="Arial" pitchFamily="34" charset="0"/>
                <a:ea typeface="Arial" pitchFamily="34" charset="-122"/>
                <a:cs typeface="Arial" pitchFamily="34" charset="-120"/>
              </a:rPr>
              <a:t>Ceux qui faisaient confiance à l'IA vérifiaient moins. Et se trompaient plus.</a:t>
            </a:r>
            <a:endParaRPr lang="en-US" sz="3400" dirty="0"/>
          </a:p>
        </p:txBody>
      </p:sp>
      <p:sp>
        <p:nvSpPr>
          <p:cNvPr id="7" name="Text 4"/>
          <p:cNvSpPr txBox="1"/>
          <p:nvPr/>
        </p:nvSpPr>
        <p:spPr>
          <a:xfrm>
            <a:off x="640080" y="2880360"/>
            <a:ext cx="10911535" cy="457200"/>
          </a:xfrm>
          <a:prstGeom prst="rect">
            <a:avLst/>
          </a:prstGeom>
          <a:noFill/>
          <a:ln/>
        </p:spPr>
        <p:txBody>
          <a:bodyPr wrap="square" lIns="0" tIns="0" rIns="0" bIns="0" rtlCol="0" anchor="ctr"/>
          <a:lstStyle/>
          <a:p>
            <a:pPr marL="0" indent="0">
              <a:buNone/>
            </a:pPr>
            <a:r>
              <a:rPr lang="en-US" sz="1700" dirty="0">
                <a:solidFill>
                  <a:srgbClr val="C9CDD3"/>
                </a:solidFill>
                <a:latin typeface="Calibri" pitchFamily="34" charset="0"/>
                <a:ea typeface="Calibri" pitchFamily="34" charset="-122"/>
                <a:cs typeface="Calibri" pitchFamily="34" charset="-120"/>
              </a:rPr>
              <a:t>Confiance dans l'IA notée de 1 à 5 par les participants, exercice « accès à un dossier » :</a:t>
            </a:r>
            <a:endParaRPr lang="en-US" sz="1700" dirty="0"/>
          </a:p>
        </p:txBody>
      </p:sp>
      <p:sp>
        <p:nvSpPr>
          <p:cNvPr id="8" name="Shape 5"/>
          <p:cNvSpPr/>
          <p:nvPr/>
        </p:nvSpPr>
        <p:spPr>
          <a:xfrm>
            <a:off x="640080" y="3474720"/>
            <a:ext cx="3017520" cy="1645920"/>
          </a:xfrm>
          <a:prstGeom prst="roundRect">
            <a:avLst>
              <a:gd name="adj" fmla="val 4444"/>
            </a:avLst>
          </a:prstGeom>
          <a:solidFill>
            <a:srgbClr val="2A2D34"/>
          </a:solidFill>
          <a:ln w="12700">
            <a:solidFill>
              <a:srgbClr val="2A2D34"/>
            </a:solidFill>
            <a:prstDash val="solid"/>
          </a:ln>
        </p:spPr>
        <p:txBody>
          <a:bodyPr/>
          <a:lstStyle/>
          <a:p>
            <a:endParaRPr lang="fr-BE"/>
          </a:p>
        </p:txBody>
      </p:sp>
      <p:sp>
        <p:nvSpPr>
          <p:cNvPr id="9" name="Text 6"/>
          <p:cNvSpPr txBox="1"/>
          <p:nvPr/>
        </p:nvSpPr>
        <p:spPr>
          <a:xfrm>
            <a:off x="914400" y="3566160"/>
            <a:ext cx="2560320" cy="914400"/>
          </a:xfrm>
          <a:prstGeom prst="rect">
            <a:avLst/>
          </a:prstGeom>
          <a:noFill/>
          <a:ln/>
        </p:spPr>
        <p:txBody>
          <a:bodyPr wrap="square" lIns="0" tIns="0" rIns="0" bIns="0" rtlCol="0" anchor="ctr"/>
          <a:lstStyle/>
          <a:p>
            <a:pPr marL="0" indent="0">
              <a:buNone/>
            </a:pPr>
            <a:r>
              <a:rPr lang="en-US" sz="4800" b="1" dirty="0">
                <a:solidFill>
                  <a:srgbClr val="C92A2A"/>
                </a:solidFill>
                <a:latin typeface="Arial" pitchFamily="34" charset="0"/>
                <a:ea typeface="Arial" pitchFamily="34" charset="-122"/>
                <a:cs typeface="Arial" pitchFamily="34" charset="-120"/>
              </a:rPr>
              <a:t>4,0</a:t>
            </a:r>
            <a:endParaRPr lang="en-US" sz="4800" dirty="0"/>
          </a:p>
        </p:txBody>
      </p:sp>
      <p:sp>
        <p:nvSpPr>
          <p:cNvPr id="10" name="Text 7"/>
          <p:cNvSpPr txBox="1"/>
          <p:nvPr/>
        </p:nvSpPr>
        <p:spPr>
          <a:xfrm>
            <a:off x="914400" y="4480560"/>
            <a:ext cx="2560320" cy="457200"/>
          </a:xfrm>
          <a:prstGeom prst="rect">
            <a:avLst/>
          </a:prstGeom>
          <a:noFill/>
          <a:ln/>
        </p:spPr>
        <p:txBody>
          <a:bodyPr wrap="square" lIns="0" tIns="0" rIns="0" bIns="0" rtlCol="0" anchor="ctr"/>
          <a:lstStyle/>
          <a:p>
            <a:pPr marL="0" indent="0">
              <a:buNone/>
            </a:pPr>
            <a:r>
              <a:rPr lang="en-US" sz="1600" dirty="0">
                <a:solidFill>
                  <a:srgbClr val="C9CDD3"/>
                </a:solidFill>
                <a:latin typeface="Calibri" pitchFamily="34" charset="0"/>
                <a:ea typeface="Calibri" pitchFamily="34" charset="-122"/>
                <a:cs typeface="Calibri" pitchFamily="34" charset="-120"/>
              </a:rPr>
              <a:t>réponse non sûre</a:t>
            </a:r>
            <a:endParaRPr lang="en-US" sz="1600" dirty="0"/>
          </a:p>
        </p:txBody>
      </p:sp>
      <p:sp>
        <p:nvSpPr>
          <p:cNvPr id="11" name="Shape 8"/>
          <p:cNvSpPr/>
          <p:nvPr/>
        </p:nvSpPr>
        <p:spPr>
          <a:xfrm>
            <a:off x="3931920" y="3474720"/>
            <a:ext cx="3017520" cy="1645920"/>
          </a:xfrm>
          <a:prstGeom prst="roundRect">
            <a:avLst>
              <a:gd name="adj" fmla="val 4444"/>
            </a:avLst>
          </a:prstGeom>
          <a:solidFill>
            <a:srgbClr val="2A2D34"/>
          </a:solidFill>
          <a:ln w="12700">
            <a:solidFill>
              <a:srgbClr val="2A2D34"/>
            </a:solidFill>
            <a:prstDash val="solid"/>
          </a:ln>
        </p:spPr>
        <p:txBody>
          <a:bodyPr/>
          <a:lstStyle/>
          <a:p>
            <a:endParaRPr lang="fr-BE"/>
          </a:p>
        </p:txBody>
      </p:sp>
      <p:sp>
        <p:nvSpPr>
          <p:cNvPr id="12" name="Text 9"/>
          <p:cNvSpPr txBox="1"/>
          <p:nvPr/>
        </p:nvSpPr>
        <p:spPr>
          <a:xfrm>
            <a:off x="4206240" y="3566160"/>
            <a:ext cx="2560320" cy="914400"/>
          </a:xfrm>
          <a:prstGeom prst="rect">
            <a:avLst/>
          </a:prstGeom>
          <a:noFill/>
          <a:ln/>
        </p:spPr>
        <p:txBody>
          <a:bodyPr wrap="square" lIns="0" tIns="0" rIns="0" bIns="0" rtlCol="0" anchor="ctr"/>
          <a:lstStyle/>
          <a:p>
            <a:pPr marL="0" indent="0">
              <a:buNone/>
            </a:pPr>
            <a:r>
              <a:rPr lang="en-US" sz="4800" b="1" dirty="0">
                <a:solidFill>
                  <a:srgbClr val="2F9E44"/>
                </a:solidFill>
                <a:latin typeface="Arial" pitchFamily="34" charset="0"/>
                <a:ea typeface="Arial" pitchFamily="34" charset="-122"/>
                <a:cs typeface="Arial" pitchFamily="34" charset="-120"/>
              </a:rPr>
              <a:t>1,5</a:t>
            </a:r>
            <a:endParaRPr lang="en-US" sz="4800" dirty="0"/>
          </a:p>
        </p:txBody>
      </p:sp>
      <p:sp>
        <p:nvSpPr>
          <p:cNvPr id="13" name="Text 10"/>
          <p:cNvSpPr txBox="1"/>
          <p:nvPr/>
        </p:nvSpPr>
        <p:spPr>
          <a:xfrm>
            <a:off x="4206240" y="4480560"/>
            <a:ext cx="2560320" cy="457200"/>
          </a:xfrm>
          <a:prstGeom prst="rect">
            <a:avLst/>
          </a:prstGeom>
          <a:noFill/>
          <a:ln/>
        </p:spPr>
        <p:txBody>
          <a:bodyPr wrap="square" lIns="0" tIns="0" rIns="0" bIns="0" rtlCol="0" anchor="ctr"/>
          <a:lstStyle/>
          <a:p>
            <a:pPr marL="0" indent="0">
              <a:buNone/>
            </a:pPr>
            <a:r>
              <a:rPr lang="en-US" sz="1600" dirty="0">
                <a:solidFill>
                  <a:srgbClr val="C9CDD3"/>
                </a:solidFill>
                <a:latin typeface="Calibri" pitchFamily="34" charset="0"/>
                <a:ea typeface="Calibri" pitchFamily="34" charset="-122"/>
                <a:cs typeface="Calibri" pitchFamily="34" charset="-120"/>
              </a:rPr>
              <a:t>réponse sûre</a:t>
            </a:r>
            <a:endParaRPr lang="en-US" sz="1600" dirty="0"/>
          </a:p>
        </p:txBody>
      </p:sp>
      <p:sp>
        <p:nvSpPr>
          <p:cNvPr id="14" name="Text 11"/>
          <p:cNvSpPr txBox="1"/>
          <p:nvPr/>
        </p:nvSpPr>
        <p:spPr>
          <a:xfrm>
            <a:off x="7498080" y="3474720"/>
            <a:ext cx="4023360" cy="1645920"/>
          </a:xfrm>
          <a:prstGeom prst="rect">
            <a:avLst/>
          </a:prstGeom>
          <a:noFill/>
          <a:ln/>
        </p:spPr>
        <p:txBody>
          <a:bodyPr wrap="square" lIns="0" tIns="0" rIns="0" bIns="0" rtlCol="0" anchor="ctr"/>
          <a:lstStyle/>
          <a:p>
            <a:pPr marL="0" indent="0">
              <a:buNone/>
            </a:pPr>
            <a:r>
              <a:rPr lang="en-US" sz="2100" b="1" dirty="0">
                <a:solidFill>
                  <a:srgbClr val="FFA94D"/>
                </a:solidFill>
                <a:latin typeface="Arial" pitchFamily="34" charset="0"/>
                <a:ea typeface="Arial" pitchFamily="34" charset="-122"/>
                <a:cs typeface="Arial" pitchFamily="34" charset="-120"/>
              </a:rPr>
              <a:t>Le groupe avec IA se croyait, en plus, mieux protégé que l'autre.</a:t>
            </a:r>
            <a:endParaRPr lang="en-US" sz="2100" dirty="0"/>
          </a:p>
        </p:txBody>
      </p:sp>
      <p:sp>
        <p:nvSpPr>
          <p:cNvPr id="15" name="Text 12"/>
          <p:cNvSpPr txBox="1"/>
          <p:nvPr/>
        </p:nvSpPr>
        <p:spPr>
          <a:xfrm>
            <a:off x="640080" y="5989320"/>
            <a:ext cx="10911535" cy="320040"/>
          </a:xfrm>
          <a:prstGeom prst="rect">
            <a:avLst/>
          </a:prstGeom>
          <a:noFill/>
          <a:ln/>
        </p:spPr>
        <p:txBody>
          <a:bodyPr wrap="square" lIns="0" tIns="0" rIns="0" bIns="0" rtlCol="0" anchor="ctr"/>
          <a:lstStyle/>
          <a:p>
            <a:pPr marL="0" indent="0">
              <a:buNone/>
            </a:pPr>
            <a:r>
              <a:rPr lang="en-US" sz="1000" i="1" dirty="0">
                <a:solidFill>
                  <a:srgbClr val="9AA0A8"/>
                </a:solidFill>
                <a:latin typeface="Calibri" pitchFamily="34" charset="0"/>
                <a:ea typeface="Calibri" pitchFamily="34" charset="-122"/>
                <a:cs typeface="Calibri" pitchFamily="34" charset="-120"/>
              </a:rPr>
              <a:t>Source : Perry et al., ACM CCS 2023 (confiance déclarée et sécurité réelle).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ET EN 2026 ?</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Les IA écrivent du code qui compile. Pas du code sûr.</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10</a:t>
            </a:r>
            <a:endParaRPr lang="en-US" sz="1000" dirty="0"/>
          </a:p>
        </p:txBody>
      </p:sp>
      <p:sp>
        <p:nvSpPr>
          <p:cNvPr id="8" name="Shape 5"/>
          <p:cNvSpPr/>
          <p:nvPr/>
        </p:nvSpPr>
        <p:spPr>
          <a:xfrm>
            <a:off x="640080" y="1828800"/>
            <a:ext cx="3657600" cy="2377440"/>
          </a:xfrm>
          <a:prstGeom prst="roundRect">
            <a:avLst>
              <a:gd name="adj" fmla="val 3077"/>
            </a:avLst>
          </a:prstGeom>
          <a:solidFill>
            <a:srgbClr val="F2F3F5"/>
          </a:solidFill>
          <a:ln w="12700">
            <a:solidFill>
              <a:srgbClr val="F2F3F5"/>
            </a:solidFill>
            <a:prstDash val="solid"/>
          </a:ln>
        </p:spPr>
        <p:txBody>
          <a:bodyPr/>
          <a:lstStyle/>
          <a:p>
            <a:endParaRPr lang="fr-BE"/>
          </a:p>
        </p:txBody>
      </p:sp>
      <p:sp>
        <p:nvSpPr>
          <p:cNvPr id="9" name="Text 6"/>
          <p:cNvSpPr txBox="1"/>
          <p:nvPr/>
        </p:nvSpPr>
        <p:spPr>
          <a:xfrm>
            <a:off x="960120" y="1965960"/>
            <a:ext cx="3108960" cy="1188720"/>
          </a:xfrm>
          <a:prstGeom prst="rect">
            <a:avLst/>
          </a:prstGeom>
          <a:noFill/>
          <a:ln/>
        </p:spPr>
        <p:txBody>
          <a:bodyPr wrap="square" lIns="0" tIns="0" rIns="0" bIns="0" rtlCol="0" anchor="ctr"/>
          <a:lstStyle/>
          <a:p>
            <a:pPr marL="0" indent="0">
              <a:buNone/>
            </a:pPr>
            <a:r>
              <a:rPr lang="en-US" sz="6600" b="1" dirty="0">
                <a:solidFill>
                  <a:srgbClr val="2F9E44"/>
                </a:solidFill>
                <a:latin typeface="Arial" pitchFamily="34" charset="0"/>
                <a:ea typeface="Arial" pitchFamily="34" charset="-122"/>
                <a:cs typeface="Arial" pitchFamily="34" charset="-120"/>
              </a:rPr>
              <a:t>95 %+</a:t>
            </a:r>
            <a:endParaRPr lang="en-US" sz="6600" dirty="0"/>
          </a:p>
        </p:txBody>
      </p:sp>
      <p:sp>
        <p:nvSpPr>
          <p:cNvPr id="10" name="Text 7"/>
          <p:cNvSpPr txBox="1"/>
          <p:nvPr/>
        </p:nvSpPr>
        <p:spPr>
          <a:xfrm>
            <a:off x="960120" y="3200400"/>
            <a:ext cx="3017520" cy="731520"/>
          </a:xfrm>
          <a:prstGeom prst="rect">
            <a:avLst/>
          </a:prstGeom>
          <a:noFill/>
          <a:ln/>
        </p:spPr>
        <p:txBody>
          <a:bodyPr wrap="square" lIns="0" tIns="0" rIns="0" bIns="0" rtlCol="0" anchor="t"/>
          <a:lstStyle/>
          <a:p>
            <a:pPr marL="0" indent="0">
              <a:buNone/>
            </a:pPr>
            <a:r>
              <a:rPr lang="en-US" sz="1800" dirty="0">
                <a:solidFill>
                  <a:srgbClr val="16181D"/>
                </a:solidFill>
                <a:latin typeface="Calibri" pitchFamily="34" charset="0"/>
                <a:ea typeface="Calibri" pitchFamily="34" charset="-122"/>
                <a:cs typeface="Calibri" pitchFamily="34" charset="-120"/>
              </a:rPr>
              <a:t>du code généré compile</a:t>
            </a:r>
            <a:endParaRPr lang="en-US" sz="1800" dirty="0"/>
          </a:p>
        </p:txBody>
      </p:sp>
      <p:sp>
        <p:nvSpPr>
          <p:cNvPr id="11" name="Shape 8"/>
          <p:cNvSpPr/>
          <p:nvPr/>
        </p:nvSpPr>
        <p:spPr>
          <a:xfrm>
            <a:off x="4572000" y="1828800"/>
            <a:ext cx="3657600" cy="2377440"/>
          </a:xfrm>
          <a:prstGeom prst="roundRect">
            <a:avLst>
              <a:gd name="adj" fmla="val 3077"/>
            </a:avLst>
          </a:prstGeom>
          <a:solidFill>
            <a:srgbClr val="F2F3F5"/>
          </a:solidFill>
          <a:ln w="12700">
            <a:solidFill>
              <a:srgbClr val="F2F3F5"/>
            </a:solidFill>
            <a:prstDash val="solid"/>
          </a:ln>
        </p:spPr>
        <p:txBody>
          <a:bodyPr/>
          <a:lstStyle/>
          <a:p>
            <a:endParaRPr lang="fr-BE"/>
          </a:p>
        </p:txBody>
      </p:sp>
      <p:sp>
        <p:nvSpPr>
          <p:cNvPr id="12" name="Text 9"/>
          <p:cNvSpPr txBox="1"/>
          <p:nvPr/>
        </p:nvSpPr>
        <p:spPr>
          <a:xfrm>
            <a:off x="4892040" y="1965960"/>
            <a:ext cx="3108960" cy="1188720"/>
          </a:xfrm>
          <a:prstGeom prst="rect">
            <a:avLst/>
          </a:prstGeom>
          <a:noFill/>
          <a:ln/>
        </p:spPr>
        <p:txBody>
          <a:bodyPr wrap="square" lIns="0" tIns="0" rIns="0" bIns="0" rtlCol="0" anchor="ctr"/>
          <a:lstStyle/>
          <a:p>
            <a:pPr marL="0" indent="0">
              <a:buNone/>
            </a:pPr>
            <a:r>
              <a:rPr lang="en-US" sz="6600" b="1" dirty="0">
                <a:solidFill>
                  <a:srgbClr val="C92A2A"/>
                </a:solidFill>
                <a:latin typeface="Arial" pitchFamily="34" charset="0"/>
                <a:ea typeface="Arial" pitchFamily="34" charset="-122"/>
                <a:cs typeface="Arial" pitchFamily="34" charset="-120"/>
              </a:rPr>
              <a:t>55 %</a:t>
            </a:r>
            <a:endParaRPr lang="en-US" sz="6600" dirty="0"/>
          </a:p>
        </p:txBody>
      </p:sp>
      <p:sp>
        <p:nvSpPr>
          <p:cNvPr id="13" name="Text 10"/>
          <p:cNvSpPr txBox="1"/>
          <p:nvPr/>
        </p:nvSpPr>
        <p:spPr>
          <a:xfrm>
            <a:off x="4892040" y="3200400"/>
            <a:ext cx="3017520" cy="731520"/>
          </a:xfrm>
          <a:prstGeom prst="rect">
            <a:avLst/>
          </a:prstGeom>
          <a:noFill/>
          <a:ln/>
        </p:spPr>
        <p:txBody>
          <a:bodyPr wrap="square" lIns="0" tIns="0" rIns="0" bIns="0" rtlCol="0" anchor="t"/>
          <a:lstStyle/>
          <a:p>
            <a:pPr marL="0" indent="0">
              <a:buNone/>
            </a:pPr>
            <a:r>
              <a:rPr lang="en-US" sz="1800" dirty="0">
                <a:solidFill>
                  <a:srgbClr val="16181D"/>
                </a:solidFill>
                <a:latin typeface="Calibri" pitchFamily="34" charset="0"/>
                <a:ea typeface="Calibri" pitchFamily="34" charset="-122"/>
                <a:cs typeface="Calibri" pitchFamily="34" charset="-120"/>
              </a:rPr>
              <a:t>passe les tests de sécurité</a:t>
            </a:r>
            <a:endParaRPr lang="en-US" sz="1800" dirty="0"/>
          </a:p>
        </p:txBody>
      </p:sp>
      <p:sp>
        <p:nvSpPr>
          <p:cNvPr id="14" name="Shape 11"/>
          <p:cNvSpPr/>
          <p:nvPr/>
        </p:nvSpPr>
        <p:spPr>
          <a:xfrm>
            <a:off x="8595360" y="1828800"/>
            <a:ext cx="2926080" cy="2377440"/>
          </a:xfrm>
          <a:prstGeom prst="roundRect">
            <a:avLst>
              <a:gd name="adj" fmla="val 3077"/>
            </a:avLst>
          </a:prstGeom>
          <a:solidFill>
            <a:srgbClr val="16181D"/>
          </a:solidFill>
          <a:ln w="12700">
            <a:solidFill>
              <a:srgbClr val="16181D"/>
            </a:solidFill>
            <a:prstDash val="solid"/>
          </a:ln>
        </p:spPr>
        <p:txBody>
          <a:bodyPr/>
          <a:lstStyle/>
          <a:p>
            <a:endParaRPr lang="fr-BE"/>
          </a:p>
        </p:txBody>
      </p:sp>
      <p:sp>
        <p:nvSpPr>
          <p:cNvPr id="15" name="Text 12"/>
          <p:cNvSpPr txBox="1"/>
          <p:nvPr/>
        </p:nvSpPr>
        <p:spPr>
          <a:xfrm>
            <a:off x="8778240" y="2011680"/>
            <a:ext cx="2560320" cy="2103120"/>
          </a:xfrm>
          <a:prstGeom prst="rect">
            <a:avLst/>
          </a:prstGeom>
          <a:noFill/>
          <a:ln/>
        </p:spPr>
        <p:txBody>
          <a:bodyPr wrap="square" lIns="0" tIns="0" rIns="0" bIns="0" rtlCol="0" anchor="t"/>
          <a:lstStyle/>
          <a:p>
            <a:pPr marL="0" indent="0">
              <a:buNone/>
            </a:pPr>
            <a:r>
              <a:rPr lang="en-US" sz="1800" b="1" dirty="0">
                <a:solidFill>
                  <a:srgbClr val="E8590C"/>
                </a:solidFill>
                <a:latin typeface="Calibri" pitchFamily="34" charset="0"/>
                <a:ea typeface="Calibri" pitchFamily="34" charset="-122"/>
                <a:cs typeface="Calibri" pitchFamily="34" charset="-120"/>
              </a:rPr>
              <a:t>Depuis 2023</a:t>
            </a:r>
            <a:endParaRPr lang="en-US" sz="1800" dirty="0"/>
          </a:p>
          <a:p>
            <a:pPr marL="0" indent="0">
              <a:buNone/>
            </a:pPr>
            <a:endParaRPr lang="en-US" sz="1800" dirty="0"/>
          </a:p>
          <a:p>
            <a:pPr marL="0" indent="0">
              <a:buNone/>
            </a:pPr>
            <a:r>
              <a:rPr lang="en-US" sz="1600" dirty="0">
                <a:solidFill>
                  <a:srgbClr val="FFFFFF"/>
                </a:solidFill>
                <a:latin typeface="Calibri" pitchFamily="34" charset="0"/>
                <a:ea typeface="Calibri" pitchFamily="34" charset="-122"/>
                <a:cs typeface="Calibri" pitchFamily="34" charset="-120"/>
              </a:rPr>
              <a:t>La sécurité ne progresse pas, malgré les nouveaux modèles.</a:t>
            </a:r>
            <a:endParaRPr lang="en-US" sz="1800" dirty="0"/>
          </a:p>
        </p:txBody>
      </p:sp>
      <p:sp>
        <p:nvSpPr>
          <p:cNvPr id="16" name="Text 13"/>
          <p:cNvSpPr txBox="1"/>
          <p:nvPr/>
        </p:nvSpPr>
        <p:spPr>
          <a:xfrm>
            <a:off x="640080" y="4480560"/>
            <a:ext cx="10911535" cy="731520"/>
          </a:xfrm>
          <a:prstGeom prst="rect">
            <a:avLst/>
          </a:prstGeom>
          <a:noFill/>
          <a:ln/>
        </p:spPr>
        <p:txBody>
          <a:bodyPr wrap="square" lIns="0" tIns="0" rIns="0" bIns="0" rtlCol="0" anchor="ctr"/>
          <a:lstStyle/>
          <a:p>
            <a:pPr marL="0" indent="0">
              <a:buNone/>
            </a:pPr>
            <a:r>
              <a:rPr lang="en-US" sz="1600" dirty="0">
                <a:solidFill>
                  <a:srgbClr val="5F6670"/>
                </a:solidFill>
                <a:latin typeface="Calibri" pitchFamily="34" charset="0"/>
                <a:ea typeface="Calibri" pitchFamily="34" charset="-122"/>
                <a:cs typeface="Calibri" pitchFamily="34" charset="-120"/>
              </a:rPr>
              <a:t>Plus de 150 modèles, 80 tâches en Java, JavaScript, C# et Python. Failles recherchées : injection SQL, XSS, injection dans les logs, chiffrement faible.</a:t>
            </a:r>
            <a:endParaRPr lang="en-US" sz="1600" dirty="0"/>
          </a:p>
        </p:txBody>
      </p:sp>
      <p:sp>
        <p:nvSpPr>
          <p:cNvPr id="17" name="Text 14"/>
          <p:cNvSpPr txBox="1"/>
          <p:nvPr/>
        </p:nvSpPr>
        <p:spPr>
          <a:xfrm>
            <a:off x="640080" y="5989320"/>
            <a:ext cx="10911535" cy="320040"/>
          </a:xfrm>
          <a:prstGeom prst="rect">
            <a:avLst/>
          </a:prstGeom>
          <a:noFill/>
          <a:ln/>
        </p:spPr>
        <p:txBody>
          <a:bodyPr wrap="square" lIns="0" tIns="0" rIns="0" bIns="0" rtlCol="0" anchor="ctr"/>
          <a:lstStyle/>
          <a:p>
            <a:pPr marL="0" indent="0">
              <a:buNone/>
            </a:pPr>
            <a:r>
              <a:rPr lang="en-US" sz="1000" i="1" dirty="0">
                <a:solidFill>
                  <a:srgbClr val="5F6670"/>
                </a:solidFill>
                <a:latin typeface="Calibri" pitchFamily="34" charset="0"/>
                <a:ea typeface="Calibri" pitchFamily="34" charset="-122"/>
                <a:cs typeface="Calibri" pitchFamily="34" charset="-120"/>
              </a:rPr>
              <a:t>Source : Veracode, « Spring 2026 GenAI Code Security Update », 24 mars 2026. Veracode édite des outils de sécurité : un acteur intéressé, mais une méthode publiée.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16181D"/>
        </a:solidFill>
        <a:effectLst/>
      </p:bgPr>
    </p:bg>
    <p:spTree>
      <p:nvGrpSpPr>
        <p:cNvPr id="1" name=""/>
        <p:cNvGrpSpPr/>
        <p:nvPr/>
      </p:nvGrpSpPr>
      <p:grpSpPr>
        <a:xfrm>
          <a:off x="0" y="0"/>
          <a:ext cx="0" cy="0"/>
          <a:chOff x="0" y="0"/>
          <a:chExt cx="0" cy="0"/>
        </a:xfrm>
      </p:grpSpPr>
      <p:sp>
        <p:nvSpPr>
          <p:cNvPr id="2" name="Text 0"/>
          <p:cNvSpPr txBox="1"/>
          <p:nvPr/>
        </p:nvSpPr>
        <p:spPr>
          <a:xfrm>
            <a:off x="640080" y="1097280"/>
            <a:ext cx="10911535" cy="457200"/>
          </a:xfrm>
          <a:prstGeom prst="rect">
            <a:avLst/>
          </a:prstGeom>
          <a:noFill/>
          <a:ln/>
        </p:spPr>
        <p:txBody>
          <a:bodyPr wrap="square" lIns="0" tIns="0" rIns="0" bIns="0" rtlCol="0" anchor="ctr"/>
          <a:lstStyle/>
          <a:p>
            <a:pPr marL="0" indent="0">
              <a:buNone/>
            </a:pPr>
            <a:r>
              <a:rPr lang="en-US" sz="1800" b="1" kern="0" spc="300" dirty="0">
                <a:solidFill>
                  <a:srgbClr val="E8590C"/>
                </a:solidFill>
                <a:latin typeface="Calibri" pitchFamily="34" charset="0"/>
                <a:ea typeface="Calibri" pitchFamily="34" charset="-122"/>
                <a:cs typeface="Calibri" pitchFamily="34" charset="-120"/>
              </a:rPr>
              <a:t>Ce qu'on en retient</a:t>
            </a:r>
            <a:endParaRPr lang="en-US" sz="1800" dirty="0"/>
          </a:p>
        </p:txBody>
      </p:sp>
      <p:sp>
        <p:nvSpPr>
          <p:cNvPr id="3" name="Text 1"/>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9AA0A8"/>
                </a:solidFill>
                <a:latin typeface="Calibri" pitchFamily="34" charset="0"/>
                <a:ea typeface="Calibri" pitchFamily="34" charset="-122"/>
                <a:cs typeface="Calibri" pitchFamily="34" charset="-120"/>
              </a:rPr>
              <a:t>Complément Application · S1</a:t>
            </a:r>
            <a:endParaRPr lang="en-US" sz="1000" dirty="0"/>
          </a:p>
        </p:txBody>
      </p:sp>
      <p:sp>
        <p:nvSpPr>
          <p:cNvPr id="4" name="Text 2"/>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9AA0A8"/>
                </a:solidFill>
                <a:latin typeface="Calibri" pitchFamily="34" charset="0"/>
                <a:ea typeface="Calibri" pitchFamily="34" charset="-122"/>
                <a:cs typeface="Calibri" pitchFamily="34" charset="-120"/>
              </a:rPr>
              <a:t>11</a:t>
            </a:r>
            <a:endParaRPr lang="en-US" sz="1000" dirty="0"/>
          </a:p>
        </p:txBody>
      </p:sp>
      <p:sp>
        <p:nvSpPr>
          <p:cNvPr id="6" name="Text 3"/>
          <p:cNvSpPr txBox="1"/>
          <p:nvPr/>
        </p:nvSpPr>
        <p:spPr>
          <a:xfrm>
            <a:off x="640080" y="1645920"/>
            <a:ext cx="10911535" cy="1097280"/>
          </a:xfrm>
          <a:prstGeom prst="rect">
            <a:avLst/>
          </a:prstGeom>
          <a:noFill/>
          <a:ln/>
        </p:spPr>
        <p:txBody>
          <a:bodyPr wrap="square" lIns="0" tIns="0" rIns="0" bIns="0" rtlCol="0" anchor="t"/>
          <a:lstStyle/>
          <a:p>
            <a:pPr marL="0" indent="0">
              <a:buNone/>
            </a:pPr>
            <a:r>
              <a:rPr lang="en-US" sz="3800" b="1" dirty="0">
                <a:solidFill>
                  <a:srgbClr val="FFFFFF"/>
                </a:solidFill>
                <a:latin typeface="Arial" pitchFamily="34" charset="0"/>
                <a:ea typeface="Arial" pitchFamily="34" charset="-122"/>
                <a:cs typeface="Arial" pitchFamily="34" charset="-120"/>
              </a:rPr>
              <a:t>Pour sécuriser du code, il faut d'abord savoir le lire.</a:t>
            </a:r>
            <a:endParaRPr lang="en-US" sz="3800" dirty="0"/>
          </a:p>
        </p:txBody>
      </p:sp>
      <p:sp>
        <p:nvSpPr>
          <p:cNvPr id="7" name="Shape 4"/>
          <p:cNvSpPr/>
          <p:nvPr/>
        </p:nvSpPr>
        <p:spPr>
          <a:xfrm>
            <a:off x="640080" y="3108960"/>
            <a:ext cx="5212080" cy="2194560"/>
          </a:xfrm>
          <a:prstGeom prst="roundRect">
            <a:avLst>
              <a:gd name="adj" fmla="val 3333"/>
            </a:avLst>
          </a:prstGeom>
          <a:solidFill>
            <a:srgbClr val="2A2D34"/>
          </a:solidFill>
          <a:ln w="12700">
            <a:solidFill>
              <a:srgbClr val="2A2D34"/>
            </a:solidFill>
            <a:prstDash val="solid"/>
          </a:ln>
        </p:spPr>
        <p:txBody>
          <a:bodyPr/>
          <a:lstStyle/>
          <a:p>
            <a:endParaRPr lang="fr-BE"/>
          </a:p>
        </p:txBody>
      </p:sp>
      <p:sp>
        <p:nvSpPr>
          <p:cNvPr id="8" name="Text 5"/>
          <p:cNvSpPr txBox="1"/>
          <p:nvPr/>
        </p:nvSpPr>
        <p:spPr>
          <a:xfrm>
            <a:off x="960120" y="3291840"/>
            <a:ext cx="4572000" cy="457200"/>
          </a:xfrm>
          <a:prstGeom prst="rect">
            <a:avLst/>
          </a:prstGeom>
          <a:noFill/>
          <a:ln/>
        </p:spPr>
        <p:txBody>
          <a:bodyPr wrap="square" lIns="0" tIns="0" rIns="0" bIns="0" rtlCol="0" anchor="ctr"/>
          <a:lstStyle/>
          <a:p>
            <a:pPr marL="0" indent="0">
              <a:buNone/>
            </a:pPr>
            <a:r>
              <a:rPr lang="en-US" sz="2000" b="1" dirty="0">
                <a:solidFill>
                  <a:srgbClr val="E8590C"/>
                </a:solidFill>
                <a:latin typeface="Arial" pitchFamily="34" charset="0"/>
                <a:ea typeface="Arial" pitchFamily="34" charset="-122"/>
                <a:cs typeface="Arial" pitchFamily="34" charset="-120"/>
              </a:rPr>
              <a:t>Q1 · Complément Application</a:t>
            </a:r>
            <a:endParaRPr lang="en-US" sz="2000" dirty="0"/>
          </a:p>
        </p:txBody>
      </p:sp>
      <p:sp>
        <p:nvSpPr>
          <p:cNvPr id="9" name="Text 6"/>
          <p:cNvSpPr txBox="1"/>
          <p:nvPr/>
        </p:nvSpPr>
        <p:spPr>
          <a:xfrm>
            <a:off x="960120" y="3840480"/>
            <a:ext cx="4572000" cy="1280160"/>
          </a:xfrm>
          <a:prstGeom prst="rect">
            <a:avLst/>
          </a:prstGeom>
          <a:noFill/>
          <a:ln/>
        </p:spPr>
        <p:txBody>
          <a:bodyPr wrap="square" lIns="0" tIns="0" rIns="0" bIns="0" rtlCol="0" anchor="t"/>
          <a:lstStyle/>
          <a:p>
            <a:pPr marL="0" indent="0">
              <a:buNone/>
            </a:pPr>
            <a:r>
              <a:rPr lang="en-US" sz="1800" dirty="0">
                <a:solidFill>
                  <a:srgbClr val="FFFFFF"/>
                </a:solidFill>
                <a:latin typeface="Calibri" pitchFamily="34" charset="0"/>
                <a:ea typeface="Calibri" pitchFamily="34" charset="-122"/>
                <a:cs typeface="Calibri" pitchFamily="34" charset="-120"/>
              </a:rPr>
              <a:t>Lire, écrire et vérifier du code, qu'il vienne de vous, d'un collègue ou d'une IA.</a:t>
            </a:r>
            <a:endParaRPr lang="en-US" sz="1800" dirty="0"/>
          </a:p>
        </p:txBody>
      </p:sp>
      <p:sp>
        <p:nvSpPr>
          <p:cNvPr id="10" name="Shape 7"/>
          <p:cNvSpPr/>
          <p:nvPr/>
        </p:nvSpPr>
        <p:spPr>
          <a:xfrm>
            <a:off x="6080760" y="3108960"/>
            <a:ext cx="5212080" cy="2194560"/>
          </a:xfrm>
          <a:prstGeom prst="roundRect">
            <a:avLst>
              <a:gd name="adj" fmla="val 3333"/>
            </a:avLst>
          </a:prstGeom>
          <a:solidFill>
            <a:srgbClr val="2A2D34"/>
          </a:solidFill>
          <a:ln w="12700">
            <a:solidFill>
              <a:srgbClr val="2A2D34"/>
            </a:solidFill>
            <a:prstDash val="solid"/>
          </a:ln>
        </p:spPr>
        <p:txBody>
          <a:bodyPr/>
          <a:lstStyle/>
          <a:p>
            <a:endParaRPr lang="fr-BE"/>
          </a:p>
        </p:txBody>
      </p:sp>
      <p:sp>
        <p:nvSpPr>
          <p:cNvPr id="11" name="Text 8"/>
          <p:cNvSpPr txBox="1"/>
          <p:nvPr/>
        </p:nvSpPr>
        <p:spPr>
          <a:xfrm>
            <a:off x="6400800" y="3291840"/>
            <a:ext cx="4572000" cy="457200"/>
          </a:xfrm>
          <a:prstGeom prst="rect">
            <a:avLst/>
          </a:prstGeom>
          <a:noFill/>
          <a:ln/>
        </p:spPr>
        <p:txBody>
          <a:bodyPr wrap="square" lIns="0" tIns="0" rIns="0" bIns="0" rtlCol="0" anchor="ctr"/>
          <a:lstStyle/>
          <a:p>
            <a:pPr marL="0" indent="0">
              <a:buNone/>
            </a:pPr>
            <a:r>
              <a:rPr lang="en-US" sz="2000" b="1" dirty="0">
                <a:solidFill>
                  <a:srgbClr val="E8590C"/>
                </a:solidFill>
                <a:latin typeface="Arial" pitchFamily="34" charset="0"/>
                <a:ea typeface="Arial" pitchFamily="34" charset="-122"/>
                <a:cs typeface="Arial" pitchFamily="34" charset="-120"/>
              </a:rPr>
              <a:t>Q2 · Programmation sécurisée</a:t>
            </a:r>
            <a:endParaRPr lang="en-US" sz="2000" dirty="0"/>
          </a:p>
        </p:txBody>
      </p:sp>
      <p:sp>
        <p:nvSpPr>
          <p:cNvPr id="12" name="Text 9"/>
          <p:cNvSpPr txBox="1"/>
          <p:nvPr/>
        </p:nvSpPr>
        <p:spPr>
          <a:xfrm>
            <a:off x="6400800" y="3840480"/>
            <a:ext cx="4572000" cy="1280160"/>
          </a:xfrm>
          <a:prstGeom prst="rect">
            <a:avLst/>
          </a:prstGeom>
          <a:noFill/>
          <a:ln/>
        </p:spPr>
        <p:txBody>
          <a:bodyPr wrap="square" lIns="0" tIns="0" rIns="0" bIns="0" rtlCol="0" anchor="t"/>
          <a:lstStyle/>
          <a:p>
            <a:pPr marL="0" indent="0">
              <a:buNone/>
            </a:pPr>
            <a:r>
              <a:rPr lang="en-US" sz="1800" dirty="0">
                <a:solidFill>
                  <a:srgbClr val="FFFFFF"/>
                </a:solidFill>
                <a:latin typeface="Calibri" pitchFamily="34" charset="0"/>
                <a:ea typeface="Calibri" pitchFamily="34" charset="-122"/>
                <a:cs typeface="Calibri" pitchFamily="34" charset="-120"/>
              </a:rPr>
              <a:t>Reconnaître et corriger ces failles : injection, path traversal, chiffrement, buffer overflow.</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DEUXIÈME PIÈGE</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Ce que vous donnez à l'IA sort de l'entreprise</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12</a:t>
            </a:r>
            <a:endParaRPr lang="en-US" sz="1000" dirty="0"/>
          </a:p>
        </p:txBody>
      </p:sp>
      <p:sp>
        <p:nvSpPr>
          <p:cNvPr id="8" name="Text 5"/>
          <p:cNvSpPr txBox="1"/>
          <p:nvPr/>
        </p:nvSpPr>
        <p:spPr>
          <a:xfrm>
            <a:off x="640080" y="1737360"/>
            <a:ext cx="10911535" cy="457200"/>
          </a:xfrm>
          <a:prstGeom prst="rect">
            <a:avLst/>
          </a:prstGeom>
          <a:noFill/>
          <a:ln/>
        </p:spPr>
        <p:txBody>
          <a:bodyPr wrap="square" lIns="0" tIns="0" rIns="0" bIns="0" rtlCol="0" anchor="ctr"/>
          <a:lstStyle/>
          <a:p>
            <a:pPr marL="0" indent="0">
              <a:buNone/>
            </a:pPr>
            <a:r>
              <a:rPr lang="en-US" sz="2000" b="1" dirty="0">
                <a:solidFill>
                  <a:srgbClr val="E8590C"/>
                </a:solidFill>
                <a:latin typeface="Calibri" pitchFamily="34" charset="0"/>
                <a:ea typeface="Calibri" pitchFamily="34" charset="-122"/>
                <a:cs typeface="Calibri" pitchFamily="34" charset="-120"/>
              </a:rPr>
              <a:t>Samsung, avril 2023 : 3 incidents en 20 jours</a:t>
            </a:r>
            <a:endParaRPr lang="en-US" sz="2000" dirty="0"/>
          </a:p>
        </p:txBody>
      </p:sp>
      <p:sp>
        <p:nvSpPr>
          <p:cNvPr id="9" name="Shape 6"/>
          <p:cNvSpPr/>
          <p:nvPr/>
        </p:nvSpPr>
        <p:spPr>
          <a:xfrm>
            <a:off x="640080" y="2423160"/>
            <a:ext cx="548640" cy="548640"/>
          </a:xfrm>
          <a:prstGeom prst="ellipse">
            <a:avLst/>
          </a:prstGeom>
          <a:solidFill>
            <a:srgbClr val="16181D"/>
          </a:solidFill>
          <a:ln w="12700">
            <a:solidFill>
              <a:srgbClr val="16181D"/>
            </a:solidFill>
            <a:prstDash val="solid"/>
          </a:ln>
        </p:spPr>
        <p:txBody>
          <a:bodyPr/>
          <a:lstStyle/>
          <a:p>
            <a:endParaRPr lang="fr-BE"/>
          </a:p>
        </p:txBody>
      </p:sp>
      <p:sp>
        <p:nvSpPr>
          <p:cNvPr id="10" name="Text 7"/>
          <p:cNvSpPr txBox="1"/>
          <p:nvPr/>
        </p:nvSpPr>
        <p:spPr>
          <a:xfrm>
            <a:off x="640080" y="242316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11" name="Text 8"/>
          <p:cNvSpPr txBox="1"/>
          <p:nvPr/>
        </p:nvSpPr>
        <p:spPr>
          <a:xfrm>
            <a:off x="1463040" y="2377440"/>
            <a:ext cx="6400800" cy="640080"/>
          </a:xfrm>
          <a:prstGeom prst="rect">
            <a:avLst/>
          </a:prstGeom>
          <a:noFill/>
          <a:ln/>
        </p:spPr>
        <p:txBody>
          <a:bodyPr wrap="square" lIns="0" tIns="0" rIns="0" bIns="0" rtlCol="0" anchor="ctr"/>
          <a:lstStyle/>
          <a:p>
            <a:pPr marL="0" indent="0">
              <a:buNone/>
            </a:pPr>
            <a:r>
              <a:rPr lang="en-US" sz="1900" dirty="0">
                <a:solidFill>
                  <a:srgbClr val="16181D"/>
                </a:solidFill>
                <a:latin typeface="Calibri" pitchFamily="34" charset="0"/>
                <a:ea typeface="Calibri" pitchFamily="34" charset="-122"/>
                <a:cs typeface="Calibri" pitchFamily="34" charset="-120"/>
              </a:rPr>
              <a:t>Du code source interne collé pour corriger une erreur</a:t>
            </a:r>
            <a:endParaRPr lang="en-US" sz="1900" dirty="0"/>
          </a:p>
        </p:txBody>
      </p:sp>
      <p:sp>
        <p:nvSpPr>
          <p:cNvPr id="12" name="Shape 9"/>
          <p:cNvSpPr/>
          <p:nvPr/>
        </p:nvSpPr>
        <p:spPr>
          <a:xfrm>
            <a:off x="640080" y="3291840"/>
            <a:ext cx="548640" cy="548640"/>
          </a:xfrm>
          <a:prstGeom prst="ellipse">
            <a:avLst/>
          </a:prstGeom>
          <a:solidFill>
            <a:srgbClr val="16181D"/>
          </a:solidFill>
          <a:ln w="12700">
            <a:solidFill>
              <a:srgbClr val="16181D"/>
            </a:solidFill>
            <a:prstDash val="solid"/>
          </a:ln>
        </p:spPr>
        <p:txBody>
          <a:bodyPr/>
          <a:lstStyle/>
          <a:p>
            <a:endParaRPr lang="fr-BE"/>
          </a:p>
        </p:txBody>
      </p:sp>
      <p:sp>
        <p:nvSpPr>
          <p:cNvPr id="13" name="Text 10"/>
          <p:cNvSpPr txBox="1"/>
          <p:nvPr/>
        </p:nvSpPr>
        <p:spPr>
          <a:xfrm>
            <a:off x="640080" y="329184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4" name="Text 11"/>
          <p:cNvSpPr txBox="1"/>
          <p:nvPr/>
        </p:nvSpPr>
        <p:spPr>
          <a:xfrm>
            <a:off x="1463040" y="3246120"/>
            <a:ext cx="6400800" cy="640080"/>
          </a:xfrm>
          <a:prstGeom prst="rect">
            <a:avLst/>
          </a:prstGeom>
          <a:noFill/>
          <a:ln/>
        </p:spPr>
        <p:txBody>
          <a:bodyPr wrap="square" lIns="0" tIns="0" rIns="0" bIns="0" rtlCol="0" anchor="ctr"/>
          <a:lstStyle/>
          <a:p>
            <a:pPr marL="0" indent="0">
              <a:buNone/>
            </a:pPr>
            <a:r>
              <a:rPr lang="en-US" sz="1900" dirty="0">
                <a:solidFill>
                  <a:srgbClr val="16181D"/>
                </a:solidFill>
                <a:latin typeface="Calibri" pitchFamily="34" charset="0"/>
                <a:ea typeface="Calibri" pitchFamily="34" charset="-122"/>
                <a:cs typeface="Calibri" pitchFamily="34" charset="-120"/>
              </a:rPr>
              <a:t>Un algorithme de test de puces collé pour l'optimiser</a:t>
            </a:r>
            <a:endParaRPr lang="en-US" sz="1900" dirty="0"/>
          </a:p>
        </p:txBody>
      </p:sp>
      <p:sp>
        <p:nvSpPr>
          <p:cNvPr id="15" name="Shape 12"/>
          <p:cNvSpPr/>
          <p:nvPr/>
        </p:nvSpPr>
        <p:spPr>
          <a:xfrm>
            <a:off x="640080" y="4160520"/>
            <a:ext cx="548640" cy="548640"/>
          </a:xfrm>
          <a:prstGeom prst="ellipse">
            <a:avLst/>
          </a:prstGeom>
          <a:solidFill>
            <a:srgbClr val="16181D"/>
          </a:solidFill>
          <a:ln w="12700">
            <a:solidFill>
              <a:srgbClr val="16181D"/>
            </a:solidFill>
            <a:prstDash val="solid"/>
          </a:ln>
        </p:spPr>
        <p:txBody>
          <a:bodyPr/>
          <a:lstStyle/>
          <a:p>
            <a:endParaRPr lang="fr-BE"/>
          </a:p>
        </p:txBody>
      </p:sp>
      <p:sp>
        <p:nvSpPr>
          <p:cNvPr id="16" name="Text 13"/>
          <p:cNvSpPr txBox="1"/>
          <p:nvPr/>
        </p:nvSpPr>
        <p:spPr>
          <a:xfrm>
            <a:off x="640080" y="416052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7" name="Text 14"/>
          <p:cNvSpPr txBox="1"/>
          <p:nvPr/>
        </p:nvSpPr>
        <p:spPr>
          <a:xfrm>
            <a:off x="1463040" y="4114800"/>
            <a:ext cx="6400800" cy="640080"/>
          </a:xfrm>
          <a:prstGeom prst="rect">
            <a:avLst/>
          </a:prstGeom>
          <a:noFill/>
          <a:ln/>
        </p:spPr>
        <p:txBody>
          <a:bodyPr wrap="square" lIns="0" tIns="0" rIns="0" bIns="0" rtlCol="0" anchor="ctr"/>
          <a:lstStyle/>
          <a:p>
            <a:pPr marL="0" indent="0">
              <a:buNone/>
            </a:pPr>
            <a:r>
              <a:rPr lang="en-US" sz="1900" dirty="0">
                <a:solidFill>
                  <a:srgbClr val="16181D"/>
                </a:solidFill>
                <a:latin typeface="Calibri" pitchFamily="34" charset="0"/>
                <a:ea typeface="Calibri" pitchFamily="34" charset="-122"/>
                <a:cs typeface="Calibri" pitchFamily="34" charset="-120"/>
              </a:rPr>
              <a:t>La transcription d'une réunion collée pour en faire un compte rendu</a:t>
            </a:r>
            <a:endParaRPr lang="en-US" sz="1900" dirty="0"/>
          </a:p>
        </p:txBody>
      </p:sp>
      <p:sp>
        <p:nvSpPr>
          <p:cNvPr id="18" name="Shape 15"/>
          <p:cNvSpPr/>
          <p:nvPr/>
        </p:nvSpPr>
        <p:spPr>
          <a:xfrm>
            <a:off x="8321040" y="2377440"/>
            <a:ext cx="3200400" cy="2468880"/>
          </a:xfrm>
          <a:prstGeom prst="roundRect">
            <a:avLst>
              <a:gd name="adj" fmla="val 2963"/>
            </a:avLst>
          </a:prstGeom>
          <a:solidFill>
            <a:srgbClr val="16181D"/>
          </a:solidFill>
          <a:ln w="12700">
            <a:solidFill>
              <a:srgbClr val="16181D"/>
            </a:solidFill>
            <a:prstDash val="solid"/>
          </a:ln>
        </p:spPr>
        <p:txBody>
          <a:bodyPr/>
          <a:lstStyle/>
          <a:p>
            <a:endParaRPr lang="fr-BE"/>
          </a:p>
        </p:txBody>
      </p:sp>
      <p:sp>
        <p:nvSpPr>
          <p:cNvPr id="19" name="Text 16"/>
          <p:cNvSpPr txBox="1"/>
          <p:nvPr/>
        </p:nvSpPr>
        <p:spPr>
          <a:xfrm>
            <a:off x="8549640" y="2560320"/>
            <a:ext cx="2743200" cy="2103120"/>
          </a:xfrm>
          <a:prstGeom prst="rect">
            <a:avLst/>
          </a:prstGeom>
          <a:noFill/>
          <a:ln/>
        </p:spPr>
        <p:txBody>
          <a:bodyPr wrap="square" lIns="0" tIns="0" rIns="0" bIns="0" rtlCol="0" anchor="t"/>
          <a:lstStyle/>
          <a:p>
            <a:pPr marL="0" indent="0">
              <a:buNone/>
            </a:pPr>
            <a:r>
              <a:rPr lang="en-US" sz="1800" b="1" dirty="0">
                <a:solidFill>
                  <a:srgbClr val="E8590C"/>
                </a:solidFill>
                <a:latin typeface="Calibri" pitchFamily="34" charset="0"/>
                <a:ea typeface="Calibri" pitchFamily="34" charset="-122"/>
                <a:cs typeface="Calibri" pitchFamily="34" charset="-120"/>
              </a:rPr>
              <a:t>Mai 2023</a:t>
            </a:r>
            <a:endParaRPr lang="en-US" sz="1800" dirty="0"/>
          </a:p>
          <a:p>
            <a:pPr marL="0" indent="0">
              <a:buNone/>
            </a:pPr>
            <a:r>
              <a:rPr lang="en-US" sz="1600" dirty="0">
                <a:solidFill>
                  <a:srgbClr val="FFFFFF"/>
                </a:solidFill>
                <a:latin typeface="Calibri" pitchFamily="34" charset="0"/>
                <a:ea typeface="Calibri" pitchFamily="34" charset="-122"/>
                <a:cs typeface="Calibri" pitchFamily="34" charset="-120"/>
              </a:rPr>
              <a:t>Samsung interdit ChatGPT et les autres IA génératives sur ses appareils.</a:t>
            </a:r>
            <a:endParaRPr lang="en-US" sz="1800" dirty="0"/>
          </a:p>
        </p:txBody>
      </p:sp>
      <p:sp>
        <p:nvSpPr>
          <p:cNvPr id="20" name="Text 17"/>
          <p:cNvSpPr txBox="1"/>
          <p:nvPr/>
        </p:nvSpPr>
        <p:spPr>
          <a:xfrm>
            <a:off x="640080" y="5212080"/>
            <a:ext cx="10911535" cy="457200"/>
          </a:xfrm>
          <a:prstGeom prst="rect">
            <a:avLst/>
          </a:prstGeom>
          <a:noFill/>
          <a:ln/>
        </p:spPr>
        <p:txBody>
          <a:bodyPr wrap="square" lIns="0" tIns="0" rIns="0" bIns="0" rtlCol="0" anchor="ctr"/>
          <a:lstStyle/>
          <a:p>
            <a:pPr marL="0" indent="0">
              <a:buNone/>
            </a:pPr>
            <a:r>
              <a:rPr lang="en-US" sz="2000" b="1" dirty="0">
                <a:solidFill>
                  <a:srgbClr val="16181D"/>
                </a:solidFill>
                <a:latin typeface="Arial" pitchFamily="34" charset="0"/>
                <a:ea typeface="Arial" pitchFamily="34" charset="-122"/>
                <a:cs typeface="Arial" pitchFamily="34" charset="-120"/>
              </a:rPr>
              <a:t>Une fuite de données sans aucun pirate.</a:t>
            </a:r>
            <a:endParaRPr lang="en-US" sz="2000" dirty="0"/>
          </a:p>
        </p:txBody>
      </p:sp>
      <p:sp>
        <p:nvSpPr>
          <p:cNvPr id="21" name="Text 18"/>
          <p:cNvSpPr txBox="1"/>
          <p:nvPr/>
        </p:nvSpPr>
        <p:spPr>
          <a:xfrm>
            <a:off x="640080" y="5989320"/>
            <a:ext cx="10911535" cy="320040"/>
          </a:xfrm>
          <a:prstGeom prst="rect">
            <a:avLst/>
          </a:prstGeom>
          <a:noFill/>
          <a:ln/>
        </p:spPr>
        <p:txBody>
          <a:bodyPr wrap="square" lIns="0" tIns="0" rIns="0" bIns="0" rtlCol="0" anchor="ctr"/>
          <a:lstStyle/>
          <a:p>
            <a:pPr marL="0" indent="0">
              <a:buNone/>
            </a:pPr>
            <a:r>
              <a:rPr lang="en-US" sz="1000" i="1" dirty="0">
                <a:solidFill>
                  <a:srgbClr val="5F6670"/>
                </a:solidFill>
                <a:latin typeface="Calibri" pitchFamily="34" charset="0"/>
                <a:ea typeface="Calibri" pitchFamily="34" charset="-122"/>
                <a:cs typeface="Calibri" pitchFamily="34" charset="-120"/>
              </a:rPr>
              <a:t>Source : TechCrunch et Forbes, 2 mai 2023, d'après Bloomberg ; AI Incident Database, incident 768.</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LA RÈGLE DU JEU</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Alors, on interdit l'IA dans ce cours ?</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13</a:t>
            </a:r>
            <a:endParaRPr lang="en-US" sz="1000" dirty="0"/>
          </a:p>
        </p:txBody>
      </p:sp>
      <p:sp>
        <p:nvSpPr>
          <p:cNvPr id="8" name="Text 5"/>
          <p:cNvSpPr txBox="1"/>
          <p:nvPr/>
        </p:nvSpPr>
        <p:spPr>
          <a:xfrm>
            <a:off x="640080" y="1737360"/>
            <a:ext cx="3657600" cy="1280160"/>
          </a:xfrm>
          <a:prstGeom prst="rect">
            <a:avLst/>
          </a:prstGeom>
          <a:noFill/>
          <a:ln/>
        </p:spPr>
        <p:txBody>
          <a:bodyPr wrap="square" lIns="0" tIns="0" rIns="0" bIns="0" rtlCol="0" anchor="ctr"/>
          <a:lstStyle/>
          <a:p>
            <a:pPr marL="0" indent="0">
              <a:buNone/>
            </a:pPr>
            <a:r>
              <a:rPr lang="en-US" sz="8000" b="1" dirty="0">
                <a:solidFill>
                  <a:srgbClr val="E8590C"/>
                </a:solidFill>
                <a:latin typeface="Arial" pitchFamily="34" charset="0"/>
                <a:ea typeface="Arial" pitchFamily="34" charset="-122"/>
                <a:cs typeface="Arial" pitchFamily="34" charset="-120"/>
              </a:rPr>
              <a:t>Non.</a:t>
            </a:r>
            <a:endParaRPr lang="en-US" sz="8000" dirty="0"/>
          </a:p>
        </p:txBody>
      </p:sp>
      <p:sp>
        <p:nvSpPr>
          <p:cNvPr id="9" name="Text 6"/>
          <p:cNvSpPr txBox="1"/>
          <p:nvPr/>
        </p:nvSpPr>
        <p:spPr>
          <a:xfrm>
            <a:off x="640080" y="3108960"/>
            <a:ext cx="6035040" cy="2011680"/>
          </a:xfrm>
          <a:prstGeom prst="rect">
            <a:avLst/>
          </a:prstGeom>
          <a:noFill/>
          <a:ln/>
        </p:spPr>
        <p:txBody>
          <a:bodyPr wrap="square" lIns="0" tIns="0" rIns="0" bIns="0" rtlCol="0" anchor="t"/>
          <a:lstStyle/>
          <a:p>
            <a:pPr marL="0" indent="0">
              <a:buNone/>
            </a:pPr>
            <a:r>
              <a:rPr lang="en-US" sz="2100" dirty="0">
                <a:solidFill>
                  <a:srgbClr val="16181D"/>
                </a:solidFill>
                <a:latin typeface="Calibri" pitchFamily="34" charset="0"/>
                <a:ea typeface="Calibri" pitchFamily="34" charset="-122"/>
                <a:cs typeface="Calibri" pitchFamily="34" charset="-120"/>
              </a:rPr>
              <a:t>Vous l'utilisez déjà au travail. On va apprendre à s'en servir correctement : demander juste, vérifier, corriger, et pouvoir expliquer ce qu'on rend.</a:t>
            </a:r>
            <a:endParaRPr lang="en-US" sz="2100" dirty="0"/>
          </a:p>
        </p:txBody>
      </p:sp>
      <p:sp>
        <p:nvSpPr>
          <p:cNvPr id="10" name="Shape 7"/>
          <p:cNvSpPr/>
          <p:nvPr/>
        </p:nvSpPr>
        <p:spPr>
          <a:xfrm>
            <a:off x="7132320" y="1828800"/>
            <a:ext cx="4389120" cy="3566160"/>
          </a:xfrm>
          <a:prstGeom prst="roundRect">
            <a:avLst>
              <a:gd name="adj" fmla="val 2051"/>
            </a:avLst>
          </a:prstGeom>
          <a:solidFill>
            <a:srgbClr val="16181D"/>
          </a:solidFill>
          <a:ln w="12700">
            <a:solidFill>
              <a:srgbClr val="16181D"/>
            </a:solidFill>
            <a:prstDash val="solid"/>
          </a:ln>
        </p:spPr>
        <p:txBody>
          <a:bodyPr/>
          <a:lstStyle/>
          <a:p>
            <a:endParaRPr lang="fr-BE"/>
          </a:p>
        </p:txBody>
      </p:sp>
      <p:sp>
        <p:nvSpPr>
          <p:cNvPr id="11" name="Text 8"/>
          <p:cNvSpPr txBox="1"/>
          <p:nvPr/>
        </p:nvSpPr>
        <p:spPr>
          <a:xfrm>
            <a:off x="7406640" y="2011680"/>
            <a:ext cx="3840480" cy="3200400"/>
          </a:xfrm>
          <a:prstGeom prst="rect">
            <a:avLst/>
          </a:prstGeom>
          <a:noFill/>
          <a:ln/>
        </p:spPr>
        <p:txBody>
          <a:bodyPr wrap="square" lIns="0" tIns="0" rIns="0" bIns="0" rtlCol="0" anchor="t"/>
          <a:lstStyle/>
          <a:p>
            <a:pPr marL="0" indent="0">
              <a:buNone/>
            </a:pPr>
            <a:r>
              <a:rPr lang="en-US" sz="2000" b="1" dirty="0">
                <a:solidFill>
                  <a:srgbClr val="E8590C"/>
                </a:solidFill>
                <a:latin typeface="Calibri" pitchFamily="34" charset="0"/>
                <a:ea typeface="Calibri" pitchFamily="34" charset="-122"/>
                <a:cs typeface="Calibri" pitchFamily="34" charset="-120"/>
              </a:rPr>
              <a:t>AI Act, article 4</a:t>
            </a:r>
            <a:endParaRPr lang="en-US" sz="2000" dirty="0"/>
          </a:p>
          <a:p>
            <a:pPr marL="0" indent="0">
              <a:buNone/>
            </a:pPr>
            <a:r>
              <a:rPr lang="en-US" sz="1600" dirty="0">
                <a:solidFill>
                  <a:srgbClr val="FFFFFF"/>
                </a:solidFill>
                <a:latin typeface="Calibri" pitchFamily="34" charset="0"/>
                <a:ea typeface="Calibri" pitchFamily="34" charset="-122"/>
                <a:cs typeface="Calibri" pitchFamily="34" charset="-120"/>
              </a:rPr>
              <a:t>Depuis le 2 février 2025, toute organisation qui utilise l'IA doit s'assurer que son personnel sait s'en servir.</a:t>
            </a:r>
            <a:endParaRPr lang="en-US" sz="2000" dirty="0"/>
          </a:p>
          <a:p>
            <a:pPr marL="0" indent="0">
              <a:buNone/>
            </a:pPr>
            <a:endParaRPr lang="en-US" sz="2000" dirty="0"/>
          </a:p>
          <a:p>
            <a:pPr marL="0" indent="0">
              <a:buNone/>
            </a:pPr>
            <a:r>
              <a:rPr lang="en-US" sz="1600" dirty="0">
                <a:solidFill>
                  <a:srgbClr val="FFFFFF"/>
                </a:solidFill>
                <a:latin typeface="Calibri" pitchFamily="34" charset="0"/>
                <a:ea typeface="Calibri" pitchFamily="34" charset="-122"/>
                <a:cs typeface="Calibri" pitchFamily="34" charset="-120"/>
              </a:rPr>
              <a:t>Contrôles depuis le 2 août 2026.</a:t>
            </a:r>
            <a:endParaRPr lang="en-US" sz="2000" dirty="0"/>
          </a:p>
        </p:txBody>
      </p:sp>
      <p:sp>
        <p:nvSpPr>
          <p:cNvPr id="12" name="Text 9"/>
          <p:cNvSpPr txBox="1"/>
          <p:nvPr/>
        </p:nvSpPr>
        <p:spPr>
          <a:xfrm>
            <a:off x="640080" y="5989320"/>
            <a:ext cx="10911535" cy="320040"/>
          </a:xfrm>
          <a:prstGeom prst="rect">
            <a:avLst/>
          </a:prstGeom>
          <a:noFill/>
          <a:ln/>
        </p:spPr>
        <p:txBody>
          <a:bodyPr wrap="square" lIns="0" tIns="0" rIns="0" bIns="0" rtlCol="0" anchor="ctr"/>
          <a:lstStyle/>
          <a:p>
            <a:pPr marL="0" indent="0">
              <a:buNone/>
            </a:pPr>
            <a:r>
              <a:rPr lang="en-US" sz="1000" i="1" dirty="0">
                <a:solidFill>
                  <a:srgbClr val="5F6670"/>
                </a:solidFill>
                <a:latin typeface="Calibri" pitchFamily="34" charset="0"/>
                <a:ea typeface="Calibri" pitchFamily="34" charset="-122"/>
                <a:cs typeface="Calibri" pitchFamily="34" charset="-120"/>
              </a:rPr>
              <a:t>Source : Règlement (UE) 2024/1689 sur l'intelligence artificielle (AI Act), article 4 « Maîtrise de l'IA ».</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PRÉSENTATION</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L'IA, je m'en sers tous les jours</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15</a:t>
            </a:r>
            <a:endParaRPr lang="en-US" sz="1000" dirty="0"/>
          </a:p>
        </p:txBody>
      </p:sp>
      <p:sp>
        <p:nvSpPr>
          <p:cNvPr id="8" name="Shape 5"/>
          <p:cNvSpPr/>
          <p:nvPr/>
        </p:nvSpPr>
        <p:spPr>
          <a:xfrm>
            <a:off x="640080" y="1920240"/>
            <a:ext cx="2560320" cy="2377440"/>
          </a:xfrm>
          <a:prstGeom prst="roundRect">
            <a:avLst>
              <a:gd name="adj" fmla="val 3077"/>
            </a:avLst>
          </a:prstGeom>
          <a:solidFill>
            <a:srgbClr val="F2F3F5"/>
          </a:solidFill>
          <a:ln w="12700">
            <a:solidFill>
              <a:srgbClr val="F2F3F5"/>
            </a:solidFill>
            <a:prstDash val="solid"/>
          </a:ln>
        </p:spPr>
        <p:txBody>
          <a:bodyPr/>
          <a:lstStyle/>
          <a:p>
            <a:endParaRPr lang="fr-BE"/>
          </a:p>
        </p:txBody>
      </p:sp>
      <p:sp>
        <p:nvSpPr>
          <p:cNvPr id="9" name="Text 6"/>
          <p:cNvSpPr txBox="1"/>
          <p:nvPr/>
        </p:nvSpPr>
        <p:spPr>
          <a:xfrm>
            <a:off x="868680" y="2103120"/>
            <a:ext cx="2103120" cy="457200"/>
          </a:xfrm>
          <a:prstGeom prst="rect">
            <a:avLst/>
          </a:prstGeom>
          <a:noFill/>
          <a:ln/>
        </p:spPr>
        <p:txBody>
          <a:bodyPr wrap="square" lIns="0" tIns="0" rIns="0" bIns="0" rtlCol="0" anchor="ctr"/>
          <a:lstStyle/>
          <a:p>
            <a:pPr marL="0" indent="0">
              <a:buNone/>
            </a:pPr>
            <a:r>
              <a:rPr lang="en-US" sz="1800" b="1" dirty="0">
                <a:solidFill>
                  <a:srgbClr val="16181D"/>
                </a:solidFill>
                <a:latin typeface="Arial" pitchFamily="34" charset="0"/>
                <a:ea typeface="Arial" pitchFamily="34" charset="-122"/>
                <a:cs typeface="Arial" pitchFamily="34" charset="-120"/>
              </a:rPr>
              <a:t>Développer</a:t>
            </a:r>
            <a:endParaRPr lang="en-US" sz="1800" dirty="0"/>
          </a:p>
        </p:txBody>
      </p:sp>
      <p:sp>
        <p:nvSpPr>
          <p:cNvPr id="10" name="Text 7"/>
          <p:cNvSpPr txBox="1"/>
          <p:nvPr/>
        </p:nvSpPr>
        <p:spPr>
          <a:xfrm>
            <a:off x="868680" y="2651760"/>
            <a:ext cx="2103120" cy="1554480"/>
          </a:xfrm>
          <a:prstGeom prst="rect">
            <a:avLst/>
          </a:prstGeom>
          <a:noFill/>
          <a:ln/>
        </p:spPr>
        <p:txBody>
          <a:bodyPr wrap="square" lIns="0" tIns="0" rIns="0" bIns="0" rtlCol="0" anchor="t"/>
          <a:lstStyle/>
          <a:p>
            <a:pPr marL="0" indent="0">
              <a:buNone/>
            </a:pPr>
            <a:r>
              <a:rPr lang="en-US" sz="1500" dirty="0">
                <a:solidFill>
                  <a:srgbClr val="5F6670"/>
                </a:solidFill>
                <a:latin typeface="Calibri" pitchFamily="34" charset="0"/>
                <a:ea typeface="Calibri" pitchFamily="34" charset="-122"/>
                <a:cs typeface="Calibri" pitchFamily="34" charset="-120"/>
              </a:rPr>
              <a:t>Outils internes, intégration Keycloak, contrôles qualité, pipelines.</a:t>
            </a:r>
            <a:endParaRPr lang="en-US" sz="1500" dirty="0"/>
          </a:p>
        </p:txBody>
      </p:sp>
      <p:sp>
        <p:nvSpPr>
          <p:cNvPr id="11" name="Shape 8"/>
          <p:cNvSpPr/>
          <p:nvPr/>
        </p:nvSpPr>
        <p:spPr>
          <a:xfrm>
            <a:off x="3383280" y="1920240"/>
            <a:ext cx="2560320" cy="2377440"/>
          </a:xfrm>
          <a:prstGeom prst="roundRect">
            <a:avLst>
              <a:gd name="adj" fmla="val 3077"/>
            </a:avLst>
          </a:prstGeom>
          <a:solidFill>
            <a:srgbClr val="F2F3F5"/>
          </a:solidFill>
          <a:ln w="12700">
            <a:solidFill>
              <a:srgbClr val="F2F3F5"/>
            </a:solidFill>
            <a:prstDash val="solid"/>
          </a:ln>
        </p:spPr>
        <p:txBody>
          <a:bodyPr/>
          <a:lstStyle/>
          <a:p>
            <a:endParaRPr lang="fr-BE"/>
          </a:p>
        </p:txBody>
      </p:sp>
      <p:sp>
        <p:nvSpPr>
          <p:cNvPr id="12" name="Text 9"/>
          <p:cNvSpPr txBox="1"/>
          <p:nvPr/>
        </p:nvSpPr>
        <p:spPr>
          <a:xfrm>
            <a:off x="3611880" y="2103120"/>
            <a:ext cx="2103120" cy="457200"/>
          </a:xfrm>
          <a:prstGeom prst="rect">
            <a:avLst/>
          </a:prstGeom>
          <a:noFill/>
          <a:ln/>
        </p:spPr>
        <p:txBody>
          <a:bodyPr wrap="square" lIns="0" tIns="0" rIns="0" bIns="0" rtlCol="0" anchor="ctr"/>
          <a:lstStyle/>
          <a:p>
            <a:pPr marL="0" indent="0">
              <a:buNone/>
            </a:pPr>
            <a:r>
              <a:rPr lang="en-US" sz="1800" b="1" dirty="0">
                <a:solidFill>
                  <a:srgbClr val="16181D"/>
                </a:solidFill>
                <a:latin typeface="Arial" pitchFamily="34" charset="0"/>
                <a:ea typeface="Arial" pitchFamily="34" charset="-122"/>
                <a:cs typeface="Arial" pitchFamily="34" charset="-120"/>
              </a:rPr>
              <a:t>Analyser</a:t>
            </a:r>
            <a:endParaRPr lang="en-US" sz="1800" dirty="0"/>
          </a:p>
        </p:txBody>
      </p:sp>
      <p:sp>
        <p:nvSpPr>
          <p:cNvPr id="13" name="Text 10"/>
          <p:cNvSpPr txBox="1"/>
          <p:nvPr/>
        </p:nvSpPr>
        <p:spPr>
          <a:xfrm>
            <a:off x="3611880" y="2651760"/>
            <a:ext cx="2103120" cy="1554480"/>
          </a:xfrm>
          <a:prstGeom prst="rect">
            <a:avLst/>
          </a:prstGeom>
          <a:noFill/>
          <a:ln/>
        </p:spPr>
        <p:txBody>
          <a:bodyPr wrap="square" lIns="0" tIns="0" rIns="0" bIns="0" rtlCol="0" anchor="t"/>
          <a:lstStyle/>
          <a:p>
            <a:pPr marL="0" indent="0">
              <a:buNone/>
            </a:pPr>
            <a:r>
              <a:rPr lang="en-US" sz="1500" dirty="0">
                <a:solidFill>
                  <a:srgbClr val="5F6670"/>
                </a:solidFill>
                <a:latin typeface="Calibri" pitchFamily="34" charset="0"/>
                <a:ea typeface="Calibri" pitchFamily="34" charset="-122"/>
                <a:cs typeface="Calibri" pitchFamily="34" charset="-120"/>
              </a:rPr>
              <a:t>Rédiger et affiner des user stories, des spécifications techniques.</a:t>
            </a:r>
            <a:endParaRPr lang="en-US" sz="1500" dirty="0"/>
          </a:p>
        </p:txBody>
      </p:sp>
      <p:sp>
        <p:nvSpPr>
          <p:cNvPr id="14" name="Shape 11"/>
          <p:cNvSpPr/>
          <p:nvPr/>
        </p:nvSpPr>
        <p:spPr>
          <a:xfrm>
            <a:off x="6126480" y="1920240"/>
            <a:ext cx="2560320" cy="2377440"/>
          </a:xfrm>
          <a:prstGeom prst="roundRect">
            <a:avLst>
              <a:gd name="adj" fmla="val 3077"/>
            </a:avLst>
          </a:prstGeom>
          <a:solidFill>
            <a:srgbClr val="F2F3F5"/>
          </a:solidFill>
          <a:ln w="12700">
            <a:solidFill>
              <a:srgbClr val="F2F3F5"/>
            </a:solidFill>
            <a:prstDash val="solid"/>
          </a:ln>
        </p:spPr>
        <p:txBody>
          <a:bodyPr/>
          <a:lstStyle/>
          <a:p>
            <a:endParaRPr lang="fr-BE"/>
          </a:p>
        </p:txBody>
      </p:sp>
      <p:sp>
        <p:nvSpPr>
          <p:cNvPr id="15" name="Text 12"/>
          <p:cNvSpPr txBox="1"/>
          <p:nvPr/>
        </p:nvSpPr>
        <p:spPr>
          <a:xfrm>
            <a:off x="6355080" y="2103120"/>
            <a:ext cx="2103120" cy="457200"/>
          </a:xfrm>
          <a:prstGeom prst="rect">
            <a:avLst/>
          </a:prstGeom>
          <a:noFill/>
          <a:ln/>
        </p:spPr>
        <p:txBody>
          <a:bodyPr wrap="square" lIns="0" tIns="0" rIns="0" bIns="0" rtlCol="0" anchor="ctr"/>
          <a:lstStyle/>
          <a:p>
            <a:pPr marL="0" indent="0">
              <a:buNone/>
            </a:pPr>
            <a:r>
              <a:rPr lang="en-US" sz="1800" b="1" dirty="0">
                <a:solidFill>
                  <a:srgbClr val="16181D"/>
                </a:solidFill>
                <a:latin typeface="Arial" pitchFamily="34" charset="0"/>
                <a:ea typeface="Arial" pitchFamily="34" charset="-122"/>
                <a:cs typeface="Arial" pitchFamily="34" charset="-120"/>
              </a:rPr>
              <a:t>Piloter</a:t>
            </a:r>
            <a:endParaRPr lang="en-US" sz="1800" dirty="0"/>
          </a:p>
        </p:txBody>
      </p:sp>
      <p:sp>
        <p:nvSpPr>
          <p:cNvPr id="16" name="Text 13"/>
          <p:cNvSpPr txBox="1"/>
          <p:nvPr/>
        </p:nvSpPr>
        <p:spPr>
          <a:xfrm>
            <a:off x="6355080" y="2651760"/>
            <a:ext cx="2103120" cy="1554480"/>
          </a:xfrm>
          <a:prstGeom prst="rect">
            <a:avLst/>
          </a:prstGeom>
          <a:noFill/>
          <a:ln/>
        </p:spPr>
        <p:txBody>
          <a:bodyPr wrap="square" lIns="0" tIns="0" rIns="0" bIns="0" rtlCol="0" anchor="t"/>
          <a:lstStyle/>
          <a:p>
            <a:pPr marL="0" indent="0">
              <a:buNone/>
            </a:pPr>
            <a:r>
              <a:rPr lang="en-US" sz="1500" dirty="0">
                <a:solidFill>
                  <a:srgbClr val="5F6670"/>
                </a:solidFill>
                <a:latin typeface="Calibri" pitchFamily="34" charset="0"/>
                <a:ea typeface="Calibri" pitchFamily="34" charset="-122"/>
                <a:cs typeface="Calibri" pitchFamily="34" charset="-120"/>
              </a:rPr>
              <a:t>Préparer les comités, suivre les plannings, orchestrer des agents IA.</a:t>
            </a:r>
            <a:endParaRPr lang="en-US" sz="1500" dirty="0"/>
          </a:p>
        </p:txBody>
      </p:sp>
      <p:sp>
        <p:nvSpPr>
          <p:cNvPr id="17" name="Shape 14"/>
          <p:cNvSpPr/>
          <p:nvPr/>
        </p:nvSpPr>
        <p:spPr>
          <a:xfrm>
            <a:off x="8869680" y="1920240"/>
            <a:ext cx="2560320" cy="2377440"/>
          </a:xfrm>
          <a:prstGeom prst="roundRect">
            <a:avLst>
              <a:gd name="adj" fmla="val 3077"/>
            </a:avLst>
          </a:prstGeom>
          <a:solidFill>
            <a:srgbClr val="F2F3F5"/>
          </a:solidFill>
          <a:ln w="12700">
            <a:solidFill>
              <a:srgbClr val="F2F3F5"/>
            </a:solidFill>
            <a:prstDash val="solid"/>
          </a:ln>
        </p:spPr>
        <p:txBody>
          <a:bodyPr/>
          <a:lstStyle/>
          <a:p>
            <a:endParaRPr lang="fr-BE"/>
          </a:p>
        </p:txBody>
      </p:sp>
      <p:sp>
        <p:nvSpPr>
          <p:cNvPr id="18" name="Text 15"/>
          <p:cNvSpPr txBox="1"/>
          <p:nvPr/>
        </p:nvSpPr>
        <p:spPr>
          <a:xfrm>
            <a:off x="9098280" y="2103120"/>
            <a:ext cx="2103120" cy="457200"/>
          </a:xfrm>
          <a:prstGeom prst="rect">
            <a:avLst/>
          </a:prstGeom>
          <a:noFill/>
          <a:ln/>
        </p:spPr>
        <p:txBody>
          <a:bodyPr wrap="square" lIns="0" tIns="0" rIns="0" bIns="0" rtlCol="0" anchor="ctr"/>
          <a:lstStyle/>
          <a:p>
            <a:pPr marL="0" indent="0">
              <a:buNone/>
            </a:pPr>
            <a:r>
              <a:rPr lang="en-US" sz="1800" b="1" dirty="0">
                <a:solidFill>
                  <a:srgbClr val="16181D"/>
                </a:solidFill>
                <a:latin typeface="Arial" pitchFamily="34" charset="0"/>
                <a:ea typeface="Arial" pitchFamily="34" charset="-122"/>
                <a:cs typeface="Arial" pitchFamily="34" charset="-120"/>
              </a:rPr>
              <a:t>Répondre aux marchés</a:t>
            </a:r>
            <a:endParaRPr lang="en-US" sz="1800" dirty="0"/>
          </a:p>
        </p:txBody>
      </p:sp>
      <p:sp>
        <p:nvSpPr>
          <p:cNvPr id="19" name="Text 16"/>
          <p:cNvSpPr txBox="1"/>
          <p:nvPr/>
        </p:nvSpPr>
        <p:spPr>
          <a:xfrm>
            <a:off x="9098280" y="2651760"/>
            <a:ext cx="2103120" cy="1554480"/>
          </a:xfrm>
          <a:prstGeom prst="rect">
            <a:avLst/>
          </a:prstGeom>
          <a:noFill/>
          <a:ln/>
        </p:spPr>
        <p:txBody>
          <a:bodyPr wrap="square" lIns="0" tIns="0" rIns="0" bIns="0" rtlCol="0" anchor="t"/>
          <a:lstStyle/>
          <a:p>
            <a:pPr marL="0" indent="0">
              <a:buNone/>
            </a:pPr>
            <a:r>
              <a:rPr lang="en-US" sz="1500" dirty="0">
                <a:solidFill>
                  <a:srgbClr val="5F6670"/>
                </a:solidFill>
                <a:latin typeface="Calibri" pitchFamily="34" charset="0"/>
                <a:ea typeface="Calibri" pitchFamily="34" charset="-122"/>
                <a:cs typeface="Calibri" pitchFamily="34" charset="-120"/>
              </a:rPr>
              <a:t>Lire un cahier des charges, structurer une offre.</a:t>
            </a:r>
            <a:endParaRPr lang="en-US" sz="1500" dirty="0"/>
          </a:p>
        </p:txBody>
      </p:sp>
      <p:sp>
        <p:nvSpPr>
          <p:cNvPr id="20" name="Shape 17"/>
          <p:cNvSpPr/>
          <p:nvPr/>
        </p:nvSpPr>
        <p:spPr>
          <a:xfrm>
            <a:off x="640080" y="4572000"/>
            <a:ext cx="10911535" cy="1097280"/>
          </a:xfrm>
          <a:prstGeom prst="roundRect">
            <a:avLst>
              <a:gd name="adj" fmla="val 6667"/>
            </a:avLst>
          </a:prstGeom>
          <a:solidFill>
            <a:srgbClr val="16181D"/>
          </a:solidFill>
          <a:ln w="12700">
            <a:solidFill>
              <a:srgbClr val="16181D"/>
            </a:solidFill>
            <a:prstDash val="solid"/>
          </a:ln>
        </p:spPr>
        <p:txBody>
          <a:bodyPr/>
          <a:lstStyle/>
          <a:p>
            <a:endParaRPr lang="fr-BE"/>
          </a:p>
        </p:txBody>
      </p:sp>
      <p:sp>
        <p:nvSpPr>
          <p:cNvPr id="21" name="Text 18"/>
          <p:cNvSpPr txBox="1"/>
          <p:nvPr/>
        </p:nvSpPr>
        <p:spPr>
          <a:xfrm>
            <a:off x="1005840" y="4572000"/>
            <a:ext cx="10180015" cy="109728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Et à chaque fois : je relis, je vérifie, je signe. L'IA propose, c'est moi qui réponds du résultat.</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PRÉSENTATION</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Ce que vous pouvez attendre de moi</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16</a:t>
            </a:r>
            <a:endParaRPr lang="en-US" sz="1000" dirty="0"/>
          </a:p>
        </p:txBody>
      </p:sp>
      <p:sp>
        <p:nvSpPr>
          <p:cNvPr id="8" name="Text 5"/>
          <p:cNvSpPr txBox="1"/>
          <p:nvPr/>
        </p:nvSpPr>
        <p:spPr>
          <a:xfrm>
            <a:off x="640080" y="1920240"/>
            <a:ext cx="10911535" cy="1097280"/>
          </a:xfrm>
          <a:prstGeom prst="rect">
            <a:avLst/>
          </a:prstGeom>
          <a:noFill/>
          <a:ln/>
        </p:spPr>
        <p:txBody>
          <a:bodyPr wrap="square" lIns="0" tIns="0" rIns="0" bIns="0" rtlCol="0" anchor="ctr"/>
          <a:lstStyle/>
          <a:p>
            <a:pPr marL="0" indent="0">
              <a:buNone/>
            </a:pPr>
            <a:r>
              <a:rPr lang="en-US" sz="3200" b="1" dirty="0">
                <a:solidFill>
                  <a:srgbClr val="E8590C"/>
                </a:solidFill>
                <a:latin typeface="Arial" pitchFamily="34" charset="0"/>
                <a:ea typeface="Arial" pitchFamily="34" charset="-122"/>
                <a:cs typeface="Arial" pitchFamily="34" charset="-120"/>
              </a:rPr>
              <a:t>« Ce n'est pas possible » ne fait pas partie de mon vocabulaire.</a:t>
            </a:r>
            <a:endParaRPr lang="en-US" sz="3200" dirty="0"/>
          </a:p>
        </p:txBody>
      </p:sp>
      <p:sp>
        <p:nvSpPr>
          <p:cNvPr id="9" name="Shape 6"/>
          <p:cNvSpPr/>
          <p:nvPr/>
        </p:nvSpPr>
        <p:spPr>
          <a:xfrm>
            <a:off x="640080" y="3383280"/>
            <a:ext cx="2560320" cy="1005840"/>
          </a:xfrm>
          <a:prstGeom prst="roundRect">
            <a:avLst>
              <a:gd name="adj" fmla="val 7273"/>
            </a:avLst>
          </a:prstGeom>
          <a:solidFill>
            <a:srgbClr val="F2F3F5"/>
          </a:solidFill>
          <a:ln w="12700">
            <a:solidFill>
              <a:srgbClr val="F2F3F5"/>
            </a:solidFill>
            <a:prstDash val="solid"/>
          </a:ln>
        </p:spPr>
        <p:txBody>
          <a:bodyPr/>
          <a:lstStyle/>
          <a:p>
            <a:endParaRPr lang="fr-BE"/>
          </a:p>
        </p:txBody>
      </p:sp>
      <p:sp>
        <p:nvSpPr>
          <p:cNvPr id="10" name="Text 7"/>
          <p:cNvSpPr txBox="1"/>
          <p:nvPr/>
        </p:nvSpPr>
        <p:spPr>
          <a:xfrm>
            <a:off x="822960" y="3383280"/>
            <a:ext cx="2194560" cy="1005840"/>
          </a:xfrm>
          <a:prstGeom prst="rect">
            <a:avLst/>
          </a:prstGeom>
          <a:noFill/>
          <a:ln/>
        </p:spPr>
        <p:txBody>
          <a:bodyPr wrap="square" lIns="0" tIns="0" rIns="0" bIns="0" rtlCol="0" anchor="ctr"/>
          <a:lstStyle/>
          <a:p>
            <a:pPr marL="0" indent="0" algn="ctr">
              <a:buNone/>
            </a:pPr>
            <a:r>
              <a:rPr lang="en-US" sz="1800" b="1" dirty="0">
                <a:solidFill>
                  <a:srgbClr val="16181D"/>
                </a:solidFill>
                <a:latin typeface="Arial" pitchFamily="34" charset="0"/>
                <a:ea typeface="Arial" pitchFamily="34" charset="-122"/>
                <a:cs typeface="Arial" pitchFamily="34" charset="-120"/>
              </a:rPr>
              <a:t>Je creuse</a:t>
            </a:r>
            <a:endParaRPr lang="en-US" sz="1800" dirty="0"/>
          </a:p>
        </p:txBody>
      </p:sp>
      <p:sp>
        <p:nvSpPr>
          <p:cNvPr id="11" name="Shape 8"/>
          <p:cNvSpPr/>
          <p:nvPr/>
        </p:nvSpPr>
        <p:spPr>
          <a:xfrm>
            <a:off x="3383280" y="3383280"/>
            <a:ext cx="2560320" cy="1005840"/>
          </a:xfrm>
          <a:prstGeom prst="roundRect">
            <a:avLst>
              <a:gd name="adj" fmla="val 7273"/>
            </a:avLst>
          </a:prstGeom>
          <a:solidFill>
            <a:srgbClr val="F2F3F5"/>
          </a:solidFill>
          <a:ln w="12700">
            <a:solidFill>
              <a:srgbClr val="F2F3F5"/>
            </a:solidFill>
            <a:prstDash val="solid"/>
          </a:ln>
        </p:spPr>
        <p:txBody>
          <a:bodyPr/>
          <a:lstStyle/>
          <a:p>
            <a:endParaRPr lang="fr-BE"/>
          </a:p>
        </p:txBody>
      </p:sp>
      <p:sp>
        <p:nvSpPr>
          <p:cNvPr id="12" name="Text 9"/>
          <p:cNvSpPr txBox="1"/>
          <p:nvPr/>
        </p:nvSpPr>
        <p:spPr>
          <a:xfrm>
            <a:off x="3566160" y="3383280"/>
            <a:ext cx="2194560" cy="1005840"/>
          </a:xfrm>
          <a:prstGeom prst="rect">
            <a:avLst/>
          </a:prstGeom>
          <a:noFill/>
          <a:ln/>
        </p:spPr>
        <p:txBody>
          <a:bodyPr wrap="square" lIns="0" tIns="0" rIns="0" bIns="0" rtlCol="0" anchor="ctr"/>
          <a:lstStyle/>
          <a:p>
            <a:pPr marL="0" indent="0" algn="ctr">
              <a:buNone/>
            </a:pPr>
            <a:r>
              <a:rPr lang="en-US" sz="1800" b="1" dirty="0">
                <a:solidFill>
                  <a:srgbClr val="16181D"/>
                </a:solidFill>
                <a:latin typeface="Arial" pitchFamily="34" charset="0"/>
                <a:ea typeface="Arial" pitchFamily="34" charset="-122"/>
                <a:cs typeface="Arial" pitchFamily="34" charset="-120"/>
              </a:rPr>
              <a:t>Je teste, je reteste</a:t>
            </a:r>
            <a:endParaRPr lang="en-US" sz="1800" dirty="0"/>
          </a:p>
        </p:txBody>
      </p:sp>
      <p:sp>
        <p:nvSpPr>
          <p:cNvPr id="13" name="Shape 10"/>
          <p:cNvSpPr/>
          <p:nvPr/>
        </p:nvSpPr>
        <p:spPr>
          <a:xfrm>
            <a:off x="6126480" y="3383280"/>
            <a:ext cx="2560320" cy="1005840"/>
          </a:xfrm>
          <a:prstGeom prst="roundRect">
            <a:avLst>
              <a:gd name="adj" fmla="val 7273"/>
            </a:avLst>
          </a:prstGeom>
          <a:solidFill>
            <a:srgbClr val="F2F3F5"/>
          </a:solidFill>
          <a:ln w="12700">
            <a:solidFill>
              <a:srgbClr val="F2F3F5"/>
            </a:solidFill>
            <a:prstDash val="solid"/>
          </a:ln>
        </p:spPr>
        <p:txBody>
          <a:bodyPr/>
          <a:lstStyle/>
          <a:p>
            <a:endParaRPr lang="fr-BE"/>
          </a:p>
        </p:txBody>
      </p:sp>
      <p:sp>
        <p:nvSpPr>
          <p:cNvPr id="14" name="Text 11"/>
          <p:cNvSpPr txBox="1"/>
          <p:nvPr/>
        </p:nvSpPr>
        <p:spPr>
          <a:xfrm>
            <a:off x="6309360" y="3383280"/>
            <a:ext cx="2194560" cy="1005840"/>
          </a:xfrm>
          <a:prstGeom prst="rect">
            <a:avLst/>
          </a:prstGeom>
          <a:noFill/>
          <a:ln/>
        </p:spPr>
        <p:txBody>
          <a:bodyPr wrap="square" lIns="0" tIns="0" rIns="0" bIns="0" rtlCol="0" anchor="ctr"/>
          <a:lstStyle/>
          <a:p>
            <a:pPr marL="0" indent="0" algn="ctr">
              <a:buNone/>
            </a:pPr>
            <a:r>
              <a:rPr lang="en-US" sz="1800" b="1" dirty="0">
                <a:solidFill>
                  <a:srgbClr val="16181D"/>
                </a:solidFill>
                <a:latin typeface="Arial" pitchFamily="34" charset="0"/>
                <a:ea typeface="Arial" pitchFamily="34" charset="-122"/>
                <a:cs typeface="Arial" pitchFamily="34" charset="-120"/>
              </a:rPr>
              <a:t>Je me documente</a:t>
            </a:r>
            <a:endParaRPr lang="en-US" sz="1800" dirty="0"/>
          </a:p>
        </p:txBody>
      </p:sp>
      <p:sp>
        <p:nvSpPr>
          <p:cNvPr id="15" name="Shape 12"/>
          <p:cNvSpPr/>
          <p:nvPr/>
        </p:nvSpPr>
        <p:spPr>
          <a:xfrm>
            <a:off x="8869680" y="3383280"/>
            <a:ext cx="2560320" cy="1005840"/>
          </a:xfrm>
          <a:prstGeom prst="roundRect">
            <a:avLst>
              <a:gd name="adj" fmla="val 7273"/>
            </a:avLst>
          </a:prstGeom>
          <a:solidFill>
            <a:srgbClr val="F2F3F5"/>
          </a:solidFill>
          <a:ln w="12700">
            <a:solidFill>
              <a:srgbClr val="F2F3F5"/>
            </a:solidFill>
            <a:prstDash val="solid"/>
          </a:ln>
        </p:spPr>
        <p:txBody>
          <a:bodyPr/>
          <a:lstStyle/>
          <a:p>
            <a:endParaRPr lang="fr-BE"/>
          </a:p>
        </p:txBody>
      </p:sp>
      <p:sp>
        <p:nvSpPr>
          <p:cNvPr id="16" name="Text 13"/>
          <p:cNvSpPr txBox="1"/>
          <p:nvPr/>
        </p:nvSpPr>
        <p:spPr>
          <a:xfrm>
            <a:off x="9052560" y="3383280"/>
            <a:ext cx="2194560" cy="1005840"/>
          </a:xfrm>
          <a:prstGeom prst="rect">
            <a:avLst/>
          </a:prstGeom>
          <a:noFill/>
          <a:ln/>
        </p:spPr>
        <p:txBody>
          <a:bodyPr wrap="square" lIns="0" tIns="0" rIns="0" bIns="0" rtlCol="0" anchor="ctr"/>
          <a:lstStyle/>
          <a:p>
            <a:pPr marL="0" indent="0" algn="ctr">
              <a:buNone/>
            </a:pPr>
            <a:r>
              <a:rPr lang="en-US" sz="1800" b="1" dirty="0">
                <a:solidFill>
                  <a:srgbClr val="16181D"/>
                </a:solidFill>
                <a:latin typeface="Arial" pitchFamily="34" charset="0"/>
                <a:ea typeface="Arial" pitchFamily="34" charset="-122"/>
                <a:cs typeface="Arial" pitchFamily="34" charset="-120"/>
              </a:rPr>
              <a:t>Je me remets en question</a:t>
            </a:r>
            <a:endParaRPr lang="en-US" sz="1800" dirty="0"/>
          </a:p>
        </p:txBody>
      </p:sp>
      <p:sp>
        <p:nvSpPr>
          <p:cNvPr id="17" name="Text 14"/>
          <p:cNvSpPr txBox="1"/>
          <p:nvPr/>
        </p:nvSpPr>
        <p:spPr>
          <a:xfrm>
            <a:off x="640080" y="4846320"/>
            <a:ext cx="10911535" cy="548640"/>
          </a:xfrm>
          <a:prstGeom prst="rect">
            <a:avLst/>
          </a:prstGeom>
          <a:noFill/>
          <a:ln/>
        </p:spPr>
        <p:txBody>
          <a:bodyPr wrap="square" lIns="0" tIns="0" rIns="0" bIns="0" rtlCol="0" anchor="ctr"/>
          <a:lstStyle/>
          <a:p>
            <a:pPr marL="0" indent="0">
              <a:buNone/>
            </a:pPr>
            <a:r>
              <a:rPr lang="en-US" sz="2000" dirty="0">
                <a:solidFill>
                  <a:srgbClr val="16181D"/>
                </a:solidFill>
                <a:latin typeface="Calibri" pitchFamily="34" charset="0"/>
                <a:ea typeface="Calibri" pitchFamily="34" charset="-122"/>
                <a:cs typeface="Calibri" pitchFamily="34" charset="-120"/>
              </a:rPr>
              <a:t>C'est l'état d'esprit que j'attends de vous. Face au code, et face à l'IA.</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À VOUS</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Levez la main</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17</a:t>
            </a:r>
            <a:endParaRPr lang="en-US" sz="1000" dirty="0"/>
          </a:p>
        </p:txBody>
      </p:sp>
      <p:sp>
        <p:nvSpPr>
          <p:cNvPr id="8" name="Shape 5"/>
          <p:cNvSpPr/>
          <p:nvPr/>
        </p:nvSpPr>
        <p:spPr>
          <a:xfrm>
            <a:off x="640080" y="2011680"/>
            <a:ext cx="914400" cy="914400"/>
          </a:xfrm>
          <a:prstGeom prst="roundRect">
            <a:avLst>
              <a:gd name="adj" fmla="val 8000"/>
            </a:avLst>
          </a:prstGeom>
          <a:solidFill>
            <a:srgbClr val="F2F3F5"/>
          </a:solidFill>
          <a:ln w="12700">
            <a:solidFill>
              <a:srgbClr val="F2F3F5"/>
            </a:solidFill>
            <a:prstDash val="solid"/>
          </a:ln>
        </p:spPr>
        <p:txBody>
          <a:bodyPr/>
          <a:lstStyle/>
          <a:p>
            <a:endParaRPr lang="fr-BE"/>
          </a:p>
        </p:txBody>
      </p:sp>
      <p:sp>
        <p:nvSpPr>
          <p:cNvPr id="9" name="Text 6"/>
          <p:cNvSpPr txBox="1"/>
          <p:nvPr/>
        </p:nvSpPr>
        <p:spPr>
          <a:xfrm>
            <a:off x="640080" y="2011680"/>
            <a:ext cx="914400" cy="914400"/>
          </a:xfrm>
          <a:prstGeom prst="rect">
            <a:avLst/>
          </a:prstGeom>
          <a:noFill/>
          <a:ln/>
        </p:spPr>
        <p:txBody>
          <a:bodyPr wrap="square" lIns="0" tIns="0" rIns="0" bIns="0" rtlCol="0" anchor="ctr"/>
          <a:lstStyle/>
          <a:p>
            <a:pPr marL="0" indent="0" algn="ctr">
              <a:buNone/>
            </a:pPr>
            <a:r>
              <a:rPr lang="en-US" sz="3000" dirty="0">
                <a:solidFill>
                  <a:srgbClr val="16181D"/>
                </a:solidFill>
              </a:rPr>
              <a:t>✋</a:t>
            </a:r>
            <a:endParaRPr lang="en-US" sz="3000" dirty="0"/>
          </a:p>
        </p:txBody>
      </p:sp>
      <p:sp>
        <p:nvSpPr>
          <p:cNvPr id="10" name="Text 7"/>
          <p:cNvSpPr txBox="1"/>
          <p:nvPr/>
        </p:nvSpPr>
        <p:spPr>
          <a:xfrm>
            <a:off x="1828800" y="2011680"/>
            <a:ext cx="6400800" cy="914400"/>
          </a:xfrm>
          <a:prstGeom prst="rect">
            <a:avLst/>
          </a:prstGeom>
          <a:noFill/>
          <a:ln/>
        </p:spPr>
        <p:txBody>
          <a:bodyPr wrap="square" lIns="0" tIns="0" rIns="0" bIns="0" rtlCol="0" anchor="ctr"/>
          <a:lstStyle/>
          <a:p>
            <a:pPr marL="0" indent="0">
              <a:buNone/>
            </a:pPr>
            <a:r>
              <a:rPr lang="en-US" sz="2400" dirty="0">
                <a:solidFill>
                  <a:srgbClr val="16181D"/>
                </a:solidFill>
                <a:latin typeface="Calibri" pitchFamily="34" charset="0"/>
                <a:ea typeface="Calibri" pitchFamily="34" charset="-122"/>
                <a:cs typeface="Calibri" pitchFamily="34" charset="-120"/>
              </a:rPr>
              <a:t>Oui, c'est moi</a:t>
            </a:r>
            <a:endParaRPr lang="en-US" sz="2400" dirty="0"/>
          </a:p>
        </p:txBody>
      </p:sp>
      <p:sp>
        <p:nvSpPr>
          <p:cNvPr id="11" name="Shape 8"/>
          <p:cNvSpPr/>
          <p:nvPr/>
        </p:nvSpPr>
        <p:spPr>
          <a:xfrm>
            <a:off x="640080" y="3108960"/>
            <a:ext cx="914400" cy="914400"/>
          </a:xfrm>
          <a:prstGeom prst="roundRect">
            <a:avLst>
              <a:gd name="adj" fmla="val 8000"/>
            </a:avLst>
          </a:prstGeom>
          <a:solidFill>
            <a:srgbClr val="F2F3F5"/>
          </a:solidFill>
          <a:ln w="12700">
            <a:solidFill>
              <a:srgbClr val="F2F3F5"/>
            </a:solidFill>
            <a:prstDash val="solid"/>
          </a:ln>
        </p:spPr>
        <p:txBody>
          <a:bodyPr/>
          <a:lstStyle/>
          <a:p>
            <a:endParaRPr lang="fr-BE"/>
          </a:p>
        </p:txBody>
      </p:sp>
      <p:sp>
        <p:nvSpPr>
          <p:cNvPr id="12" name="Text 9"/>
          <p:cNvSpPr txBox="1"/>
          <p:nvPr/>
        </p:nvSpPr>
        <p:spPr>
          <a:xfrm>
            <a:off x="640080" y="3108960"/>
            <a:ext cx="914400" cy="914400"/>
          </a:xfrm>
          <a:prstGeom prst="rect">
            <a:avLst/>
          </a:prstGeom>
          <a:noFill/>
          <a:ln/>
        </p:spPr>
        <p:txBody>
          <a:bodyPr wrap="square" lIns="0" tIns="0" rIns="0" bIns="0" rtlCol="0" anchor="ctr"/>
          <a:lstStyle/>
          <a:p>
            <a:pPr marL="0" indent="0" algn="ctr">
              <a:buNone/>
            </a:pPr>
            <a:r>
              <a:rPr lang="en-US" sz="3000" dirty="0">
                <a:solidFill>
                  <a:srgbClr val="16181D"/>
                </a:solidFill>
              </a:rPr>
              <a:t>👍</a:t>
            </a:r>
            <a:endParaRPr lang="en-US" sz="3000" dirty="0"/>
          </a:p>
        </p:txBody>
      </p:sp>
      <p:sp>
        <p:nvSpPr>
          <p:cNvPr id="13" name="Text 10"/>
          <p:cNvSpPr txBox="1"/>
          <p:nvPr/>
        </p:nvSpPr>
        <p:spPr>
          <a:xfrm>
            <a:off x="1828800" y="3108960"/>
            <a:ext cx="6400800" cy="914400"/>
          </a:xfrm>
          <a:prstGeom prst="rect">
            <a:avLst/>
          </a:prstGeom>
          <a:noFill/>
          <a:ln/>
        </p:spPr>
        <p:txBody>
          <a:bodyPr wrap="square" lIns="0" tIns="0" rIns="0" bIns="0" rtlCol="0" anchor="ctr"/>
          <a:lstStyle/>
          <a:p>
            <a:pPr marL="0" indent="0">
              <a:buNone/>
            </a:pPr>
            <a:r>
              <a:rPr lang="en-US" sz="2400" dirty="0">
                <a:solidFill>
                  <a:srgbClr val="16181D"/>
                </a:solidFill>
                <a:latin typeface="Calibri" pitchFamily="34" charset="0"/>
                <a:ea typeface="Calibri" pitchFamily="34" charset="-122"/>
                <a:cs typeface="Calibri" pitchFamily="34" charset="-120"/>
              </a:rPr>
              <a:t>Un peu / de temps en temps</a:t>
            </a:r>
            <a:endParaRPr lang="en-US" sz="2400" dirty="0"/>
          </a:p>
        </p:txBody>
      </p:sp>
      <p:sp>
        <p:nvSpPr>
          <p:cNvPr id="14" name="Shape 11"/>
          <p:cNvSpPr/>
          <p:nvPr/>
        </p:nvSpPr>
        <p:spPr>
          <a:xfrm>
            <a:off x="640080" y="4206240"/>
            <a:ext cx="914400" cy="914400"/>
          </a:xfrm>
          <a:prstGeom prst="roundRect">
            <a:avLst>
              <a:gd name="adj" fmla="val 8000"/>
            </a:avLst>
          </a:prstGeom>
          <a:solidFill>
            <a:srgbClr val="F2F3F5"/>
          </a:solidFill>
          <a:ln w="12700">
            <a:solidFill>
              <a:srgbClr val="F2F3F5"/>
            </a:solidFill>
            <a:prstDash val="solid"/>
          </a:ln>
        </p:spPr>
        <p:txBody>
          <a:bodyPr/>
          <a:lstStyle/>
          <a:p>
            <a:endParaRPr lang="fr-BE"/>
          </a:p>
        </p:txBody>
      </p:sp>
      <p:sp>
        <p:nvSpPr>
          <p:cNvPr id="15" name="Text 12"/>
          <p:cNvSpPr txBox="1"/>
          <p:nvPr/>
        </p:nvSpPr>
        <p:spPr>
          <a:xfrm>
            <a:off x="640080" y="4206240"/>
            <a:ext cx="914400" cy="914400"/>
          </a:xfrm>
          <a:prstGeom prst="rect">
            <a:avLst/>
          </a:prstGeom>
          <a:noFill/>
          <a:ln/>
        </p:spPr>
        <p:txBody>
          <a:bodyPr wrap="square" lIns="0" tIns="0" rIns="0" bIns="0" rtlCol="0" anchor="ctr"/>
          <a:lstStyle/>
          <a:p>
            <a:pPr marL="0" indent="0" algn="ctr">
              <a:buNone/>
            </a:pPr>
            <a:r>
              <a:rPr lang="en-US" sz="3000" dirty="0">
                <a:solidFill>
                  <a:srgbClr val="16181D"/>
                </a:solidFill>
              </a:rPr>
              <a:t>—</a:t>
            </a:r>
            <a:endParaRPr lang="en-US" sz="3000" dirty="0"/>
          </a:p>
        </p:txBody>
      </p:sp>
      <p:sp>
        <p:nvSpPr>
          <p:cNvPr id="16" name="Text 13"/>
          <p:cNvSpPr txBox="1"/>
          <p:nvPr/>
        </p:nvSpPr>
        <p:spPr>
          <a:xfrm>
            <a:off x="1828800" y="4206240"/>
            <a:ext cx="6400800" cy="914400"/>
          </a:xfrm>
          <a:prstGeom prst="rect">
            <a:avLst/>
          </a:prstGeom>
          <a:noFill/>
          <a:ln/>
        </p:spPr>
        <p:txBody>
          <a:bodyPr wrap="square" lIns="0" tIns="0" rIns="0" bIns="0" rtlCol="0" anchor="ctr"/>
          <a:lstStyle/>
          <a:p>
            <a:pPr marL="0" indent="0">
              <a:buNone/>
            </a:pPr>
            <a:r>
              <a:rPr lang="en-US" sz="2400" dirty="0">
                <a:solidFill>
                  <a:srgbClr val="16181D"/>
                </a:solidFill>
                <a:latin typeface="Calibri" pitchFamily="34" charset="0"/>
                <a:ea typeface="Calibri" pitchFamily="34" charset="-122"/>
                <a:cs typeface="Calibri" pitchFamily="34" charset="-120"/>
              </a:rPr>
              <a:t>Rien : non</a:t>
            </a:r>
            <a:endParaRPr lang="en-US" sz="2400" dirty="0"/>
          </a:p>
        </p:txBody>
      </p:sp>
      <p:sp>
        <p:nvSpPr>
          <p:cNvPr id="17" name="Text 14"/>
          <p:cNvSpPr txBox="1"/>
          <p:nvPr/>
        </p:nvSpPr>
        <p:spPr>
          <a:xfrm>
            <a:off x="640080" y="5394960"/>
            <a:ext cx="10911535" cy="548640"/>
          </a:xfrm>
          <a:prstGeom prst="rect">
            <a:avLst/>
          </a:prstGeom>
          <a:noFill/>
          <a:ln/>
        </p:spPr>
        <p:txBody>
          <a:bodyPr wrap="square" lIns="0" tIns="0" rIns="0" bIns="0" rtlCol="0" anchor="ctr"/>
          <a:lstStyle/>
          <a:p>
            <a:pPr marL="0" indent="0">
              <a:buNone/>
            </a:pPr>
            <a:r>
              <a:rPr lang="en-US" sz="1600" dirty="0">
                <a:solidFill>
                  <a:srgbClr val="5F6670"/>
                </a:solidFill>
                <a:latin typeface="Calibri" pitchFamily="34" charset="0"/>
                <a:ea typeface="Calibri" pitchFamily="34" charset="-122"/>
                <a:cs typeface="Calibri" pitchFamily="34" charset="-120"/>
              </a:rPr>
              <a:t>8 questions, 15 secondes chacune. Pas de bonne ou de mauvaise réponse : ça me sert à régler le niveau du cours.</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LEVEZ LA MAIN · 1 / 8</a:t>
            </a:r>
            <a:endParaRPr lang="en-US" sz="1200" dirty="0"/>
          </a:p>
        </p:txBody>
      </p:sp>
      <p:sp>
        <p:nvSpPr>
          <p:cNvPr id="4" name="Text 2"/>
          <p:cNvSpPr txBox="1"/>
          <p:nvPr/>
        </p:nvSpPr>
        <p:spPr>
          <a:xfrm>
            <a:off x="640080" y="1828800"/>
            <a:ext cx="1371600" cy="1188720"/>
          </a:xfrm>
          <a:prstGeom prst="rect">
            <a:avLst/>
          </a:prstGeom>
          <a:noFill/>
          <a:ln/>
        </p:spPr>
        <p:txBody>
          <a:bodyPr wrap="square" lIns="0" tIns="0" rIns="0" bIns="0" rtlCol="0" anchor="ctr"/>
          <a:lstStyle/>
          <a:p>
            <a:pPr marL="0" indent="0">
              <a:buNone/>
            </a:pPr>
            <a:r>
              <a:rPr lang="en-US" sz="6000" dirty="0">
                <a:solidFill>
                  <a:srgbClr val="000000"/>
                </a:solidFill>
              </a:rPr>
              <a:t>✋</a:t>
            </a:r>
            <a:endParaRPr lang="en-US" sz="6000" dirty="0"/>
          </a:p>
        </p:txBody>
      </p:sp>
      <p:sp>
        <p:nvSpPr>
          <p:cNvPr id="5" name="Text 3"/>
          <p:cNvSpPr txBox="1"/>
          <p:nvPr/>
        </p:nvSpPr>
        <p:spPr>
          <a:xfrm>
            <a:off x="640080" y="3017520"/>
            <a:ext cx="10515600" cy="2011680"/>
          </a:xfrm>
          <a:prstGeom prst="rect">
            <a:avLst/>
          </a:prstGeom>
          <a:noFill/>
          <a:ln/>
        </p:spPr>
        <p:txBody>
          <a:bodyPr wrap="square" lIns="0" tIns="0" rIns="0" bIns="0" rtlCol="0" anchor="t"/>
          <a:lstStyle/>
          <a:p>
            <a:pPr marL="0" indent="0">
              <a:buNone/>
            </a:pPr>
            <a:r>
              <a:rPr lang="en-US" sz="4000" b="1" dirty="0">
                <a:solidFill>
                  <a:srgbClr val="16181D"/>
                </a:solidFill>
                <a:latin typeface="Arial" pitchFamily="34" charset="0"/>
                <a:ea typeface="Arial" pitchFamily="34" charset="-122"/>
                <a:cs typeface="Arial" pitchFamily="34" charset="-120"/>
              </a:rPr>
              <a:t>Vous travaillez aujourd'hui dans l'IT.</a:t>
            </a:r>
            <a:endParaRPr lang="en-US" sz="4000" dirty="0"/>
          </a:p>
        </p:txBody>
      </p:sp>
      <p:sp>
        <p:nvSpPr>
          <p:cNvPr id="6" name="Text 4"/>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7" name="Text 5"/>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LEVEZ LA MAIN · 2 / 8</a:t>
            </a:r>
            <a:endParaRPr lang="en-US" sz="1200" dirty="0"/>
          </a:p>
        </p:txBody>
      </p:sp>
      <p:sp>
        <p:nvSpPr>
          <p:cNvPr id="4" name="Text 2"/>
          <p:cNvSpPr txBox="1"/>
          <p:nvPr/>
        </p:nvSpPr>
        <p:spPr>
          <a:xfrm>
            <a:off x="640080" y="1828800"/>
            <a:ext cx="1371600" cy="1188720"/>
          </a:xfrm>
          <a:prstGeom prst="rect">
            <a:avLst/>
          </a:prstGeom>
          <a:noFill/>
          <a:ln/>
        </p:spPr>
        <p:txBody>
          <a:bodyPr wrap="square" lIns="0" tIns="0" rIns="0" bIns="0" rtlCol="0" anchor="ctr"/>
          <a:lstStyle/>
          <a:p>
            <a:pPr marL="0" indent="0">
              <a:buNone/>
            </a:pPr>
            <a:r>
              <a:rPr lang="en-US" sz="6000" dirty="0">
                <a:solidFill>
                  <a:srgbClr val="000000"/>
                </a:solidFill>
              </a:rPr>
              <a:t>✋</a:t>
            </a:r>
            <a:endParaRPr lang="en-US" sz="6000" dirty="0"/>
          </a:p>
        </p:txBody>
      </p:sp>
      <p:sp>
        <p:nvSpPr>
          <p:cNvPr id="5" name="Text 3"/>
          <p:cNvSpPr txBox="1"/>
          <p:nvPr/>
        </p:nvSpPr>
        <p:spPr>
          <a:xfrm>
            <a:off x="640080" y="3017520"/>
            <a:ext cx="10515600" cy="2011680"/>
          </a:xfrm>
          <a:prstGeom prst="rect">
            <a:avLst/>
          </a:prstGeom>
          <a:noFill/>
          <a:ln/>
        </p:spPr>
        <p:txBody>
          <a:bodyPr wrap="square" lIns="0" tIns="0" rIns="0" bIns="0" rtlCol="0" anchor="t"/>
          <a:lstStyle/>
          <a:p>
            <a:pPr marL="0" indent="0">
              <a:buNone/>
            </a:pPr>
            <a:r>
              <a:rPr lang="en-US" sz="4000" b="1" dirty="0">
                <a:solidFill>
                  <a:srgbClr val="16181D"/>
                </a:solidFill>
                <a:latin typeface="Arial" pitchFamily="34" charset="0"/>
                <a:ea typeface="Arial" pitchFamily="34" charset="-122"/>
                <a:cs typeface="Arial" pitchFamily="34" charset="-120"/>
              </a:rPr>
              <a:t>Vous avez écrit du code dans les 12 derniers mois.</a:t>
            </a:r>
            <a:endParaRPr lang="en-US" sz="4000" dirty="0"/>
          </a:p>
        </p:txBody>
      </p:sp>
      <p:sp>
        <p:nvSpPr>
          <p:cNvPr id="6" name="Text 4"/>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7" name="Text 5"/>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LEVEZ LA MAIN · 3 / 8</a:t>
            </a:r>
            <a:endParaRPr lang="en-US" sz="1200" dirty="0"/>
          </a:p>
        </p:txBody>
      </p:sp>
      <p:sp>
        <p:nvSpPr>
          <p:cNvPr id="4" name="Text 2"/>
          <p:cNvSpPr txBox="1"/>
          <p:nvPr/>
        </p:nvSpPr>
        <p:spPr>
          <a:xfrm>
            <a:off x="640080" y="1828800"/>
            <a:ext cx="1371600" cy="1188720"/>
          </a:xfrm>
          <a:prstGeom prst="rect">
            <a:avLst/>
          </a:prstGeom>
          <a:noFill/>
          <a:ln/>
        </p:spPr>
        <p:txBody>
          <a:bodyPr wrap="square" lIns="0" tIns="0" rIns="0" bIns="0" rtlCol="0" anchor="ctr"/>
          <a:lstStyle/>
          <a:p>
            <a:pPr marL="0" indent="0">
              <a:buNone/>
            </a:pPr>
            <a:r>
              <a:rPr lang="en-US" sz="6000" dirty="0">
                <a:solidFill>
                  <a:srgbClr val="000000"/>
                </a:solidFill>
              </a:rPr>
              <a:t>✋</a:t>
            </a:r>
            <a:endParaRPr lang="en-US" sz="6000" dirty="0"/>
          </a:p>
        </p:txBody>
      </p:sp>
      <p:sp>
        <p:nvSpPr>
          <p:cNvPr id="5" name="Text 3"/>
          <p:cNvSpPr txBox="1"/>
          <p:nvPr/>
        </p:nvSpPr>
        <p:spPr>
          <a:xfrm>
            <a:off x="640080" y="3017520"/>
            <a:ext cx="10515600" cy="2011680"/>
          </a:xfrm>
          <a:prstGeom prst="rect">
            <a:avLst/>
          </a:prstGeom>
          <a:noFill/>
          <a:ln/>
        </p:spPr>
        <p:txBody>
          <a:bodyPr wrap="square" lIns="0" tIns="0" rIns="0" bIns="0" rtlCol="0" anchor="t"/>
          <a:lstStyle/>
          <a:p>
            <a:pPr marL="0" indent="0">
              <a:buNone/>
            </a:pPr>
            <a:r>
              <a:rPr lang="en-US" sz="4000" b="1" dirty="0">
                <a:solidFill>
                  <a:srgbClr val="16181D"/>
                </a:solidFill>
                <a:latin typeface="Arial" pitchFamily="34" charset="0"/>
                <a:ea typeface="Arial" pitchFamily="34" charset="-122"/>
                <a:cs typeface="Arial" pitchFamily="34" charset="-120"/>
              </a:rPr>
              <a:t>Vous avez déjà écrit une classe (C#, Java, Python…).</a:t>
            </a:r>
            <a:endParaRPr lang="en-US" sz="4000" dirty="0"/>
          </a:p>
        </p:txBody>
      </p:sp>
      <p:sp>
        <p:nvSpPr>
          <p:cNvPr id="6" name="Text 4"/>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7" name="Text 5"/>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LEVEZ LA MAIN · 4 / 8</a:t>
            </a:r>
            <a:endParaRPr lang="en-US" sz="1200" dirty="0"/>
          </a:p>
        </p:txBody>
      </p:sp>
      <p:sp>
        <p:nvSpPr>
          <p:cNvPr id="4" name="Text 2"/>
          <p:cNvSpPr txBox="1"/>
          <p:nvPr/>
        </p:nvSpPr>
        <p:spPr>
          <a:xfrm>
            <a:off x="640080" y="1828800"/>
            <a:ext cx="1371600" cy="1188720"/>
          </a:xfrm>
          <a:prstGeom prst="rect">
            <a:avLst/>
          </a:prstGeom>
          <a:noFill/>
          <a:ln/>
        </p:spPr>
        <p:txBody>
          <a:bodyPr wrap="square" lIns="0" tIns="0" rIns="0" bIns="0" rtlCol="0" anchor="ctr"/>
          <a:lstStyle/>
          <a:p>
            <a:pPr marL="0" indent="0">
              <a:buNone/>
            </a:pPr>
            <a:r>
              <a:rPr lang="en-US" sz="6000" dirty="0">
                <a:solidFill>
                  <a:srgbClr val="000000"/>
                </a:solidFill>
              </a:rPr>
              <a:t>✋</a:t>
            </a:r>
            <a:endParaRPr lang="en-US" sz="6000" dirty="0"/>
          </a:p>
        </p:txBody>
      </p:sp>
      <p:sp>
        <p:nvSpPr>
          <p:cNvPr id="5" name="Text 3"/>
          <p:cNvSpPr txBox="1"/>
          <p:nvPr/>
        </p:nvSpPr>
        <p:spPr>
          <a:xfrm>
            <a:off x="640080" y="3017520"/>
            <a:ext cx="10515600" cy="2011680"/>
          </a:xfrm>
          <a:prstGeom prst="rect">
            <a:avLst/>
          </a:prstGeom>
          <a:noFill/>
          <a:ln/>
        </p:spPr>
        <p:txBody>
          <a:bodyPr wrap="square" lIns="0" tIns="0" rIns="0" bIns="0" rtlCol="0" anchor="t"/>
          <a:lstStyle/>
          <a:p>
            <a:pPr marL="0" indent="0">
              <a:buNone/>
            </a:pPr>
            <a:r>
              <a:rPr lang="en-US" sz="4000" b="1" dirty="0">
                <a:solidFill>
                  <a:srgbClr val="16181D"/>
                </a:solidFill>
                <a:latin typeface="Arial" pitchFamily="34" charset="0"/>
                <a:ea typeface="Arial" pitchFamily="34" charset="-122"/>
                <a:cs typeface="Arial" pitchFamily="34" charset="-120"/>
              </a:rPr>
              <a:t>Vous utilisez Git au travail.</a:t>
            </a:r>
            <a:endParaRPr lang="en-US" sz="4000" dirty="0"/>
          </a:p>
        </p:txBody>
      </p:sp>
      <p:sp>
        <p:nvSpPr>
          <p:cNvPr id="6" name="Text 4"/>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7" name="Text 5"/>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LEVEZ LA MAIN · 5 / 8</a:t>
            </a:r>
            <a:endParaRPr lang="en-US" sz="1200" dirty="0"/>
          </a:p>
        </p:txBody>
      </p:sp>
      <p:sp>
        <p:nvSpPr>
          <p:cNvPr id="4" name="Text 2"/>
          <p:cNvSpPr txBox="1"/>
          <p:nvPr/>
        </p:nvSpPr>
        <p:spPr>
          <a:xfrm>
            <a:off x="640080" y="1828800"/>
            <a:ext cx="1371600" cy="1188720"/>
          </a:xfrm>
          <a:prstGeom prst="rect">
            <a:avLst/>
          </a:prstGeom>
          <a:noFill/>
          <a:ln/>
        </p:spPr>
        <p:txBody>
          <a:bodyPr wrap="square" lIns="0" tIns="0" rIns="0" bIns="0" rtlCol="0" anchor="ctr"/>
          <a:lstStyle/>
          <a:p>
            <a:pPr marL="0" indent="0">
              <a:buNone/>
            </a:pPr>
            <a:r>
              <a:rPr lang="en-US" sz="6000" dirty="0">
                <a:solidFill>
                  <a:srgbClr val="000000"/>
                </a:solidFill>
              </a:rPr>
              <a:t>✋</a:t>
            </a:r>
            <a:endParaRPr lang="en-US" sz="6000" dirty="0"/>
          </a:p>
        </p:txBody>
      </p:sp>
      <p:sp>
        <p:nvSpPr>
          <p:cNvPr id="5" name="Text 3"/>
          <p:cNvSpPr txBox="1"/>
          <p:nvPr/>
        </p:nvSpPr>
        <p:spPr>
          <a:xfrm>
            <a:off x="640080" y="3017520"/>
            <a:ext cx="10515600" cy="2011680"/>
          </a:xfrm>
          <a:prstGeom prst="rect">
            <a:avLst/>
          </a:prstGeom>
          <a:noFill/>
          <a:ln/>
        </p:spPr>
        <p:txBody>
          <a:bodyPr wrap="square" lIns="0" tIns="0" rIns="0" bIns="0" rtlCol="0" anchor="t"/>
          <a:lstStyle/>
          <a:p>
            <a:pPr marL="0" indent="0">
              <a:buNone/>
            </a:pPr>
            <a:r>
              <a:rPr lang="en-US" sz="4000" b="1" dirty="0">
                <a:solidFill>
                  <a:srgbClr val="16181D"/>
                </a:solidFill>
                <a:latin typeface="Arial" pitchFamily="34" charset="0"/>
                <a:ea typeface="Arial" pitchFamily="34" charset="-122"/>
                <a:cs typeface="Arial" pitchFamily="34" charset="-120"/>
              </a:rPr>
              <a:t>Vous avez déjà écrit une requête SQL avec un JOIN.</a:t>
            </a:r>
            <a:endParaRPr lang="en-US" sz="4000" dirty="0"/>
          </a:p>
        </p:txBody>
      </p:sp>
      <p:sp>
        <p:nvSpPr>
          <p:cNvPr id="6" name="Text 4"/>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7" name="Text 5"/>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LEVEZ LA MAIN · 6 / 8</a:t>
            </a:r>
            <a:endParaRPr lang="en-US" sz="1200" dirty="0"/>
          </a:p>
        </p:txBody>
      </p:sp>
      <p:sp>
        <p:nvSpPr>
          <p:cNvPr id="4" name="Text 2"/>
          <p:cNvSpPr txBox="1"/>
          <p:nvPr/>
        </p:nvSpPr>
        <p:spPr>
          <a:xfrm>
            <a:off x="640080" y="1828800"/>
            <a:ext cx="1371600" cy="1188720"/>
          </a:xfrm>
          <a:prstGeom prst="rect">
            <a:avLst/>
          </a:prstGeom>
          <a:noFill/>
          <a:ln/>
        </p:spPr>
        <p:txBody>
          <a:bodyPr wrap="square" lIns="0" tIns="0" rIns="0" bIns="0" rtlCol="0" anchor="ctr"/>
          <a:lstStyle/>
          <a:p>
            <a:pPr marL="0" indent="0">
              <a:buNone/>
            </a:pPr>
            <a:r>
              <a:rPr lang="en-US" sz="6000" dirty="0">
                <a:solidFill>
                  <a:srgbClr val="000000"/>
                </a:solidFill>
              </a:rPr>
              <a:t>✋</a:t>
            </a:r>
            <a:endParaRPr lang="en-US" sz="6000" dirty="0"/>
          </a:p>
        </p:txBody>
      </p:sp>
      <p:sp>
        <p:nvSpPr>
          <p:cNvPr id="5" name="Text 3"/>
          <p:cNvSpPr txBox="1"/>
          <p:nvPr/>
        </p:nvSpPr>
        <p:spPr>
          <a:xfrm>
            <a:off x="640080" y="3017520"/>
            <a:ext cx="10515600" cy="2011680"/>
          </a:xfrm>
          <a:prstGeom prst="rect">
            <a:avLst/>
          </a:prstGeom>
          <a:noFill/>
          <a:ln/>
        </p:spPr>
        <p:txBody>
          <a:bodyPr wrap="square" lIns="0" tIns="0" rIns="0" bIns="0" rtlCol="0" anchor="t"/>
          <a:lstStyle/>
          <a:p>
            <a:pPr marL="0" indent="0">
              <a:buNone/>
            </a:pPr>
            <a:r>
              <a:rPr lang="en-US" sz="4000" b="1" dirty="0">
                <a:solidFill>
                  <a:srgbClr val="16181D"/>
                </a:solidFill>
                <a:latin typeface="Arial" pitchFamily="34" charset="0"/>
                <a:ea typeface="Arial" pitchFamily="34" charset="-122"/>
                <a:cs typeface="Arial" pitchFamily="34" charset="-120"/>
              </a:rPr>
              <a:t>Vous avez déjà travaillé en Scrum (sprints, daily, rétro…).</a:t>
            </a:r>
            <a:endParaRPr lang="en-US" sz="4000" dirty="0"/>
          </a:p>
        </p:txBody>
      </p:sp>
      <p:sp>
        <p:nvSpPr>
          <p:cNvPr id="6" name="Text 4"/>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7" name="Text 5"/>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LEVEZ LA MAIN · 7 / 8</a:t>
            </a:r>
            <a:endParaRPr lang="en-US" sz="1200" dirty="0"/>
          </a:p>
        </p:txBody>
      </p:sp>
      <p:sp>
        <p:nvSpPr>
          <p:cNvPr id="4" name="Text 2"/>
          <p:cNvSpPr txBox="1"/>
          <p:nvPr/>
        </p:nvSpPr>
        <p:spPr>
          <a:xfrm>
            <a:off x="640080" y="1828800"/>
            <a:ext cx="1371600" cy="1188720"/>
          </a:xfrm>
          <a:prstGeom prst="rect">
            <a:avLst/>
          </a:prstGeom>
          <a:noFill/>
          <a:ln/>
        </p:spPr>
        <p:txBody>
          <a:bodyPr wrap="square" lIns="0" tIns="0" rIns="0" bIns="0" rtlCol="0" anchor="ctr"/>
          <a:lstStyle/>
          <a:p>
            <a:pPr marL="0" indent="0">
              <a:buNone/>
            </a:pPr>
            <a:r>
              <a:rPr lang="en-US" sz="6000" dirty="0">
                <a:solidFill>
                  <a:srgbClr val="000000"/>
                </a:solidFill>
              </a:rPr>
              <a:t>✋</a:t>
            </a:r>
            <a:endParaRPr lang="en-US" sz="6000" dirty="0"/>
          </a:p>
        </p:txBody>
      </p:sp>
      <p:sp>
        <p:nvSpPr>
          <p:cNvPr id="5" name="Text 3"/>
          <p:cNvSpPr txBox="1"/>
          <p:nvPr/>
        </p:nvSpPr>
        <p:spPr>
          <a:xfrm>
            <a:off x="640080" y="3017520"/>
            <a:ext cx="10515600" cy="2011680"/>
          </a:xfrm>
          <a:prstGeom prst="rect">
            <a:avLst/>
          </a:prstGeom>
          <a:noFill/>
          <a:ln/>
        </p:spPr>
        <p:txBody>
          <a:bodyPr wrap="square" lIns="0" tIns="0" rIns="0" bIns="0" rtlCol="0" anchor="t"/>
          <a:lstStyle/>
          <a:p>
            <a:pPr marL="0" indent="0">
              <a:buNone/>
            </a:pPr>
            <a:r>
              <a:rPr lang="en-US" sz="4000" b="1" dirty="0">
                <a:solidFill>
                  <a:srgbClr val="16181D"/>
                </a:solidFill>
                <a:latin typeface="Arial" pitchFamily="34" charset="0"/>
                <a:ea typeface="Arial" pitchFamily="34" charset="-122"/>
                <a:cs typeface="Arial" pitchFamily="34" charset="-120"/>
              </a:rPr>
              <a:t>Vous utilisez une IA générative au moins une fois par semaine.</a:t>
            </a:r>
            <a:endParaRPr lang="en-US" sz="4000" dirty="0"/>
          </a:p>
        </p:txBody>
      </p:sp>
      <p:sp>
        <p:nvSpPr>
          <p:cNvPr id="6" name="Text 4"/>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7" name="Text 5"/>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LEVEZ LA MAIN · 8 / 8</a:t>
            </a:r>
            <a:endParaRPr lang="en-US" sz="1200" dirty="0"/>
          </a:p>
        </p:txBody>
      </p:sp>
      <p:sp>
        <p:nvSpPr>
          <p:cNvPr id="4" name="Text 2"/>
          <p:cNvSpPr txBox="1"/>
          <p:nvPr/>
        </p:nvSpPr>
        <p:spPr>
          <a:xfrm>
            <a:off x="640080" y="1828800"/>
            <a:ext cx="1371600" cy="1188720"/>
          </a:xfrm>
          <a:prstGeom prst="rect">
            <a:avLst/>
          </a:prstGeom>
          <a:noFill/>
          <a:ln/>
        </p:spPr>
        <p:txBody>
          <a:bodyPr wrap="square" lIns="0" tIns="0" rIns="0" bIns="0" rtlCol="0" anchor="ctr"/>
          <a:lstStyle/>
          <a:p>
            <a:pPr marL="0" indent="0">
              <a:buNone/>
            </a:pPr>
            <a:r>
              <a:rPr lang="en-US" sz="6000" dirty="0">
                <a:solidFill>
                  <a:srgbClr val="000000"/>
                </a:solidFill>
              </a:rPr>
              <a:t>✋</a:t>
            </a:r>
            <a:endParaRPr lang="en-US" sz="6000" dirty="0"/>
          </a:p>
        </p:txBody>
      </p:sp>
      <p:sp>
        <p:nvSpPr>
          <p:cNvPr id="5" name="Text 3"/>
          <p:cNvSpPr txBox="1"/>
          <p:nvPr/>
        </p:nvSpPr>
        <p:spPr>
          <a:xfrm>
            <a:off x="640080" y="3017520"/>
            <a:ext cx="10515600" cy="2011680"/>
          </a:xfrm>
          <a:prstGeom prst="rect">
            <a:avLst/>
          </a:prstGeom>
          <a:noFill/>
          <a:ln/>
        </p:spPr>
        <p:txBody>
          <a:bodyPr wrap="square" lIns="0" tIns="0" rIns="0" bIns="0" rtlCol="0" anchor="t"/>
          <a:lstStyle/>
          <a:p>
            <a:pPr marL="0" indent="0">
              <a:buNone/>
            </a:pPr>
            <a:r>
              <a:rPr lang="en-US" sz="4000" b="1" dirty="0">
                <a:solidFill>
                  <a:srgbClr val="16181D"/>
                </a:solidFill>
                <a:latin typeface="Arial" pitchFamily="34" charset="0"/>
                <a:ea typeface="Arial" pitchFamily="34" charset="-122"/>
                <a:cs typeface="Arial" pitchFamily="34" charset="-120"/>
              </a:rPr>
              <a:t>Vous avez déjà utilisé du code généré par une IA sans le relire entièrement.</a:t>
            </a:r>
            <a:endParaRPr lang="en-US" sz="4000" dirty="0"/>
          </a:p>
        </p:txBody>
      </p:sp>
      <p:sp>
        <p:nvSpPr>
          <p:cNvPr id="6" name="Text 4"/>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7" name="Text 5"/>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À VOUS</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Questionnaire d'entrée · 6 minutes</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26</a:t>
            </a:r>
            <a:endParaRPr lang="en-US" sz="1000" dirty="0"/>
          </a:p>
        </p:txBody>
      </p:sp>
      <p:sp>
        <p:nvSpPr>
          <p:cNvPr id="8" name="Text 5"/>
          <p:cNvSpPr txBox="1"/>
          <p:nvPr/>
        </p:nvSpPr>
        <p:spPr>
          <a:xfrm>
            <a:off x="640080" y="1920240"/>
            <a:ext cx="10911535" cy="731520"/>
          </a:xfrm>
          <a:prstGeom prst="rect">
            <a:avLst/>
          </a:prstGeom>
          <a:noFill/>
          <a:ln/>
        </p:spPr>
        <p:txBody>
          <a:bodyPr wrap="square" lIns="0" tIns="0" rIns="0" bIns="0" rtlCol="0" anchor="ctr"/>
          <a:lstStyle/>
          <a:p>
            <a:pPr marL="0" indent="0">
              <a:buNone/>
            </a:pPr>
            <a:r>
              <a:rPr lang="en-US" sz="3000" b="1" dirty="0">
                <a:solidFill>
                  <a:srgbClr val="E8590C"/>
                </a:solidFill>
                <a:latin typeface="Arial" pitchFamily="34" charset="0"/>
                <a:ea typeface="Arial" pitchFamily="34" charset="-122"/>
                <a:cs typeface="Arial" pitchFamily="34" charset="-120"/>
              </a:rPr>
              <a:t>Lien dans le chat.</a:t>
            </a:r>
            <a:endParaRPr lang="en-US" sz="3000" dirty="0"/>
          </a:p>
        </p:txBody>
      </p:sp>
      <p:sp>
        <p:nvSpPr>
          <p:cNvPr id="9" name="Text 6"/>
          <p:cNvSpPr txBox="1"/>
          <p:nvPr/>
        </p:nvSpPr>
        <p:spPr>
          <a:xfrm>
            <a:off x="640080" y="2926080"/>
            <a:ext cx="7315200" cy="2377440"/>
          </a:xfrm>
          <a:prstGeom prst="rect">
            <a:avLst/>
          </a:prstGeom>
          <a:noFill/>
          <a:ln/>
        </p:spPr>
        <p:txBody>
          <a:bodyPr wrap="square" lIns="0" tIns="0" rIns="0" bIns="0" rtlCol="0" anchor="t"/>
          <a:lstStyle/>
          <a:p>
            <a:pPr marL="228600" indent="-228600">
              <a:spcAft>
                <a:spcPts val="800"/>
              </a:spcAft>
              <a:buSzPct val="100000"/>
              <a:buChar char="•"/>
            </a:pPr>
            <a:r>
              <a:rPr lang="en-US" sz="2200" dirty="0">
                <a:solidFill>
                  <a:srgbClr val="16181D"/>
                </a:solidFill>
                <a:latin typeface="Calibri" pitchFamily="34" charset="0"/>
                <a:ea typeface="Calibri" pitchFamily="34" charset="-122"/>
                <a:cs typeface="Calibri" pitchFamily="34" charset="-120"/>
              </a:rPr>
              <a:t>Votre métier et votre expérience en développement</a:t>
            </a:r>
            <a:endParaRPr lang="en-US" sz="2200" dirty="0"/>
          </a:p>
          <a:p>
            <a:pPr marL="228600" indent="-228600">
              <a:spcAft>
                <a:spcPts val="800"/>
              </a:spcAft>
              <a:buSzPct val="100000"/>
              <a:buChar char="•"/>
            </a:pPr>
            <a:r>
              <a:rPr lang="en-US" sz="2200" dirty="0">
                <a:solidFill>
                  <a:srgbClr val="16181D"/>
                </a:solidFill>
                <a:latin typeface="Calibri" pitchFamily="34" charset="0"/>
                <a:ea typeface="Calibri" pitchFamily="34" charset="-122"/>
                <a:cs typeface="Calibri" pitchFamily="34" charset="-120"/>
              </a:rPr>
              <a:t>Votre usage de l'IA, et la politique de votre employeur</a:t>
            </a:r>
            <a:endParaRPr lang="en-US" sz="2200" dirty="0"/>
          </a:p>
          <a:p>
            <a:pPr marL="228600" indent="-228600">
              <a:spcAft>
                <a:spcPts val="800"/>
              </a:spcAft>
              <a:buSzPct val="100000"/>
              <a:buChar char="•"/>
            </a:pPr>
            <a:r>
              <a:rPr lang="en-US" sz="2200" dirty="0">
                <a:solidFill>
                  <a:srgbClr val="16181D"/>
                </a:solidFill>
                <a:latin typeface="Calibri" pitchFamily="34" charset="0"/>
                <a:ea typeface="Calibri" pitchFamily="34" charset="-122"/>
                <a:cs typeface="Calibri" pitchFamily="34" charset="-120"/>
              </a:rPr>
              <a:t>Votre choix de parcours : Apprendre ou Approfondir</a:t>
            </a:r>
            <a:endParaRPr lang="en-US" sz="2200" dirty="0"/>
          </a:p>
          <a:p>
            <a:pPr marL="228600" indent="-228600">
              <a:spcAft>
                <a:spcPts val="800"/>
              </a:spcAft>
              <a:buSzPct val="100000"/>
              <a:buChar char="•"/>
            </a:pPr>
            <a:r>
              <a:rPr lang="en-US" sz="2200" dirty="0">
                <a:solidFill>
                  <a:srgbClr val="16181D"/>
                </a:solidFill>
                <a:latin typeface="Calibri" pitchFamily="34" charset="0"/>
                <a:ea typeface="Calibri" pitchFamily="34" charset="-122"/>
                <a:cs typeface="Calibri" pitchFamily="34" charset="-120"/>
              </a:rPr>
              <a:t>Votre poste de travail : système, droits d'installation</a:t>
            </a:r>
            <a:endParaRPr lang="en-US" sz="2200" dirty="0"/>
          </a:p>
        </p:txBody>
      </p:sp>
      <p:sp>
        <p:nvSpPr>
          <p:cNvPr id="10" name="Shape 7"/>
          <p:cNvSpPr/>
          <p:nvPr/>
        </p:nvSpPr>
        <p:spPr>
          <a:xfrm>
            <a:off x="8412480" y="2834640"/>
            <a:ext cx="3108960" cy="2286000"/>
          </a:xfrm>
          <a:prstGeom prst="roundRect">
            <a:avLst>
              <a:gd name="adj" fmla="val 3200"/>
            </a:avLst>
          </a:prstGeom>
          <a:solidFill>
            <a:srgbClr val="F2F3F5"/>
          </a:solidFill>
          <a:ln w="12700">
            <a:solidFill>
              <a:srgbClr val="F2F3F5"/>
            </a:solidFill>
            <a:prstDash val="solid"/>
          </a:ln>
        </p:spPr>
        <p:txBody>
          <a:bodyPr/>
          <a:lstStyle/>
          <a:p>
            <a:endParaRPr lang="fr-BE"/>
          </a:p>
        </p:txBody>
      </p:sp>
      <p:sp>
        <p:nvSpPr>
          <p:cNvPr id="11" name="Text 8"/>
          <p:cNvSpPr txBox="1"/>
          <p:nvPr/>
        </p:nvSpPr>
        <p:spPr>
          <a:xfrm>
            <a:off x="8641080" y="2971800"/>
            <a:ext cx="2651760" cy="2011680"/>
          </a:xfrm>
          <a:prstGeom prst="rect">
            <a:avLst/>
          </a:prstGeom>
          <a:noFill/>
          <a:ln/>
        </p:spPr>
        <p:txBody>
          <a:bodyPr wrap="square" lIns="0" tIns="0" rIns="0" bIns="0" rtlCol="0" anchor="t"/>
          <a:lstStyle/>
          <a:p>
            <a:pPr marL="0" indent="0">
              <a:buNone/>
            </a:pPr>
            <a:r>
              <a:rPr lang="en-US" sz="1600" dirty="0">
                <a:solidFill>
                  <a:srgbClr val="16181D"/>
                </a:solidFill>
                <a:latin typeface="Calibri" pitchFamily="34" charset="0"/>
                <a:ea typeface="Calibri" pitchFamily="34" charset="-122"/>
                <a:cs typeface="Calibri" pitchFamily="34" charset="-120"/>
              </a:rPr>
              <a:t>Nominatif.</a:t>
            </a:r>
            <a:endParaRPr lang="en-US" sz="1600" dirty="0"/>
          </a:p>
          <a:p>
            <a:pPr marL="0" indent="0">
              <a:buNone/>
            </a:pPr>
            <a:r>
              <a:rPr lang="en-US" sz="1600" dirty="0">
                <a:solidFill>
                  <a:srgbClr val="16181D"/>
                </a:solidFill>
                <a:latin typeface="Calibri" pitchFamily="34" charset="0"/>
                <a:ea typeface="Calibri" pitchFamily="34" charset="-122"/>
                <a:cs typeface="Calibri" pitchFamily="34" charset="-120"/>
              </a:rPr>
              <a:t>Il me sert à former les groupes et à régler le niveau. Il n'est pas noté.</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6181D"/>
        </a:solidFill>
        <a:effectLst/>
      </p:bgPr>
    </p:bg>
    <p:spTree>
      <p:nvGrpSpPr>
        <p:cNvPr id="1" name=""/>
        <p:cNvGrpSpPr/>
        <p:nvPr/>
      </p:nvGrpSpPr>
      <p:grpSpPr>
        <a:xfrm>
          <a:off x="0" y="0"/>
          <a:ext cx="0" cy="0"/>
          <a:chOff x="0" y="0"/>
          <a:chExt cx="0" cy="0"/>
        </a:xfrm>
      </p:grpSpPr>
      <p:sp>
        <p:nvSpPr>
          <p:cNvPr id="2" name="Text 0"/>
          <p:cNvSpPr txBox="1"/>
          <p:nvPr/>
        </p:nvSpPr>
        <p:spPr>
          <a:xfrm>
            <a:off x="640080" y="1463040"/>
            <a:ext cx="2743200" cy="1280160"/>
          </a:xfrm>
          <a:prstGeom prst="rect">
            <a:avLst/>
          </a:prstGeom>
          <a:noFill/>
          <a:ln/>
        </p:spPr>
        <p:txBody>
          <a:bodyPr wrap="square" lIns="0" tIns="0" rIns="0" bIns="0" rtlCol="0" anchor="ctr"/>
          <a:lstStyle/>
          <a:p>
            <a:pPr marL="0" indent="0">
              <a:buNone/>
            </a:pPr>
            <a:r>
              <a:rPr lang="en-US" sz="9600" b="1" dirty="0">
                <a:solidFill>
                  <a:srgbClr val="E8590C"/>
                </a:solidFill>
                <a:latin typeface="Arial" pitchFamily="34" charset="0"/>
                <a:ea typeface="Arial" pitchFamily="34" charset="-122"/>
                <a:cs typeface="Arial" pitchFamily="34" charset="-120"/>
              </a:rPr>
              <a:t>01</a:t>
            </a:r>
            <a:endParaRPr lang="en-US" sz="9600" dirty="0"/>
          </a:p>
        </p:txBody>
      </p:sp>
      <p:sp>
        <p:nvSpPr>
          <p:cNvPr id="3" name="Text 1"/>
          <p:cNvSpPr txBox="1"/>
          <p:nvPr/>
        </p:nvSpPr>
        <p:spPr>
          <a:xfrm>
            <a:off x="640080" y="2834640"/>
            <a:ext cx="10911535" cy="1005840"/>
          </a:xfrm>
          <a:prstGeom prst="rect">
            <a:avLst/>
          </a:prstGeom>
          <a:noFill/>
          <a:ln/>
        </p:spPr>
        <p:txBody>
          <a:bodyPr wrap="square" lIns="0" tIns="0" rIns="0" bIns="0" rtlCol="0" anchor="ctr"/>
          <a:lstStyle/>
          <a:p>
            <a:pPr marL="0" indent="0">
              <a:buNone/>
            </a:pPr>
            <a:r>
              <a:rPr lang="en-US" sz="4400" b="1" dirty="0">
                <a:solidFill>
                  <a:srgbClr val="FFFFFF"/>
                </a:solidFill>
                <a:latin typeface="Arial" pitchFamily="34" charset="0"/>
                <a:ea typeface="Arial" pitchFamily="34" charset="-122"/>
                <a:cs typeface="Arial" pitchFamily="34" charset="-120"/>
              </a:rPr>
              <a:t>Le cours</a:t>
            </a:r>
            <a:endParaRPr lang="en-US" sz="4400" dirty="0"/>
          </a:p>
        </p:txBody>
      </p:sp>
      <p:sp>
        <p:nvSpPr>
          <p:cNvPr id="4" name="Text 2"/>
          <p:cNvSpPr txBox="1"/>
          <p:nvPr/>
        </p:nvSpPr>
        <p:spPr>
          <a:xfrm>
            <a:off x="640080" y="3840480"/>
            <a:ext cx="10911535" cy="731520"/>
          </a:xfrm>
          <a:prstGeom prst="rect">
            <a:avLst/>
          </a:prstGeom>
          <a:noFill/>
          <a:ln/>
        </p:spPr>
        <p:txBody>
          <a:bodyPr wrap="square" lIns="0" tIns="0" rIns="0" bIns="0" rtlCol="0" anchor="ctr"/>
          <a:lstStyle/>
          <a:p>
            <a:pPr marL="0" indent="0">
              <a:buNone/>
            </a:pPr>
            <a:r>
              <a:rPr lang="en-US" sz="2000" dirty="0">
                <a:solidFill>
                  <a:srgbClr val="C9CDD3"/>
                </a:solidFill>
                <a:latin typeface="Calibri" pitchFamily="34" charset="0"/>
                <a:ea typeface="Calibri" pitchFamily="34" charset="-122"/>
                <a:cs typeface="Calibri" pitchFamily="34" charset="-120"/>
              </a:rPr>
              <a:t>Pourquoi IncidentHub, où ça mène, comment vous êtes évalués</a:t>
            </a:r>
            <a:endParaRPr lang="en-US" sz="20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9AA0A8"/>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9AA0A8"/>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LE CONTEXTE</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Pourquoi une application de gestion d'incidents ?</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28</a:t>
            </a:r>
            <a:endParaRPr lang="en-US" sz="1000" dirty="0"/>
          </a:p>
        </p:txBody>
      </p:sp>
      <p:sp>
        <p:nvSpPr>
          <p:cNvPr id="8" name="Text 5"/>
          <p:cNvSpPr txBox="1"/>
          <p:nvPr/>
        </p:nvSpPr>
        <p:spPr>
          <a:xfrm>
            <a:off x="640080" y="1691640"/>
            <a:ext cx="10911535" cy="457200"/>
          </a:xfrm>
          <a:prstGeom prst="rect">
            <a:avLst/>
          </a:prstGeom>
          <a:noFill/>
          <a:ln/>
        </p:spPr>
        <p:txBody>
          <a:bodyPr wrap="square" lIns="0" tIns="0" rIns="0" bIns="0" rtlCol="0" anchor="ctr"/>
          <a:lstStyle/>
          <a:p>
            <a:pPr marL="0" indent="0">
              <a:buNone/>
            </a:pPr>
            <a:r>
              <a:rPr lang="en-US" sz="1700" dirty="0">
                <a:solidFill>
                  <a:srgbClr val="5F6670"/>
                </a:solidFill>
                <a:latin typeface="Calibri" pitchFamily="34" charset="0"/>
                <a:ea typeface="Calibri" pitchFamily="34" charset="-122"/>
                <a:cs typeface="Calibri" pitchFamily="34" charset="-120"/>
              </a:rPr>
              <a:t>Loi NIS2 belge, en vigueur depuis le 18 octobre 2024 : un incident significatif doit être notifié au CCB.</a:t>
            </a:r>
            <a:endParaRPr lang="en-US" sz="1700" dirty="0"/>
          </a:p>
        </p:txBody>
      </p:sp>
      <p:sp>
        <p:nvSpPr>
          <p:cNvPr id="9" name="Shape 6"/>
          <p:cNvSpPr/>
          <p:nvPr/>
        </p:nvSpPr>
        <p:spPr>
          <a:xfrm>
            <a:off x="822960" y="2788920"/>
            <a:ext cx="8092440" cy="0"/>
          </a:xfrm>
          <a:prstGeom prst="line">
            <a:avLst/>
          </a:prstGeom>
          <a:noFill/>
          <a:ln w="25400">
            <a:solidFill>
              <a:srgbClr val="16181D"/>
            </a:solidFill>
            <a:prstDash val="solid"/>
            <a:tailEnd type="triangle"/>
          </a:ln>
        </p:spPr>
        <p:txBody>
          <a:bodyPr/>
          <a:lstStyle/>
          <a:p>
            <a:endParaRPr lang="fr-BE"/>
          </a:p>
        </p:txBody>
      </p:sp>
      <p:sp>
        <p:nvSpPr>
          <p:cNvPr id="10" name="Shape 7"/>
          <p:cNvSpPr/>
          <p:nvPr/>
        </p:nvSpPr>
        <p:spPr>
          <a:xfrm>
            <a:off x="685800" y="2560320"/>
            <a:ext cx="457200" cy="457200"/>
          </a:xfrm>
          <a:prstGeom prst="ellipse">
            <a:avLst/>
          </a:prstGeom>
          <a:solidFill>
            <a:srgbClr val="16181D"/>
          </a:solidFill>
          <a:ln w="25400">
            <a:solidFill>
              <a:srgbClr val="FFFFFF"/>
            </a:solidFill>
            <a:prstDash val="solid"/>
          </a:ln>
        </p:spPr>
        <p:txBody>
          <a:bodyPr/>
          <a:lstStyle/>
          <a:p>
            <a:endParaRPr lang="fr-BE"/>
          </a:p>
        </p:txBody>
      </p:sp>
      <p:sp>
        <p:nvSpPr>
          <p:cNvPr id="11" name="Text 8"/>
          <p:cNvSpPr txBox="1"/>
          <p:nvPr/>
        </p:nvSpPr>
        <p:spPr>
          <a:xfrm>
            <a:off x="640080" y="3200400"/>
            <a:ext cx="2377440" cy="457200"/>
          </a:xfrm>
          <a:prstGeom prst="rect">
            <a:avLst/>
          </a:prstGeom>
          <a:noFill/>
          <a:ln/>
        </p:spPr>
        <p:txBody>
          <a:bodyPr wrap="square" lIns="0" tIns="0" rIns="0" bIns="0" rtlCol="0" anchor="ctr"/>
          <a:lstStyle/>
          <a:p>
            <a:pPr marL="0" indent="0">
              <a:buNone/>
            </a:pPr>
            <a:r>
              <a:rPr lang="en-US" sz="2400" b="1" dirty="0">
                <a:solidFill>
                  <a:srgbClr val="16181D"/>
                </a:solidFill>
                <a:latin typeface="Arial" pitchFamily="34" charset="0"/>
                <a:ea typeface="Arial" pitchFamily="34" charset="-122"/>
                <a:cs typeface="Arial" pitchFamily="34" charset="-120"/>
              </a:rPr>
              <a:t>T0</a:t>
            </a:r>
            <a:endParaRPr lang="en-US" sz="2400" dirty="0"/>
          </a:p>
        </p:txBody>
      </p:sp>
      <p:sp>
        <p:nvSpPr>
          <p:cNvPr id="12" name="Text 9"/>
          <p:cNvSpPr txBox="1"/>
          <p:nvPr/>
        </p:nvSpPr>
        <p:spPr>
          <a:xfrm>
            <a:off x="640080" y="3657600"/>
            <a:ext cx="2377440" cy="548640"/>
          </a:xfrm>
          <a:prstGeom prst="rect">
            <a:avLst/>
          </a:prstGeom>
          <a:noFill/>
          <a:ln/>
        </p:spPr>
        <p:txBody>
          <a:bodyPr wrap="square" lIns="0" tIns="0" rIns="0" bIns="0" rtlCol="0" anchor="ctr"/>
          <a:lstStyle/>
          <a:p>
            <a:pPr marL="0" indent="0">
              <a:buNone/>
            </a:pPr>
            <a:r>
              <a:rPr lang="en-US" sz="1600" dirty="0">
                <a:solidFill>
                  <a:srgbClr val="16181D"/>
                </a:solidFill>
                <a:latin typeface="Calibri" pitchFamily="34" charset="0"/>
                <a:ea typeface="Calibri" pitchFamily="34" charset="-122"/>
                <a:cs typeface="Calibri" pitchFamily="34" charset="-120"/>
              </a:rPr>
              <a:t>L'incident est détecté</a:t>
            </a:r>
            <a:endParaRPr lang="en-US" sz="1600" dirty="0"/>
          </a:p>
        </p:txBody>
      </p:sp>
      <p:sp>
        <p:nvSpPr>
          <p:cNvPr id="13" name="Shape 10"/>
          <p:cNvSpPr/>
          <p:nvPr/>
        </p:nvSpPr>
        <p:spPr>
          <a:xfrm>
            <a:off x="3383280" y="2560320"/>
            <a:ext cx="457200" cy="457200"/>
          </a:xfrm>
          <a:prstGeom prst="ellipse">
            <a:avLst/>
          </a:prstGeom>
          <a:solidFill>
            <a:srgbClr val="E8590C"/>
          </a:solidFill>
          <a:ln w="25400">
            <a:solidFill>
              <a:srgbClr val="FFFFFF"/>
            </a:solidFill>
            <a:prstDash val="solid"/>
          </a:ln>
        </p:spPr>
        <p:txBody>
          <a:bodyPr/>
          <a:lstStyle/>
          <a:p>
            <a:endParaRPr lang="fr-BE"/>
          </a:p>
        </p:txBody>
      </p:sp>
      <p:sp>
        <p:nvSpPr>
          <p:cNvPr id="14" name="Text 11"/>
          <p:cNvSpPr txBox="1"/>
          <p:nvPr/>
        </p:nvSpPr>
        <p:spPr>
          <a:xfrm>
            <a:off x="3337560" y="3200400"/>
            <a:ext cx="2377440" cy="457200"/>
          </a:xfrm>
          <a:prstGeom prst="rect">
            <a:avLst/>
          </a:prstGeom>
          <a:noFill/>
          <a:ln/>
        </p:spPr>
        <p:txBody>
          <a:bodyPr wrap="square" lIns="0" tIns="0" rIns="0" bIns="0" rtlCol="0" anchor="ctr"/>
          <a:lstStyle/>
          <a:p>
            <a:pPr marL="0" indent="0">
              <a:buNone/>
            </a:pPr>
            <a:r>
              <a:rPr lang="en-US" sz="2400" b="1" dirty="0">
                <a:solidFill>
                  <a:srgbClr val="E8590C"/>
                </a:solidFill>
                <a:latin typeface="Arial" pitchFamily="34" charset="0"/>
                <a:ea typeface="Arial" pitchFamily="34" charset="-122"/>
                <a:cs typeface="Arial" pitchFamily="34" charset="-120"/>
              </a:rPr>
              <a:t>24 h</a:t>
            </a:r>
            <a:endParaRPr lang="en-US" sz="2400" dirty="0"/>
          </a:p>
        </p:txBody>
      </p:sp>
      <p:sp>
        <p:nvSpPr>
          <p:cNvPr id="15" name="Text 12"/>
          <p:cNvSpPr txBox="1"/>
          <p:nvPr/>
        </p:nvSpPr>
        <p:spPr>
          <a:xfrm>
            <a:off x="3337560" y="3657600"/>
            <a:ext cx="2377440" cy="548640"/>
          </a:xfrm>
          <a:prstGeom prst="rect">
            <a:avLst/>
          </a:prstGeom>
          <a:noFill/>
          <a:ln/>
        </p:spPr>
        <p:txBody>
          <a:bodyPr wrap="square" lIns="0" tIns="0" rIns="0" bIns="0" rtlCol="0" anchor="ctr"/>
          <a:lstStyle/>
          <a:p>
            <a:pPr marL="0" indent="0">
              <a:buNone/>
            </a:pPr>
            <a:r>
              <a:rPr lang="en-US" sz="1600" dirty="0">
                <a:solidFill>
                  <a:srgbClr val="16181D"/>
                </a:solidFill>
                <a:latin typeface="Calibri" pitchFamily="34" charset="0"/>
                <a:ea typeface="Calibri" pitchFamily="34" charset="-122"/>
                <a:cs typeface="Calibri" pitchFamily="34" charset="-120"/>
              </a:rPr>
              <a:t>Alerte précoce au CCB</a:t>
            </a:r>
            <a:endParaRPr lang="en-US" sz="1600" dirty="0"/>
          </a:p>
        </p:txBody>
      </p:sp>
      <p:sp>
        <p:nvSpPr>
          <p:cNvPr id="16" name="Shape 13"/>
          <p:cNvSpPr/>
          <p:nvPr/>
        </p:nvSpPr>
        <p:spPr>
          <a:xfrm>
            <a:off x="6080760" y="2560320"/>
            <a:ext cx="457200" cy="457200"/>
          </a:xfrm>
          <a:prstGeom prst="ellipse">
            <a:avLst/>
          </a:prstGeom>
          <a:solidFill>
            <a:srgbClr val="E8590C"/>
          </a:solidFill>
          <a:ln w="25400">
            <a:solidFill>
              <a:srgbClr val="FFFFFF"/>
            </a:solidFill>
            <a:prstDash val="solid"/>
          </a:ln>
        </p:spPr>
        <p:txBody>
          <a:bodyPr/>
          <a:lstStyle/>
          <a:p>
            <a:endParaRPr lang="fr-BE"/>
          </a:p>
        </p:txBody>
      </p:sp>
      <p:sp>
        <p:nvSpPr>
          <p:cNvPr id="17" name="Text 14"/>
          <p:cNvSpPr txBox="1"/>
          <p:nvPr/>
        </p:nvSpPr>
        <p:spPr>
          <a:xfrm>
            <a:off x="6035040" y="3200400"/>
            <a:ext cx="2377440" cy="457200"/>
          </a:xfrm>
          <a:prstGeom prst="rect">
            <a:avLst/>
          </a:prstGeom>
          <a:noFill/>
          <a:ln/>
        </p:spPr>
        <p:txBody>
          <a:bodyPr wrap="square" lIns="0" tIns="0" rIns="0" bIns="0" rtlCol="0" anchor="ctr"/>
          <a:lstStyle/>
          <a:p>
            <a:pPr marL="0" indent="0">
              <a:buNone/>
            </a:pPr>
            <a:r>
              <a:rPr lang="en-US" sz="2400" b="1" dirty="0">
                <a:solidFill>
                  <a:srgbClr val="E8590C"/>
                </a:solidFill>
                <a:latin typeface="Arial" pitchFamily="34" charset="0"/>
                <a:ea typeface="Arial" pitchFamily="34" charset="-122"/>
                <a:cs typeface="Arial" pitchFamily="34" charset="-120"/>
              </a:rPr>
              <a:t>72 h</a:t>
            </a:r>
            <a:endParaRPr lang="en-US" sz="2400" dirty="0"/>
          </a:p>
        </p:txBody>
      </p:sp>
      <p:sp>
        <p:nvSpPr>
          <p:cNvPr id="18" name="Text 15"/>
          <p:cNvSpPr txBox="1"/>
          <p:nvPr/>
        </p:nvSpPr>
        <p:spPr>
          <a:xfrm>
            <a:off x="6035040" y="3657600"/>
            <a:ext cx="2377440" cy="548640"/>
          </a:xfrm>
          <a:prstGeom prst="rect">
            <a:avLst/>
          </a:prstGeom>
          <a:noFill/>
          <a:ln/>
        </p:spPr>
        <p:txBody>
          <a:bodyPr wrap="square" lIns="0" tIns="0" rIns="0" bIns="0" rtlCol="0" anchor="ctr"/>
          <a:lstStyle/>
          <a:p>
            <a:pPr marL="0" indent="0">
              <a:buNone/>
            </a:pPr>
            <a:r>
              <a:rPr lang="en-US" sz="1600" dirty="0">
                <a:solidFill>
                  <a:srgbClr val="16181D"/>
                </a:solidFill>
                <a:latin typeface="Calibri" pitchFamily="34" charset="0"/>
                <a:ea typeface="Calibri" pitchFamily="34" charset="-122"/>
                <a:cs typeface="Calibri" pitchFamily="34" charset="-120"/>
              </a:rPr>
              <a:t>Notification d'incident</a:t>
            </a:r>
            <a:endParaRPr lang="en-US" sz="1600" dirty="0"/>
          </a:p>
        </p:txBody>
      </p:sp>
      <p:sp>
        <p:nvSpPr>
          <p:cNvPr id="19" name="Shape 16"/>
          <p:cNvSpPr/>
          <p:nvPr/>
        </p:nvSpPr>
        <p:spPr>
          <a:xfrm>
            <a:off x="8778240" y="2560320"/>
            <a:ext cx="457200" cy="457200"/>
          </a:xfrm>
          <a:prstGeom prst="ellipse">
            <a:avLst/>
          </a:prstGeom>
          <a:solidFill>
            <a:srgbClr val="E8590C"/>
          </a:solidFill>
          <a:ln w="25400">
            <a:solidFill>
              <a:srgbClr val="FFFFFF"/>
            </a:solidFill>
            <a:prstDash val="solid"/>
          </a:ln>
        </p:spPr>
        <p:txBody>
          <a:bodyPr/>
          <a:lstStyle/>
          <a:p>
            <a:endParaRPr lang="fr-BE"/>
          </a:p>
        </p:txBody>
      </p:sp>
      <p:sp>
        <p:nvSpPr>
          <p:cNvPr id="20" name="Text 17"/>
          <p:cNvSpPr txBox="1"/>
          <p:nvPr/>
        </p:nvSpPr>
        <p:spPr>
          <a:xfrm>
            <a:off x="8732520" y="3200400"/>
            <a:ext cx="2377440" cy="457200"/>
          </a:xfrm>
          <a:prstGeom prst="rect">
            <a:avLst/>
          </a:prstGeom>
          <a:noFill/>
          <a:ln/>
        </p:spPr>
        <p:txBody>
          <a:bodyPr wrap="square" lIns="0" tIns="0" rIns="0" bIns="0" rtlCol="0" anchor="ctr"/>
          <a:lstStyle/>
          <a:p>
            <a:pPr marL="0" indent="0">
              <a:buNone/>
            </a:pPr>
            <a:r>
              <a:rPr lang="en-US" sz="2400" b="1" dirty="0">
                <a:solidFill>
                  <a:srgbClr val="E8590C"/>
                </a:solidFill>
                <a:latin typeface="Arial" pitchFamily="34" charset="0"/>
                <a:ea typeface="Arial" pitchFamily="34" charset="-122"/>
                <a:cs typeface="Arial" pitchFamily="34" charset="-120"/>
              </a:rPr>
              <a:t>1 mois</a:t>
            </a:r>
            <a:endParaRPr lang="en-US" sz="2400" dirty="0"/>
          </a:p>
        </p:txBody>
      </p:sp>
      <p:sp>
        <p:nvSpPr>
          <p:cNvPr id="21" name="Text 18"/>
          <p:cNvSpPr txBox="1"/>
          <p:nvPr/>
        </p:nvSpPr>
        <p:spPr>
          <a:xfrm>
            <a:off x="8732520" y="3657600"/>
            <a:ext cx="2377440" cy="548640"/>
          </a:xfrm>
          <a:prstGeom prst="rect">
            <a:avLst/>
          </a:prstGeom>
          <a:noFill/>
          <a:ln/>
        </p:spPr>
        <p:txBody>
          <a:bodyPr wrap="square" lIns="0" tIns="0" rIns="0" bIns="0" rtlCol="0" anchor="ctr"/>
          <a:lstStyle/>
          <a:p>
            <a:pPr marL="0" indent="0">
              <a:buNone/>
            </a:pPr>
            <a:r>
              <a:rPr lang="en-US" sz="1600" dirty="0">
                <a:solidFill>
                  <a:srgbClr val="16181D"/>
                </a:solidFill>
                <a:latin typeface="Calibri" pitchFamily="34" charset="0"/>
                <a:ea typeface="Calibri" pitchFamily="34" charset="-122"/>
                <a:cs typeface="Calibri" pitchFamily="34" charset="-120"/>
              </a:rPr>
              <a:t>Rapport final</a:t>
            </a:r>
            <a:endParaRPr lang="en-US" sz="1600" dirty="0"/>
          </a:p>
        </p:txBody>
      </p:sp>
      <p:sp>
        <p:nvSpPr>
          <p:cNvPr id="22" name="Shape 19"/>
          <p:cNvSpPr/>
          <p:nvPr/>
        </p:nvSpPr>
        <p:spPr>
          <a:xfrm>
            <a:off x="640080" y="4480560"/>
            <a:ext cx="6309360" cy="1280160"/>
          </a:xfrm>
          <a:prstGeom prst="roundRect">
            <a:avLst>
              <a:gd name="adj" fmla="val 5714"/>
            </a:avLst>
          </a:prstGeom>
          <a:solidFill>
            <a:srgbClr val="F2F3F5"/>
          </a:solidFill>
          <a:ln w="12700">
            <a:solidFill>
              <a:srgbClr val="F2F3F5"/>
            </a:solidFill>
            <a:prstDash val="solid"/>
          </a:ln>
        </p:spPr>
        <p:txBody>
          <a:bodyPr/>
          <a:lstStyle/>
          <a:p>
            <a:endParaRPr lang="fr-BE"/>
          </a:p>
        </p:txBody>
      </p:sp>
      <p:sp>
        <p:nvSpPr>
          <p:cNvPr id="23" name="Text 20"/>
          <p:cNvSpPr txBox="1"/>
          <p:nvPr/>
        </p:nvSpPr>
        <p:spPr>
          <a:xfrm>
            <a:off x="914400" y="4480560"/>
            <a:ext cx="5852160" cy="1280160"/>
          </a:xfrm>
          <a:prstGeom prst="rect">
            <a:avLst/>
          </a:prstGeom>
          <a:noFill/>
          <a:ln/>
        </p:spPr>
        <p:txBody>
          <a:bodyPr wrap="square" lIns="0" tIns="0" rIns="0" bIns="0" rtlCol="0" anchor="ctr"/>
          <a:lstStyle/>
          <a:p>
            <a:pPr marL="0" indent="0">
              <a:buNone/>
            </a:pPr>
            <a:r>
              <a:rPr lang="en-US" sz="1600" b="1" dirty="0">
                <a:solidFill>
                  <a:srgbClr val="16181D"/>
                </a:solidFill>
                <a:latin typeface="Calibri" pitchFamily="34" charset="0"/>
                <a:ea typeface="Calibri" pitchFamily="34" charset="-122"/>
                <a:cs typeface="Calibri" pitchFamily="34" charset="-120"/>
              </a:rPr>
              <a:t>Et le RGPD (art. 33) : </a:t>
            </a:r>
            <a:r>
              <a:rPr lang="en-US" sz="1600" dirty="0">
                <a:solidFill>
                  <a:srgbClr val="16181D"/>
                </a:solidFill>
                <a:latin typeface="Calibri" pitchFamily="34" charset="0"/>
                <a:ea typeface="Calibri" pitchFamily="34" charset="-122"/>
                <a:cs typeface="Calibri" pitchFamily="34" charset="-120"/>
              </a:rPr>
              <a:t>une fuite de données personnelles doit être notifiée à l'Autorité de protection des données en 72 h.</a:t>
            </a:r>
            <a:endParaRPr lang="en-US" sz="1600" dirty="0"/>
          </a:p>
        </p:txBody>
      </p:sp>
      <p:sp>
        <p:nvSpPr>
          <p:cNvPr id="24" name="Shape 21"/>
          <p:cNvSpPr/>
          <p:nvPr/>
        </p:nvSpPr>
        <p:spPr>
          <a:xfrm>
            <a:off x="7223760" y="4480560"/>
            <a:ext cx="4297680" cy="1280160"/>
          </a:xfrm>
          <a:prstGeom prst="roundRect">
            <a:avLst>
              <a:gd name="adj" fmla="val 5714"/>
            </a:avLst>
          </a:prstGeom>
          <a:solidFill>
            <a:srgbClr val="16181D"/>
          </a:solidFill>
          <a:ln w="12700">
            <a:solidFill>
              <a:srgbClr val="16181D"/>
            </a:solidFill>
            <a:prstDash val="solid"/>
          </a:ln>
        </p:spPr>
        <p:txBody>
          <a:bodyPr/>
          <a:lstStyle/>
          <a:p>
            <a:endParaRPr lang="fr-BE"/>
          </a:p>
        </p:txBody>
      </p:sp>
      <p:sp>
        <p:nvSpPr>
          <p:cNvPr id="25" name="Text 22"/>
          <p:cNvSpPr txBox="1"/>
          <p:nvPr/>
        </p:nvSpPr>
        <p:spPr>
          <a:xfrm>
            <a:off x="7452360" y="4480560"/>
            <a:ext cx="3931920" cy="12801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Sans outil qui trace qui, quoi, quand : impossible de tenir ces délais.</a:t>
            </a:r>
            <a:endParaRPr lang="en-US" sz="1600" dirty="0"/>
          </a:p>
        </p:txBody>
      </p:sp>
      <p:sp>
        <p:nvSpPr>
          <p:cNvPr id="26" name="Text 23"/>
          <p:cNvSpPr txBox="1"/>
          <p:nvPr/>
        </p:nvSpPr>
        <p:spPr>
          <a:xfrm>
            <a:off x="640080" y="5989320"/>
            <a:ext cx="10911535" cy="320040"/>
          </a:xfrm>
          <a:prstGeom prst="rect">
            <a:avLst/>
          </a:prstGeom>
          <a:noFill/>
          <a:ln/>
        </p:spPr>
        <p:txBody>
          <a:bodyPr wrap="square" lIns="0" tIns="0" rIns="0" bIns="0" rtlCol="0" anchor="ctr"/>
          <a:lstStyle/>
          <a:p>
            <a:pPr marL="0" indent="0">
              <a:buNone/>
            </a:pPr>
            <a:r>
              <a:rPr lang="en-US" sz="1000" i="1" dirty="0">
                <a:solidFill>
                  <a:srgbClr val="5F6670"/>
                </a:solidFill>
                <a:latin typeface="Calibri" pitchFamily="34" charset="0"/>
                <a:ea typeface="Calibri" pitchFamily="34" charset="-122"/>
                <a:cs typeface="Calibri" pitchFamily="34" charset="-120"/>
              </a:rPr>
              <a:t>Source : Loi du 26 avril 2024 (transposition de la directive (UE) 2022/2555) ; CCB, Guide sur les notifications NIS2 v1.3 (08/2025) ; RGPD art. 33.</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LE CONTEXTE</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Ces outils existent. Vous les utilisez peut-être déjà.</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29</a:t>
            </a:r>
            <a:endParaRPr lang="en-US" sz="1000" dirty="0"/>
          </a:p>
        </p:txBody>
      </p:sp>
      <p:sp>
        <p:nvSpPr>
          <p:cNvPr id="8" name="Shape 5"/>
          <p:cNvSpPr/>
          <p:nvPr/>
        </p:nvSpPr>
        <p:spPr>
          <a:xfrm>
            <a:off x="640080" y="1828800"/>
            <a:ext cx="5303520" cy="1371600"/>
          </a:xfrm>
          <a:prstGeom prst="roundRect">
            <a:avLst>
              <a:gd name="adj" fmla="val 5333"/>
            </a:avLst>
          </a:prstGeom>
          <a:solidFill>
            <a:srgbClr val="F2F3F5"/>
          </a:solidFill>
          <a:ln w="12700">
            <a:solidFill>
              <a:srgbClr val="F2F3F5"/>
            </a:solidFill>
            <a:prstDash val="solid"/>
          </a:ln>
        </p:spPr>
        <p:txBody>
          <a:bodyPr/>
          <a:lstStyle/>
          <a:p>
            <a:endParaRPr lang="fr-BE"/>
          </a:p>
        </p:txBody>
      </p:sp>
      <p:sp>
        <p:nvSpPr>
          <p:cNvPr id="9" name="Text 6"/>
          <p:cNvSpPr txBox="1"/>
          <p:nvPr/>
        </p:nvSpPr>
        <p:spPr>
          <a:xfrm>
            <a:off x="960120" y="2011680"/>
            <a:ext cx="4663440" cy="411480"/>
          </a:xfrm>
          <a:prstGeom prst="rect">
            <a:avLst/>
          </a:prstGeom>
          <a:noFill/>
          <a:ln/>
        </p:spPr>
        <p:txBody>
          <a:bodyPr wrap="square" lIns="0" tIns="0" rIns="0" bIns="0" rtlCol="0" anchor="ctr"/>
          <a:lstStyle/>
          <a:p>
            <a:pPr marL="0" indent="0">
              <a:buNone/>
            </a:pPr>
            <a:r>
              <a:rPr lang="en-US" sz="2000" b="1" dirty="0">
                <a:solidFill>
                  <a:srgbClr val="16181D"/>
                </a:solidFill>
                <a:latin typeface="Arial" pitchFamily="34" charset="0"/>
                <a:ea typeface="Arial" pitchFamily="34" charset="-122"/>
                <a:cs typeface="Arial" pitchFamily="34" charset="-120"/>
              </a:rPr>
              <a:t>GLPI</a:t>
            </a:r>
            <a:endParaRPr lang="en-US" sz="2000" dirty="0"/>
          </a:p>
        </p:txBody>
      </p:sp>
      <p:sp>
        <p:nvSpPr>
          <p:cNvPr id="10" name="Text 7"/>
          <p:cNvSpPr txBox="1"/>
          <p:nvPr/>
        </p:nvSpPr>
        <p:spPr>
          <a:xfrm>
            <a:off x="960120" y="2468880"/>
            <a:ext cx="4663440" cy="640080"/>
          </a:xfrm>
          <a:prstGeom prst="rect">
            <a:avLst/>
          </a:prstGeom>
          <a:noFill/>
          <a:ln/>
        </p:spPr>
        <p:txBody>
          <a:bodyPr wrap="square" lIns="0" tIns="0" rIns="0" bIns="0" rtlCol="0" anchor="t"/>
          <a:lstStyle/>
          <a:p>
            <a:pPr marL="0" indent="0">
              <a:buNone/>
            </a:pPr>
            <a:r>
              <a:rPr lang="en-US" sz="1500" dirty="0">
                <a:solidFill>
                  <a:srgbClr val="5F6670"/>
                </a:solidFill>
                <a:latin typeface="Calibri" pitchFamily="34" charset="0"/>
                <a:ea typeface="Calibri" pitchFamily="34" charset="-122"/>
                <a:cs typeface="Calibri" pitchFamily="34" charset="-120"/>
              </a:rPr>
              <a:t>Gestion de parc et helpdesk, open source, très répandu dans les administrations et les PME.</a:t>
            </a:r>
            <a:endParaRPr lang="en-US" sz="1500" dirty="0"/>
          </a:p>
        </p:txBody>
      </p:sp>
      <p:sp>
        <p:nvSpPr>
          <p:cNvPr id="11" name="Shape 8"/>
          <p:cNvSpPr/>
          <p:nvPr/>
        </p:nvSpPr>
        <p:spPr>
          <a:xfrm>
            <a:off x="6217920" y="1828800"/>
            <a:ext cx="5303520" cy="1371600"/>
          </a:xfrm>
          <a:prstGeom prst="roundRect">
            <a:avLst>
              <a:gd name="adj" fmla="val 5333"/>
            </a:avLst>
          </a:prstGeom>
          <a:solidFill>
            <a:srgbClr val="F2F3F5"/>
          </a:solidFill>
          <a:ln w="12700">
            <a:solidFill>
              <a:srgbClr val="F2F3F5"/>
            </a:solidFill>
            <a:prstDash val="solid"/>
          </a:ln>
        </p:spPr>
        <p:txBody>
          <a:bodyPr/>
          <a:lstStyle/>
          <a:p>
            <a:endParaRPr lang="fr-BE"/>
          </a:p>
        </p:txBody>
      </p:sp>
      <p:sp>
        <p:nvSpPr>
          <p:cNvPr id="12" name="Text 9"/>
          <p:cNvSpPr txBox="1"/>
          <p:nvPr/>
        </p:nvSpPr>
        <p:spPr>
          <a:xfrm>
            <a:off x="6537960" y="2011680"/>
            <a:ext cx="4663440" cy="411480"/>
          </a:xfrm>
          <a:prstGeom prst="rect">
            <a:avLst/>
          </a:prstGeom>
          <a:noFill/>
          <a:ln/>
        </p:spPr>
        <p:txBody>
          <a:bodyPr wrap="square" lIns="0" tIns="0" rIns="0" bIns="0" rtlCol="0" anchor="ctr"/>
          <a:lstStyle/>
          <a:p>
            <a:pPr marL="0" indent="0">
              <a:buNone/>
            </a:pPr>
            <a:r>
              <a:rPr lang="en-US" sz="2000" b="1" dirty="0">
                <a:solidFill>
                  <a:srgbClr val="16181D"/>
                </a:solidFill>
                <a:latin typeface="Arial" pitchFamily="34" charset="0"/>
                <a:ea typeface="Arial" pitchFamily="34" charset="-122"/>
                <a:cs typeface="Arial" pitchFamily="34" charset="-120"/>
              </a:rPr>
              <a:t>ServiceNow</a:t>
            </a:r>
            <a:endParaRPr lang="en-US" sz="2000" dirty="0"/>
          </a:p>
        </p:txBody>
      </p:sp>
      <p:sp>
        <p:nvSpPr>
          <p:cNvPr id="13" name="Text 10"/>
          <p:cNvSpPr txBox="1"/>
          <p:nvPr/>
        </p:nvSpPr>
        <p:spPr>
          <a:xfrm>
            <a:off x="6537960" y="2468880"/>
            <a:ext cx="4663440" cy="640080"/>
          </a:xfrm>
          <a:prstGeom prst="rect">
            <a:avLst/>
          </a:prstGeom>
          <a:noFill/>
          <a:ln/>
        </p:spPr>
        <p:txBody>
          <a:bodyPr wrap="square" lIns="0" tIns="0" rIns="0" bIns="0" rtlCol="0" anchor="t"/>
          <a:lstStyle/>
          <a:p>
            <a:pPr marL="0" indent="0">
              <a:buNone/>
            </a:pPr>
            <a:r>
              <a:rPr lang="en-US" sz="1500" dirty="0">
                <a:solidFill>
                  <a:srgbClr val="5F6670"/>
                </a:solidFill>
                <a:latin typeface="Calibri" pitchFamily="34" charset="0"/>
                <a:ea typeface="Calibri" pitchFamily="34" charset="-122"/>
                <a:cs typeface="Calibri" pitchFamily="34" charset="-120"/>
              </a:rPr>
              <a:t>Gestion des services IT des grandes entreprises (ITSM).</a:t>
            </a:r>
            <a:endParaRPr lang="en-US" sz="1500" dirty="0"/>
          </a:p>
        </p:txBody>
      </p:sp>
      <p:sp>
        <p:nvSpPr>
          <p:cNvPr id="14" name="Shape 11"/>
          <p:cNvSpPr/>
          <p:nvPr/>
        </p:nvSpPr>
        <p:spPr>
          <a:xfrm>
            <a:off x="640080" y="3429000"/>
            <a:ext cx="5303520" cy="1371600"/>
          </a:xfrm>
          <a:prstGeom prst="roundRect">
            <a:avLst>
              <a:gd name="adj" fmla="val 5333"/>
            </a:avLst>
          </a:prstGeom>
          <a:solidFill>
            <a:srgbClr val="F2F3F5"/>
          </a:solidFill>
          <a:ln w="12700">
            <a:solidFill>
              <a:srgbClr val="F2F3F5"/>
            </a:solidFill>
            <a:prstDash val="solid"/>
          </a:ln>
        </p:spPr>
        <p:txBody>
          <a:bodyPr/>
          <a:lstStyle/>
          <a:p>
            <a:endParaRPr lang="fr-BE"/>
          </a:p>
        </p:txBody>
      </p:sp>
      <p:sp>
        <p:nvSpPr>
          <p:cNvPr id="15" name="Text 12"/>
          <p:cNvSpPr txBox="1"/>
          <p:nvPr/>
        </p:nvSpPr>
        <p:spPr>
          <a:xfrm>
            <a:off x="960120" y="3611880"/>
            <a:ext cx="4663440" cy="411480"/>
          </a:xfrm>
          <a:prstGeom prst="rect">
            <a:avLst/>
          </a:prstGeom>
          <a:noFill/>
          <a:ln/>
        </p:spPr>
        <p:txBody>
          <a:bodyPr wrap="square" lIns="0" tIns="0" rIns="0" bIns="0" rtlCol="0" anchor="ctr"/>
          <a:lstStyle/>
          <a:p>
            <a:pPr marL="0" indent="0">
              <a:buNone/>
            </a:pPr>
            <a:r>
              <a:rPr lang="en-US" sz="2000" b="1" dirty="0">
                <a:solidFill>
                  <a:srgbClr val="16181D"/>
                </a:solidFill>
                <a:latin typeface="Arial" pitchFamily="34" charset="0"/>
                <a:ea typeface="Arial" pitchFamily="34" charset="-122"/>
                <a:cs typeface="Arial" pitchFamily="34" charset="-120"/>
              </a:rPr>
              <a:t>Jira Service Management</a:t>
            </a:r>
            <a:endParaRPr lang="en-US" sz="2000" dirty="0"/>
          </a:p>
        </p:txBody>
      </p:sp>
      <p:sp>
        <p:nvSpPr>
          <p:cNvPr id="16" name="Text 13"/>
          <p:cNvSpPr txBox="1"/>
          <p:nvPr/>
        </p:nvSpPr>
        <p:spPr>
          <a:xfrm>
            <a:off x="960120" y="4069080"/>
            <a:ext cx="4663440" cy="640080"/>
          </a:xfrm>
          <a:prstGeom prst="rect">
            <a:avLst/>
          </a:prstGeom>
          <a:noFill/>
          <a:ln/>
        </p:spPr>
        <p:txBody>
          <a:bodyPr wrap="square" lIns="0" tIns="0" rIns="0" bIns="0" rtlCol="0" anchor="t"/>
          <a:lstStyle/>
          <a:p>
            <a:pPr marL="0" indent="0">
              <a:buNone/>
            </a:pPr>
            <a:r>
              <a:rPr lang="en-US" sz="1500" dirty="0">
                <a:solidFill>
                  <a:srgbClr val="5F6670"/>
                </a:solidFill>
                <a:latin typeface="Calibri" pitchFamily="34" charset="0"/>
                <a:ea typeface="Calibri" pitchFamily="34" charset="-122"/>
                <a:cs typeface="Calibri" pitchFamily="34" charset="-120"/>
              </a:rPr>
              <a:t>Support et gestion d'incidents, suite Atlassian.</a:t>
            </a:r>
            <a:endParaRPr lang="en-US" sz="1500" dirty="0"/>
          </a:p>
        </p:txBody>
      </p:sp>
      <p:sp>
        <p:nvSpPr>
          <p:cNvPr id="17" name="Shape 14"/>
          <p:cNvSpPr/>
          <p:nvPr/>
        </p:nvSpPr>
        <p:spPr>
          <a:xfrm>
            <a:off x="6217920" y="3429000"/>
            <a:ext cx="5303520" cy="1371600"/>
          </a:xfrm>
          <a:prstGeom prst="roundRect">
            <a:avLst>
              <a:gd name="adj" fmla="val 5333"/>
            </a:avLst>
          </a:prstGeom>
          <a:solidFill>
            <a:srgbClr val="F2F3F5"/>
          </a:solidFill>
          <a:ln w="12700">
            <a:solidFill>
              <a:srgbClr val="F2F3F5"/>
            </a:solidFill>
            <a:prstDash val="solid"/>
          </a:ln>
        </p:spPr>
        <p:txBody>
          <a:bodyPr/>
          <a:lstStyle/>
          <a:p>
            <a:endParaRPr lang="fr-BE"/>
          </a:p>
        </p:txBody>
      </p:sp>
      <p:sp>
        <p:nvSpPr>
          <p:cNvPr id="18" name="Text 15"/>
          <p:cNvSpPr txBox="1"/>
          <p:nvPr/>
        </p:nvSpPr>
        <p:spPr>
          <a:xfrm>
            <a:off x="6537960" y="3611880"/>
            <a:ext cx="4663440" cy="411480"/>
          </a:xfrm>
          <a:prstGeom prst="rect">
            <a:avLst/>
          </a:prstGeom>
          <a:noFill/>
          <a:ln/>
        </p:spPr>
        <p:txBody>
          <a:bodyPr wrap="square" lIns="0" tIns="0" rIns="0" bIns="0" rtlCol="0" anchor="ctr"/>
          <a:lstStyle/>
          <a:p>
            <a:pPr marL="0" indent="0">
              <a:buNone/>
            </a:pPr>
            <a:r>
              <a:rPr lang="en-US" sz="2000" b="1" dirty="0">
                <a:solidFill>
                  <a:srgbClr val="16181D"/>
                </a:solidFill>
                <a:latin typeface="Arial" pitchFamily="34" charset="0"/>
                <a:ea typeface="Arial" pitchFamily="34" charset="-122"/>
                <a:cs typeface="Arial" pitchFamily="34" charset="-120"/>
              </a:rPr>
              <a:t>TheHive</a:t>
            </a:r>
            <a:endParaRPr lang="en-US" sz="2000" dirty="0"/>
          </a:p>
        </p:txBody>
      </p:sp>
      <p:sp>
        <p:nvSpPr>
          <p:cNvPr id="19" name="Text 16"/>
          <p:cNvSpPr txBox="1"/>
          <p:nvPr/>
        </p:nvSpPr>
        <p:spPr>
          <a:xfrm>
            <a:off x="6537960" y="4069080"/>
            <a:ext cx="4663440" cy="640080"/>
          </a:xfrm>
          <a:prstGeom prst="rect">
            <a:avLst/>
          </a:prstGeom>
          <a:noFill/>
          <a:ln/>
        </p:spPr>
        <p:txBody>
          <a:bodyPr wrap="square" lIns="0" tIns="0" rIns="0" bIns="0" rtlCol="0" anchor="t"/>
          <a:lstStyle/>
          <a:p>
            <a:pPr marL="0" indent="0">
              <a:buNone/>
            </a:pPr>
            <a:r>
              <a:rPr lang="en-US" sz="1500" dirty="0">
                <a:solidFill>
                  <a:srgbClr val="5F6670"/>
                </a:solidFill>
                <a:latin typeface="Calibri" pitchFamily="34" charset="0"/>
                <a:ea typeface="Calibri" pitchFamily="34" charset="-122"/>
                <a:cs typeface="Calibri" pitchFamily="34" charset="-120"/>
              </a:rPr>
              <a:t>Réponse aux incidents de sécurité, utilisé par des SOC.</a:t>
            </a:r>
            <a:endParaRPr lang="en-US" sz="1500" dirty="0"/>
          </a:p>
        </p:txBody>
      </p:sp>
      <p:sp>
        <p:nvSpPr>
          <p:cNvPr id="20" name="Shape 17"/>
          <p:cNvSpPr/>
          <p:nvPr/>
        </p:nvSpPr>
        <p:spPr>
          <a:xfrm>
            <a:off x="640080" y="5166360"/>
            <a:ext cx="10911535" cy="777240"/>
          </a:xfrm>
          <a:prstGeom prst="roundRect">
            <a:avLst>
              <a:gd name="adj" fmla="val 9412"/>
            </a:avLst>
          </a:prstGeom>
          <a:solidFill>
            <a:srgbClr val="16181D"/>
          </a:solidFill>
          <a:ln w="12700">
            <a:solidFill>
              <a:srgbClr val="16181D"/>
            </a:solidFill>
            <a:prstDash val="solid"/>
          </a:ln>
        </p:spPr>
        <p:txBody>
          <a:bodyPr/>
          <a:lstStyle/>
          <a:p>
            <a:endParaRPr lang="fr-BE"/>
          </a:p>
        </p:txBody>
      </p:sp>
      <p:sp>
        <p:nvSpPr>
          <p:cNvPr id="21" name="Text 18"/>
          <p:cNvSpPr txBox="1"/>
          <p:nvPr/>
        </p:nvSpPr>
        <p:spPr>
          <a:xfrm>
            <a:off x="960120" y="5166360"/>
            <a:ext cx="10271455" cy="77724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IncidentHub : une version simple, pour comprendre ce qu'il y a dedans. Et pour pouvoir l'attaquer au Q2.</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LE FIL ROUGE</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IncidentHub : trois rôles</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30</a:t>
            </a:r>
            <a:endParaRPr lang="en-US" sz="1000" dirty="0"/>
          </a:p>
        </p:txBody>
      </p:sp>
      <p:sp>
        <p:nvSpPr>
          <p:cNvPr id="8" name="Shape 5"/>
          <p:cNvSpPr/>
          <p:nvPr/>
        </p:nvSpPr>
        <p:spPr>
          <a:xfrm>
            <a:off x="640080" y="1828800"/>
            <a:ext cx="3474720" cy="2926080"/>
          </a:xfrm>
          <a:prstGeom prst="roundRect">
            <a:avLst>
              <a:gd name="adj" fmla="val 2500"/>
            </a:avLst>
          </a:prstGeom>
          <a:solidFill>
            <a:srgbClr val="F2F3F5"/>
          </a:solidFill>
          <a:ln w="12700">
            <a:solidFill>
              <a:srgbClr val="F2F3F5"/>
            </a:solidFill>
            <a:prstDash val="solid"/>
          </a:ln>
        </p:spPr>
        <p:txBody>
          <a:bodyPr/>
          <a:lstStyle/>
          <a:p>
            <a:endParaRPr lang="fr-BE"/>
          </a:p>
        </p:txBody>
      </p:sp>
      <p:sp>
        <p:nvSpPr>
          <p:cNvPr id="9" name="Shape 6"/>
          <p:cNvSpPr/>
          <p:nvPr/>
        </p:nvSpPr>
        <p:spPr>
          <a:xfrm>
            <a:off x="914400" y="2057400"/>
            <a:ext cx="502920" cy="502920"/>
          </a:xfrm>
          <a:prstGeom prst="ellipse">
            <a:avLst/>
          </a:prstGeom>
          <a:solidFill>
            <a:srgbClr val="16181D"/>
          </a:solidFill>
          <a:ln w="12700">
            <a:solidFill>
              <a:srgbClr val="16181D"/>
            </a:solidFill>
            <a:prstDash val="solid"/>
          </a:ln>
        </p:spPr>
        <p:txBody>
          <a:bodyPr/>
          <a:lstStyle/>
          <a:p>
            <a:endParaRPr lang="fr-BE"/>
          </a:p>
        </p:txBody>
      </p:sp>
      <p:sp>
        <p:nvSpPr>
          <p:cNvPr id="10" name="Text 7"/>
          <p:cNvSpPr txBox="1"/>
          <p:nvPr/>
        </p:nvSpPr>
        <p:spPr>
          <a:xfrm>
            <a:off x="914400" y="20574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11" name="Text 8"/>
          <p:cNvSpPr txBox="1"/>
          <p:nvPr/>
        </p:nvSpPr>
        <p:spPr>
          <a:xfrm>
            <a:off x="1554480" y="2057400"/>
            <a:ext cx="2377440" cy="502920"/>
          </a:xfrm>
          <a:prstGeom prst="rect">
            <a:avLst/>
          </a:prstGeom>
          <a:noFill/>
          <a:ln/>
        </p:spPr>
        <p:txBody>
          <a:bodyPr wrap="square" lIns="0" tIns="0" rIns="0" bIns="0" rtlCol="0" anchor="ctr"/>
          <a:lstStyle/>
          <a:p>
            <a:pPr marL="0" indent="0">
              <a:buNone/>
            </a:pPr>
            <a:r>
              <a:rPr lang="en-US" sz="2000" b="1" dirty="0">
                <a:solidFill>
                  <a:srgbClr val="16181D"/>
                </a:solidFill>
                <a:latin typeface="Arial" pitchFamily="34" charset="0"/>
                <a:ea typeface="Arial" pitchFamily="34" charset="-122"/>
                <a:cs typeface="Arial" pitchFamily="34" charset="-120"/>
              </a:rPr>
              <a:t>Déclarant</a:t>
            </a:r>
            <a:endParaRPr lang="en-US" sz="2000" dirty="0"/>
          </a:p>
        </p:txBody>
      </p:sp>
      <p:sp>
        <p:nvSpPr>
          <p:cNvPr id="12" name="Text 9"/>
          <p:cNvSpPr txBox="1"/>
          <p:nvPr/>
        </p:nvSpPr>
        <p:spPr>
          <a:xfrm>
            <a:off x="914400" y="2788920"/>
            <a:ext cx="2926080" cy="1828800"/>
          </a:xfrm>
          <a:prstGeom prst="rect">
            <a:avLst/>
          </a:prstGeom>
          <a:noFill/>
          <a:ln/>
        </p:spPr>
        <p:txBody>
          <a:bodyPr wrap="square" lIns="0" tIns="0" rIns="0" bIns="0" rtlCol="0" anchor="t"/>
          <a:lstStyle/>
          <a:p>
            <a:pPr marL="0" indent="0">
              <a:buNone/>
            </a:pPr>
            <a:r>
              <a:rPr lang="en-US" sz="1600" dirty="0">
                <a:solidFill>
                  <a:srgbClr val="5F6670"/>
                </a:solidFill>
                <a:latin typeface="Calibri" pitchFamily="34" charset="0"/>
                <a:ea typeface="Calibri" pitchFamily="34" charset="-122"/>
                <a:cs typeface="Calibri" pitchFamily="34" charset="-120"/>
              </a:rPr>
              <a:t>N'importe quel employé. Signale : mail de phishing, poste lent et suspect, clé USB trouvée, fuite de données.</a:t>
            </a:r>
            <a:endParaRPr lang="en-US" sz="1600" dirty="0"/>
          </a:p>
        </p:txBody>
      </p:sp>
      <p:sp>
        <p:nvSpPr>
          <p:cNvPr id="13" name="Shape 10"/>
          <p:cNvSpPr/>
          <p:nvPr/>
        </p:nvSpPr>
        <p:spPr>
          <a:xfrm>
            <a:off x="4343400" y="1828800"/>
            <a:ext cx="3474720" cy="2926080"/>
          </a:xfrm>
          <a:prstGeom prst="roundRect">
            <a:avLst>
              <a:gd name="adj" fmla="val 2500"/>
            </a:avLst>
          </a:prstGeom>
          <a:solidFill>
            <a:srgbClr val="F2F3F5"/>
          </a:solidFill>
          <a:ln w="12700">
            <a:solidFill>
              <a:srgbClr val="F2F3F5"/>
            </a:solidFill>
            <a:prstDash val="solid"/>
          </a:ln>
        </p:spPr>
        <p:txBody>
          <a:bodyPr/>
          <a:lstStyle/>
          <a:p>
            <a:endParaRPr lang="fr-BE"/>
          </a:p>
        </p:txBody>
      </p:sp>
      <p:sp>
        <p:nvSpPr>
          <p:cNvPr id="14" name="Shape 11"/>
          <p:cNvSpPr/>
          <p:nvPr/>
        </p:nvSpPr>
        <p:spPr>
          <a:xfrm>
            <a:off x="4617720" y="2057400"/>
            <a:ext cx="502920" cy="502920"/>
          </a:xfrm>
          <a:prstGeom prst="ellipse">
            <a:avLst/>
          </a:prstGeom>
          <a:solidFill>
            <a:srgbClr val="16181D"/>
          </a:solidFill>
          <a:ln w="12700">
            <a:solidFill>
              <a:srgbClr val="16181D"/>
            </a:solidFill>
            <a:prstDash val="solid"/>
          </a:ln>
        </p:spPr>
        <p:txBody>
          <a:bodyPr/>
          <a:lstStyle/>
          <a:p>
            <a:endParaRPr lang="fr-BE"/>
          </a:p>
        </p:txBody>
      </p:sp>
      <p:sp>
        <p:nvSpPr>
          <p:cNvPr id="15" name="Text 12"/>
          <p:cNvSpPr txBox="1"/>
          <p:nvPr/>
        </p:nvSpPr>
        <p:spPr>
          <a:xfrm>
            <a:off x="4617720" y="20574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6" name="Text 13"/>
          <p:cNvSpPr txBox="1"/>
          <p:nvPr/>
        </p:nvSpPr>
        <p:spPr>
          <a:xfrm>
            <a:off x="5257800" y="2057400"/>
            <a:ext cx="2377440" cy="502920"/>
          </a:xfrm>
          <a:prstGeom prst="rect">
            <a:avLst/>
          </a:prstGeom>
          <a:noFill/>
          <a:ln/>
        </p:spPr>
        <p:txBody>
          <a:bodyPr wrap="square" lIns="0" tIns="0" rIns="0" bIns="0" rtlCol="0" anchor="ctr"/>
          <a:lstStyle/>
          <a:p>
            <a:pPr marL="0" indent="0">
              <a:buNone/>
            </a:pPr>
            <a:r>
              <a:rPr lang="en-US" sz="2000" b="1" dirty="0">
                <a:solidFill>
                  <a:srgbClr val="16181D"/>
                </a:solidFill>
                <a:latin typeface="Arial" pitchFamily="34" charset="0"/>
                <a:ea typeface="Arial" pitchFamily="34" charset="-122"/>
                <a:cs typeface="Arial" pitchFamily="34" charset="-120"/>
              </a:rPr>
              <a:t>Analyste</a:t>
            </a:r>
            <a:endParaRPr lang="en-US" sz="2000" dirty="0"/>
          </a:p>
        </p:txBody>
      </p:sp>
      <p:sp>
        <p:nvSpPr>
          <p:cNvPr id="17" name="Text 14"/>
          <p:cNvSpPr txBox="1"/>
          <p:nvPr/>
        </p:nvSpPr>
        <p:spPr>
          <a:xfrm>
            <a:off x="4617720" y="2788920"/>
            <a:ext cx="2926080" cy="1828800"/>
          </a:xfrm>
          <a:prstGeom prst="rect">
            <a:avLst/>
          </a:prstGeom>
          <a:noFill/>
          <a:ln/>
        </p:spPr>
        <p:txBody>
          <a:bodyPr wrap="square" lIns="0" tIns="0" rIns="0" bIns="0" rtlCol="0" anchor="t"/>
          <a:lstStyle/>
          <a:p>
            <a:pPr marL="0" indent="0">
              <a:buNone/>
            </a:pPr>
            <a:r>
              <a:rPr lang="en-US" sz="1600" dirty="0">
                <a:solidFill>
                  <a:srgbClr val="5F6670"/>
                </a:solidFill>
                <a:latin typeface="Calibri" pitchFamily="34" charset="0"/>
                <a:ea typeface="Calibri" pitchFamily="34" charset="-122"/>
                <a:cs typeface="Calibri" pitchFamily="34" charset="-120"/>
              </a:rPr>
              <a:t>Helpdesk ou SOC. Prend en charge, qualifie la gravité, résout.</a:t>
            </a:r>
            <a:endParaRPr lang="en-US" sz="1600" dirty="0"/>
          </a:p>
        </p:txBody>
      </p:sp>
      <p:sp>
        <p:nvSpPr>
          <p:cNvPr id="18" name="Shape 15"/>
          <p:cNvSpPr/>
          <p:nvPr/>
        </p:nvSpPr>
        <p:spPr>
          <a:xfrm>
            <a:off x="8046720" y="1828800"/>
            <a:ext cx="3474720" cy="2926080"/>
          </a:xfrm>
          <a:prstGeom prst="roundRect">
            <a:avLst>
              <a:gd name="adj" fmla="val 2500"/>
            </a:avLst>
          </a:prstGeom>
          <a:solidFill>
            <a:srgbClr val="F2F3F5"/>
          </a:solidFill>
          <a:ln w="12700">
            <a:solidFill>
              <a:srgbClr val="F2F3F5"/>
            </a:solidFill>
            <a:prstDash val="solid"/>
          </a:ln>
        </p:spPr>
        <p:txBody>
          <a:bodyPr/>
          <a:lstStyle/>
          <a:p>
            <a:endParaRPr lang="fr-BE"/>
          </a:p>
        </p:txBody>
      </p:sp>
      <p:sp>
        <p:nvSpPr>
          <p:cNvPr id="19" name="Shape 16"/>
          <p:cNvSpPr/>
          <p:nvPr/>
        </p:nvSpPr>
        <p:spPr>
          <a:xfrm>
            <a:off x="8321040" y="2057400"/>
            <a:ext cx="502920" cy="502920"/>
          </a:xfrm>
          <a:prstGeom prst="ellipse">
            <a:avLst/>
          </a:prstGeom>
          <a:solidFill>
            <a:srgbClr val="16181D"/>
          </a:solidFill>
          <a:ln w="12700">
            <a:solidFill>
              <a:srgbClr val="16181D"/>
            </a:solidFill>
            <a:prstDash val="solid"/>
          </a:ln>
        </p:spPr>
        <p:txBody>
          <a:bodyPr/>
          <a:lstStyle/>
          <a:p>
            <a:endParaRPr lang="fr-BE"/>
          </a:p>
        </p:txBody>
      </p:sp>
      <p:sp>
        <p:nvSpPr>
          <p:cNvPr id="20" name="Text 17"/>
          <p:cNvSpPr txBox="1"/>
          <p:nvPr/>
        </p:nvSpPr>
        <p:spPr>
          <a:xfrm>
            <a:off x="8321040" y="20574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21" name="Text 18"/>
          <p:cNvSpPr txBox="1"/>
          <p:nvPr/>
        </p:nvSpPr>
        <p:spPr>
          <a:xfrm>
            <a:off x="8961120" y="2057400"/>
            <a:ext cx="2377440" cy="502920"/>
          </a:xfrm>
          <a:prstGeom prst="rect">
            <a:avLst/>
          </a:prstGeom>
          <a:noFill/>
          <a:ln/>
        </p:spPr>
        <p:txBody>
          <a:bodyPr wrap="square" lIns="0" tIns="0" rIns="0" bIns="0" rtlCol="0" anchor="ctr"/>
          <a:lstStyle/>
          <a:p>
            <a:pPr marL="0" indent="0">
              <a:buNone/>
            </a:pPr>
            <a:r>
              <a:rPr lang="en-US" sz="2000" b="1" dirty="0">
                <a:solidFill>
                  <a:srgbClr val="16181D"/>
                </a:solidFill>
                <a:latin typeface="Arial" pitchFamily="34" charset="0"/>
                <a:ea typeface="Arial" pitchFamily="34" charset="-122"/>
                <a:cs typeface="Arial" pitchFamily="34" charset="-120"/>
              </a:rPr>
              <a:t>Responsable</a:t>
            </a:r>
            <a:endParaRPr lang="en-US" sz="2000" dirty="0"/>
          </a:p>
        </p:txBody>
      </p:sp>
      <p:sp>
        <p:nvSpPr>
          <p:cNvPr id="22" name="Text 19"/>
          <p:cNvSpPr txBox="1"/>
          <p:nvPr/>
        </p:nvSpPr>
        <p:spPr>
          <a:xfrm>
            <a:off x="8321040" y="2788920"/>
            <a:ext cx="2926080" cy="1828800"/>
          </a:xfrm>
          <a:prstGeom prst="rect">
            <a:avLst/>
          </a:prstGeom>
          <a:noFill/>
          <a:ln/>
        </p:spPr>
        <p:txBody>
          <a:bodyPr wrap="square" lIns="0" tIns="0" rIns="0" bIns="0" rtlCol="0" anchor="t"/>
          <a:lstStyle/>
          <a:p>
            <a:pPr marL="0" indent="0">
              <a:buNone/>
            </a:pPr>
            <a:r>
              <a:rPr lang="en-US" sz="1600" dirty="0">
                <a:solidFill>
                  <a:srgbClr val="5F6670"/>
                </a:solidFill>
                <a:latin typeface="Calibri" pitchFamily="34" charset="0"/>
                <a:ea typeface="Calibri" pitchFamily="34" charset="-122"/>
                <a:cs typeface="Calibri" pitchFamily="34" charset="-120"/>
              </a:rPr>
              <a:t>Supervise, clôture, suit les délais et les statistiques. Déclenche la notification NIS2.</a:t>
            </a:r>
            <a:endParaRPr lang="en-US" sz="1600" dirty="0"/>
          </a:p>
        </p:txBody>
      </p:sp>
      <p:sp>
        <p:nvSpPr>
          <p:cNvPr id="23" name="Text 20"/>
          <p:cNvSpPr txBox="1"/>
          <p:nvPr/>
        </p:nvSpPr>
        <p:spPr>
          <a:xfrm>
            <a:off x="640080" y="5120640"/>
            <a:ext cx="10911535" cy="457200"/>
          </a:xfrm>
          <a:prstGeom prst="rect">
            <a:avLst/>
          </a:prstGeom>
          <a:noFill/>
          <a:ln/>
        </p:spPr>
        <p:txBody>
          <a:bodyPr wrap="square" lIns="0" tIns="0" rIns="0" bIns="0" rtlCol="0" anchor="ctr"/>
          <a:lstStyle/>
          <a:p>
            <a:pPr marL="0" indent="0">
              <a:buNone/>
            </a:pPr>
            <a:r>
              <a:rPr lang="en-US" sz="1700" dirty="0">
                <a:solidFill>
                  <a:srgbClr val="16181D"/>
                </a:solidFill>
                <a:latin typeface="Calibri" pitchFamily="34" charset="0"/>
                <a:ea typeface="Calibri" pitchFamily="34" charset="-122"/>
                <a:cs typeface="Calibri" pitchFamily="34" charset="-120"/>
              </a:rPr>
              <a:t>Ces rôles deviendront des classes (séance 2), puis des droits d'accès (Q2, Keycloak).</a:t>
            </a:r>
            <a:endParaRPr lang="en-US" sz="1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OÙ ÇA MÈNE · Q1</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Complément Application : ce qu'on va construire</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31</a:t>
            </a:r>
            <a:endParaRPr lang="en-US" sz="1000" dirty="0"/>
          </a:p>
        </p:txBody>
      </p:sp>
      <p:sp>
        <p:nvSpPr>
          <p:cNvPr id="8" name="Shape 5"/>
          <p:cNvSpPr/>
          <p:nvPr/>
        </p:nvSpPr>
        <p:spPr>
          <a:xfrm>
            <a:off x="640080" y="1691640"/>
            <a:ext cx="3545738" cy="1298448"/>
          </a:xfrm>
          <a:prstGeom prst="roundRect">
            <a:avLst>
              <a:gd name="adj" fmla="val 5634"/>
            </a:avLst>
          </a:prstGeom>
          <a:solidFill>
            <a:srgbClr val="F2F3F5"/>
          </a:solidFill>
          <a:ln w="12700">
            <a:solidFill>
              <a:srgbClr val="F2F3F5"/>
            </a:solidFill>
            <a:prstDash val="solid"/>
          </a:ln>
        </p:spPr>
        <p:txBody>
          <a:bodyPr/>
          <a:lstStyle/>
          <a:p>
            <a:endParaRPr lang="fr-BE"/>
          </a:p>
        </p:txBody>
      </p:sp>
      <p:sp>
        <p:nvSpPr>
          <p:cNvPr id="9" name="Text 6"/>
          <p:cNvSpPr txBox="1"/>
          <p:nvPr/>
        </p:nvSpPr>
        <p:spPr>
          <a:xfrm>
            <a:off x="822960" y="1783080"/>
            <a:ext cx="2357018" cy="320040"/>
          </a:xfrm>
          <a:prstGeom prst="rect">
            <a:avLst/>
          </a:prstGeom>
          <a:noFill/>
          <a:ln/>
        </p:spPr>
        <p:txBody>
          <a:bodyPr wrap="square" lIns="0" tIns="0" rIns="0" bIns="0" rtlCol="0" anchor="ctr"/>
          <a:lstStyle/>
          <a:p>
            <a:pPr marL="0" indent="0">
              <a:buNone/>
            </a:pPr>
            <a:r>
              <a:rPr lang="en-US" sz="1400" b="1" dirty="0">
                <a:solidFill>
                  <a:srgbClr val="E8590C"/>
                </a:solidFill>
                <a:latin typeface="Arial" pitchFamily="34" charset="0"/>
                <a:ea typeface="Arial" pitchFamily="34" charset="-122"/>
                <a:cs typeface="Arial" pitchFamily="34" charset="-120"/>
              </a:rPr>
              <a:t>S1  </a:t>
            </a:r>
            <a:r>
              <a:rPr lang="en-US" sz="1400" b="1" dirty="0">
                <a:solidFill>
                  <a:srgbClr val="16181D"/>
                </a:solidFill>
                <a:latin typeface="Arial" pitchFamily="34" charset="0"/>
                <a:ea typeface="Arial" pitchFamily="34" charset="-122"/>
                <a:cs typeface="Arial" pitchFamily="34" charset="-120"/>
              </a:rPr>
              <a:t>Modéliser</a:t>
            </a:r>
            <a:endParaRPr lang="en-US" sz="1400" dirty="0"/>
          </a:p>
        </p:txBody>
      </p:sp>
      <p:sp>
        <p:nvSpPr>
          <p:cNvPr id="10" name="Text 7"/>
          <p:cNvSpPr txBox="1"/>
          <p:nvPr/>
        </p:nvSpPr>
        <p:spPr>
          <a:xfrm>
            <a:off x="822960" y="2121408"/>
            <a:ext cx="3179978" cy="502920"/>
          </a:xfrm>
          <a:prstGeom prst="rect">
            <a:avLst/>
          </a:prstGeom>
          <a:noFill/>
          <a:ln/>
        </p:spPr>
        <p:txBody>
          <a:bodyPr wrap="square" lIns="0" tIns="0" rIns="0" bIns="0" rtlCol="0" anchor="t"/>
          <a:lstStyle/>
          <a:p>
            <a:pPr marL="0" indent="0">
              <a:buNone/>
            </a:pPr>
            <a:r>
              <a:rPr lang="en-US" sz="1200" dirty="0">
                <a:solidFill>
                  <a:srgbClr val="5F6670"/>
                </a:solidFill>
                <a:latin typeface="Calibri" pitchFamily="34" charset="0"/>
                <a:ea typeface="Calibri" pitchFamily="34" charset="-122"/>
                <a:cs typeface="Calibri" pitchFamily="34" charset="-120"/>
              </a:rPr>
              <a:t>POO · classe · objet · encapsulation · enum · UML · C4 · Mermaid</a:t>
            </a:r>
            <a:endParaRPr lang="en-US" sz="1200" dirty="0"/>
          </a:p>
        </p:txBody>
      </p:sp>
      <p:sp>
        <p:nvSpPr>
          <p:cNvPr id="11" name="Text 8"/>
          <p:cNvSpPr txBox="1"/>
          <p:nvPr/>
        </p:nvSpPr>
        <p:spPr>
          <a:xfrm>
            <a:off x="822960" y="2624328"/>
            <a:ext cx="3179978" cy="292608"/>
          </a:xfrm>
          <a:prstGeom prst="rect">
            <a:avLst/>
          </a:prstGeom>
          <a:noFill/>
          <a:ln/>
        </p:spPr>
        <p:txBody>
          <a:bodyPr wrap="square" lIns="0" tIns="0" rIns="0" bIns="0" rtlCol="0" anchor="ctr"/>
          <a:lstStyle/>
          <a:p>
            <a:pPr marL="0" indent="0">
              <a:buNone/>
            </a:pPr>
            <a:r>
              <a:rPr lang="en-US" sz="1150" i="1" dirty="0">
                <a:solidFill>
                  <a:srgbClr val="16181D"/>
                </a:solidFill>
                <a:latin typeface="Calibri" pitchFamily="34" charset="0"/>
                <a:ea typeface="Calibri" pitchFamily="34" charset="-122"/>
                <a:cs typeface="Calibri" pitchFamily="34" charset="-120"/>
              </a:rPr>
              <a:t>→ la classe Incident et ses règles</a:t>
            </a:r>
            <a:endParaRPr lang="en-US" sz="1150" dirty="0"/>
          </a:p>
        </p:txBody>
      </p:sp>
      <p:sp>
        <p:nvSpPr>
          <p:cNvPr id="12" name="Shape 9"/>
          <p:cNvSpPr/>
          <p:nvPr/>
        </p:nvSpPr>
        <p:spPr>
          <a:xfrm>
            <a:off x="4322978" y="1691640"/>
            <a:ext cx="3545738" cy="1298448"/>
          </a:xfrm>
          <a:prstGeom prst="roundRect">
            <a:avLst>
              <a:gd name="adj" fmla="val 5634"/>
            </a:avLst>
          </a:prstGeom>
          <a:solidFill>
            <a:srgbClr val="F2F3F5"/>
          </a:solidFill>
          <a:ln w="12700">
            <a:solidFill>
              <a:srgbClr val="F2F3F5"/>
            </a:solidFill>
            <a:prstDash val="solid"/>
          </a:ln>
        </p:spPr>
        <p:txBody>
          <a:bodyPr/>
          <a:lstStyle/>
          <a:p>
            <a:endParaRPr lang="fr-BE"/>
          </a:p>
        </p:txBody>
      </p:sp>
      <p:sp>
        <p:nvSpPr>
          <p:cNvPr id="13" name="Text 10"/>
          <p:cNvSpPr txBox="1"/>
          <p:nvPr/>
        </p:nvSpPr>
        <p:spPr>
          <a:xfrm>
            <a:off x="4505858" y="1783080"/>
            <a:ext cx="2357018" cy="320040"/>
          </a:xfrm>
          <a:prstGeom prst="rect">
            <a:avLst/>
          </a:prstGeom>
          <a:noFill/>
          <a:ln/>
        </p:spPr>
        <p:txBody>
          <a:bodyPr wrap="square" lIns="0" tIns="0" rIns="0" bIns="0" rtlCol="0" anchor="ctr"/>
          <a:lstStyle/>
          <a:p>
            <a:pPr marL="0" indent="0">
              <a:buNone/>
            </a:pPr>
            <a:r>
              <a:rPr lang="en-US" sz="1400" b="1" dirty="0">
                <a:solidFill>
                  <a:srgbClr val="E8590C"/>
                </a:solidFill>
                <a:latin typeface="Arial" pitchFamily="34" charset="0"/>
                <a:ea typeface="Arial" pitchFamily="34" charset="-122"/>
                <a:cs typeface="Arial" pitchFamily="34" charset="-120"/>
              </a:rPr>
              <a:t>S2  </a:t>
            </a:r>
            <a:r>
              <a:rPr lang="en-US" sz="1400" b="1" dirty="0">
                <a:solidFill>
                  <a:srgbClr val="16181D"/>
                </a:solidFill>
                <a:latin typeface="Arial" pitchFamily="34" charset="0"/>
                <a:ea typeface="Arial" pitchFamily="34" charset="-122"/>
                <a:cs typeface="Arial" pitchFamily="34" charset="-120"/>
              </a:rPr>
              <a:t>POO avancée</a:t>
            </a:r>
            <a:endParaRPr lang="en-US" sz="1400" dirty="0"/>
          </a:p>
        </p:txBody>
      </p:sp>
      <p:sp>
        <p:nvSpPr>
          <p:cNvPr id="14" name="Text 11"/>
          <p:cNvSpPr txBox="1"/>
          <p:nvPr/>
        </p:nvSpPr>
        <p:spPr>
          <a:xfrm>
            <a:off x="6817157" y="1801368"/>
            <a:ext cx="914400" cy="274320"/>
          </a:xfrm>
          <a:prstGeom prst="rect">
            <a:avLst/>
          </a:prstGeom>
          <a:noFill/>
          <a:ln/>
        </p:spPr>
        <p:txBody>
          <a:bodyPr wrap="square" lIns="0" tIns="0" rIns="0" bIns="0" rtlCol="0" anchor="ctr"/>
          <a:lstStyle/>
          <a:p>
            <a:pPr marL="0" indent="0" algn="r">
              <a:buNone/>
            </a:pPr>
            <a:r>
              <a:rPr lang="en-US" sz="1100" b="1" dirty="0">
                <a:solidFill>
                  <a:srgbClr val="E8590C"/>
                </a:solidFill>
                <a:latin typeface="Calibri" pitchFamily="34" charset="0"/>
                <a:ea typeface="Calibri" pitchFamily="34" charset="-122"/>
                <a:cs typeface="Calibri" pitchFamily="34" charset="-120"/>
              </a:rPr>
              <a:t>Livrable 1</a:t>
            </a:r>
            <a:endParaRPr lang="en-US" sz="1100" dirty="0"/>
          </a:p>
        </p:txBody>
      </p:sp>
      <p:sp>
        <p:nvSpPr>
          <p:cNvPr id="15" name="Text 12"/>
          <p:cNvSpPr txBox="1"/>
          <p:nvPr/>
        </p:nvSpPr>
        <p:spPr>
          <a:xfrm>
            <a:off x="4505858" y="2121408"/>
            <a:ext cx="3179978" cy="502920"/>
          </a:xfrm>
          <a:prstGeom prst="rect">
            <a:avLst/>
          </a:prstGeom>
          <a:noFill/>
          <a:ln/>
        </p:spPr>
        <p:txBody>
          <a:bodyPr wrap="square" lIns="0" tIns="0" rIns="0" bIns="0" rtlCol="0" anchor="t"/>
          <a:lstStyle/>
          <a:p>
            <a:pPr marL="0" indent="0">
              <a:buNone/>
            </a:pPr>
            <a:r>
              <a:rPr lang="en-US" sz="1200" dirty="0">
                <a:solidFill>
                  <a:srgbClr val="5F6670"/>
                </a:solidFill>
                <a:latin typeface="Calibri" pitchFamily="34" charset="0"/>
                <a:ea typeface="Calibri" pitchFamily="34" charset="-122"/>
                <a:cs typeface="Calibri" pitchFamily="34" charset="-120"/>
              </a:rPr>
              <a:t>héritage · interface · polymorphisme · abstraction · cas d'utilisation</a:t>
            </a:r>
            <a:endParaRPr lang="en-US" sz="1200" dirty="0"/>
          </a:p>
        </p:txBody>
      </p:sp>
      <p:sp>
        <p:nvSpPr>
          <p:cNvPr id="16" name="Text 13"/>
          <p:cNvSpPr txBox="1"/>
          <p:nvPr/>
        </p:nvSpPr>
        <p:spPr>
          <a:xfrm>
            <a:off x="4505858" y="2624328"/>
            <a:ext cx="3179978" cy="292608"/>
          </a:xfrm>
          <a:prstGeom prst="rect">
            <a:avLst/>
          </a:prstGeom>
          <a:noFill/>
          <a:ln/>
        </p:spPr>
        <p:txBody>
          <a:bodyPr wrap="square" lIns="0" tIns="0" rIns="0" bIns="0" rtlCol="0" anchor="ctr"/>
          <a:lstStyle/>
          <a:p>
            <a:pPr marL="0" indent="0">
              <a:buNone/>
            </a:pPr>
            <a:r>
              <a:rPr lang="en-US" sz="1150" i="1" dirty="0">
                <a:solidFill>
                  <a:srgbClr val="16181D"/>
                </a:solidFill>
                <a:latin typeface="Calibri" pitchFamily="34" charset="0"/>
                <a:ea typeface="Calibri" pitchFamily="34" charset="-122"/>
                <a:cs typeface="Calibri" pitchFamily="34" charset="-120"/>
              </a:rPr>
              <a:t>→ déclarants, analystes, responsables</a:t>
            </a:r>
            <a:endParaRPr lang="en-US" sz="1150" dirty="0"/>
          </a:p>
        </p:txBody>
      </p:sp>
      <p:sp>
        <p:nvSpPr>
          <p:cNvPr id="17" name="Shape 14"/>
          <p:cNvSpPr/>
          <p:nvPr/>
        </p:nvSpPr>
        <p:spPr>
          <a:xfrm>
            <a:off x="8005877" y="1691640"/>
            <a:ext cx="3545738" cy="1298448"/>
          </a:xfrm>
          <a:prstGeom prst="roundRect">
            <a:avLst>
              <a:gd name="adj" fmla="val 5634"/>
            </a:avLst>
          </a:prstGeom>
          <a:solidFill>
            <a:srgbClr val="F2F3F5"/>
          </a:solidFill>
          <a:ln w="12700">
            <a:solidFill>
              <a:srgbClr val="F2F3F5"/>
            </a:solidFill>
            <a:prstDash val="solid"/>
          </a:ln>
        </p:spPr>
        <p:txBody>
          <a:bodyPr/>
          <a:lstStyle/>
          <a:p>
            <a:endParaRPr lang="fr-BE"/>
          </a:p>
        </p:txBody>
      </p:sp>
      <p:sp>
        <p:nvSpPr>
          <p:cNvPr id="18" name="Text 15"/>
          <p:cNvSpPr txBox="1"/>
          <p:nvPr/>
        </p:nvSpPr>
        <p:spPr>
          <a:xfrm>
            <a:off x="8188757" y="1783080"/>
            <a:ext cx="2357018" cy="320040"/>
          </a:xfrm>
          <a:prstGeom prst="rect">
            <a:avLst/>
          </a:prstGeom>
          <a:noFill/>
          <a:ln/>
        </p:spPr>
        <p:txBody>
          <a:bodyPr wrap="square" lIns="0" tIns="0" rIns="0" bIns="0" rtlCol="0" anchor="ctr"/>
          <a:lstStyle/>
          <a:p>
            <a:pPr marL="0" indent="0">
              <a:buNone/>
            </a:pPr>
            <a:r>
              <a:rPr lang="en-US" sz="1400" b="1" dirty="0">
                <a:solidFill>
                  <a:srgbClr val="E8590C"/>
                </a:solidFill>
                <a:latin typeface="Arial" pitchFamily="34" charset="0"/>
                <a:ea typeface="Arial" pitchFamily="34" charset="-122"/>
                <a:cs typeface="Arial" pitchFamily="34" charset="-120"/>
              </a:rPr>
              <a:t>S3  </a:t>
            </a:r>
            <a:r>
              <a:rPr lang="en-US" sz="1400" b="1" dirty="0">
                <a:solidFill>
                  <a:srgbClr val="16181D"/>
                </a:solidFill>
                <a:latin typeface="Arial" pitchFamily="34" charset="0"/>
                <a:ea typeface="Arial" pitchFamily="34" charset="-122"/>
                <a:cs typeface="Arial" pitchFamily="34" charset="-120"/>
              </a:rPr>
              <a:t>Travailler en équipe</a:t>
            </a:r>
            <a:endParaRPr lang="en-US" sz="1400" dirty="0"/>
          </a:p>
        </p:txBody>
      </p:sp>
      <p:sp>
        <p:nvSpPr>
          <p:cNvPr id="19" name="Text 16"/>
          <p:cNvSpPr txBox="1"/>
          <p:nvPr/>
        </p:nvSpPr>
        <p:spPr>
          <a:xfrm>
            <a:off x="8188757" y="2121408"/>
            <a:ext cx="3179978" cy="502920"/>
          </a:xfrm>
          <a:prstGeom prst="rect">
            <a:avLst/>
          </a:prstGeom>
          <a:noFill/>
          <a:ln/>
        </p:spPr>
        <p:txBody>
          <a:bodyPr wrap="square" lIns="0" tIns="0" rIns="0" bIns="0" rtlCol="0" anchor="t"/>
          <a:lstStyle/>
          <a:p>
            <a:pPr marL="0" indent="0">
              <a:buNone/>
            </a:pPr>
            <a:r>
              <a:rPr lang="en-US" sz="1200" dirty="0">
                <a:solidFill>
                  <a:srgbClr val="5F6670"/>
                </a:solidFill>
                <a:latin typeface="Calibri" pitchFamily="34" charset="0"/>
                <a:ea typeface="Calibri" pitchFamily="34" charset="-122"/>
                <a:cs typeface="Calibri" pitchFamily="34" charset="-120"/>
              </a:rPr>
              <a:t>Git Flow · Conventional Commits · pull request · code review · Scrum · user story</a:t>
            </a:r>
            <a:endParaRPr lang="en-US" sz="1200" dirty="0"/>
          </a:p>
        </p:txBody>
      </p:sp>
      <p:sp>
        <p:nvSpPr>
          <p:cNvPr id="20" name="Text 17"/>
          <p:cNvSpPr txBox="1"/>
          <p:nvPr/>
        </p:nvSpPr>
        <p:spPr>
          <a:xfrm>
            <a:off x="8188757" y="2624328"/>
            <a:ext cx="3179978" cy="292608"/>
          </a:xfrm>
          <a:prstGeom prst="rect">
            <a:avLst/>
          </a:prstGeom>
          <a:noFill/>
          <a:ln/>
        </p:spPr>
        <p:txBody>
          <a:bodyPr wrap="square" lIns="0" tIns="0" rIns="0" bIns="0" rtlCol="0" anchor="ctr"/>
          <a:lstStyle/>
          <a:p>
            <a:pPr marL="0" indent="0">
              <a:buNone/>
            </a:pPr>
            <a:r>
              <a:rPr lang="en-US" sz="1150" i="1" dirty="0">
                <a:solidFill>
                  <a:srgbClr val="16181D"/>
                </a:solidFill>
                <a:latin typeface="Calibri" pitchFamily="34" charset="0"/>
                <a:ea typeface="Calibri" pitchFamily="34" charset="-122"/>
                <a:cs typeface="Calibri" pitchFamily="34" charset="-120"/>
              </a:rPr>
              <a:t>→ un dépôt partagé, des sprints</a:t>
            </a:r>
            <a:endParaRPr lang="en-US" sz="1150" dirty="0"/>
          </a:p>
        </p:txBody>
      </p:sp>
      <p:sp>
        <p:nvSpPr>
          <p:cNvPr id="21" name="Shape 18"/>
          <p:cNvSpPr/>
          <p:nvPr/>
        </p:nvSpPr>
        <p:spPr>
          <a:xfrm>
            <a:off x="640080" y="3081528"/>
            <a:ext cx="3545738" cy="1298448"/>
          </a:xfrm>
          <a:prstGeom prst="roundRect">
            <a:avLst>
              <a:gd name="adj" fmla="val 5634"/>
            </a:avLst>
          </a:prstGeom>
          <a:solidFill>
            <a:srgbClr val="F2F3F5"/>
          </a:solidFill>
          <a:ln w="12700">
            <a:solidFill>
              <a:srgbClr val="F2F3F5"/>
            </a:solidFill>
            <a:prstDash val="solid"/>
          </a:ln>
        </p:spPr>
        <p:txBody>
          <a:bodyPr/>
          <a:lstStyle/>
          <a:p>
            <a:endParaRPr lang="fr-BE"/>
          </a:p>
        </p:txBody>
      </p:sp>
      <p:sp>
        <p:nvSpPr>
          <p:cNvPr id="22" name="Text 19"/>
          <p:cNvSpPr txBox="1"/>
          <p:nvPr/>
        </p:nvSpPr>
        <p:spPr>
          <a:xfrm>
            <a:off x="822960" y="3172968"/>
            <a:ext cx="2357018" cy="320040"/>
          </a:xfrm>
          <a:prstGeom prst="rect">
            <a:avLst/>
          </a:prstGeom>
          <a:noFill/>
          <a:ln/>
        </p:spPr>
        <p:txBody>
          <a:bodyPr wrap="square" lIns="0" tIns="0" rIns="0" bIns="0" rtlCol="0" anchor="ctr"/>
          <a:lstStyle/>
          <a:p>
            <a:pPr marL="0" indent="0">
              <a:buNone/>
            </a:pPr>
            <a:r>
              <a:rPr lang="en-US" sz="1400" b="1" dirty="0">
                <a:solidFill>
                  <a:srgbClr val="E8590C"/>
                </a:solidFill>
                <a:latin typeface="Arial" pitchFamily="34" charset="0"/>
                <a:ea typeface="Arial" pitchFamily="34" charset="-122"/>
                <a:cs typeface="Arial" pitchFamily="34" charset="-120"/>
              </a:rPr>
              <a:t>S4  </a:t>
            </a:r>
            <a:r>
              <a:rPr lang="en-US" sz="1400" b="1" dirty="0">
                <a:solidFill>
                  <a:srgbClr val="16181D"/>
                </a:solidFill>
                <a:latin typeface="Arial" pitchFamily="34" charset="0"/>
                <a:ea typeface="Arial" pitchFamily="34" charset="-122"/>
                <a:cs typeface="Arial" pitchFamily="34" charset="-120"/>
              </a:rPr>
              <a:t>Les données</a:t>
            </a:r>
            <a:endParaRPr lang="en-US" sz="1400" dirty="0"/>
          </a:p>
        </p:txBody>
      </p:sp>
      <p:sp>
        <p:nvSpPr>
          <p:cNvPr id="23" name="Text 20"/>
          <p:cNvSpPr txBox="1"/>
          <p:nvPr/>
        </p:nvSpPr>
        <p:spPr>
          <a:xfrm>
            <a:off x="822960" y="3511296"/>
            <a:ext cx="3179978" cy="502920"/>
          </a:xfrm>
          <a:prstGeom prst="rect">
            <a:avLst/>
          </a:prstGeom>
          <a:noFill/>
          <a:ln/>
        </p:spPr>
        <p:txBody>
          <a:bodyPr wrap="square" lIns="0" tIns="0" rIns="0" bIns="0" rtlCol="0" anchor="t"/>
          <a:lstStyle/>
          <a:p>
            <a:pPr marL="0" indent="0">
              <a:buNone/>
            </a:pPr>
            <a:r>
              <a:rPr lang="en-US" sz="1200" dirty="0">
                <a:solidFill>
                  <a:srgbClr val="5F6670"/>
                </a:solidFill>
                <a:latin typeface="Calibri" pitchFamily="34" charset="0"/>
                <a:ea typeface="Calibri" pitchFamily="34" charset="-122"/>
                <a:cs typeface="Calibri" pitchFamily="34" charset="-120"/>
              </a:rPr>
              <a:t>SQL · SELECT · JOIN · GROUP BY · clés primaires et étrangères · index · Merise</a:t>
            </a:r>
            <a:endParaRPr lang="en-US" sz="1200" dirty="0"/>
          </a:p>
        </p:txBody>
      </p:sp>
      <p:sp>
        <p:nvSpPr>
          <p:cNvPr id="24" name="Text 21"/>
          <p:cNvSpPr txBox="1"/>
          <p:nvPr/>
        </p:nvSpPr>
        <p:spPr>
          <a:xfrm>
            <a:off x="822960" y="4014216"/>
            <a:ext cx="3179978" cy="292608"/>
          </a:xfrm>
          <a:prstGeom prst="rect">
            <a:avLst/>
          </a:prstGeom>
          <a:noFill/>
          <a:ln/>
        </p:spPr>
        <p:txBody>
          <a:bodyPr wrap="square" lIns="0" tIns="0" rIns="0" bIns="0" rtlCol="0" anchor="ctr"/>
          <a:lstStyle/>
          <a:p>
            <a:pPr marL="0" indent="0">
              <a:buNone/>
            </a:pPr>
            <a:r>
              <a:rPr lang="en-US" sz="1150" i="1" dirty="0">
                <a:solidFill>
                  <a:srgbClr val="16181D"/>
                </a:solidFill>
                <a:latin typeface="Calibri" pitchFamily="34" charset="0"/>
                <a:ea typeface="Calibri" pitchFamily="34" charset="-122"/>
                <a:cs typeface="Calibri" pitchFamily="34" charset="-120"/>
              </a:rPr>
              <a:t>→ la base de données d'IncidentHub</a:t>
            </a:r>
            <a:endParaRPr lang="en-US" sz="1150" dirty="0"/>
          </a:p>
        </p:txBody>
      </p:sp>
      <p:sp>
        <p:nvSpPr>
          <p:cNvPr id="25" name="Shape 22"/>
          <p:cNvSpPr/>
          <p:nvPr/>
        </p:nvSpPr>
        <p:spPr>
          <a:xfrm>
            <a:off x="4322978" y="3081528"/>
            <a:ext cx="3545738" cy="1298448"/>
          </a:xfrm>
          <a:prstGeom prst="roundRect">
            <a:avLst>
              <a:gd name="adj" fmla="val 5634"/>
            </a:avLst>
          </a:prstGeom>
          <a:solidFill>
            <a:srgbClr val="F2F3F5"/>
          </a:solidFill>
          <a:ln w="12700">
            <a:solidFill>
              <a:srgbClr val="F2F3F5"/>
            </a:solidFill>
            <a:prstDash val="solid"/>
          </a:ln>
        </p:spPr>
        <p:txBody>
          <a:bodyPr/>
          <a:lstStyle/>
          <a:p>
            <a:endParaRPr lang="fr-BE"/>
          </a:p>
        </p:txBody>
      </p:sp>
      <p:sp>
        <p:nvSpPr>
          <p:cNvPr id="26" name="Text 23"/>
          <p:cNvSpPr txBox="1"/>
          <p:nvPr/>
        </p:nvSpPr>
        <p:spPr>
          <a:xfrm>
            <a:off x="4505858" y="3172968"/>
            <a:ext cx="2357018" cy="320040"/>
          </a:xfrm>
          <a:prstGeom prst="rect">
            <a:avLst/>
          </a:prstGeom>
          <a:noFill/>
          <a:ln/>
        </p:spPr>
        <p:txBody>
          <a:bodyPr wrap="square" lIns="0" tIns="0" rIns="0" bIns="0" rtlCol="0" anchor="ctr"/>
          <a:lstStyle/>
          <a:p>
            <a:pPr marL="0" indent="0">
              <a:buNone/>
            </a:pPr>
            <a:r>
              <a:rPr lang="en-US" sz="1400" b="1" dirty="0">
                <a:solidFill>
                  <a:srgbClr val="E8590C"/>
                </a:solidFill>
                <a:latin typeface="Arial" pitchFamily="34" charset="0"/>
                <a:ea typeface="Arial" pitchFamily="34" charset="-122"/>
                <a:cs typeface="Arial" pitchFamily="34" charset="-120"/>
              </a:rPr>
              <a:t>S5  </a:t>
            </a:r>
            <a:r>
              <a:rPr lang="en-US" sz="1400" b="1" dirty="0">
                <a:solidFill>
                  <a:srgbClr val="16181D"/>
                </a:solidFill>
                <a:latin typeface="Arial" pitchFamily="34" charset="0"/>
                <a:ea typeface="Arial" pitchFamily="34" charset="-122"/>
                <a:cs typeface="Arial" pitchFamily="34" charset="-120"/>
              </a:rPr>
              <a:t>ORM</a:t>
            </a:r>
            <a:endParaRPr lang="en-US" sz="1400" dirty="0"/>
          </a:p>
        </p:txBody>
      </p:sp>
      <p:sp>
        <p:nvSpPr>
          <p:cNvPr id="27" name="Text 24"/>
          <p:cNvSpPr txBox="1"/>
          <p:nvPr/>
        </p:nvSpPr>
        <p:spPr>
          <a:xfrm>
            <a:off x="6817157" y="3191256"/>
            <a:ext cx="914400" cy="274320"/>
          </a:xfrm>
          <a:prstGeom prst="rect">
            <a:avLst/>
          </a:prstGeom>
          <a:noFill/>
          <a:ln/>
        </p:spPr>
        <p:txBody>
          <a:bodyPr wrap="square" lIns="0" tIns="0" rIns="0" bIns="0" rtlCol="0" anchor="ctr"/>
          <a:lstStyle/>
          <a:p>
            <a:pPr marL="0" indent="0" algn="r">
              <a:buNone/>
            </a:pPr>
            <a:r>
              <a:rPr lang="en-US" sz="1100" b="1" dirty="0">
                <a:solidFill>
                  <a:srgbClr val="E8590C"/>
                </a:solidFill>
                <a:latin typeface="Calibri" pitchFamily="34" charset="0"/>
                <a:ea typeface="Calibri" pitchFamily="34" charset="-122"/>
                <a:cs typeface="Calibri" pitchFamily="34" charset="-120"/>
              </a:rPr>
              <a:t>Livrable 2</a:t>
            </a:r>
            <a:endParaRPr lang="en-US" sz="1100" dirty="0"/>
          </a:p>
        </p:txBody>
      </p:sp>
      <p:sp>
        <p:nvSpPr>
          <p:cNvPr id="28" name="Text 25"/>
          <p:cNvSpPr txBox="1"/>
          <p:nvPr/>
        </p:nvSpPr>
        <p:spPr>
          <a:xfrm>
            <a:off x="4505858" y="3511296"/>
            <a:ext cx="3179978" cy="502920"/>
          </a:xfrm>
          <a:prstGeom prst="rect">
            <a:avLst/>
          </a:prstGeom>
          <a:noFill/>
          <a:ln/>
        </p:spPr>
        <p:txBody>
          <a:bodyPr wrap="square" lIns="0" tIns="0" rIns="0" bIns="0" rtlCol="0" anchor="t"/>
          <a:lstStyle/>
          <a:p>
            <a:pPr marL="0" indent="0">
              <a:buNone/>
            </a:pPr>
            <a:r>
              <a:rPr lang="en-US" sz="1200" dirty="0">
                <a:solidFill>
                  <a:srgbClr val="5F6670"/>
                </a:solidFill>
                <a:latin typeface="Calibri" pitchFamily="34" charset="0"/>
                <a:ea typeface="Calibri" pitchFamily="34" charset="-122"/>
                <a:cs typeface="Calibri" pitchFamily="34" charset="-120"/>
              </a:rPr>
              <a:t>Entity Framework Core · LINQ · migrations · code first</a:t>
            </a:r>
            <a:endParaRPr lang="en-US" sz="1200" dirty="0"/>
          </a:p>
        </p:txBody>
      </p:sp>
      <p:sp>
        <p:nvSpPr>
          <p:cNvPr id="29" name="Text 26"/>
          <p:cNvSpPr txBox="1"/>
          <p:nvPr/>
        </p:nvSpPr>
        <p:spPr>
          <a:xfrm>
            <a:off x="4505858" y="4014216"/>
            <a:ext cx="3179978" cy="292608"/>
          </a:xfrm>
          <a:prstGeom prst="rect">
            <a:avLst/>
          </a:prstGeom>
          <a:noFill/>
          <a:ln/>
        </p:spPr>
        <p:txBody>
          <a:bodyPr wrap="square" lIns="0" tIns="0" rIns="0" bIns="0" rtlCol="0" anchor="ctr"/>
          <a:lstStyle/>
          <a:p>
            <a:pPr marL="0" indent="0">
              <a:buNone/>
            </a:pPr>
            <a:r>
              <a:rPr lang="en-US" sz="1150" i="1" dirty="0">
                <a:solidFill>
                  <a:srgbClr val="16181D"/>
                </a:solidFill>
                <a:latin typeface="Calibri" pitchFamily="34" charset="0"/>
                <a:ea typeface="Calibri" pitchFamily="34" charset="-122"/>
                <a:cs typeface="Calibri" pitchFamily="34" charset="-120"/>
              </a:rPr>
              <a:t>→ les incidents enregistrés en base</a:t>
            </a:r>
            <a:endParaRPr lang="en-US" sz="1150" dirty="0"/>
          </a:p>
        </p:txBody>
      </p:sp>
      <p:sp>
        <p:nvSpPr>
          <p:cNvPr id="30" name="Shape 27"/>
          <p:cNvSpPr/>
          <p:nvPr/>
        </p:nvSpPr>
        <p:spPr>
          <a:xfrm>
            <a:off x="8005877" y="3081528"/>
            <a:ext cx="3545738" cy="1298448"/>
          </a:xfrm>
          <a:prstGeom prst="roundRect">
            <a:avLst>
              <a:gd name="adj" fmla="val 5634"/>
            </a:avLst>
          </a:prstGeom>
          <a:solidFill>
            <a:srgbClr val="F2F3F5"/>
          </a:solidFill>
          <a:ln w="12700">
            <a:solidFill>
              <a:srgbClr val="F2F3F5"/>
            </a:solidFill>
            <a:prstDash val="solid"/>
          </a:ln>
        </p:spPr>
        <p:txBody>
          <a:bodyPr/>
          <a:lstStyle/>
          <a:p>
            <a:endParaRPr lang="fr-BE"/>
          </a:p>
        </p:txBody>
      </p:sp>
      <p:sp>
        <p:nvSpPr>
          <p:cNvPr id="31" name="Text 28"/>
          <p:cNvSpPr txBox="1"/>
          <p:nvPr/>
        </p:nvSpPr>
        <p:spPr>
          <a:xfrm>
            <a:off x="8188757" y="3172968"/>
            <a:ext cx="2357018" cy="320040"/>
          </a:xfrm>
          <a:prstGeom prst="rect">
            <a:avLst/>
          </a:prstGeom>
          <a:noFill/>
          <a:ln/>
        </p:spPr>
        <p:txBody>
          <a:bodyPr wrap="square" lIns="0" tIns="0" rIns="0" bIns="0" rtlCol="0" anchor="ctr"/>
          <a:lstStyle/>
          <a:p>
            <a:pPr marL="0" indent="0">
              <a:buNone/>
            </a:pPr>
            <a:r>
              <a:rPr lang="en-US" sz="1400" b="1" dirty="0">
                <a:solidFill>
                  <a:srgbClr val="E8590C"/>
                </a:solidFill>
                <a:latin typeface="Arial" pitchFamily="34" charset="0"/>
                <a:ea typeface="Arial" pitchFamily="34" charset="-122"/>
                <a:cs typeface="Arial" pitchFamily="34" charset="-120"/>
              </a:rPr>
              <a:t>S6  </a:t>
            </a:r>
            <a:r>
              <a:rPr lang="en-US" sz="1400" b="1" dirty="0">
                <a:solidFill>
                  <a:srgbClr val="16181D"/>
                </a:solidFill>
                <a:latin typeface="Arial" pitchFamily="34" charset="0"/>
                <a:ea typeface="Arial" pitchFamily="34" charset="-122"/>
                <a:cs typeface="Arial" pitchFamily="34" charset="-120"/>
              </a:rPr>
              <a:t>Bien coder</a:t>
            </a:r>
            <a:endParaRPr lang="en-US" sz="1400" dirty="0"/>
          </a:p>
        </p:txBody>
      </p:sp>
      <p:sp>
        <p:nvSpPr>
          <p:cNvPr id="32" name="Text 29"/>
          <p:cNvSpPr txBox="1"/>
          <p:nvPr/>
        </p:nvSpPr>
        <p:spPr>
          <a:xfrm>
            <a:off x="8188757" y="3511296"/>
            <a:ext cx="3179978" cy="502920"/>
          </a:xfrm>
          <a:prstGeom prst="rect">
            <a:avLst/>
          </a:prstGeom>
          <a:noFill/>
          <a:ln/>
        </p:spPr>
        <p:txBody>
          <a:bodyPr wrap="square" lIns="0" tIns="0" rIns="0" bIns="0" rtlCol="0" anchor="t"/>
          <a:lstStyle/>
          <a:p>
            <a:pPr marL="0" indent="0">
              <a:buNone/>
            </a:pPr>
            <a:r>
              <a:rPr lang="en-US" sz="1200" dirty="0">
                <a:solidFill>
                  <a:srgbClr val="5F6670"/>
                </a:solidFill>
                <a:latin typeface="Calibri" pitchFamily="34" charset="0"/>
                <a:ea typeface="Calibri" pitchFamily="34" charset="-122"/>
                <a:cs typeface="Calibri" pitchFamily="34" charset="-120"/>
              </a:rPr>
              <a:t>Clean Code · SOLID · code smells · refactoring · injection de dépendances</a:t>
            </a:r>
            <a:endParaRPr lang="en-US" sz="1200" dirty="0"/>
          </a:p>
        </p:txBody>
      </p:sp>
      <p:sp>
        <p:nvSpPr>
          <p:cNvPr id="33" name="Text 30"/>
          <p:cNvSpPr txBox="1"/>
          <p:nvPr/>
        </p:nvSpPr>
        <p:spPr>
          <a:xfrm>
            <a:off x="8188757" y="4014216"/>
            <a:ext cx="3179978" cy="292608"/>
          </a:xfrm>
          <a:prstGeom prst="rect">
            <a:avLst/>
          </a:prstGeom>
          <a:noFill/>
          <a:ln/>
        </p:spPr>
        <p:txBody>
          <a:bodyPr wrap="square" lIns="0" tIns="0" rIns="0" bIns="0" rtlCol="0" anchor="ctr"/>
          <a:lstStyle/>
          <a:p>
            <a:pPr marL="0" indent="0">
              <a:buNone/>
            </a:pPr>
            <a:r>
              <a:rPr lang="en-US" sz="1150" i="1" dirty="0">
                <a:solidFill>
                  <a:srgbClr val="16181D"/>
                </a:solidFill>
                <a:latin typeface="Calibri" pitchFamily="34" charset="0"/>
                <a:ea typeface="Calibri" pitchFamily="34" charset="-122"/>
                <a:cs typeface="Calibri" pitchFamily="34" charset="-120"/>
              </a:rPr>
              <a:t>→ un code lisible et maintenable</a:t>
            </a:r>
            <a:endParaRPr lang="en-US" sz="1150" dirty="0"/>
          </a:p>
        </p:txBody>
      </p:sp>
      <p:sp>
        <p:nvSpPr>
          <p:cNvPr id="34" name="Shape 31"/>
          <p:cNvSpPr/>
          <p:nvPr/>
        </p:nvSpPr>
        <p:spPr>
          <a:xfrm>
            <a:off x="640080" y="4471416"/>
            <a:ext cx="3545738" cy="1298448"/>
          </a:xfrm>
          <a:prstGeom prst="roundRect">
            <a:avLst>
              <a:gd name="adj" fmla="val 5634"/>
            </a:avLst>
          </a:prstGeom>
          <a:solidFill>
            <a:srgbClr val="F2F3F5"/>
          </a:solidFill>
          <a:ln w="12700">
            <a:solidFill>
              <a:srgbClr val="F2F3F5"/>
            </a:solidFill>
            <a:prstDash val="solid"/>
          </a:ln>
        </p:spPr>
        <p:txBody>
          <a:bodyPr/>
          <a:lstStyle/>
          <a:p>
            <a:endParaRPr lang="fr-BE"/>
          </a:p>
        </p:txBody>
      </p:sp>
      <p:sp>
        <p:nvSpPr>
          <p:cNvPr id="35" name="Text 32"/>
          <p:cNvSpPr txBox="1"/>
          <p:nvPr/>
        </p:nvSpPr>
        <p:spPr>
          <a:xfrm>
            <a:off x="822960" y="4562856"/>
            <a:ext cx="2357018" cy="320040"/>
          </a:xfrm>
          <a:prstGeom prst="rect">
            <a:avLst/>
          </a:prstGeom>
          <a:noFill/>
          <a:ln/>
        </p:spPr>
        <p:txBody>
          <a:bodyPr wrap="square" lIns="0" tIns="0" rIns="0" bIns="0" rtlCol="0" anchor="ctr"/>
          <a:lstStyle/>
          <a:p>
            <a:pPr marL="0" indent="0">
              <a:buNone/>
            </a:pPr>
            <a:r>
              <a:rPr lang="en-US" sz="1400" b="1" dirty="0">
                <a:solidFill>
                  <a:srgbClr val="E8590C"/>
                </a:solidFill>
                <a:latin typeface="Arial" pitchFamily="34" charset="0"/>
                <a:ea typeface="Arial" pitchFamily="34" charset="-122"/>
                <a:cs typeface="Arial" pitchFamily="34" charset="-120"/>
              </a:rPr>
              <a:t>S7  </a:t>
            </a:r>
            <a:r>
              <a:rPr lang="en-US" sz="1400" b="1" dirty="0">
                <a:solidFill>
                  <a:srgbClr val="16181D"/>
                </a:solidFill>
                <a:latin typeface="Arial" pitchFamily="34" charset="0"/>
                <a:ea typeface="Arial" pitchFamily="34" charset="-122"/>
                <a:cs typeface="Arial" pitchFamily="34" charset="-120"/>
              </a:rPr>
              <a:t>API REST</a:t>
            </a:r>
            <a:endParaRPr lang="en-US" sz="1400" dirty="0"/>
          </a:p>
        </p:txBody>
      </p:sp>
      <p:sp>
        <p:nvSpPr>
          <p:cNvPr id="36" name="Text 33"/>
          <p:cNvSpPr txBox="1"/>
          <p:nvPr/>
        </p:nvSpPr>
        <p:spPr>
          <a:xfrm>
            <a:off x="822960" y="4901184"/>
            <a:ext cx="3179978" cy="502920"/>
          </a:xfrm>
          <a:prstGeom prst="rect">
            <a:avLst/>
          </a:prstGeom>
          <a:noFill/>
          <a:ln/>
        </p:spPr>
        <p:txBody>
          <a:bodyPr wrap="square" lIns="0" tIns="0" rIns="0" bIns="0" rtlCol="0" anchor="t"/>
          <a:lstStyle/>
          <a:p>
            <a:pPr marL="0" indent="0">
              <a:buNone/>
            </a:pPr>
            <a:r>
              <a:rPr lang="en-US" sz="1200" dirty="0">
                <a:solidFill>
                  <a:srgbClr val="5F6670"/>
                </a:solidFill>
                <a:latin typeface="Calibri" pitchFamily="34" charset="0"/>
                <a:ea typeface="Calibri" pitchFamily="34" charset="-122"/>
                <a:cs typeface="Calibri" pitchFamily="34" charset="-120"/>
              </a:rPr>
              <a:t>HTTP · GET/POST/PUT/DELETE · codes 200/404 · JSON · DTO · OpenAPI · Scalar</a:t>
            </a:r>
            <a:endParaRPr lang="en-US" sz="1200" dirty="0"/>
          </a:p>
        </p:txBody>
      </p:sp>
      <p:sp>
        <p:nvSpPr>
          <p:cNvPr id="37" name="Text 34"/>
          <p:cNvSpPr txBox="1"/>
          <p:nvPr/>
        </p:nvSpPr>
        <p:spPr>
          <a:xfrm>
            <a:off x="822960" y="5404104"/>
            <a:ext cx="3179978" cy="292608"/>
          </a:xfrm>
          <a:prstGeom prst="rect">
            <a:avLst/>
          </a:prstGeom>
          <a:noFill/>
          <a:ln/>
        </p:spPr>
        <p:txBody>
          <a:bodyPr wrap="square" lIns="0" tIns="0" rIns="0" bIns="0" rtlCol="0" anchor="ctr"/>
          <a:lstStyle/>
          <a:p>
            <a:pPr marL="0" indent="0">
              <a:buNone/>
            </a:pPr>
            <a:r>
              <a:rPr lang="en-US" sz="1150" i="1" dirty="0">
                <a:solidFill>
                  <a:srgbClr val="16181D"/>
                </a:solidFill>
                <a:latin typeface="Calibri" pitchFamily="34" charset="0"/>
                <a:ea typeface="Calibri" pitchFamily="34" charset="-122"/>
                <a:cs typeface="Calibri" pitchFamily="34" charset="-120"/>
              </a:rPr>
              <a:t>→ IncidentHub accessible par API</a:t>
            </a:r>
            <a:endParaRPr lang="en-US" sz="1150" dirty="0"/>
          </a:p>
        </p:txBody>
      </p:sp>
      <p:sp>
        <p:nvSpPr>
          <p:cNvPr id="38" name="Shape 35"/>
          <p:cNvSpPr/>
          <p:nvPr/>
        </p:nvSpPr>
        <p:spPr>
          <a:xfrm>
            <a:off x="4322978" y="4471416"/>
            <a:ext cx="3545738" cy="1298448"/>
          </a:xfrm>
          <a:prstGeom prst="roundRect">
            <a:avLst>
              <a:gd name="adj" fmla="val 5634"/>
            </a:avLst>
          </a:prstGeom>
          <a:solidFill>
            <a:srgbClr val="F2F3F5"/>
          </a:solidFill>
          <a:ln w="12700">
            <a:solidFill>
              <a:srgbClr val="F2F3F5"/>
            </a:solidFill>
            <a:prstDash val="solid"/>
          </a:ln>
        </p:spPr>
        <p:txBody>
          <a:bodyPr/>
          <a:lstStyle/>
          <a:p>
            <a:endParaRPr lang="fr-BE"/>
          </a:p>
        </p:txBody>
      </p:sp>
      <p:sp>
        <p:nvSpPr>
          <p:cNvPr id="39" name="Text 36"/>
          <p:cNvSpPr txBox="1"/>
          <p:nvPr/>
        </p:nvSpPr>
        <p:spPr>
          <a:xfrm>
            <a:off x="4505858" y="4562856"/>
            <a:ext cx="2357018" cy="320040"/>
          </a:xfrm>
          <a:prstGeom prst="rect">
            <a:avLst/>
          </a:prstGeom>
          <a:noFill/>
          <a:ln/>
        </p:spPr>
        <p:txBody>
          <a:bodyPr wrap="square" lIns="0" tIns="0" rIns="0" bIns="0" rtlCol="0" anchor="ctr"/>
          <a:lstStyle/>
          <a:p>
            <a:pPr marL="0" indent="0">
              <a:buNone/>
            </a:pPr>
            <a:r>
              <a:rPr lang="en-US" sz="1400" b="1" dirty="0">
                <a:solidFill>
                  <a:srgbClr val="E8590C"/>
                </a:solidFill>
                <a:latin typeface="Arial" pitchFamily="34" charset="0"/>
                <a:ea typeface="Arial" pitchFamily="34" charset="-122"/>
                <a:cs typeface="Arial" pitchFamily="34" charset="-120"/>
              </a:rPr>
              <a:t>S8  </a:t>
            </a:r>
            <a:r>
              <a:rPr lang="en-US" sz="1400" b="1" dirty="0">
                <a:solidFill>
                  <a:srgbClr val="16181D"/>
                </a:solidFill>
                <a:latin typeface="Arial" pitchFamily="34" charset="0"/>
                <a:ea typeface="Arial" pitchFamily="34" charset="-122"/>
                <a:cs typeface="Arial" pitchFamily="34" charset="-120"/>
              </a:rPr>
              <a:t>Tester</a:t>
            </a:r>
            <a:endParaRPr lang="en-US" sz="1400" dirty="0"/>
          </a:p>
        </p:txBody>
      </p:sp>
      <p:sp>
        <p:nvSpPr>
          <p:cNvPr id="40" name="Text 37"/>
          <p:cNvSpPr txBox="1"/>
          <p:nvPr/>
        </p:nvSpPr>
        <p:spPr>
          <a:xfrm>
            <a:off x="6817157" y="4581144"/>
            <a:ext cx="914400" cy="274320"/>
          </a:xfrm>
          <a:prstGeom prst="rect">
            <a:avLst/>
          </a:prstGeom>
          <a:noFill/>
          <a:ln/>
        </p:spPr>
        <p:txBody>
          <a:bodyPr wrap="square" lIns="0" tIns="0" rIns="0" bIns="0" rtlCol="0" anchor="ctr"/>
          <a:lstStyle/>
          <a:p>
            <a:pPr marL="0" indent="0" algn="r">
              <a:buNone/>
            </a:pPr>
            <a:r>
              <a:rPr lang="en-US" sz="1100" b="1" dirty="0">
                <a:solidFill>
                  <a:srgbClr val="E8590C"/>
                </a:solidFill>
                <a:latin typeface="Calibri" pitchFamily="34" charset="0"/>
                <a:ea typeface="Calibri" pitchFamily="34" charset="-122"/>
                <a:cs typeface="Calibri" pitchFamily="34" charset="-120"/>
              </a:rPr>
              <a:t>Livrable 3</a:t>
            </a:r>
            <a:endParaRPr lang="en-US" sz="1100" dirty="0"/>
          </a:p>
        </p:txBody>
      </p:sp>
      <p:sp>
        <p:nvSpPr>
          <p:cNvPr id="41" name="Text 38"/>
          <p:cNvSpPr txBox="1"/>
          <p:nvPr/>
        </p:nvSpPr>
        <p:spPr>
          <a:xfrm>
            <a:off x="4505858" y="4901184"/>
            <a:ext cx="3179978" cy="502920"/>
          </a:xfrm>
          <a:prstGeom prst="rect">
            <a:avLst/>
          </a:prstGeom>
          <a:noFill/>
          <a:ln/>
        </p:spPr>
        <p:txBody>
          <a:bodyPr wrap="square" lIns="0" tIns="0" rIns="0" bIns="0" rtlCol="0" anchor="t"/>
          <a:lstStyle/>
          <a:p>
            <a:pPr marL="0" indent="0">
              <a:buNone/>
            </a:pPr>
            <a:r>
              <a:rPr lang="en-US" sz="1200" dirty="0">
                <a:solidFill>
                  <a:srgbClr val="5F6670"/>
                </a:solidFill>
                <a:latin typeface="Calibri" pitchFamily="34" charset="0"/>
                <a:ea typeface="Calibri" pitchFamily="34" charset="-122"/>
                <a:cs typeface="Calibri" pitchFamily="34" charset="-120"/>
              </a:rPr>
              <a:t>tests unitaires · xUnit · tests d'intégration · mocks · couverture · tests de charge (k6)</a:t>
            </a:r>
            <a:endParaRPr lang="en-US" sz="1200" dirty="0"/>
          </a:p>
        </p:txBody>
      </p:sp>
      <p:sp>
        <p:nvSpPr>
          <p:cNvPr id="42" name="Text 39"/>
          <p:cNvSpPr txBox="1"/>
          <p:nvPr/>
        </p:nvSpPr>
        <p:spPr>
          <a:xfrm>
            <a:off x="4505858" y="5404104"/>
            <a:ext cx="3179978" cy="292608"/>
          </a:xfrm>
          <a:prstGeom prst="rect">
            <a:avLst/>
          </a:prstGeom>
          <a:noFill/>
          <a:ln/>
        </p:spPr>
        <p:txBody>
          <a:bodyPr wrap="square" lIns="0" tIns="0" rIns="0" bIns="0" rtlCol="0" anchor="ctr"/>
          <a:lstStyle/>
          <a:p>
            <a:pPr marL="0" indent="0">
              <a:buNone/>
            </a:pPr>
            <a:r>
              <a:rPr lang="en-US" sz="1150" i="1" dirty="0">
                <a:solidFill>
                  <a:srgbClr val="16181D"/>
                </a:solidFill>
                <a:latin typeface="Calibri" pitchFamily="34" charset="0"/>
                <a:ea typeface="Calibri" pitchFamily="34" charset="-122"/>
                <a:cs typeface="Calibri" pitchFamily="34" charset="-120"/>
              </a:rPr>
              <a:t>→ des règles vérifiées automatiquement</a:t>
            </a:r>
            <a:endParaRPr lang="en-US" sz="1150" dirty="0"/>
          </a:p>
        </p:txBody>
      </p:sp>
      <p:sp>
        <p:nvSpPr>
          <p:cNvPr id="43" name="Shape 40"/>
          <p:cNvSpPr/>
          <p:nvPr/>
        </p:nvSpPr>
        <p:spPr>
          <a:xfrm>
            <a:off x="8005877" y="4471416"/>
            <a:ext cx="3545738" cy="1298448"/>
          </a:xfrm>
          <a:prstGeom prst="roundRect">
            <a:avLst>
              <a:gd name="adj" fmla="val 5634"/>
            </a:avLst>
          </a:prstGeom>
          <a:solidFill>
            <a:srgbClr val="F2F3F5"/>
          </a:solidFill>
          <a:ln w="12700">
            <a:solidFill>
              <a:srgbClr val="F2F3F5"/>
            </a:solidFill>
            <a:prstDash val="solid"/>
          </a:ln>
        </p:spPr>
        <p:txBody>
          <a:bodyPr/>
          <a:lstStyle/>
          <a:p>
            <a:endParaRPr lang="fr-BE"/>
          </a:p>
        </p:txBody>
      </p:sp>
      <p:sp>
        <p:nvSpPr>
          <p:cNvPr id="44" name="Text 41"/>
          <p:cNvSpPr txBox="1"/>
          <p:nvPr/>
        </p:nvSpPr>
        <p:spPr>
          <a:xfrm>
            <a:off x="8188757" y="4562856"/>
            <a:ext cx="2357018" cy="320040"/>
          </a:xfrm>
          <a:prstGeom prst="rect">
            <a:avLst/>
          </a:prstGeom>
          <a:noFill/>
          <a:ln/>
        </p:spPr>
        <p:txBody>
          <a:bodyPr wrap="square" lIns="0" tIns="0" rIns="0" bIns="0" rtlCol="0" anchor="ctr"/>
          <a:lstStyle/>
          <a:p>
            <a:pPr marL="0" indent="0">
              <a:buNone/>
            </a:pPr>
            <a:r>
              <a:rPr lang="en-US" sz="1400" b="1" dirty="0">
                <a:solidFill>
                  <a:srgbClr val="E8590C"/>
                </a:solidFill>
                <a:latin typeface="Arial" pitchFamily="34" charset="0"/>
                <a:ea typeface="Arial" pitchFamily="34" charset="-122"/>
                <a:cs typeface="Arial" pitchFamily="34" charset="-120"/>
              </a:rPr>
              <a:t>S9  </a:t>
            </a:r>
            <a:r>
              <a:rPr lang="en-US" sz="1400" b="1" dirty="0">
                <a:solidFill>
                  <a:srgbClr val="16181D"/>
                </a:solidFill>
                <a:latin typeface="Arial" pitchFamily="34" charset="0"/>
                <a:ea typeface="Arial" pitchFamily="34" charset="-122"/>
                <a:cs typeface="Arial" pitchFamily="34" charset="-120"/>
              </a:rPr>
              <a:t>Livrer</a:t>
            </a:r>
            <a:endParaRPr lang="en-US" sz="1400" dirty="0"/>
          </a:p>
        </p:txBody>
      </p:sp>
      <p:sp>
        <p:nvSpPr>
          <p:cNvPr id="45" name="Text 42"/>
          <p:cNvSpPr txBox="1"/>
          <p:nvPr/>
        </p:nvSpPr>
        <p:spPr>
          <a:xfrm>
            <a:off x="8188757" y="4901184"/>
            <a:ext cx="3179978" cy="502920"/>
          </a:xfrm>
          <a:prstGeom prst="rect">
            <a:avLst/>
          </a:prstGeom>
          <a:noFill/>
          <a:ln/>
        </p:spPr>
        <p:txBody>
          <a:bodyPr wrap="square" lIns="0" tIns="0" rIns="0" bIns="0" rtlCol="0" anchor="t"/>
          <a:lstStyle/>
          <a:p>
            <a:pPr marL="0" indent="0">
              <a:buNone/>
            </a:pPr>
            <a:r>
              <a:rPr lang="en-US" sz="1200" dirty="0">
                <a:solidFill>
                  <a:srgbClr val="5F6670"/>
                </a:solidFill>
                <a:latin typeface="Calibri" pitchFamily="34" charset="0"/>
                <a:ea typeface="Calibri" pitchFamily="34" charset="-122"/>
                <a:cs typeface="Calibri" pitchFamily="34" charset="-120"/>
              </a:rPr>
              <a:t>sprint review · rétrospective · démonstration · QCM final</a:t>
            </a:r>
            <a:endParaRPr lang="en-US" sz="1200" dirty="0"/>
          </a:p>
        </p:txBody>
      </p:sp>
      <p:sp>
        <p:nvSpPr>
          <p:cNvPr id="46" name="Text 43"/>
          <p:cNvSpPr txBox="1"/>
          <p:nvPr/>
        </p:nvSpPr>
        <p:spPr>
          <a:xfrm>
            <a:off x="8188757" y="5404104"/>
            <a:ext cx="3179978" cy="292608"/>
          </a:xfrm>
          <a:prstGeom prst="rect">
            <a:avLst/>
          </a:prstGeom>
          <a:noFill/>
          <a:ln/>
        </p:spPr>
        <p:txBody>
          <a:bodyPr wrap="square" lIns="0" tIns="0" rIns="0" bIns="0" rtlCol="0" anchor="ctr"/>
          <a:lstStyle/>
          <a:p>
            <a:pPr marL="0" indent="0">
              <a:buNone/>
            </a:pPr>
            <a:r>
              <a:rPr lang="en-US" sz="1150" i="1" dirty="0">
                <a:solidFill>
                  <a:srgbClr val="16181D"/>
                </a:solidFill>
                <a:latin typeface="Calibri" pitchFamily="34" charset="0"/>
                <a:ea typeface="Calibri" pitchFamily="34" charset="-122"/>
                <a:cs typeface="Calibri" pitchFamily="34" charset="-120"/>
              </a:rPr>
              <a:t>→ une application complète, prête pour le Q2</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OÙ ÇA MÈNE · Q2</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Programmation sécurisée : on attaque, puis on protège</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32</a:t>
            </a:r>
            <a:endParaRPr lang="en-US" sz="1000" dirty="0"/>
          </a:p>
        </p:txBody>
      </p:sp>
      <p:sp>
        <p:nvSpPr>
          <p:cNvPr id="8" name="Shape 5"/>
          <p:cNvSpPr/>
          <p:nvPr/>
        </p:nvSpPr>
        <p:spPr>
          <a:xfrm>
            <a:off x="640080" y="1691640"/>
            <a:ext cx="3545738" cy="1298448"/>
          </a:xfrm>
          <a:prstGeom prst="roundRect">
            <a:avLst>
              <a:gd name="adj" fmla="val 5634"/>
            </a:avLst>
          </a:prstGeom>
          <a:solidFill>
            <a:srgbClr val="16181D"/>
          </a:solidFill>
          <a:ln w="12700">
            <a:solidFill>
              <a:srgbClr val="16181D"/>
            </a:solidFill>
            <a:prstDash val="solid"/>
          </a:ln>
        </p:spPr>
        <p:txBody>
          <a:bodyPr/>
          <a:lstStyle/>
          <a:p>
            <a:endParaRPr lang="fr-BE"/>
          </a:p>
        </p:txBody>
      </p:sp>
      <p:sp>
        <p:nvSpPr>
          <p:cNvPr id="9" name="Text 6"/>
          <p:cNvSpPr txBox="1"/>
          <p:nvPr/>
        </p:nvSpPr>
        <p:spPr>
          <a:xfrm>
            <a:off x="822960" y="1783080"/>
            <a:ext cx="2357018" cy="320040"/>
          </a:xfrm>
          <a:prstGeom prst="rect">
            <a:avLst/>
          </a:prstGeom>
          <a:noFill/>
          <a:ln/>
        </p:spPr>
        <p:txBody>
          <a:bodyPr wrap="square" lIns="0" tIns="0" rIns="0" bIns="0" rtlCol="0" anchor="ctr"/>
          <a:lstStyle/>
          <a:p>
            <a:pPr marL="0" indent="0">
              <a:buNone/>
            </a:pPr>
            <a:r>
              <a:rPr lang="en-US" sz="1400" b="1" dirty="0">
                <a:solidFill>
                  <a:srgbClr val="E8590C"/>
                </a:solidFill>
                <a:latin typeface="Arial" pitchFamily="34" charset="0"/>
                <a:ea typeface="Arial" pitchFamily="34" charset="-122"/>
                <a:cs typeface="Arial" pitchFamily="34" charset="-120"/>
              </a:rPr>
              <a:t>P1  </a:t>
            </a:r>
            <a:r>
              <a:rPr lang="en-US" sz="1400" b="1" dirty="0">
                <a:solidFill>
                  <a:srgbClr val="FFFFFF"/>
                </a:solidFill>
                <a:latin typeface="Arial" pitchFamily="34" charset="0"/>
                <a:ea typeface="Arial" pitchFamily="34" charset="-122"/>
                <a:cs typeface="Arial" pitchFamily="34" charset="-120"/>
              </a:rPr>
              <a:t>Les vulnérabilités</a:t>
            </a:r>
            <a:endParaRPr lang="en-US" sz="1400" dirty="0"/>
          </a:p>
        </p:txBody>
      </p:sp>
      <p:sp>
        <p:nvSpPr>
          <p:cNvPr id="10" name="Text 7"/>
          <p:cNvSpPr txBox="1"/>
          <p:nvPr/>
        </p:nvSpPr>
        <p:spPr>
          <a:xfrm>
            <a:off x="822960" y="2121408"/>
            <a:ext cx="3179978" cy="502920"/>
          </a:xfrm>
          <a:prstGeom prst="rect">
            <a:avLst/>
          </a:prstGeom>
          <a:noFill/>
          <a:ln/>
        </p:spPr>
        <p:txBody>
          <a:bodyPr wrap="square" lIns="0" tIns="0" rIns="0" bIns="0" rtlCol="0" anchor="t"/>
          <a:lstStyle/>
          <a:p>
            <a:pPr marL="0" indent="0">
              <a:buNone/>
            </a:pPr>
            <a:r>
              <a:rPr lang="en-US" sz="1200" dirty="0">
                <a:solidFill>
                  <a:srgbClr val="C9CDD3"/>
                </a:solidFill>
                <a:latin typeface="Calibri" pitchFamily="34" charset="0"/>
                <a:ea typeface="Calibri" pitchFamily="34" charset="-122"/>
                <a:cs typeface="Calibri" pitchFamily="34" charset="-120"/>
              </a:rPr>
              <a:t>OWASP Top 10 · CWE · CVE · CVSS · veille</a:t>
            </a:r>
            <a:endParaRPr lang="en-US" sz="1200" dirty="0"/>
          </a:p>
        </p:txBody>
      </p:sp>
      <p:sp>
        <p:nvSpPr>
          <p:cNvPr id="11" name="Text 8"/>
          <p:cNvSpPr txBox="1"/>
          <p:nvPr/>
        </p:nvSpPr>
        <p:spPr>
          <a:xfrm>
            <a:off x="822960" y="2624328"/>
            <a:ext cx="3179978" cy="292608"/>
          </a:xfrm>
          <a:prstGeom prst="rect">
            <a:avLst/>
          </a:prstGeom>
          <a:noFill/>
          <a:ln/>
        </p:spPr>
        <p:txBody>
          <a:bodyPr wrap="square" lIns="0" tIns="0" rIns="0" bIns="0" rtlCol="0" anchor="ctr"/>
          <a:lstStyle/>
          <a:p>
            <a:pPr marL="0" indent="0">
              <a:buNone/>
            </a:pPr>
            <a:r>
              <a:rPr lang="en-US" sz="1150" i="1" dirty="0">
                <a:solidFill>
                  <a:srgbClr val="FFA94D"/>
                </a:solidFill>
                <a:latin typeface="Calibri" pitchFamily="34" charset="0"/>
                <a:ea typeface="Calibri" pitchFamily="34" charset="-122"/>
                <a:cs typeface="Calibri" pitchFamily="34" charset="-120"/>
              </a:rPr>
              <a:t>→ l'audit de votre application</a:t>
            </a:r>
            <a:endParaRPr lang="en-US" sz="1150" dirty="0"/>
          </a:p>
        </p:txBody>
      </p:sp>
      <p:sp>
        <p:nvSpPr>
          <p:cNvPr id="12" name="Shape 9"/>
          <p:cNvSpPr/>
          <p:nvPr/>
        </p:nvSpPr>
        <p:spPr>
          <a:xfrm>
            <a:off x="4322978" y="1691640"/>
            <a:ext cx="3545738" cy="1298448"/>
          </a:xfrm>
          <a:prstGeom prst="roundRect">
            <a:avLst>
              <a:gd name="adj" fmla="val 5634"/>
            </a:avLst>
          </a:prstGeom>
          <a:solidFill>
            <a:srgbClr val="16181D"/>
          </a:solidFill>
          <a:ln w="12700">
            <a:solidFill>
              <a:srgbClr val="16181D"/>
            </a:solidFill>
            <a:prstDash val="solid"/>
          </a:ln>
        </p:spPr>
        <p:txBody>
          <a:bodyPr/>
          <a:lstStyle/>
          <a:p>
            <a:endParaRPr lang="fr-BE"/>
          </a:p>
        </p:txBody>
      </p:sp>
      <p:sp>
        <p:nvSpPr>
          <p:cNvPr id="13" name="Text 10"/>
          <p:cNvSpPr txBox="1"/>
          <p:nvPr/>
        </p:nvSpPr>
        <p:spPr>
          <a:xfrm>
            <a:off x="4505858" y="1783080"/>
            <a:ext cx="2357018" cy="320040"/>
          </a:xfrm>
          <a:prstGeom prst="rect">
            <a:avLst/>
          </a:prstGeom>
          <a:noFill/>
          <a:ln/>
        </p:spPr>
        <p:txBody>
          <a:bodyPr wrap="square" lIns="0" tIns="0" rIns="0" bIns="0" rtlCol="0" anchor="ctr"/>
          <a:lstStyle/>
          <a:p>
            <a:pPr marL="0" indent="0">
              <a:buNone/>
            </a:pPr>
            <a:r>
              <a:rPr lang="en-US" sz="1400" b="1" dirty="0">
                <a:solidFill>
                  <a:srgbClr val="E8590C"/>
                </a:solidFill>
                <a:latin typeface="Arial" pitchFamily="34" charset="0"/>
                <a:ea typeface="Arial" pitchFamily="34" charset="-122"/>
                <a:cs typeface="Arial" pitchFamily="34" charset="-120"/>
              </a:rPr>
              <a:t>P2  </a:t>
            </a:r>
            <a:r>
              <a:rPr lang="en-US" sz="1400" b="1" dirty="0">
                <a:solidFill>
                  <a:srgbClr val="FFFFFF"/>
                </a:solidFill>
                <a:latin typeface="Arial" pitchFamily="34" charset="0"/>
                <a:ea typeface="Arial" pitchFamily="34" charset="-122"/>
                <a:cs typeface="Arial" pitchFamily="34" charset="-120"/>
              </a:rPr>
              <a:t>Injections</a:t>
            </a:r>
            <a:endParaRPr lang="en-US" sz="1400" dirty="0"/>
          </a:p>
        </p:txBody>
      </p:sp>
      <p:sp>
        <p:nvSpPr>
          <p:cNvPr id="14" name="Text 11"/>
          <p:cNvSpPr txBox="1"/>
          <p:nvPr/>
        </p:nvSpPr>
        <p:spPr>
          <a:xfrm>
            <a:off x="4505858" y="2121408"/>
            <a:ext cx="3179978" cy="502920"/>
          </a:xfrm>
          <a:prstGeom prst="rect">
            <a:avLst/>
          </a:prstGeom>
          <a:noFill/>
          <a:ln/>
        </p:spPr>
        <p:txBody>
          <a:bodyPr wrap="square" lIns="0" tIns="0" rIns="0" bIns="0" rtlCol="0" anchor="t"/>
          <a:lstStyle/>
          <a:p>
            <a:pPr marL="0" indent="0">
              <a:buNone/>
            </a:pPr>
            <a:r>
              <a:rPr lang="en-US" sz="1200" dirty="0">
                <a:solidFill>
                  <a:srgbClr val="C9CDD3"/>
                </a:solidFill>
                <a:latin typeface="Calibri" pitchFamily="34" charset="0"/>
                <a:ea typeface="Calibri" pitchFamily="34" charset="-122"/>
                <a:cs typeface="Calibri" pitchFamily="34" charset="-120"/>
              </a:rPr>
              <a:t>injection SQL · injection de commandes · path traversal · requêtes paramétrées</a:t>
            </a:r>
            <a:endParaRPr lang="en-US" sz="1200" dirty="0"/>
          </a:p>
        </p:txBody>
      </p:sp>
      <p:sp>
        <p:nvSpPr>
          <p:cNvPr id="15" name="Text 12"/>
          <p:cNvSpPr txBox="1"/>
          <p:nvPr/>
        </p:nvSpPr>
        <p:spPr>
          <a:xfrm>
            <a:off x="4505858" y="2624328"/>
            <a:ext cx="3179978" cy="292608"/>
          </a:xfrm>
          <a:prstGeom prst="rect">
            <a:avLst/>
          </a:prstGeom>
          <a:noFill/>
          <a:ln/>
        </p:spPr>
        <p:txBody>
          <a:bodyPr wrap="square" lIns="0" tIns="0" rIns="0" bIns="0" rtlCol="0" anchor="ctr"/>
          <a:lstStyle/>
          <a:p>
            <a:pPr marL="0" indent="0">
              <a:buNone/>
            </a:pPr>
            <a:r>
              <a:rPr lang="en-US" sz="1150" i="1" dirty="0">
                <a:solidFill>
                  <a:srgbClr val="FFA94D"/>
                </a:solidFill>
                <a:latin typeface="Calibri" pitchFamily="34" charset="0"/>
                <a:ea typeface="Calibri" pitchFamily="34" charset="-122"/>
                <a:cs typeface="Calibri" pitchFamily="34" charset="-120"/>
              </a:rPr>
              <a:t>→ MOVEit rejoué sur IncidentHub</a:t>
            </a:r>
            <a:endParaRPr lang="en-US" sz="1150" dirty="0"/>
          </a:p>
        </p:txBody>
      </p:sp>
      <p:sp>
        <p:nvSpPr>
          <p:cNvPr id="16" name="Shape 13"/>
          <p:cNvSpPr/>
          <p:nvPr/>
        </p:nvSpPr>
        <p:spPr>
          <a:xfrm>
            <a:off x="8005877" y="1691640"/>
            <a:ext cx="3545738" cy="1298448"/>
          </a:xfrm>
          <a:prstGeom prst="roundRect">
            <a:avLst>
              <a:gd name="adj" fmla="val 5634"/>
            </a:avLst>
          </a:prstGeom>
          <a:solidFill>
            <a:srgbClr val="16181D"/>
          </a:solidFill>
          <a:ln w="12700">
            <a:solidFill>
              <a:srgbClr val="16181D"/>
            </a:solidFill>
            <a:prstDash val="solid"/>
          </a:ln>
        </p:spPr>
        <p:txBody>
          <a:bodyPr/>
          <a:lstStyle/>
          <a:p>
            <a:endParaRPr lang="fr-BE"/>
          </a:p>
        </p:txBody>
      </p:sp>
      <p:sp>
        <p:nvSpPr>
          <p:cNvPr id="17" name="Text 14"/>
          <p:cNvSpPr txBox="1"/>
          <p:nvPr/>
        </p:nvSpPr>
        <p:spPr>
          <a:xfrm>
            <a:off x="8188757" y="1783080"/>
            <a:ext cx="2357018" cy="320040"/>
          </a:xfrm>
          <a:prstGeom prst="rect">
            <a:avLst/>
          </a:prstGeom>
          <a:noFill/>
          <a:ln/>
        </p:spPr>
        <p:txBody>
          <a:bodyPr wrap="square" lIns="0" tIns="0" rIns="0" bIns="0" rtlCol="0" anchor="ctr"/>
          <a:lstStyle/>
          <a:p>
            <a:pPr marL="0" indent="0">
              <a:buNone/>
            </a:pPr>
            <a:r>
              <a:rPr lang="en-US" sz="1400" b="1" dirty="0">
                <a:solidFill>
                  <a:srgbClr val="E8590C"/>
                </a:solidFill>
                <a:latin typeface="Arial" pitchFamily="34" charset="0"/>
                <a:ea typeface="Arial" pitchFamily="34" charset="-122"/>
                <a:cs typeface="Arial" pitchFamily="34" charset="-120"/>
              </a:rPr>
              <a:t>P3  </a:t>
            </a:r>
            <a:r>
              <a:rPr lang="en-US" sz="1400" b="1" dirty="0">
                <a:solidFill>
                  <a:srgbClr val="FFFFFF"/>
                </a:solidFill>
                <a:latin typeface="Arial" pitchFamily="34" charset="0"/>
                <a:ea typeface="Arial" pitchFamily="34" charset="-122"/>
                <a:cs typeface="Arial" pitchFamily="34" charset="-120"/>
              </a:rPr>
              <a:t>Le navigateur</a:t>
            </a:r>
            <a:endParaRPr lang="en-US" sz="1400" dirty="0"/>
          </a:p>
        </p:txBody>
      </p:sp>
      <p:sp>
        <p:nvSpPr>
          <p:cNvPr id="18" name="Text 15"/>
          <p:cNvSpPr txBox="1"/>
          <p:nvPr/>
        </p:nvSpPr>
        <p:spPr>
          <a:xfrm>
            <a:off x="8188757" y="2121408"/>
            <a:ext cx="3179978" cy="502920"/>
          </a:xfrm>
          <a:prstGeom prst="rect">
            <a:avLst/>
          </a:prstGeom>
          <a:noFill/>
          <a:ln/>
        </p:spPr>
        <p:txBody>
          <a:bodyPr wrap="square" lIns="0" tIns="0" rIns="0" bIns="0" rtlCol="0" anchor="t"/>
          <a:lstStyle/>
          <a:p>
            <a:pPr marL="0" indent="0">
              <a:buNone/>
            </a:pPr>
            <a:r>
              <a:rPr lang="en-US" sz="1200" dirty="0">
                <a:solidFill>
                  <a:srgbClr val="C9CDD3"/>
                </a:solidFill>
                <a:latin typeface="Calibri" pitchFamily="34" charset="0"/>
                <a:ea typeface="Calibri" pitchFamily="34" charset="-122"/>
                <a:cs typeface="Calibri" pitchFamily="34" charset="-120"/>
              </a:rPr>
              <a:t>XSS · CSP · CORS · cookies sécurisés</a:t>
            </a:r>
            <a:endParaRPr lang="en-US" sz="1200" dirty="0"/>
          </a:p>
        </p:txBody>
      </p:sp>
      <p:sp>
        <p:nvSpPr>
          <p:cNvPr id="19" name="Text 16"/>
          <p:cNvSpPr txBox="1"/>
          <p:nvPr/>
        </p:nvSpPr>
        <p:spPr>
          <a:xfrm>
            <a:off x="8188757" y="2624328"/>
            <a:ext cx="3179978" cy="292608"/>
          </a:xfrm>
          <a:prstGeom prst="rect">
            <a:avLst/>
          </a:prstGeom>
          <a:noFill/>
          <a:ln/>
        </p:spPr>
        <p:txBody>
          <a:bodyPr wrap="square" lIns="0" tIns="0" rIns="0" bIns="0" rtlCol="0" anchor="ctr"/>
          <a:lstStyle/>
          <a:p>
            <a:pPr marL="0" indent="0">
              <a:buNone/>
            </a:pPr>
            <a:r>
              <a:rPr lang="en-US" sz="1150" i="1" dirty="0">
                <a:solidFill>
                  <a:srgbClr val="FFA94D"/>
                </a:solidFill>
                <a:latin typeface="Calibri" pitchFamily="34" charset="0"/>
                <a:ea typeface="Calibri" pitchFamily="34" charset="-122"/>
                <a:cs typeface="Calibri" pitchFamily="34" charset="-120"/>
              </a:rPr>
              <a:t>→ des pages qui ne trahissent pas l'utilisateur</a:t>
            </a:r>
            <a:endParaRPr lang="en-US" sz="1150" dirty="0"/>
          </a:p>
        </p:txBody>
      </p:sp>
      <p:sp>
        <p:nvSpPr>
          <p:cNvPr id="20" name="Shape 17"/>
          <p:cNvSpPr/>
          <p:nvPr/>
        </p:nvSpPr>
        <p:spPr>
          <a:xfrm>
            <a:off x="640080" y="3081528"/>
            <a:ext cx="3545738" cy="1298448"/>
          </a:xfrm>
          <a:prstGeom prst="roundRect">
            <a:avLst>
              <a:gd name="adj" fmla="val 5634"/>
            </a:avLst>
          </a:prstGeom>
          <a:solidFill>
            <a:srgbClr val="16181D"/>
          </a:solidFill>
          <a:ln w="12700">
            <a:solidFill>
              <a:srgbClr val="16181D"/>
            </a:solidFill>
            <a:prstDash val="solid"/>
          </a:ln>
        </p:spPr>
        <p:txBody>
          <a:bodyPr/>
          <a:lstStyle/>
          <a:p>
            <a:endParaRPr lang="fr-BE"/>
          </a:p>
        </p:txBody>
      </p:sp>
      <p:sp>
        <p:nvSpPr>
          <p:cNvPr id="21" name="Text 18"/>
          <p:cNvSpPr txBox="1"/>
          <p:nvPr/>
        </p:nvSpPr>
        <p:spPr>
          <a:xfrm>
            <a:off x="822960" y="3172968"/>
            <a:ext cx="2357018" cy="320040"/>
          </a:xfrm>
          <a:prstGeom prst="rect">
            <a:avLst/>
          </a:prstGeom>
          <a:noFill/>
          <a:ln/>
        </p:spPr>
        <p:txBody>
          <a:bodyPr wrap="square" lIns="0" tIns="0" rIns="0" bIns="0" rtlCol="0" anchor="ctr"/>
          <a:lstStyle/>
          <a:p>
            <a:pPr marL="0" indent="0">
              <a:buNone/>
            </a:pPr>
            <a:r>
              <a:rPr lang="en-US" sz="1400" b="1" dirty="0">
                <a:solidFill>
                  <a:srgbClr val="E8590C"/>
                </a:solidFill>
                <a:latin typeface="Arial" pitchFamily="34" charset="0"/>
                <a:ea typeface="Arial" pitchFamily="34" charset="-122"/>
                <a:cs typeface="Arial" pitchFamily="34" charset="-120"/>
              </a:rPr>
              <a:t>P4  </a:t>
            </a:r>
            <a:r>
              <a:rPr lang="en-US" sz="1400" b="1" dirty="0">
                <a:solidFill>
                  <a:srgbClr val="FFFFFF"/>
                </a:solidFill>
                <a:latin typeface="Arial" pitchFamily="34" charset="0"/>
                <a:ea typeface="Arial" pitchFamily="34" charset="-122"/>
                <a:cs typeface="Arial" pitchFamily="34" charset="-120"/>
              </a:rPr>
              <a:t>Authentification</a:t>
            </a:r>
            <a:endParaRPr lang="en-US" sz="1400" dirty="0"/>
          </a:p>
        </p:txBody>
      </p:sp>
      <p:sp>
        <p:nvSpPr>
          <p:cNvPr id="22" name="Text 19"/>
          <p:cNvSpPr txBox="1"/>
          <p:nvPr/>
        </p:nvSpPr>
        <p:spPr>
          <a:xfrm>
            <a:off x="822960" y="3511296"/>
            <a:ext cx="3179978" cy="502920"/>
          </a:xfrm>
          <a:prstGeom prst="rect">
            <a:avLst/>
          </a:prstGeom>
          <a:noFill/>
          <a:ln/>
        </p:spPr>
        <p:txBody>
          <a:bodyPr wrap="square" lIns="0" tIns="0" rIns="0" bIns="0" rtlCol="0" anchor="t"/>
          <a:lstStyle/>
          <a:p>
            <a:pPr marL="0" indent="0">
              <a:buNone/>
            </a:pPr>
            <a:r>
              <a:rPr lang="en-US" sz="1200" dirty="0">
                <a:solidFill>
                  <a:srgbClr val="C9CDD3"/>
                </a:solidFill>
                <a:latin typeface="Calibri" pitchFamily="34" charset="0"/>
                <a:ea typeface="Calibri" pitchFamily="34" charset="-122"/>
                <a:cs typeface="Calibri" pitchFamily="34" charset="-120"/>
              </a:rPr>
              <a:t>OpenID Connect · OAuth 2 · JWT · Keycloak · MFA · passkeys</a:t>
            </a:r>
            <a:endParaRPr lang="en-US" sz="1200" dirty="0"/>
          </a:p>
        </p:txBody>
      </p:sp>
      <p:sp>
        <p:nvSpPr>
          <p:cNvPr id="23" name="Text 20"/>
          <p:cNvSpPr txBox="1"/>
          <p:nvPr/>
        </p:nvSpPr>
        <p:spPr>
          <a:xfrm>
            <a:off x="822960" y="4014216"/>
            <a:ext cx="3179978" cy="292608"/>
          </a:xfrm>
          <a:prstGeom prst="rect">
            <a:avLst/>
          </a:prstGeom>
          <a:noFill/>
          <a:ln/>
        </p:spPr>
        <p:txBody>
          <a:bodyPr wrap="square" lIns="0" tIns="0" rIns="0" bIns="0" rtlCol="0" anchor="ctr"/>
          <a:lstStyle/>
          <a:p>
            <a:pPr marL="0" indent="0">
              <a:buNone/>
            </a:pPr>
            <a:r>
              <a:rPr lang="en-US" sz="1150" i="1" dirty="0">
                <a:solidFill>
                  <a:srgbClr val="FFA94D"/>
                </a:solidFill>
                <a:latin typeface="Calibri" pitchFamily="34" charset="0"/>
                <a:ea typeface="Calibri" pitchFamily="34" charset="-122"/>
                <a:cs typeface="Calibri" pitchFamily="34" charset="-120"/>
              </a:rPr>
              <a:t>→ connexion via Keycloak</a:t>
            </a:r>
            <a:endParaRPr lang="en-US" sz="1150" dirty="0"/>
          </a:p>
        </p:txBody>
      </p:sp>
      <p:sp>
        <p:nvSpPr>
          <p:cNvPr id="24" name="Shape 21"/>
          <p:cNvSpPr/>
          <p:nvPr/>
        </p:nvSpPr>
        <p:spPr>
          <a:xfrm>
            <a:off x="4322978" y="3081528"/>
            <a:ext cx="3545738" cy="1298448"/>
          </a:xfrm>
          <a:prstGeom prst="roundRect">
            <a:avLst>
              <a:gd name="adj" fmla="val 5634"/>
            </a:avLst>
          </a:prstGeom>
          <a:solidFill>
            <a:srgbClr val="16181D"/>
          </a:solidFill>
          <a:ln w="12700">
            <a:solidFill>
              <a:srgbClr val="16181D"/>
            </a:solidFill>
            <a:prstDash val="solid"/>
          </a:ln>
        </p:spPr>
        <p:txBody>
          <a:bodyPr/>
          <a:lstStyle/>
          <a:p>
            <a:endParaRPr lang="fr-BE"/>
          </a:p>
        </p:txBody>
      </p:sp>
      <p:sp>
        <p:nvSpPr>
          <p:cNvPr id="25" name="Text 22"/>
          <p:cNvSpPr txBox="1"/>
          <p:nvPr/>
        </p:nvSpPr>
        <p:spPr>
          <a:xfrm>
            <a:off x="4505858" y="3172968"/>
            <a:ext cx="2357018" cy="320040"/>
          </a:xfrm>
          <a:prstGeom prst="rect">
            <a:avLst/>
          </a:prstGeom>
          <a:noFill/>
          <a:ln/>
        </p:spPr>
        <p:txBody>
          <a:bodyPr wrap="square" lIns="0" tIns="0" rIns="0" bIns="0" rtlCol="0" anchor="ctr"/>
          <a:lstStyle/>
          <a:p>
            <a:pPr marL="0" indent="0">
              <a:buNone/>
            </a:pPr>
            <a:r>
              <a:rPr lang="en-US" sz="1400" b="1" dirty="0">
                <a:solidFill>
                  <a:srgbClr val="E8590C"/>
                </a:solidFill>
                <a:latin typeface="Arial" pitchFamily="34" charset="0"/>
                <a:ea typeface="Arial" pitchFamily="34" charset="-122"/>
                <a:cs typeface="Arial" pitchFamily="34" charset="-120"/>
              </a:rPr>
              <a:t>P5  </a:t>
            </a:r>
            <a:r>
              <a:rPr lang="en-US" sz="1400" b="1" dirty="0">
                <a:solidFill>
                  <a:srgbClr val="FFFFFF"/>
                </a:solidFill>
                <a:latin typeface="Arial" pitchFamily="34" charset="0"/>
                <a:ea typeface="Arial" pitchFamily="34" charset="-122"/>
                <a:cs typeface="Arial" pitchFamily="34" charset="-120"/>
              </a:rPr>
              <a:t>Autorisation</a:t>
            </a:r>
            <a:endParaRPr lang="en-US" sz="1400" dirty="0"/>
          </a:p>
        </p:txBody>
      </p:sp>
      <p:sp>
        <p:nvSpPr>
          <p:cNvPr id="26" name="Text 23"/>
          <p:cNvSpPr txBox="1"/>
          <p:nvPr/>
        </p:nvSpPr>
        <p:spPr>
          <a:xfrm>
            <a:off x="4505858" y="3511296"/>
            <a:ext cx="3179978" cy="502920"/>
          </a:xfrm>
          <a:prstGeom prst="rect">
            <a:avLst/>
          </a:prstGeom>
          <a:noFill/>
          <a:ln/>
        </p:spPr>
        <p:txBody>
          <a:bodyPr wrap="square" lIns="0" tIns="0" rIns="0" bIns="0" rtlCol="0" anchor="t"/>
          <a:lstStyle/>
          <a:p>
            <a:pPr marL="0" indent="0">
              <a:buNone/>
            </a:pPr>
            <a:r>
              <a:rPr lang="en-US" sz="1200" dirty="0">
                <a:solidFill>
                  <a:srgbClr val="C9CDD3"/>
                </a:solidFill>
                <a:latin typeface="Calibri" pitchFamily="34" charset="0"/>
                <a:ea typeface="Calibri" pitchFamily="34" charset="-122"/>
                <a:cs typeface="Calibri" pitchFamily="34" charset="-120"/>
              </a:rPr>
              <a:t>rôles (RBAC) · policies · IDOR · moindre privilège</a:t>
            </a:r>
            <a:endParaRPr lang="en-US" sz="1200" dirty="0"/>
          </a:p>
        </p:txBody>
      </p:sp>
      <p:sp>
        <p:nvSpPr>
          <p:cNvPr id="27" name="Text 24"/>
          <p:cNvSpPr txBox="1"/>
          <p:nvPr/>
        </p:nvSpPr>
        <p:spPr>
          <a:xfrm>
            <a:off x="4505858" y="4014216"/>
            <a:ext cx="3179978" cy="292608"/>
          </a:xfrm>
          <a:prstGeom prst="rect">
            <a:avLst/>
          </a:prstGeom>
          <a:noFill/>
          <a:ln/>
        </p:spPr>
        <p:txBody>
          <a:bodyPr wrap="square" lIns="0" tIns="0" rIns="0" bIns="0" rtlCol="0" anchor="ctr"/>
          <a:lstStyle/>
          <a:p>
            <a:pPr marL="0" indent="0">
              <a:buNone/>
            </a:pPr>
            <a:r>
              <a:rPr lang="en-US" sz="1150" i="1" dirty="0">
                <a:solidFill>
                  <a:srgbClr val="FFA94D"/>
                </a:solidFill>
                <a:latin typeface="Calibri" pitchFamily="34" charset="0"/>
                <a:ea typeface="Calibri" pitchFamily="34" charset="-122"/>
                <a:cs typeface="Calibri" pitchFamily="34" charset="-120"/>
              </a:rPr>
              <a:t>→ chacun ne voit que ses incidents</a:t>
            </a:r>
            <a:endParaRPr lang="en-US" sz="1150" dirty="0"/>
          </a:p>
        </p:txBody>
      </p:sp>
      <p:sp>
        <p:nvSpPr>
          <p:cNvPr id="28" name="Shape 25"/>
          <p:cNvSpPr/>
          <p:nvPr/>
        </p:nvSpPr>
        <p:spPr>
          <a:xfrm>
            <a:off x="8005877" y="3081528"/>
            <a:ext cx="3545738" cy="1298448"/>
          </a:xfrm>
          <a:prstGeom prst="roundRect">
            <a:avLst>
              <a:gd name="adj" fmla="val 5634"/>
            </a:avLst>
          </a:prstGeom>
          <a:solidFill>
            <a:srgbClr val="16181D"/>
          </a:solidFill>
          <a:ln w="12700">
            <a:solidFill>
              <a:srgbClr val="16181D"/>
            </a:solidFill>
            <a:prstDash val="solid"/>
          </a:ln>
        </p:spPr>
        <p:txBody>
          <a:bodyPr/>
          <a:lstStyle/>
          <a:p>
            <a:endParaRPr lang="fr-BE"/>
          </a:p>
        </p:txBody>
      </p:sp>
      <p:sp>
        <p:nvSpPr>
          <p:cNvPr id="29" name="Text 26"/>
          <p:cNvSpPr txBox="1"/>
          <p:nvPr/>
        </p:nvSpPr>
        <p:spPr>
          <a:xfrm>
            <a:off x="8188757" y="3172968"/>
            <a:ext cx="2357018" cy="320040"/>
          </a:xfrm>
          <a:prstGeom prst="rect">
            <a:avLst/>
          </a:prstGeom>
          <a:noFill/>
          <a:ln/>
        </p:spPr>
        <p:txBody>
          <a:bodyPr wrap="square" lIns="0" tIns="0" rIns="0" bIns="0" rtlCol="0" anchor="ctr"/>
          <a:lstStyle/>
          <a:p>
            <a:pPr marL="0" indent="0">
              <a:buNone/>
            </a:pPr>
            <a:r>
              <a:rPr lang="en-US" sz="1400" b="1" dirty="0">
                <a:solidFill>
                  <a:srgbClr val="E8590C"/>
                </a:solidFill>
                <a:latin typeface="Arial" pitchFamily="34" charset="0"/>
                <a:ea typeface="Arial" pitchFamily="34" charset="-122"/>
                <a:cs typeface="Arial" pitchFamily="34" charset="-120"/>
              </a:rPr>
              <a:t>P6  </a:t>
            </a:r>
            <a:r>
              <a:rPr lang="en-US" sz="1400" b="1" dirty="0">
                <a:solidFill>
                  <a:srgbClr val="FFFFFF"/>
                </a:solidFill>
                <a:latin typeface="Arial" pitchFamily="34" charset="0"/>
                <a:ea typeface="Arial" pitchFamily="34" charset="-122"/>
                <a:cs typeface="Arial" pitchFamily="34" charset="-120"/>
              </a:rPr>
              <a:t>Données personnelles</a:t>
            </a:r>
            <a:endParaRPr lang="en-US" sz="1400" dirty="0"/>
          </a:p>
        </p:txBody>
      </p:sp>
      <p:sp>
        <p:nvSpPr>
          <p:cNvPr id="30" name="Text 27"/>
          <p:cNvSpPr txBox="1"/>
          <p:nvPr/>
        </p:nvSpPr>
        <p:spPr>
          <a:xfrm>
            <a:off x="8188757" y="3511296"/>
            <a:ext cx="3179978" cy="502920"/>
          </a:xfrm>
          <a:prstGeom prst="rect">
            <a:avLst/>
          </a:prstGeom>
          <a:noFill/>
          <a:ln/>
        </p:spPr>
        <p:txBody>
          <a:bodyPr wrap="square" lIns="0" tIns="0" rIns="0" bIns="0" rtlCol="0" anchor="t"/>
          <a:lstStyle/>
          <a:p>
            <a:pPr marL="0" indent="0">
              <a:buNone/>
            </a:pPr>
            <a:r>
              <a:rPr lang="en-US" sz="1200" dirty="0">
                <a:solidFill>
                  <a:srgbClr val="C9CDD3"/>
                </a:solidFill>
                <a:latin typeface="Calibri" pitchFamily="34" charset="0"/>
                <a:ea typeface="Calibri" pitchFamily="34" charset="-122"/>
                <a:cs typeface="Calibri" pitchFamily="34" charset="-120"/>
              </a:rPr>
              <a:t>RGPD · chiffrement · hachage · gestion des secrets</a:t>
            </a:r>
            <a:endParaRPr lang="en-US" sz="1200" dirty="0"/>
          </a:p>
        </p:txBody>
      </p:sp>
      <p:sp>
        <p:nvSpPr>
          <p:cNvPr id="31" name="Text 28"/>
          <p:cNvSpPr txBox="1"/>
          <p:nvPr/>
        </p:nvSpPr>
        <p:spPr>
          <a:xfrm>
            <a:off x="8188757" y="4014216"/>
            <a:ext cx="3179978" cy="292608"/>
          </a:xfrm>
          <a:prstGeom prst="rect">
            <a:avLst/>
          </a:prstGeom>
          <a:noFill/>
          <a:ln/>
        </p:spPr>
        <p:txBody>
          <a:bodyPr wrap="square" lIns="0" tIns="0" rIns="0" bIns="0" rtlCol="0" anchor="ctr"/>
          <a:lstStyle/>
          <a:p>
            <a:pPr marL="0" indent="0">
              <a:buNone/>
            </a:pPr>
            <a:r>
              <a:rPr lang="en-US" sz="1150" i="1" dirty="0">
                <a:solidFill>
                  <a:srgbClr val="FFA94D"/>
                </a:solidFill>
                <a:latin typeface="Calibri" pitchFamily="34" charset="0"/>
                <a:ea typeface="Calibri" pitchFamily="34" charset="-122"/>
                <a:cs typeface="Calibri" pitchFamily="34" charset="-120"/>
              </a:rPr>
              <a:t>→ des données protégées, même volées</a:t>
            </a:r>
            <a:endParaRPr lang="en-US" sz="1150" dirty="0"/>
          </a:p>
        </p:txBody>
      </p:sp>
      <p:sp>
        <p:nvSpPr>
          <p:cNvPr id="32" name="Shape 29"/>
          <p:cNvSpPr/>
          <p:nvPr/>
        </p:nvSpPr>
        <p:spPr>
          <a:xfrm>
            <a:off x="640080" y="4471416"/>
            <a:ext cx="3545738" cy="1298448"/>
          </a:xfrm>
          <a:prstGeom prst="roundRect">
            <a:avLst>
              <a:gd name="adj" fmla="val 5634"/>
            </a:avLst>
          </a:prstGeom>
          <a:solidFill>
            <a:srgbClr val="16181D"/>
          </a:solidFill>
          <a:ln w="12700">
            <a:solidFill>
              <a:srgbClr val="16181D"/>
            </a:solidFill>
            <a:prstDash val="solid"/>
          </a:ln>
        </p:spPr>
        <p:txBody>
          <a:bodyPr/>
          <a:lstStyle/>
          <a:p>
            <a:endParaRPr lang="fr-BE"/>
          </a:p>
        </p:txBody>
      </p:sp>
      <p:sp>
        <p:nvSpPr>
          <p:cNvPr id="33" name="Text 30"/>
          <p:cNvSpPr txBox="1"/>
          <p:nvPr/>
        </p:nvSpPr>
        <p:spPr>
          <a:xfrm>
            <a:off x="822960" y="4562856"/>
            <a:ext cx="2357018" cy="320040"/>
          </a:xfrm>
          <a:prstGeom prst="rect">
            <a:avLst/>
          </a:prstGeom>
          <a:noFill/>
          <a:ln/>
        </p:spPr>
        <p:txBody>
          <a:bodyPr wrap="square" lIns="0" tIns="0" rIns="0" bIns="0" rtlCol="0" anchor="ctr"/>
          <a:lstStyle/>
          <a:p>
            <a:pPr marL="0" indent="0">
              <a:buNone/>
            </a:pPr>
            <a:r>
              <a:rPr lang="en-US" sz="1400" b="1" dirty="0">
                <a:solidFill>
                  <a:srgbClr val="E8590C"/>
                </a:solidFill>
                <a:latin typeface="Arial" pitchFamily="34" charset="0"/>
                <a:ea typeface="Arial" pitchFamily="34" charset="-122"/>
                <a:cs typeface="Arial" pitchFamily="34" charset="-120"/>
              </a:rPr>
              <a:t>P7  </a:t>
            </a:r>
            <a:r>
              <a:rPr lang="en-US" sz="1400" b="1" dirty="0">
                <a:solidFill>
                  <a:srgbClr val="FFFFFF"/>
                </a:solidFill>
                <a:latin typeface="Arial" pitchFamily="34" charset="0"/>
                <a:ea typeface="Arial" pitchFamily="34" charset="-122"/>
                <a:cs typeface="Arial" pitchFamily="34" charset="-120"/>
              </a:rPr>
              <a:t>Résister</a:t>
            </a:r>
            <a:endParaRPr lang="en-US" sz="1400" dirty="0"/>
          </a:p>
        </p:txBody>
      </p:sp>
      <p:sp>
        <p:nvSpPr>
          <p:cNvPr id="34" name="Text 31"/>
          <p:cNvSpPr txBox="1"/>
          <p:nvPr/>
        </p:nvSpPr>
        <p:spPr>
          <a:xfrm>
            <a:off x="822960" y="4901184"/>
            <a:ext cx="3179978" cy="502920"/>
          </a:xfrm>
          <a:prstGeom prst="rect">
            <a:avLst/>
          </a:prstGeom>
          <a:noFill/>
          <a:ln/>
        </p:spPr>
        <p:txBody>
          <a:bodyPr wrap="square" lIns="0" tIns="0" rIns="0" bIns="0" rtlCol="0" anchor="t"/>
          <a:lstStyle/>
          <a:p>
            <a:pPr marL="0" indent="0">
              <a:buNone/>
            </a:pPr>
            <a:r>
              <a:rPr lang="en-US" sz="1200" dirty="0">
                <a:solidFill>
                  <a:srgbClr val="C9CDD3"/>
                </a:solidFill>
                <a:latin typeface="Calibri" pitchFamily="34" charset="0"/>
                <a:ea typeface="Calibri" pitchFamily="34" charset="-122"/>
                <a:cs typeface="Calibri" pitchFamily="34" charset="-120"/>
              </a:rPr>
              <a:t>buffer overflow · rate limiting · déni de service · microservices</a:t>
            </a:r>
            <a:endParaRPr lang="en-US" sz="1200" dirty="0"/>
          </a:p>
        </p:txBody>
      </p:sp>
      <p:sp>
        <p:nvSpPr>
          <p:cNvPr id="35" name="Text 32"/>
          <p:cNvSpPr txBox="1"/>
          <p:nvPr/>
        </p:nvSpPr>
        <p:spPr>
          <a:xfrm>
            <a:off x="822960" y="5404104"/>
            <a:ext cx="3179978" cy="292608"/>
          </a:xfrm>
          <a:prstGeom prst="rect">
            <a:avLst/>
          </a:prstGeom>
          <a:noFill/>
          <a:ln/>
        </p:spPr>
        <p:txBody>
          <a:bodyPr wrap="square" lIns="0" tIns="0" rIns="0" bIns="0" rtlCol="0" anchor="ctr"/>
          <a:lstStyle/>
          <a:p>
            <a:pPr marL="0" indent="0">
              <a:buNone/>
            </a:pPr>
            <a:r>
              <a:rPr lang="en-US" sz="1150" i="1" dirty="0">
                <a:solidFill>
                  <a:srgbClr val="FFA94D"/>
                </a:solidFill>
                <a:latin typeface="Calibri" pitchFamily="34" charset="0"/>
                <a:ea typeface="Calibri" pitchFamily="34" charset="-122"/>
                <a:cs typeface="Calibri" pitchFamily="34" charset="-120"/>
              </a:rPr>
              <a:t>→ une API qui tient la charge</a:t>
            </a:r>
            <a:endParaRPr lang="en-US" sz="1150" dirty="0"/>
          </a:p>
        </p:txBody>
      </p:sp>
      <p:sp>
        <p:nvSpPr>
          <p:cNvPr id="36" name="Shape 33"/>
          <p:cNvSpPr/>
          <p:nvPr/>
        </p:nvSpPr>
        <p:spPr>
          <a:xfrm>
            <a:off x="4322978" y="4471416"/>
            <a:ext cx="3545738" cy="1298448"/>
          </a:xfrm>
          <a:prstGeom prst="roundRect">
            <a:avLst>
              <a:gd name="adj" fmla="val 5634"/>
            </a:avLst>
          </a:prstGeom>
          <a:solidFill>
            <a:srgbClr val="16181D"/>
          </a:solidFill>
          <a:ln w="12700">
            <a:solidFill>
              <a:srgbClr val="16181D"/>
            </a:solidFill>
            <a:prstDash val="solid"/>
          </a:ln>
        </p:spPr>
        <p:txBody>
          <a:bodyPr/>
          <a:lstStyle/>
          <a:p>
            <a:endParaRPr lang="fr-BE"/>
          </a:p>
        </p:txBody>
      </p:sp>
      <p:sp>
        <p:nvSpPr>
          <p:cNvPr id="37" name="Text 34"/>
          <p:cNvSpPr txBox="1"/>
          <p:nvPr/>
        </p:nvSpPr>
        <p:spPr>
          <a:xfrm>
            <a:off x="4505858" y="4562856"/>
            <a:ext cx="2357018" cy="320040"/>
          </a:xfrm>
          <a:prstGeom prst="rect">
            <a:avLst/>
          </a:prstGeom>
          <a:noFill/>
          <a:ln/>
        </p:spPr>
        <p:txBody>
          <a:bodyPr wrap="square" lIns="0" tIns="0" rIns="0" bIns="0" rtlCol="0" anchor="ctr"/>
          <a:lstStyle/>
          <a:p>
            <a:pPr marL="0" indent="0">
              <a:buNone/>
            </a:pPr>
            <a:r>
              <a:rPr lang="en-US" sz="1400" b="1" dirty="0">
                <a:solidFill>
                  <a:srgbClr val="E8590C"/>
                </a:solidFill>
                <a:latin typeface="Arial" pitchFamily="34" charset="0"/>
                <a:ea typeface="Arial" pitchFamily="34" charset="-122"/>
                <a:cs typeface="Arial" pitchFamily="34" charset="-120"/>
              </a:rPr>
              <a:t>P8  </a:t>
            </a:r>
            <a:r>
              <a:rPr lang="en-US" sz="1400" b="1" dirty="0">
                <a:solidFill>
                  <a:srgbClr val="FFFFFF"/>
                </a:solidFill>
                <a:latin typeface="Arial" pitchFamily="34" charset="0"/>
                <a:ea typeface="Arial" pitchFamily="34" charset="-122"/>
                <a:cs typeface="Arial" pitchFamily="34" charset="-120"/>
              </a:rPr>
              <a:t>Détecter</a:t>
            </a:r>
            <a:endParaRPr lang="en-US" sz="1400" dirty="0"/>
          </a:p>
        </p:txBody>
      </p:sp>
      <p:sp>
        <p:nvSpPr>
          <p:cNvPr id="38" name="Text 35"/>
          <p:cNvSpPr txBox="1"/>
          <p:nvPr/>
        </p:nvSpPr>
        <p:spPr>
          <a:xfrm>
            <a:off x="4505858" y="4901184"/>
            <a:ext cx="3179978" cy="502920"/>
          </a:xfrm>
          <a:prstGeom prst="rect">
            <a:avLst/>
          </a:prstGeom>
          <a:noFill/>
          <a:ln/>
        </p:spPr>
        <p:txBody>
          <a:bodyPr wrap="square" lIns="0" tIns="0" rIns="0" bIns="0" rtlCol="0" anchor="t"/>
          <a:lstStyle/>
          <a:p>
            <a:pPr marL="0" indent="0">
              <a:buNone/>
            </a:pPr>
            <a:r>
              <a:rPr lang="en-US" sz="1200" dirty="0">
                <a:solidFill>
                  <a:srgbClr val="C9CDD3"/>
                </a:solidFill>
                <a:latin typeface="Calibri" pitchFamily="34" charset="0"/>
                <a:ea typeface="Calibri" pitchFamily="34" charset="-122"/>
                <a:cs typeface="Calibri" pitchFamily="34" charset="-120"/>
              </a:rPr>
              <a:t>logs · ELK · SonarQube · analyse de dépendances · pipeline CI sécurisé</a:t>
            </a:r>
            <a:endParaRPr lang="en-US" sz="1200" dirty="0"/>
          </a:p>
        </p:txBody>
      </p:sp>
      <p:sp>
        <p:nvSpPr>
          <p:cNvPr id="39" name="Text 36"/>
          <p:cNvSpPr txBox="1"/>
          <p:nvPr/>
        </p:nvSpPr>
        <p:spPr>
          <a:xfrm>
            <a:off x="4505858" y="5404104"/>
            <a:ext cx="3179978" cy="292608"/>
          </a:xfrm>
          <a:prstGeom prst="rect">
            <a:avLst/>
          </a:prstGeom>
          <a:noFill/>
          <a:ln/>
        </p:spPr>
        <p:txBody>
          <a:bodyPr wrap="square" lIns="0" tIns="0" rIns="0" bIns="0" rtlCol="0" anchor="ctr"/>
          <a:lstStyle/>
          <a:p>
            <a:pPr marL="0" indent="0">
              <a:buNone/>
            </a:pPr>
            <a:r>
              <a:rPr lang="en-US" sz="1150" i="1" dirty="0">
                <a:solidFill>
                  <a:srgbClr val="FFA94D"/>
                </a:solidFill>
                <a:latin typeface="Calibri" pitchFamily="34" charset="0"/>
                <a:ea typeface="Calibri" pitchFamily="34" charset="-122"/>
                <a:cs typeface="Calibri" pitchFamily="34" charset="-120"/>
              </a:rPr>
              <a:t>→ savoir qu'on est attaqué</a:t>
            </a:r>
            <a:endParaRPr lang="en-US" sz="1150" dirty="0"/>
          </a:p>
        </p:txBody>
      </p:sp>
      <p:sp>
        <p:nvSpPr>
          <p:cNvPr id="40" name="Shape 37"/>
          <p:cNvSpPr/>
          <p:nvPr/>
        </p:nvSpPr>
        <p:spPr>
          <a:xfrm>
            <a:off x="8005877" y="4471416"/>
            <a:ext cx="3545738" cy="1298448"/>
          </a:xfrm>
          <a:prstGeom prst="roundRect">
            <a:avLst>
              <a:gd name="adj" fmla="val 5634"/>
            </a:avLst>
          </a:prstGeom>
          <a:solidFill>
            <a:srgbClr val="16181D"/>
          </a:solidFill>
          <a:ln w="12700">
            <a:solidFill>
              <a:srgbClr val="16181D"/>
            </a:solidFill>
            <a:prstDash val="solid"/>
          </a:ln>
        </p:spPr>
        <p:txBody>
          <a:bodyPr/>
          <a:lstStyle/>
          <a:p>
            <a:endParaRPr lang="fr-BE"/>
          </a:p>
        </p:txBody>
      </p:sp>
      <p:sp>
        <p:nvSpPr>
          <p:cNvPr id="41" name="Text 38"/>
          <p:cNvSpPr txBox="1"/>
          <p:nvPr/>
        </p:nvSpPr>
        <p:spPr>
          <a:xfrm>
            <a:off x="8188757" y="4562856"/>
            <a:ext cx="2357018" cy="320040"/>
          </a:xfrm>
          <a:prstGeom prst="rect">
            <a:avLst/>
          </a:prstGeom>
          <a:noFill/>
          <a:ln/>
        </p:spPr>
        <p:txBody>
          <a:bodyPr wrap="square" lIns="0" tIns="0" rIns="0" bIns="0" rtlCol="0" anchor="ctr"/>
          <a:lstStyle/>
          <a:p>
            <a:pPr marL="0" indent="0">
              <a:buNone/>
            </a:pPr>
            <a:r>
              <a:rPr lang="en-US" sz="1400" b="1" dirty="0">
                <a:solidFill>
                  <a:srgbClr val="E8590C"/>
                </a:solidFill>
                <a:latin typeface="Arial" pitchFamily="34" charset="0"/>
                <a:ea typeface="Arial" pitchFamily="34" charset="-122"/>
                <a:cs typeface="Arial" pitchFamily="34" charset="-120"/>
              </a:rPr>
              <a:t>P9  </a:t>
            </a:r>
            <a:r>
              <a:rPr lang="en-US" sz="1400" b="1" dirty="0">
                <a:solidFill>
                  <a:srgbClr val="FFFFFF"/>
                </a:solidFill>
                <a:latin typeface="Arial" pitchFamily="34" charset="0"/>
                <a:ea typeface="Arial" pitchFamily="34" charset="-122"/>
                <a:cs typeface="Arial" pitchFamily="34" charset="-120"/>
              </a:rPr>
              <a:t>Bug bounty et IA</a:t>
            </a:r>
            <a:endParaRPr lang="en-US" sz="1400" dirty="0"/>
          </a:p>
        </p:txBody>
      </p:sp>
      <p:sp>
        <p:nvSpPr>
          <p:cNvPr id="42" name="Text 39"/>
          <p:cNvSpPr txBox="1"/>
          <p:nvPr/>
        </p:nvSpPr>
        <p:spPr>
          <a:xfrm>
            <a:off x="8188757" y="4901184"/>
            <a:ext cx="3179978" cy="502920"/>
          </a:xfrm>
          <a:prstGeom prst="rect">
            <a:avLst/>
          </a:prstGeom>
          <a:noFill/>
          <a:ln/>
        </p:spPr>
        <p:txBody>
          <a:bodyPr wrap="square" lIns="0" tIns="0" rIns="0" bIns="0" rtlCol="0" anchor="t"/>
          <a:lstStyle/>
          <a:p>
            <a:pPr marL="0" indent="0">
              <a:buNone/>
            </a:pPr>
            <a:r>
              <a:rPr lang="en-US" sz="1200" dirty="0">
                <a:solidFill>
                  <a:srgbClr val="C9CDD3"/>
                </a:solidFill>
                <a:latin typeface="Calibri" pitchFamily="34" charset="0"/>
                <a:ea typeface="Calibri" pitchFamily="34" charset="-122"/>
                <a:cs typeface="Calibri" pitchFamily="34" charset="-120"/>
              </a:rPr>
              <a:t>bug bounty · divulgation responsable · prompt injection · OWASP Top 10 LLM</a:t>
            </a:r>
            <a:endParaRPr lang="en-US" sz="1200" dirty="0"/>
          </a:p>
        </p:txBody>
      </p:sp>
      <p:sp>
        <p:nvSpPr>
          <p:cNvPr id="43" name="Text 40"/>
          <p:cNvSpPr txBox="1"/>
          <p:nvPr/>
        </p:nvSpPr>
        <p:spPr>
          <a:xfrm>
            <a:off x="8188757" y="5404104"/>
            <a:ext cx="3179978" cy="292608"/>
          </a:xfrm>
          <a:prstGeom prst="rect">
            <a:avLst/>
          </a:prstGeom>
          <a:noFill/>
          <a:ln/>
        </p:spPr>
        <p:txBody>
          <a:bodyPr wrap="square" lIns="0" tIns="0" rIns="0" bIns="0" rtlCol="0" anchor="ctr"/>
          <a:lstStyle/>
          <a:p>
            <a:pPr marL="0" indent="0">
              <a:buNone/>
            </a:pPr>
            <a:r>
              <a:rPr lang="en-US" sz="1150" i="1" dirty="0">
                <a:solidFill>
                  <a:srgbClr val="FFA94D"/>
                </a:solidFill>
                <a:latin typeface="Calibri" pitchFamily="34" charset="0"/>
                <a:ea typeface="Calibri" pitchFamily="34" charset="-122"/>
                <a:cs typeface="Calibri" pitchFamily="34" charset="-120"/>
              </a:rPr>
              <a:t>→ vos applis testées par les autres équipes</a:t>
            </a:r>
            <a:endParaRPr lang="en-US" sz="11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DEUX PARCOURS</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Même application, deux façons d'avancer</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33</a:t>
            </a:r>
            <a:endParaRPr lang="en-US" sz="1000" dirty="0"/>
          </a:p>
        </p:txBody>
      </p:sp>
      <p:sp>
        <p:nvSpPr>
          <p:cNvPr id="8" name="Shape 5"/>
          <p:cNvSpPr/>
          <p:nvPr/>
        </p:nvSpPr>
        <p:spPr>
          <a:xfrm>
            <a:off x="640080" y="1828800"/>
            <a:ext cx="5303520" cy="3291840"/>
          </a:xfrm>
          <a:prstGeom prst="roundRect">
            <a:avLst>
              <a:gd name="adj" fmla="val 2222"/>
            </a:avLst>
          </a:prstGeom>
          <a:solidFill>
            <a:srgbClr val="F2F3F5"/>
          </a:solidFill>
          <a:ln w="12700">
            <a:solidFill>
              <a:srgbClr val="F2F3F5"/>
            </a:solidFill>
            <a:prstDash val="solid"/>
          </a:ln>
        </p:spPr>
        <p:txBody>
          <a:bodyPr/>
          <a:lstStyle/>
          <a:p>
            <a:endParaRPr lang="fr-BE"/>
          </a:p>
        </p:txBody>
      </p:sp>
      <p:sp>
        <p:nvSpPr>
          <p:cNvPr id="9" name="Shape 6"/>
          <p:cNvSpPr/>
          <p:nvPr/>
        </p:nvSpPr>
        <p:spPr>
          <a:xfrm>
            <a:off x="960120" y="2103120"/>
            <a:ext cx="320040" cy="320040"/>
          </a:xfrm>
          <a:prstGeom prst="ellipse">
            <a:avLst/>
          </a:prstGeom>
          <a:solidFill>
            <a:srgbClr val="2F9E44"/>
          </a:solidFill>
          <a:ln w="12700">
            <a:solidFill>
              <a:srgbClr val="2F9E44"/>
            </a:solidFill>
            <a:prstDash val="solid"/>
          </a:ln>
        </p:spPr>
        <p:txBody>
          <a:bodyPr/>
          <a:lstStyle/>
          <a:p>
            <a:endParaRPr lang="fr-BE"/>
          </a:p>
        </p:txBody>
      </p:sp>
      <p:sp>
        <p:nvSpPr>
          <p:cNvPr id="10" name="Text 7"/>
          <p:cNvSpPr txBox="1"/>
          <p:nvPr/>
        </p:nvSpPr>
        <p:spPr>
          <a:xfrm>
            <a:off x="1417320" y="2029968"/>
            <a:ext cx="4114800" cy="457200"/>
          </a:xfrm>
          <a:prstGeom prst="rect">
            <a:avLst/>
          </a:prstGeom>
          <a:noFill/>
          <a:ln/>
        </p:spPr>
        <p:txBody>
          <a:bodyPr wrap="square" lIns="0" tIns="0" rIns="0" bIns="0" rtlCol="0" anchor="ctr"/>
          <a:lstStyle/>
          <a:p>
            <a:pPr marL="0" indent="0">
              <a:buNone/>
            </a:pPr>
            <a:r>
              <a:rPr lang="en-US" sz="2400" b="1" dirty="0">
                <a:solidFill>
                  <a:srgbClr val="16181D"/>
                </a:solidFill>
                <a:latin typeface="Arial" pitchFamily="34" charset="0"/>
                <a:ea typeface="Arial" pitchFamily="34" charset="-122"/>
                <a:cs typeface="Arial" pitchFamily="34" charset="-120"/>
              </a:rPr>
              <a:t>Apprendre</a:t>
            </a:r>
            <a:endParaRPr lang="en-US" sz="2400" dirty="0"/>
          </a:p>
        </p:txBody>
      </p:sp>
      <p:sp>
        <p:nvSpPr>
          <p:cNvPr id="11" name="Text 8"/>
          <p:cNvSpPr txBox="1"/>
          <p:nvPr/>
        </p:nvSpPr>
        <p:spPr>
          <a:xfrm>
            <a:off x="960120" y="2606040"/>
            <a:ext cx="4663440" cy="365760"/>
          </a:xfrm>
          <a:prstGeom prst="rect">
            <a:avLst/>
          </a:prstGeom>
          <a:noFill/>
          <a:ln/>
        </p:spPr>
        <p:txBody>
          <a:bodyPr wrap="square" lIns="0" tIns="0" rIns="0" bIns="0" rtlCol="0" anchor="ctr"/>
          <a:lstStyle/>
          <a:p>
            <a:pPr marL="0" indent="0">
              <a:buNone/>
            </a:pPr>
            <a:r>
              <a:rPr lang="en-US" sz="1500" i="1" dirty="0">
                <a:solidFill>
                  <a:srgbClr val="5F6670"/>
                </a:solidFill>
                <a:latin typeface="Calibri" pitchFamily="34" charset="0"/>
                <a:ea typeface="Calibri" pitchFamily="34" charset="-122"/>
                <a:cs typeface="Calibri" pitchFamily="34" charset="-120"/>
              </a:rPr>
              <a:t>Profil non développeur, ou code lointain</a:t>
            </a:r>
            <a:endParaRPr lang="en-US" sz="1500" dirty="0"/>
          </a:p>
        </p:txBody>
      </p:sp>
      <p:sp>
        <p:nvSpPr>
          <p:cNvPr id="12" name="Text 9"/>
          <p:cNvSpPr txBox="1"/>
          <p:nvPr/>
        </p:nvSpPr>
        <p:spPr>
          <a:xfrm>
            <a:off x="960120" y="3108960"/>
            <a:ext cx="4663440" cy="19202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rgbClr val="16181D"/>
                </a:solidFill>
                <a:latin typeface="Calibri" pitchFamily="34" charset="0"/>
                <a:ea typeface="Calibri" pitchFamily="34" charset="-122"/>
                <a:cs typeface="Calibri" pitchFamily="34" charset="-120"/>
              </a:rPr>
              <a:t>Un template avec des étapes guidées</a:t>
            </a:r>
            <a:endParaRPr lang="en-US" sz="1700" dirty="0"/>
          </a:p>
          <a:p>
            <a:pPr marL="228600" indent="-228600">
              <a:spcAft>
                <a:spcPts val="800"/>
              </a:spcAft>
              <a:buSzPct val="100000"/>
              <a:buChar char="•"/>
            </a:pPr>
            <a:r>
              <a:rPr lang="en-US" sz="1700" dirty="0">
                <a:solidFill>
                  <a:srgbClr val="16181D"/>
                </a:solidFill>
                <a:latin typeface="Calibri" pitchFamily="34" charset="0"/>
                <a:ea typeface="Calibri" pitchFamily="34" charset="-122"/>
                <a:cs typeface="Calibri" pitchFamily="34" charset="-120"/>
              </a:rPr>
              <a:t>Des exercices d'entraînement corrigés</a:t>
            </a:r>
            <a:endParaRPr lang="en-US" sz="1700" dirty="0"/>
          </a:p>
          <a:p>
            <a:pPr marL="228600" indent="-228600">
              <a:spcAft>
                <a:spcPts val="800"/>
              </a:spcAft>
              <a:buSzPct val="100000"/>
              <a:buChar char="•"/>
            </a:pPr>
            <a:r>
              <a:rPr lang="en-US" sz="1700" dirty="0">
                <a:solidFill>
                  <a:srgbClr val="16181D"/>
                </a:solidFill>
                <a:latin typeface="Calibri" pitchFamily="34" charset="0"/>
                <a:ea typeface="Calibri" pitchFamily="34" charset="-122"/>
                <a:cs typeface="Calibri" pitchFamily="34" charset="-120"/>
              </a:rPr>
              <a:t>Le canal Entraide et les tuteurs</a:t>
            </a:r>
            <a:endParaRPr lang="en-US" sz="1700" dirty="0"/>
          </a:p>
        </p:txBody>
      </p:sp>
      <p:sp>
        <p:nvSpPr>
          <p:cNvPr id="13" name="Shape 10"/>
          <p:cNvSpPr/>
          <p:nvPr/>
        </p:nvSpPr>
        <p:spPr>
          <a:xfrm>
            <a:off x="6217920" y="1828800"/>
            <a:ext cx="5303520" cy="3291840"/>
          </a:xfrm>
          <a:prstGeom prst="roundRect">
            <a:avLst>
              <a:gd name="adj" fmla="val 2222"/>
            </a:avLst>
          </a:prstGeom>
          <a:solidFill>
            <a:srgbClr val="F2F3F5"/>
          </a:solidFill>
          <a:ln w="12700">
            <a:solidFill>
              <a:srgbClr val="F2F3F5"/>
            </a:solidFill>
            <a:prstDash val="solid"/>
          </a:ln>
        </p:spPr>
        <p:txBody>
          <a:bodyPr/>
          <a:lstStyle/>
          <a:p>
            <a:endParaRPr lang="fr-BE"/>
          </a:p>
        </p:txBody>
      </p:sp>
      <p:sp>
        <p:nvSpPr>
          <p:cNvPr id="14" name="Shape 11"/>
          <p:cNvSpPr/>
          <p:nvPr/>
        </p:nvSpPr>
        <p:spPr>
          <a:xfrm>
            <a:off x="6537960" y="2103120"/>
            <a:ext cx="320040" cy="320040"/>
          </a:xfrm>
          <a:prstGeom prst="ellipse">
            <a:avLst/>
          </a:prstGeom>
          <a:solidFill>
            <a:srgbClr val="1C63B7"/>
          </a:solidFill>
          <a:ln w="12700">
            <a:solidFill>
              <a:srgbClr val="1C63B7"/>
            </a:solidFill>
            <a:prstDash val="solid"/>
          </a:ln>
        </p:spPr>
        <p:txBody>
          <a:bodyPr/>
          <a:lstStyle/>
          <a:p>
            <a:endParaRPr lang="fr-BE"/>
          </a:p>
        </p:txBody>
      </p:sp>
      <p:sp>
        <p:nvSpPr>
          <p:cNvPr id="15" name="Text 12"/>
          <p:cNvSpPr txBox="1"/>
          <p:nvPr/>
        </p:nvSpPr>
        <p:spPr>
          <a:xfrm>
            <a:off x="6995160" y="2029968"/>
            <a:ext cx="4114800" cy="457200"/>
          </a:xfrm>
          <a:prstGeom prst="rect">
            <a:avLst/>
          </a:prstGeom>
          <a:noFill/>
          <a:ln/>
        </p:spPr>
        <p:txBody>
          <a:bodyPr wrap="square" lIns="0" tIns="0" rIns="0" bIns="0" rtlCol="0" anchor="ctr"/>
          <a:lstStyle/>
          <a:p>
            <a:pPr marL="0" indent="0">
              <a:buNone/>
            </a:pPr>
            <a:r>
              <a:rPr lang="en-US" sz="2400" b="1" dirty="0">
                <a:solidFill>
                  <a:srgbClr val="16181D"/>
                </a:solidFill>
                <a:latin typeface="Arial" pitchFamily="34" charset="0"/>
                <a:ea typeface="Arial" pitchFamily="34" charset="-122"/>
                <a:cs typeface="Arial" pitchFamily="34" charset="-120"/>
              </a:rPr>
              <a:t>Approfondir</a:t>
            </a:r>
            <a:endParaRPr lang="en-US" sz="2400" dirty="0"/>
          </a:p>
        </p:txBody>
      </p:sp>
      <p:sp>
        <p:nvSpPr>
          <p:cNvPr id="16" name="Text 13"/>
          <p:cNvSpPr txBox="1"/>
          <p:nvPr/>
        </p:nvSpPr>
        <p:spPr>
          <a:xfrm>
            <a:off x="6537960" y="2606040"/>
            <a:ext cx="4663440" cy="365760"/>
          </a:xfrm>
          <a:prstGeom prst="rect">
            <a:avLst/>
          </a:prstGeom>
          <a:noFill/>
          <a:ln/>
        </p:spPr>
        <p:txBody>
          <a:bodyPr wrap="square" lIns="0" tIns="0" rIns="0" bIns="0" rtlCol="0" anchor="ctr"/>
          <a:lstStyle/>
          <a:p>
            <a:pPr marL="0" indent="0">
              <a:buNone/>
            </a:pPr>
            <a:r>
              <a:rPr lang="en-US" sz="1500" i="1" dirty="0">
                <a:solidFill>
                  <a:srgbClr val="5F6670"/>
                </a:solidFill>
                <a:latin typeface="Calibri" pitchFamily="34" charset="0"/>
                <a:ea typeface="Calibri" pitchFamily="34" charset="-122"/>
                <a:cs typeface="Calibri" pitchFamily="34" charset="-120"/>
              </a:rPr>
              <a:t>Profil développeur</a:t>
            </a:r>
            <a:endParaRPr lang="en-US" sz="1500" dirty="0"/>
          </a:p>
        </p:txBody>
      </p:sp>
      <p:sp>
        <p:nvSpPr>
          <p:cNvPr id="17" name="Text 14"/>
          <p:cNvSpPr txBox="1"/>
          <p:nvPr/>
        </p:nvSpPr>
        <p:spPr>
          <a:xfrm>
            <a:off x="6537960" y="3108960"/>
            <a:ext cx="4663440" cy="19202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rgbClr val="16181D"/>
                </a:solidFill>
                <a:latin typeface="Calibri" pitchFamily="34" charset="0"/>
                <a:ea typeface="Calibri" pitchFamily="34" charset="-122"/>
                <a:cs typeface="Calibri" pitchFamily="34" charset="-120"/>
              </a:rPr>
              <a:t>Même livrable, sans template</a:t>
            </a:r>
            <a:endParaRPr lang="en-US" sz="1700" dirty="0"/>
          </a:p>
          <a:p>
            <a:pPr marL="228600" indent="-228600">
              <a:spcAft>
                <a:spcPts val="800"/>
              </a:spcAft>
              <a:buSzPct val="100000"/>
              <a:buChar char="•"/>
            </a:pPr>
            <a:r>
              <a:rPr lang="en-US" sz="1700" dirty="0">
                <a:solidFill>
                  <a:srgbClr val="16181D"/>
                </a:solidFill>
                <a:latin typeface="Calibri" pitchFamily="34" charset="0"/>
                <a:ea typeface="Calibri" pitchFamily="34" charset="-122"/>
                <a:cs typeface="Calibri" pitchFamily="34" charset="-120"/>
              </a:rPr>
              <a:t>Une extension au choix (CI, architecture, tests avancés)</a:t>
            </a:r>
            <a:endParaRPr lang="en-US" sz="1700" dirty="0"/>
          </a:p>
          <a:p>
            <a:pPr marL="228600" indent="-228600">
              <a:spcAft>
                <a:spcPts val="800"/>
              </a:spcAft>
              <a:buSzPct val="100000"/>
              <a:buChar char="•"/>
            </a:pPr>
            <a:r>
              <a:rPr lang="en-US" sz="1700" dirty="0">
                <a:solidFill>
                  <a:srgbClr val="16181D"/>
                </a:solidFill>
                <a:latin typeface="Calibri" pitchFamily="34" charset="0"/>
                <a:ea typeface="Calibri" pitchFamily="34" charset="-122"/>
                <a:cs typeface="Calibri" pitchFamily="34" charset="-120"/>
              </a:rPr>
              <a:t>Ou tuteur : aider les autres, c'est valorisé</a:t>
            </a:r>
            <a:endParaRPr lang="en-US" sz="1700" dirty="0"/>
          </a:p>
        </p:txBody>
      </p:sp>
      <p:sp>
        <p:nvSpPr>
          <p:cNvPr id="18" name="Text 15"/>
          <p:cNvSpPr txBox="1"/>
          <p:nvPr/>
        </p:nvSpPr>
        <p:spPr>
          <a:xfrm>
            <a:off x="640080" y="5394960"/>
            <a:ext cx="10911535" cy="457200"/>
          </a:xfrm>
          <a:prstGeom prst="rect">
            <a:avLst/>
          </a:prstGeom>
          <a:noFill/>
          <a:ln/>
        </p:spPr>
        <p:txBody>
          <a:bodyPr wrap="square" lIns="0" tIns="0" rIns="0" bIns="0" rtlCol="0" anchor="ctr"/>
          <a:lstStyle/>
          <a:p>
            <a:pPr marL="0" indent="0">
              <a:buNone/>
            </a:pPr>
            <a:r>
              <a:rPr lang="en-US" sz="1600" dirty="0">
                <a:solidFill>
                  <a:srgbClr val="16181D"/>
                </a:solidFill>
                <a:latin typeface="Calibri" pitchFamily="34" charset="0"/>
                <a:ea typeface="Calibri" pitchFamily="34" charset="-122"/>
                <a:cs typeface="Calibri" pitchFamily="34" charset="-120"/>
              </a:rPr>
              <a:t>Même grille d'évaluation sur le socle. Changement de parcours possible une fois, jusqu'à la séance 3.</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ÉVALUATION</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Comment vous êtes évalués</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34</a:t>
            </a:r>
            <a:endParaRPr lang="en-US" sz="1000" dirty="0"/>
          </a:p>
        </p:txBody>
      </p:sp>
      <p:sp>
        <p:nvSpPr>
          <p:cNvPr id="8" name="Shape 5"/>
          <p:cNvSpPr/>
          <p:nvPr/>
        </p:nvSpPr>
        <p:spPr>
          <a:xfrm>
            <a:off x="640080" y="1828800"/>
            <a:ext cx="2560320" cy="2468880"/>
          </a:xfrm>
          <a:prstGeom prst="roundRect">
            <a:avLst>
              <a:gd name="adj" fmla="val 2963"/>
            </a:avLst>
          </a:prstGeom>
          <a:solidFill>
            <a:srgbClr val="F2F3F5"/>
          </a:solidFill>
          <a:ln w="12700">
            <a:solidFill>
              <a:srgbClr val="F2F3F5"/>
            </a:solidFill>
            <a:prstDash val="solid"/>
          </a:ln>
        </p:spPr>
        <p:txBody>
          <a:bodyPr/>
          <a:lstStyle/>
          <a:p>
            <a:endParaRPr lang="fr-BE"/>
          </a:p>
        </p:txBody>
      </p:sp>
      <p:sp>
        <p:nvSpPr>
          <p:cNvPr id="9" name="Text 6"/>
          <p:cNvSpPr txBox="1"/>
          <p:nvPr/>
        </p:nvSpPr>
        <p:spPr>
          <a:xfrm>
            <a:off x="914400" y="1965960"/>
            <a:ext cx="2011680" cy="1097280"/>
          </a:xfrm>
          <a:prstGeom prst="rect">
            <a:avLst/>
          </a:prstGeom>
          <a:noFill/>
          <a:ln/>
        </p:spPr>
        <p:txBody>
          <a:bodyPr wrap="square" lIns="0" tIns="0" rIns="0" bIns="0" rtlCol="0" anchor="ctr"/>
          <a:lstStyle/>
          <a:p>
            <a:pPr marL="0" indent="0">
              <a:buNone/>
            </a:pPr>
            <a:r>
              <a:rPr lang="en-US" sz="6000" b="1" dirty="0">
                <a:solidFill>
                  <a:srgbClr val="E8590C"/>
                </a:solidFill>
                <a:latin typeface="Arial" pitchFamily="34" charset="0"/>
                <a:ea typeface="Arial" pitchFamily="34" charset="-122"/>
                <a:cs typeface="Arial" pitchFamily="34" charset="-120"/>
              </a:rPr>
              <a:t>3</a:t>
            </a:r>
            <a:endParaRPr lang="en-US" sz="6000" dirty="0"/>
          </a:p>
        </p:txBody>
      </p:sp>
      <p:sp>
        <p:nvSpPr>
          <p:cNvPr id="10" name="Text 7"/>
          <p:cNvSpPr txBox="1"/>
          <p:nvPr/>
        </p:nvSpPr>
        <p:spPr>
          <a:xfrm>
            <a:off x="914400" y="3063240"/>
            <a:ext cx="2103120" cy="457200"/>
          </a:xfrm>
          <a:prstGeom prst="rect">
            <a:avLst/>
          </a:prstGeom>
          <a:noFill/>
          <a:ln/>
        </p:spPr>
        <p:txBody>
          <a:bodyPr wrap="square" lIns="0" tIns="0" rIns="0" bIns="0" rtlCol="0" anchor="ctr"/>
          <a:lstStyle/>
          <a:p>
            <a:pPr marL="0" indent="0">
              <a:buNone/>
            </a:pPr>
            <a:r>
              <a:rPr lang="en-US" sz="1800" b="1" dirty="0">
                <a:solidFill>
                  <a:srgbClr val="16181D"/>
                </a:solidFill>
                <a:latin typeface="Arial" pitchFamily="34" charset="0"/>
                <a:ea typeface="Arial" pitchFamily="34" charset="-122"/>
                <a:cs typeface="Arial" pitchFamily="34" charset="-120"/>
              </a:rPr>
              <a:t>Présence</a:t>
            </a:r>
            <a:endParaRPr lang="en-US" sz="1800" dirty="0"/>
          </a:p>
        </p:txBody>
      </p:sp>
      <p:sp>
        <p:nvSpPr>
          <p:cNvPr id="11" name="Text 8"/>
          <p:cNvSpPr txBox="1"/>
          <p:nvPr/>
        </p:nvSpPr>
        <p:spPr>
          <a:xfrm>
            <a:off x="914400" y="3520440"/>
            <a:ext cx="2103120" cy="640080"/>
          </a:xfrm>
          <a:prstGeom prst="rect">
            <a:avLst/>
          </a:prstGeom>
          <a:noFill/>
          <a:ln/>
        </p:spPr>
        <p:txBody>
          <a:bodyPr wrap="square" lIns="0" tIns="0" rIns="0" bIns="0" rtlCol="0" anchor="t"/>
          <a:lstStyle/>
          <a:p>
            <a:pPr marL="0" indent="0">
              <a:buNone/>
            </a:pPr>
            <a:r>
              <a:rPr lang="en-US" sz="1400" dirty="0">
                <a:solidFill>
                  <a:srgbClr val="5F6670"/>
                </a:solidFill>
                <a:latin typeface="Calibri" pitchFamily="34" charset="0"/>
                <a:ea typeface="Calibri" pitchFamily="34" charset="-122"/>
                <a:cs typeface="Calibri" pitchFamily="34" charset="-120"/>
              </a:rPr>
              <a:t>Check-in à chaque séance</a:t>
            </a:r>
            <a:endParaRPr lang="en-US" sz="1400" dirty="0"/>
          </a:p>
        </p:txBody>
      </p:sp>
      <p:sp>
        <p:nvSpPr>
          <p:cNvPr id="12" name="Shape 9"/>
          <p:cNvSpPr/>
          <p:nvPr/>
        </p:nvSpPr>
        <p:spPr>
          <a:xfrm>
            <a:off x="3383280" y="1828800"/>
            <a:ext cx="2560320" cy="2468880"/>
          </a:xfrm>
          <a:prstGeom prst="roundRect">
            <a:avLst>
              <a:gd name="adj" fmla="val 2963"/>
            </a:avLst>
          </a:prstGeom>
          <a:solidFill>
            <a:srgbClr val="F2F3F5"/>
          </a:solidFill>
          <a:ln w="12700">
            <a:solidFill>
              <a:srgbClr val="F2F3F5"/>
            </a:solidFill>
            <a:prstDash val="solid"/>
          </a:ln>
        </p:spPr>
        <p:txBody>
          <a:bodyPr/>
          <a:lstStyle/>
          <a:p>
            <a:endParaRPr lang="fr-BE"/>
          </a:p>
        </p:txBody>
      </p:sp>
      <p:sp>
        <p:nvSpPr>
          <p:cNvPr id="13" name="Text 10"/>
          <p:cNvSpPr txBox="1"/>
          <p:nvPr/>
        </p:nvSpPr>
        <p:spPr>
          <a:xfrm>
            <a:off x="3657600" y="1965960"/>
            <a:ext cx="2011680" cy="1097280"/>
          </a:xfrm>
          <a:prstGeom prst="rect">
            <a:avLst/>
          </a:prstGeom>
          <a:noFill/>
          <a:ln/>
        </p:spPr>
        <p:txBody>
          <a:bodyPr wrap="square" lIns="0" tIns="0" rIns="0" bIns="0" rtlCol="0" anchor="ctr"/>
          <a:lstStyle/>
          <a:p>
            <a:pPr marL="0" indent="0">
              <a:buNone/>
            </a:pPr>
            <a:r>
              <a:rPr lang="en-US" sz="6000" b="1" dirty="0">
                <a:solidFill>
                  <a:srgbClr val="E8590C"/>
                </a:solidFill>
                <a:latin typeface="Arial" pitchFamily="34" charset="0"/>
                <a:ea typeface="Arial" pitchFamily="34" charset="-122"/>
                <a:cs typeface="Arial" pitchFamily="34" charset="-120"/>
              </a:rPr>
              <a:t>5</a:t>
            </a:r>
            <a:endParaRPr lang="en-US" sz="6000" dirty="0"/>
          </a:p>
        </p:txBody>
      </p:sp>
      <p:sp>
        <p:nvSpPr>
          <p:cNvPr id="14" name="Text 11"/>
          <p:cNvSpPr txBox="1"/>
          <p:nvPr/>
        </p:nvSpPr>
        <p:spPr>
          <a:xfrm>
            <a:off x="3657600" y="3063240"/>
            <a:ext cx="2103120" cy="457200"/>
          </a:xfrm>
          <a:prstGeom prst="rect">
            <a:avLst/>
          </a:prstGeom>
          <a:noFill/>
          <a:ln/>
        </p:spPr>
        <p:txBody>
          <a:bodyPr wrap="square" lIns="0" tIns="0" rIns="0" bIns="0" rtlCol="0" anchor="ctr"/>
          <a:lstStyle/>
          <a:p>
            <a:pPr marL="0" indent="0">
              <a:buNone/>
            </a:pPr>
            <a:r>
              <a:rPr lang="en-US" sz="1800" b="1" dirty="0">
                <a:solidFill>
                  <a:srgbClr val="16181D"/>
                </a:solidFill>
                <a:latin typeface="Arial" pitchFamily="34" charset="0"/>
                <a:ea typeface="Arial" pitchFamily="34" charset="-122"/>
                <a:cs typeface="Arial" pitchFamily="34" charset="-120"/>
              </a:rPr>
              <a:t>QCM de séance</a:t>
            </a:r>
            <a:endParaRPr lang="en-US" sz="1800" dirty="0"/>
          </a:p>
        </p:txBody>
      </p:sp>
      <p:sp>
        <p:nvSpPr>
          <p:cNvPr id="15" name="Text 12"/>
          <p:cNvSpPr txBox="1"/>
          <p:nvPr/>
        </p:nvSpPr>
        <p:spPr>
          <a:xfrm>
            <a:off x="3657600" y="3520440"/>
            <a:ext cx="2103120" cy="640080"/>
          </a:xfrm>
          <a:prstGeom prst="rect">
            <a:avLst/>
          </a:prstGeom>
          <a:noFill/>
          <a:ln/>
        </p:spPr>
        <p:txBody>
          <a:bodyPr wrap="square" lIns="0" tIns="0" rIns="0" bIns="0" rtlCol="0" anchor="t"/>
          <a:lstStyle/>
          <a:p>
            <a:pPr marL="0" indent="0">
              <a:buNone/>
            </a:pPr>
            <a:r>
              <a:rPr lang="en-US" sz="1400" dirty="0">
                <a:solidFill>
                  <a:srgbClr val="5F6670"/>
                </a:solidFill>
                <a:latin typeface="Calibri" pitchFamily="34" charset="0"/>
                <a:ea typeface="Calibri" pitchFamily="34" charset="-122"/>
                <a:cs typeface="Calibri" pitchFamily="34" charset="-120"/>
              </a:rPr>
              <a:t>Les 7 meilleurs</a:t>
            </a:r>
            <a:endParaRPr lang="en-US" sz="1400" dirty="0"/>
          </a:p>
        </p:txBody>
      </p:sp>
      <p:sp>
        <p:nvSpPr>
          <p:cNvPr id="16" name="Shape 13"/>
          <p:cNvSpPr/>
          <p:nvPr/>
        </p:nvSpPr>
        <p:spPr>
          <a:xfrm>
            <a:off x="6126480" y="1828800"/>
            <a:ext cx="2560320" cy="2468880"/>
          </a:xfrm>
          <a:prstGeom prst="roundRect">
            <a:avLst>
              <a:gd name="adj" fmla="val 2963"/>
            </a:avLst>
          </a:prstGeom>
          <a:solidFill>
            <a:srgbClr val="F2F3F5"/>
          </a:solidFill>
          <a:ln w="12700">
            <a:solidFill>
              <a:srgbClr val="F2F3F5"/>
            </a:solidFill>
            <a:prstDash val="solid"/>
          </a:ln>
        </p:spPr>
        <p:txBody>
          <a:bodyPr/>
          <a:lstStyle/>
          <a:p>
            <a:endParaRPr lang="fr-BE"/>
          </a:p>
        </p:txBody>
      </p:sp>
      <p:sp>
        <p:nvSpPr>
          <p:cNvPr id="17" name="Text 14"/>
          <p:cNvSpPr txBox="1"/>
          <p:nvPr/>
        </p:nvSpPr>
        <p:spPr>
          <a:xfrm>
            <a:off x="6400800" y="1965960"/>
            <a:ext cx="2011680" cy="1097280"/>
          </a:xfrm>
          <a:prstGeom prst="rect">
            <a:avLst/>
          </a:prstGeom>
          <a:noFill/>
          <a:ln/>
        </p:spPr>
        <p:txBody>
          <a:bodyPr wrap="square" lIns="0" tIns="0" rIns="0" bIns="0" rtlCol="0" anchor="ctr"/>
          <a:lstStyle/>
          <a:p>
            <a:pPr marL="0" indent="0">
              <a:buNone/>
            </a:pPr>
            <a:r>
              <a:rPr lang="en-US" sz="6000" b="1" dirty="0">
                <a:solidFill>
                  <a:srgbClr val="E8590C"/>
                </a:solidFill>
                <a:latin typeface="Arial" pitchFamily="34" charset="0"/>
                <a:ea typeface="Arial" pitchFamily="34" charset="-122"/>
                <a:cs typeface="Arial" pitchFamily="34" charset="-120"/>
              </a:rPr>
              <a:t>8</a:t>
            </a:r>
            <a:endParaRPr lang="en-US" sz="6000" dirty="0"/>
          </a:p>
        </p:txBody>
      </p:sp>
      <p:sp>
        <p:nvSpPr>
          <p:cNvPr id="18" name="Text 15"/>
          <p:cNvSpPr txBox="1"/>
          <p:nvPr/>
        </p:nvSpPr>
        <p:spPr>
          <a:xfrm>
            <a:off x="6400800" y="3063240"/>
            <a:ext cx="2103120" cy="457200"/>
          </a:xfrm>
          <a:prstGeom prst="rect">
            <a:avLst/>
          </a:prstGeom>
          <a:noFill/>
          <a:ln/>
        </p:spPr>
        <p:txBody>
          <a:bodyPr wrap="square" lIns="0" tIns="0" rIns="0" bIns="0" rtlCol="0" anchor="ctr"/>
          <a:lstStyle/>
          <a:p>
            <a:pPr marL="0" indent="0">
              <a:buNone/>
            </a:pPr>
            <a:r>
              <a:rPr lang="en-US" sz="1800" b="1" dirty="0">
                <a:solidFill>
                  <a:srgbClr val="16181D"/>
                </a:solidFill>
                <a:latin typeface="Arial" pitchFamily="34" charset="0"/>
                <a:ea typeface="Arial" pitchFamily="34" charset="-122"/>
                <a:cs typeface="Arial" pitchFamily="34" charset="-120"/>
              </a:rPr>
              <a:t>3 livrables</a:t>
            </a:r>
            <a:endParaRPr lang="en-US" sz="1800" dirty="0"/>
          </a:p>
        </p:txBody>
      </p:sp>
      <p:sp>
        <p:nvSpPr>
          <p:cNvPr id="19" name="Text 16"/>
          <p:cNvSpPr txBox="1"/>
          <p:nvPr/>
        </p:nvSpPr>
        <p:spPr>
          <a:xfrm>
            <a:off x="6400800" y="3520440"/>
            <a:ext cx="2103120" cy="640080"/>
          </a:xfrm>
          <a:prstGeom prst="rect">
            <a:avLst/>
          </a:prstGeom>
          <a:noFill/>
          <a:ln/>
        </p:spPr>
        <p:txBody>
          <a:bodyPr wrap="square" lIns="0" tIns="0" rIns="0" bIns="0" rtlCol="0" anchor="t"/>
          <a:lstStyle/>
          <a:p>
            <a:pPr marL="0" indent="0">
              <a:buNone/>
            </a:pPr>
            <a:r>
              <a:rPr lang="en-US" sz="1400" dirty="0">
                <a:solidFill>
                  <a:srgbClr val="5F6670"/>
                </a:solidFill>
                <a:latin typeface="Calibri" pitchFamily="34" charset="0"/>
                <a:ea typeface="Calibri" pitchFamily="34" charset="-122"/>
                <a:cs typeface="Calibri" pitchFamily="34" charset="-120"/>
              </a:rPr>
              <a:t>Après les séances 2, 5 et 8</a:t>
            </a:r>
            <a:endParaRPr lang="en-US" sz="1400" dirty="0"/>
          </a:p>
        </p:txBody>
      </p:sp>
      <p:sp>
        <p:nvSpPr>
          <p:cNvPr id="20" name="Shape 17"/>
          <p:cNvSpPr/>
          <p:nvPr/>
        </p:nvSpPr>
        <p:spPr>
          <a:xfrm>
            <a:off x="8869680" y="1828800"/>
            <a:ext cx="2560320" cy="2468880"/>
          </a:xfrm>
          <a:prstGeom prst="roundRect">
            <a:avLst>
              <a:gd name="adj" fmla="val 2963"/>
            </a:avLst>
          </a:prstGeom>
          <a:solidFill>
            <a:srgbClr val="F2F3F5"/>
          </a:solidFill>
          <a:ln w="12700">
            <a:solidFill>
              <a:srgbClr val="F2F3F5"/>
            </a:solidFill>
            <a:prstDash val="solid"/>
          </a:ln>
        </p:spPr>
        <p:txBody>
          <a:bodyPr/>
          <a:lstStyle/>
          <a:p>
            <a:endParaRPr lang="fr-BE"/>
          </a:p>
        </p:txBody>
      </p:sp>
      <p:sp>
        <p:nvSpPr>
          <p:cNvPr id="21" name="Text 18"/>
          <p:cNvSpPr txBox="1"/>
          <p:nvPr/>
        </p:nvSpPr>
        <p:spPr>
          <a:xfrm>
            <a:off x="9144000" y="1965960"/>
            <a:ext cx="2011680" cy="1097280"/>
          </a:xfrm>
          <a:prstGeom prst="rect">
            <a:avLst/>
          </a:prstGeom>
          <a:noFill/>
          <a:ln/>
        </p:spPr>
        <p:txBody>
          <a:bodyPr wrap="square" lIns="0" tIns="0" rIns="0" bIns="0" rtlCol="0" anchor="ctr"/>
          <a:lstStyle/>
          <a:p>
            <a:pPr marL="0" indent="0">
              <a:buNone/>
            </a:pPr>
            <a:r>
              <a:rPr lang="en-US" sz="6000" b="1" dirty="0">
                <a:solidFill>
                  <a:srgbClr val="E8590C"/>
                </a:solidFill>
                <a:latin typeface="Arial" pitchFamily="34" charset="0"/>
                <a:ea typeface="Arial" pitchFamily="34" charset="-122"/>
                <a:cs typeface="Arial" pitchFamily="34" charset="-120"/>
              </a:rPr>
              <a:t>4</a:t>
            </a:r>
            <a:endParaRPr lang="en-US" sz="6000" dirty="0"/>
          </a:p>
        </p:txBody>
      </p:sp>
      <p:sp>
        <p:nvSpPr>
          <p:cNvPr id="22" name="Text 19"/>
          <p:cNvSpPr txBox="1"/>
          <p:nvPr/>
        </p:nvSpPr>
        <p:spPr>
          <a:xfrm>
            <a:off x="9144000" y="3063240"/>
            <a:ext cx="2103120" cy="457200"/>
          </a:xfrm>
          <a:prstGeom prst="rect">
            <a:avLst/>
          </a:prstGeom>
          <a:noFill/>
          <a:ln/>
        </p:spPr>
        <p:txBody>
          <a:bodyPr wrap="square" lIns="0" tIns="0" rIns="0" bIns="0" rtlCol="0" anchor="ctr"/>
          <a:lstStyle/>
          <a:p>
            <a:pPr marL="0" indent="0">
              <a:buNone/>
            </a:pPr>
            <a:r>
              <a:rPr lang="en-US" sz="1800" b="1" dirty="0">
                <a:solidFill>
                  <a:srgbClr val="16181D"/>
                </a:solidFill>
                <a:latin typeface="Arial" pitchFamily="34" charset="0"/>
                <a:ea typeface="Arial" pitchFamily="34" charset="-122"/>
                <a:cs typeface="Arial" pitchFamily="34" charset="-120"/>
              </a:rPr>
              <a:t>QCM final</a:t>
            </a:r>
            <a:endParaRPr lang="en-US" sz="1800" dirty="0"/>
          </a:p>
        </p:txBody>
      </p:sp>
      <p:sp>
        <p:nvSpPr>
          <p:cNvPr id="23" name="Text 20"/>
          <p:cNvSpPr txBox="1"/>
          <p:nvPr/>
        </p:nvSpPr>
        <p:spPr>
          <a:xfrm>
            <a:off x="9144000" y="3520440"/>
            <a:ext cx="2103120" cy="640080"/>
          </a:xfrm>
          <a:prstGeom prst="rect">
            <a:avLst/>
          </a:prstGeom>
          <a:noFill/>
          <a:ln/>
        </p:spPr>
        <p:txBody>
          <a:bodyPr wrap="square" lIns="0" tIns="0" rIns="0" bIns="0" rtlCol="0" anchor="t"/>
          <a:lstStyle/>
          <a:p>
            <a:pPr marL="0" indent="0">
              <a:buNone/>
            </a:pPr>
            <a:r>
              <a:rPr lang="en-US" sz="1400" dirty="0">
                <a:solidFill>
                  <a:srgbClr val="5F6670"/>
                </a:solidFill>
                <a:latin typeface="Calibri" pitchFamily="34" charset="0"/>
                <a:ea typeface="Calibri" pitchFamily="34" charset="-122"/>
                <a:cs typeface="Calibri" pitchFamily="34" charset="-120"/>
              </a:rPr>
              <a:t>Séance 9</a:t>
            </a:r>
            <a:endParaRPr lang="en-US" sz="1400" dirty="0"/>
          </a:p>
        </p:txBody>
      </p:sp>
      <p:sp>
        <p:nvSpPr>
          <p:cNvPr id="24" name="Text 21"/>
          <p:cNvSpPr txBox="1"/>
          <p:nvPr/>
        </p:nvSpPr>
        <p:spPr>
          <a:xfrm>
            <a:off x="640080" y="4617720"/>
            <a:ext cx="10911535" cy="548640"/>
          </a:xfrm>
          <a:prstGeom prst="rect">
            <a:avLst/>
          </a:prstGeom>
          <a:noFill/>
          <a:ln/>
        </p:spPr>
        <p:txBody>
          <a:bodyPr wrap="square" lIns="0" tIns="0" rIns="0" bIns="0" rtlCol="0" anchor="ctr"/>
          <a:lstStyle/>
          <a:p>
            <a:pPr marL="0" indent="0">
              <a:buNone/>
            </a:pPr>
            <a:r>
              <a:rPr lang="en-US" sz="2400" b="1" dirty="0">
                <a:solidFill>
                  <a:srgbClr val="16181D"/>
                </a:solidFill>
                <a:latin typeface="Arial" pitchFamily="34" charset="0"/>
                <a:ea typeface="Arial" pitchFamily="34" charset="-122"/>
                <a:cs typeface="Arial" pitchFamily="34" charset="-120"/>
              </a:rPr>
              <a:t>/ 20. Pas de note plancher.</a:t>
            </a:r>
            <a:endParaRPr lang="en-US" sz="2400" dirty="0"/>
          </a:p>
        </p:txBody>
      </p:sp>
      <p:sp>
        <p:nvSpPr>
          <p:cNvPr id="25" name="Text 22"/>
          <p:cNvSpPr txBox="1"/>
          <p:nvPr/>
        </p:nvSpPr>
        <p:spPr>
          <a:xfrm>
            <a:off x="640080" y="5212080"/>
            <a:ext cx="10911535" cy="457200"/>
          </a:xfrm>
          <a:prstGeom prst="rect">
            <a:avLst/>
          </a:prstGeom>
          <a:noFill/>
          <a:ln/>
        </p:spPr>
        <p:txBody>
          <a:bodyPr wrap="square" lIns="0" tIns="0" rIns="0" bIns="0" rtlCol="0" anchor="ctr"/>
          <a:lstStyle/>
          <a:p>
            <a:pPr marL="0" indent="0">
              <a:buNone/>
            </a:pPr>
            <a:r>
              <a:rPr lang="en-US" sz="1700" dirty="0">
                <a:solidFill>
                  <a:srgbClr val="5F6670"/>
                </a:solidFill>
                <a:latin typeface="Calibri" pitchFamily="34" charset="0"/>
                <a:ea typeface="Calibri" pitchFamily="34" charset="-122"/>
                <a:cs typeface="Calibri" pitchFamily="34" charset="-120"/>
              </a:rPr>
              <a:t>On récompense la régularité et la compréhension. Les QCM contiennent des questions sur le code que vous rendez.</a:t>
            </a:r>
            <a:endParaRPr lang="en-US" sz="17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OUTILS</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Votre poste de travail, et pourquoi ces choix</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35</a:t>
            </a:r>
            <a:endParaRPr lang="en-US" sz="1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08792" cy="3291840"/>
        </p:xfrm>
        <a:graphic>
          <a:graphicData uri="http://schemas.openxmlformats.org/drawingml/2006/table">
            <a:tbl>
              <a:tblPr/>
              <a:tblGrid>
                <a:gridCol w="2377440">
                  <a:extLst>
                    <a:ext uri="{9D8B030D-6E8A-4147-A177-3AD203B41FA5}">
                      <a16:colId xmlns:a16="http://schemas.microsoft.com/office/drawing/2014/main" val="20000"/>
                    </a:ext>
                  </a:extLst>
                </a:gridCol>
                <a:gridCol w="8531352">
                  <a:extLst>
                    <a:ext uri="{9D8B030D-6E8A-4147-A177-3AD203B41FA5}">
                      <a16:colId xmlns:a16="http://schemas.microsoft.com/office/drawing/2014/main" val="20001"/>
                    </a:ext>
                  </a:extLst>
                </a:gridCol>
              </a:tblGrid>
              <a:tr h="658368">
                <a:tc>
                  <a:txBody>
                    <a:bodyPr/>
                    <a:lstStyle/>
                    <a:p>
                      <a:pPr marL="0" indent="0">
                        <a:buNone/>
                      </a:pPr>
                      <a:r>
                        <a:rPr lang="en-US" sz="1600" b="1" dirty="0">
                          <a:solidFill>
                            <a:srgbClr val="FFFFFF"/>
                          </a:solidFill>
                          <a:latin typeface="Calibri" pitchFamily="34" charset="0"/>
                          <a:ea typeface="Calibri" pitchFamily="34" charset="-122"/>
                          <a:cs typeface="Calibri" pitchFamily="34" charset="-120"/>
                        </a:rPr>
                        <a:t>Outil</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marL="0" indent="0">
                        <a:buNone/>
                      </a:pPr>
                      <a:r>
                        <a:rPr lang="en-US" sz="1600" b="1" dirty="0">
                          <a:solidFill>
                            <a:srgbClr val="FFFFFF"/>
                          </a:solidFill>
                          <a:latin typeface="Calibri" pitchFamily="34" charset="0"/>
                          <a:ea typeface="Calibri" pitchFamily="34" charset="-122"/>
                          <a:cs typeface="Calibri" pitchFamily="34" charset="-120"/>
                        </a:rPr>
                        <a:t>Pourquoi</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extLst>
                  <a:ext uri="{0D108BD9-81ED-4DB2-BD59-A6C34878D82A}">
                    <a16:rowId xmlns:a16="http://schemas.microsoft.com/office/drawing/2014/main" val="10000"/>
                  </a:ext>
                </a:extLst>
              </a:tr>
              <a:tr h="658368">
                <a:tc>
                  <a:txBody>
                    <a:bodyPr/>
                    <a:lstStyle/>
                    <a:p>
                      <a:pPr marL="0" indent="0">
                        <a:buNone/>
                      </a:pPr>
                      <a:r>
                        <a:rPr lang="en-US" sz="1600" dirty="0">
                          <a:solidFill>
                            <a:srgbClr val="16181D"/>
                          </a:solidFill>
                          <a:latin typeface="Calibri" pitchFamily="34" charset="0"/>
                          <a:ea typeface="Calibri" pitchFamily="34" charset="-122"/>
                          <a:cs typeface="Calibri" pitchFamily="34" charset="-120"/>
                        </a:rPr>
                        <a:t>.NET 10</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600" dirty="0">
                          <a:solidFill>
                            <a:srgbClr val="16181D"/>
                          </a:solidFill>
                          <a:latin typeface="Calibri" pitchFamily="34" charset="0"/>
                          <a:ea typeface="Calibri" pitchFamily="34" charset="-122"/>
                          <a:cs typeface="Calibri" pitchFamily="34" charset="-120"/>
                        </a:rPr>
                        <a:t>Version LTS : sortie en novembre 2025, supportée jusqu'en novembre 2028. .NET 8 et 9 s'arrêtent en novembre 2026.</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buNone/>
                      </a:pPr>
                      <a:r>
                        <a:rPr lang="en-US" sz="1600" dirty="0">
                          <a:solidFill>
                            <a:srgbClr val="16181D"/>
                          </a:solidFill>
                          <a:latin typeface="Calibri" pitchFamily="34" charset="0"/>
                          <a:ea typeface="Calibri" pitchFamily="34" charset="-122"/>
                          <a:cs typeface="Calibri" pitchFamily="34" charset="-120"/>
                        </a:rPr>
                        <a:t>JetBrains Rider</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marL="0" indent="0">
                        <a:buNone/>
                      </a:pPr>
                      <a:r>
                        <a:rPr lang="en-US" sz="1600" dirty="0">
                          <a:solidFill>
                            <a:srgbClr val="16181D"/>
                          </a:solidFill>
                          <a:latin typeface="Calibri" pitchFamily="34" charset="0"/>
                          <a:ea typeface="Calibri" pitchFamily="34" charset="-122"/>
                          <a:cs typeface="Calibri" pitchFamily="34" charset="-120"/>
                        </a:rPr>
                        <a:t>Gratuit pour l'enseignement, sous Windows, macOS et Linux, très utilisé en entreprise .NET.</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extLst>
                  <a:ext uri="{0D108BD9-81ED-4DB2-BD59-A6C34878D82A}">
                    <a16:rowId xmlns:a16="http://schemas.microsoft.com/office/drawing/2014/main" val="10002"/>
                  </a:ext>
                </a:extLst>
              </a:tr>
              <a:tr h="658368">
                <a:tc>
                  <a:txBody>
                    <a:bodyPr/>
                    <a:lstStyle/>
                    <a:p>
                      <a:pPr marL="0" indent="0">
                        <a:buNone/>
                      </a:pPr>
                      <a:r>
                        <a:rPr lang="en-US" sz="1600" dirty="0">
                          <a:solidFill>
                            <a:srgbClr val="16181D"/>
                          </a:solidFill>
                          <a:latin typeface="Calibri" pitchFamily="34" charset="0"/>
                          <a:ea typeface="Calibri" pitchFamily="34" charset="-122"/>
                          <a:cs typeface="Calibri" pitchFamily="34" charset="-120"/>
                        </a:rPr>
                        <a:t>Git</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600" dirty="0">
                          <a:solidFill>
                            <a:srgbClr val="16181D"/>
                          </a:solidFill>
                          <a:latin typeface="Calibri" pitchFamily="34" charset="0"/>
                          <a:ea typeface="Calibri" pitchFamily="34" charset="-122"/>
                          <a:cs typeface="Calibri" pitchFamily="34" charset="-120"/>
                        </a:rPr>
                        <a:t>Le standard du versionnement (créé en 2005 par Linus Torvalds pour le noyau Linux).</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8368">
                <a:tc>
                  <a:txBody>
                    <a:bodyPr/>
                    <a:lstStyle/>
                    <a:p>
                      <a:pPr marL="0" indent="0">
                        <a:buNone/>
                      </a:pPr>
                      <a:r>
                        <a:rPr lang="en-US" sz="1600" dirty="0">
                          <a:solidFill>
                            <a:srgbClr val="16181D"/>
                          </a:solidFill>
                          <a:latin typeface="Calibri" pitchFamily="34" charset="0"/>
                          <a:ea typeface="Calibri" pitchFamily="34" charset="-122"/>
                          <a:cs typeface="Calibri" pitchFamily="34" charset="-120"/>
                        </a:rPr>
                        <a:t>Teams + Forms</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marL="0" indent="0">
                        <a:buNone/>
                      </a:pPr>
                      <a:r>
                        <a:rPr lang="en-US" sz="1600" dirty="0">
                          <a:solidFill>
                            <a:srgbClr val="16181D"/>
                          </a:solidFill>
                          <a:latin typeface="Calibri" pitchFamily="34" charset="0"/>
                          <a:ea typeface="Calibri" pitchFamily="34" charset="-122"/>
                          <a:cs typeface="Calibri" pitchFamily="34" charset="-120"/>
                        </a:rPr>
                        <a:t>Le cours, le check-in de présence, les QCM.</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extLst>
                  <a:ext uri="{0D108BD9-81ED-4DB2-BD59-A6C34878D82A}">
                    <a16:rowId xmlns:a16="http://schemas.microsoft.com/office/drawing/2014/main" val="10004"/>
                  </a:ext>
                </a:extLst>
              </a:tr>
            </a:tbl>
          </a:graphicData>
        </a:graphic>
      </p:graphicFrame>
      <p:sp>
        <p:nvSpPr>
          <p:cNvPr id="9" name="Shape 5"/>
          <p:cNvSpPr/>
          <p:nvPr/>
        </p:nvSpPr>
        <p:spPr>
          <a:xfrm>
            <a:off x="640080" y="5257800"/>
            <a:ext cx="10911535" cy="640080"/>
          </a:xfrm>
          <a:prstGeom prst="roundRect">
            <a:avLst>
              <a:gd name="adj" fmla="val 11429"/>
            </a:avLst>
          </a:prstGeom>
          <a:solidFill>
            <a:srgbClr val="16181D"/>
          </a:solidFill>
          <a:ln w="12700">
            <a:solidFill>
              <a:srgbClr val="16181D"/>
            </a:solidFill>
            <a:prstDash val="solid"/>
          </a:ln>
        </p:spPr>
        <p:txBody>
          <a:bodyPr/>
          <a:lstStyle/>
          <a:p>
            <a:endParaRPr lang="fr-BE"/>
          </a:p>
        </p:txBody>
      </p:sp>
      <p:sp>
        <p:nvSpPr>
          <p:cNvPr id="10" name="Text 6"/>
          <p:cNvSpPr txBox="1"/>
          <p:nvPr/>
        </p:nvSpPr>
        <p:spPr>
          <a:xfrm>
            <a:off x="960120" y="5257800"/>
            <a:ext cx="10271455" cy="64008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À installer avant la séance 2 : la séance 2, on code.</a:t>
            </a:r>
            <a:endParaRPr lang="en-US" sz="1800" dirty="0"/>
          </a:p>
        </p:txBody>
      </p:sp>
      <p:sp>
        <p:nvSpPr>
          <p:cNvPr id="11" name="Text 7"/>
          <p:cNvSpPr txBox="1"/>
          <p:nvPr/>
        </p:nvSpPr>
        <p:spPr>
          <a:xfrm>
            <a:off x="640080" y="5989320"/>
            <a:ext cx="10911535" cy="320040"/>
          </a:xfrm>
          <a:prstGeom prst="rect">
            <a:avLst/>
          </a:prstGeom>
          <a:noFill/>
          <a:ln/>
        </p:spPr>
        <p:txBody>
          <a:bodyPr wrap="square" lIns="0" tIns="0" rIns="0" bIns="0" rtlCol="0" anchor="ctr"/>
          <a:lstStyle/>
          <a:p>
            <a:pPr marL="0" indent="0">
              <a:buNone/>
            </a:pPr>
            <a:r>
              <a:rPr lang="en-US" sz="1000" i="1" dirty="0">
                <a:solidFill>
                  <a:srgbClr val="5F6670"/>
                </a:solidFill>
                <a:latin typeface="Calibri" pitchFamily="34" charset="0"/>
                <a:ea typeface="Calibri" pitchFamily="34" charset="-122"/>
                <a:cs typeface="Calibri" pitchFamily="34" charset="-120"/>
              </a:rPr>
              <a:t>Source : Microsoft, « .NET and .NET Core Support Policy » (dotnet.microsoft.com).</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6181D"/>
        </a:solidFill>
        <a:effectLst/>
      </p:bgPr>
    </p:bg>
    <p:spTree>
      <p:nvGrpSpPr>
        <p:cNvPr id="1" name=""/>
        <p:cNvGrpSpPr/>
        <p:nvPr/>
      </p:nvGrpSpPr>
      <p:grpSpPr>
        <a:xfrm>
          <a:off x="0" y="0"/>
          <a:ext cx="0" cy="0"/>
          <a:chOff x="0" y="0"/>
          <a:chExt cx="0" cy="0"/>
        </a:xfrm>
      </p:grpSpPr>
      <p:sp>
        <p:nvSpPr>
          <p:cNvPr id="2" name="Text 0"/>
          <p:cNvSpPr txBox="1"/>
          <p:nvPr/>
        </p:nvSpPr>
        <p:spPr>
          <a:xfrm>
            <a:off x="640080" y="1463040"/>
            <a:ext cx="2743200" cy="1280160"/>
          </a:xfrm>
          <a:prstGeom prst="rect">
            <a:avLst/>
          </a:prstGeom>
          <a:noFill/>
          <a:ln/>
        </p:spPr>
        <p:txBody>
          <a:bodyPr wrap="square" lIns="0" tIns="0" rIns="0" bIns="0" rtlCol="0" anchor="ctr"/>
          <a:lstStyle/>
          <a:p>
            <a:pPr marL="0" indent="0">
              <a:buNone/>
            </a:pPr>
            <a:r>
              <a:rPr lang="en-US" sz="9600" b="1" dirty="0">
                <a:solidFill>
                  <a:srgbClr val="E8590C"/>
                </a:solidFill>
                <a:latin typeface="Arial" pitchFamily="34" charset="0"/>
                <a:ea typeface="Arial" pitchFamily="34" charset="-122"/>
                <a:cs typeface="Arial" pitchFamily="34" charset="-120"/>
              </a:rPr>
              <a:t>02</a:t>
            </a:r>
            <a:endParaRPr lang="en-US" sz="9600" dirty="0"/>
          </a:p>
        </p:txBody>
      </p:sp>
      <p:sp>
        <p:nvSpPr>
          <p:cNvPr id="3" name="Text 1"/>
          <p:cNvSpPr txBox="1"/>
          <p:nvPr/>
        </p:nvSpPr>
        <p:spPr>
          <a:xfrm>
            <a:off x="640080" y="2834640"/>
            <a:ext cx="10911535" cy="1005840"/>
          </a:xfrm>
          <a:prstGeom prst="rect">
            <a:avLst/>
          </a:prstGeom>
          <a:noFill/>
          <a:ln/>
        </p:spPr>
        <p:txBody>
          <a:bodyPr wrap="square" lIns="0" tIns="0" rIns="0" bIns="0" rtlCol="0" anchor="ctr"/>
          <a:lstStyle/>
          <a:p>
            <a:pPr marL="0" indent="0">
              <a:buNone/>
            </a:pPr>
            <a:r>
              <a:rPr lang="en-US" sz="4400" b="1" dirty="0">
                <a:solidFill>
                  <a:srgbClr val="FFFFFF"/>
                </a:solidFill>
                <a:latin typeface="Arial" pitchFamily="34" charset="0"/>
                <a:ea typeface="Arial" pitchFamily="34" charset="-122"/>
                <a:cs typeface="Arial" pitchFamily="34" charset="-120"/>
              </a:rPr>
              <a:t>L'IA dans ce cours</a:t>
            </a:r>
            <a:endParaRPr lang="en-US" sz="4400" dirty="0"/>
          </a:p>
        </p:txBody>
      </p:sp>
      <p:sp>
        <p:nvSpPr>
          <p:cNvPr id="4" name="Text 2"/>
          <p:cNvSpPr txBox="1"/>
          <p:nvPr/>
        </p:nvSpPr>
        <p:spPr>
          <a:xfrm>
            <a:off x="640080" y="3840480"/>
            <a:ext cx="10911535" cy="731520"/>
          </a:xfrm>
          <a:prstGeom prst="rect">
            <a:avLst/>
          </a:prstGeom>
          <a:noFill/>
          <a:ln/>
        </p:spPr>
        <p:txBody>
          <a:bodyPr wrap="square" lIns="0" tIns="0" rIns="0" bIns="0" rtlCol="0" anchor="ctr"/>
          <a:lstStyle/>
          <a:p>
            <a:pPr marL="0" indent="0">
              <a:buNone/>
            </a:pPr>
            <a:r>
              <a:rPr lang="en-US" sz="2000" dirty="0">
                <a:solidFill>
                  <a:srgbClr val="C9CDD3"/>
                </a:solidFill>
                <a:latin typeface="Calibri" pitchFamily="34" charset="0"/>
                <a:ea typeface="Calibri" pitchFamily="34" charset="-122"/>
                <a:cs typeface="Calibri" pitchFamily="34" charset="-120"/>
              </a:rPr>
              <a:t>Des règles claires, comme au travail</a:t>
            </a:r>
            <a:endParaRPr lang="en-US" sz="20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9AA0A8"/>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9AA0A8"/>
                </a:solidFill>
                <a:latin typeface="Calibri" pitchFamily="34" charset="0"/>
                <a:ea typeface="Calibri" pitchFamily="34" charset="-122"/>
                <a:cs typeface="Calibri" pitchFamily="34" charset="-120"/>
              </a:rPr>
              <a:t>36</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CHARTE IA</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Chaque exercice porte une couleur</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37</a:t>
            </a:r>
            <a:endParaRPr lang="en-US" sz="1000" dirty="0"/>
          </a:p>
        </p:txBody>
      </p:sp>
      <p:sp>
        <p:nvSpPr>
          <p:cNvPr id="8" name="Shape 5"/>
          <p:cNvSpPr/>
          <p:nvPr/>
        </p:nvSpPr>
        <p:spPr>
          <a:xfrm>
            <a:off x="640080" y="1828800"/>
            <a:ext cx="10911535" cy="1097280"/>
          </a:xfrm>
          <a:prstGeom prst="roundRect">
            <a:avLst>
              <a:gd name="adj" fmla="val 6667"/>
            </a:avLst>
          </a:prstGeom>
          <a:solidFill>
            <a:srgbClr val="F2F3F5"/>
          </a:solidFill>
          <a:ln w="12700">
            <a:solidFill>
              <a:srgbClr val="F2F3F5"/>
            </a:solidFill>
            <a:prstDash val="solid"/>
          </a:ln>
        </p:spPr>
        <p:txBody>
          <a:bodyPr/>
          <a:lstStyle/>
          <a:p>
            <a:endParaRPr lang="fr-BE"/>
          </a:p>
        </p:txBody>
      </p:sp>
      <p:sp>
        <p:nvSpPr>
          <p:cNvPr id="9" name="Shape 6"/>
          <p:cNvSpPr/>
          <p:nvPr/>
        </p:nvSpPr>
        <p:spPr>
          <a:xfrm>
            <a:off x="960120" y="2103120"/>
            <a:ext cx="548640" cy="548640"/>
          </a:xfrm>
          <a:prstGeom prst="ellipse">
            <a:avLst/>
          </a:prstGeom>
          <a:solidFill>
            <a:srgbClr val="2F9E44"/>
          </a:solidFill>
          <a:ln w="12700">
            <a:solidFill>
              <a:srgbClr val="2F9E44"/>
            </a:solidFill>
            <a:prstDash val="solid"/>
          </a:ln>
        </p:spPr>
        <p:txBody>
          <a:bodyPr/>
          <a:lstStyle/>
          <a:p>
            <a:endParaRPr lang="fr-BE"/>
          </a:p>
        </p:txBody>
      </p:sp>
      <p:sp>
        <p:nvSpPr>
          <p:cNvPr id="10" name="Text 7"/>
          <p:cNvSpPr txBox="1"/>
          <p:nvPr/>
        </p:nvSpPr>
        <p:spPr>
          <a:xfrm>
            <a:off x="1737360" y="1965960"/>
            <a:ext cx="1828800" cy="457200"/>
          </a:xfrm>
          <a:prstGeom prst="rect">
            <a:avLst/>
          </a:prstGeom>
          <a:noFill/>
          <a:ln/>
        </p:spPr>
        <p:txBody>
          <a:bodyPr wrap="square" lIns="0" tIns="0" rIns="0" bIns="0" rtlCol="0" anchor="ctr"/>
          <a:lstStyle/>
          <a:p>
            <a:pPr marL="0" indent="0">
              <a:buNone/>
            </a:pPr>
            <a:r>
              <a:rPr lang="en-US" sz="2200" b="1" dirty="0">
                <a:solidFill>
                  <a:srgbClr val="16181D"/>
                </a:solidFill>
                <a:latin typeface="Arial" pitchFamily="34" charset="0"/>
                <a:ea typeface="Arial" pitchFamily="34" charset="-122"/>
                <a:cs typeface="Arial" pitchFamily="34" charset="-120"/>
              </a:rPr>
              <a:t>Vert</a:t>
            </a:r>
            <a:endParaRPr lang="en-US" sz="2200" dirty="0"/>
          </a:p>
        </p:txBody>
      </p:sp>
      <p:sp>
        <p:nvSpPr>
          <p:cNvPr id="11" name="Text 8"/>
          <p:cNvSpPr txBox="1"/>
          <p:nvPr/>
        </p:nvSpPr>
        <p:spPr>
          <a:xfrm>
            <a:off x="1737360" y="2423160"/>
            <a:ext cx="2011680" cy="365760"/>
          </a:xfrm>
          <a:prstGeom prst="rect">
            <a:avLst/>
          </a:prstGeom>
          <a:noFill/>
          <a:ln/>
        </p:spPr>
        <p:txBody>
          <a:bodyPr wrap="square" lIns="0" tIns="0" rIns="0" bIns="0" rtlCol="0" anchor="ctr"/>
          <a:lstStyle/>
          <a:p>
            <a:pPr marL="0" indent="0">
              <a:buNone/>
            </a:pPr>
            <a:r>
              <a:rPr lang="en-US" sz="1500" dirty="0">
                <a:solidFill>
                  <a:srgbClr val="5F6670"/>
                </a:solidFill>
                <a:latin typeface="Calibri" pitchFamily="34" charset="0"/>
                <a:ea typeface="Calibri" pitchFamily="34" charset="-122"/>
                <a:cs typeface="Calibri" pitchFamily="34" charset="-120"/>
              </a:rPr>
              <a:t>IA libre</a:t>
            </a:r>
            <a:endParaRPr lang="en-US" sz="1500" dirty="0"/>
          </a:p>
        </p:txBody>
      </p:sp>
      <p:sp>
        <p:nvSpPr>
          <p:cNvPr id="12" name="Text 9"/>
          <p:cNvSpPr txBox="1"/>
          <p:nvPr/>
        </p:nvSpPr>
        <p:spPr>
          <a:xfrm>
            <a:off x="3931920" y="1828800"/>
            <a:ext cx="7315200" cy="1097280"/>
          </a:xfrm>
          <a:prstGeom prst="rect">
            <a:avLst/>
          </a:prstGeom>
          <a:noFill/>
          <a:ln/>
        </p:spPr>
        <p:txBody>
          <a:bodyPr wrap="square" lIns="0" tIns="0" rIns="0" bIns="0" rtlCol="0" anchor="ctr"/>
          <a:lstStyle/>
          <a:p>
            <a:pPr marL="0" indent="0">
              <a:buNone/>
            </a:pPr>
            <a:r>
              <a:rPr lang="en-US" sz="1700" dirty="0">
                <a:solidFill>
                  <a:srgbClr val="16181D"/>
                </a:solidFill>
                <a:latin typeface="Calibri" pitchFamily="34" charset="0"/>
                <a:ea typeface="Calibri" pitchFamily="34" charset="-122"/>
                <a:cs typeface="Calibri" pitchFamily="34" charset="-120"/>
              </a:rPr>
              <a:t>Exploration, recherche, entraînement.</a:t>
            </a:r>
            <a:endParaRPr lang="en-US" sz="1700" dirty="0"/>
          </a:p>
        </p:txBody>
      </p:sp>
      <p:sp>
        <p:nvSpPr>
          <p:cNvPr id="13" name="Shape 10"/>
          <p:cNvSpPr/>
          <p:nvPr/>
        </p:nvSpPr>
        <p:spPr>
          <a:xfrm>
            <a:off x="640080" y="3108960"/>
            <a:ext cx="10911535" cy="1097280"/>
          </a:xfrm>
          <a:prstGeom prst="roundRect">
            <a:avLst>
              <a:gd name="adj" fmla="val 6667"/>
            </a:avLst>
          </a:prstGeom>
          <a:solidFill>
            <a:srgbClr val="F2F3F5"/>
          </a:solidFill>
          <a:ln w="12700">
            <a:solidFill>
              <a:srgbClr val="F2F3F5"/>
            </a:solidFill>
            <a:prstDash val="solid"/>
          </a:ln>
        </p:spPr>
        <p:txBody>
          <a:bodyPr/>
          <a:lstStyle/>
          <a:p>
            <a:endParaRPr lang="fr-BE"/>
          </a:p>
        </p:txBody>
      </p:sp>
      <p:sp>
        <p:nvSpPr>
          <p:cNvPr id="14" name="Shape 11"/>
          <p:cNvSpPr/>
          <p:nvPr/>
        </p:nvSpPr>
        <p:spPr>
          <a:xfrm>
            <a:off x="960120" y="3383280"/>
            <a:ext cx="548640" cy="548640"/>
          </a:xfrm>
          <a:prstGeom prst="ellipse">
            <a:avLst/>
          </a:prstGeom>
          <a:solidFill>
            <a:srgbClr val="E67700"/>
          </a:solidFill>
          <a:ln w="12700">
            <a:solidFill>
              <a:srgbClr val="E67700"/>
            </a:solidFill>
            <a:prstDash val="solid"/>
          </a:ln>
        </p:spPr>
        <p:txBody>
          <a:bodyPr/>
          <a:lstStyle/>
          <a:p>
            <a:endParaRPr lang="fr-BE"/>
          </a:p>
        </p:txBody>
      </p:sp>
      <p:sp>
        <p:nvSpPr>
          <p:cNvPr id="15" name="Text 12"/>
          <p:cNvSpPr txBox="1"/>
          <p:nvPr/>
        </p:nvSpPr>
        <p:spPr>
          <a:xfrm>
            <a:off x="1737360" y="3246120"/>
            <a:ext cx="1828800" cy="457200"/>
          </a:xfrm>
          <a:prstGeom prst="rect">
            <a:avLst/>
          </a:prstGeom>
          <a:noFill/>
          <a:ln/>
        </p:spPr>
        <p:txBody>
          <a:bodyPr wrap="square" lIns="0" tIns="0" rIns="0" bIns="0" rtlCol="0" anchor="ctr"/>
          <a:lstStyle/>
          <a:p>
            <a:pPr marL="0" indent="0">
              <a:buNone/>
            </a:pPr>
            <a:r>
              <a:rPr lang="en-US" sz="2200" b="1" dirty="0">
                <a:solidFill>
                  <a:srgbClr val="16181D"/>
                </a:solidFill>
                <a:latin typeface="Arial" pitchFamily="34" charset="0"/>
                <a:ea typeface="Arial" pitchFamily="34" charset="-122"/>
                <a:cs typeface="Arial" pitchFamily="34" charset="-120"/>
              </a:rPr>
              <a:t>Orange</a:t>
            </a:r>
            <a:endParaRPr lang="en-US" sz="2200" dirty="0"/>
          </a:p>
        </p:txBody>
      </p:sp>
      <p:sp>
        <p:nvSpPr>
          <p:cNvPr id="16" name="Text 13"/>
          <p:cNvSpPr txBox="1"/>
          <p:nvPr/>
        </p:nvSpPr>
        <p:spPr>
          <a:xfrm>
            <a:off x="1737360" y="3703320"/>
            <a:ext cx="2011680" cy="365760"/>
          </a:xfrm>
          <a:prstGeom prst="rect">
            <a:avLst/>
          </a:prstGeom>
          <a:noFill/>
          <a:ln/>
        </p:spPr>
        <p:txBody>
          <a:bodyPr wrap="square" lIns="0" tIns="0" rIns="0" bIns="0" rtlCol="0" anchor="ctr"/>
          <a:lstStyle/>
          <a:p>
            <a:pPr marL="0" indent="0">
              <a:buNone/>
            </a:pPr>
            <a:r>
              <a:rPr lang="en-US" sz="1500" dirty="0">
                <a:solidFill>
                  <a:srgbClr val="5F6670"/>
                </a:solidFill>
                <a:latin typeface="Calibri" pitchFamily="34" charset="0"/>
                <a:ea typeface="Calibri" pitchFamily="34" charset="-122"/>
                <a:cs typeface="Calibri" pitchFamily="34" charset="-120"/>
              </a:rPr>
              <a:t>IA assistante</a:t>
            </a:r>
            <a:endParaRPr lang="en-US" sz="1500" dirty="0"/>
          </a:p>
        </p:txBody>
      </p:sp>
      <p:sp>
        <p:nvSpPr>
          <p:cNvPr id="17" name="Text 14"/>
          <p:cNvSpPr txBox="1"/>
          <p:nvPr/>
        </p:nvSpPr>
        <p:spPr>
          <a:xfrm>
            <a:off x="3931920" y="3108960"/>
            <a:ext cx="7315200" cy="1097280"/>
          </a:xfrm>
          <a:prstGeom prst="rect">
            <a:avLst/>
          </a:prstGeom>
          <a:noFill/>
          <a:ln/>
        </p:spPr>
        <p:txBody>
          <a:bodyPr wrap="square" lIns="0" tIns="0" rIns="0" bIns="0" rtlCol="0" anchor="ctr"/>
          <a:lstStyle/>
          <a:p>
            <a:pPr marL="0" indent="0">
              <a:buNone/>
            </a:pPr>
            <a:r>
              <a:rPr lang="en-US" sz="1700" dirty="0">
                <a:solidFill>
                  <a:srgbClr val="16181D"/>
                </a:solidFill>
                <a:latin typeface="Calibri" pitchFamily="34" charset="0"/>
                <a:ea typeface="Calibri" pitchFamily="34" charset="-122"/>
                <a:cs typeface="Calibri" pitchFamily="34" charset="-120"/>
              </a:rPr>
              <a:t>Autorisée, mais vous tenez un fichier AI-LOG.md : ce que vous avez demandé, ce qui était faux, ce que vous avez corrigé.</a:t>
            </a:r>
            <a:endParaRPr lang="en-US" sz="1700" dirty="0"/>
          </a:p>
        </p:txBody>
      </p:sp>
      <p:sp>
        <p:nvSpPr>
          <p:cNvPr id="18" name="Shape 15"/>
          <p:cNvSpPr/>
          <p:nvPr/>
        </p:nvSpPr>
        <p:spPr>
          <a:xfrm>
            <a:off x="640080" y="4389120"/>
            <a:ext cx="10911535" cy="1097280"/>
          </a:xfrm>
          <a:prstGeom prst="roundRect">
            <a:avLst>
              <a:gd name="adj" fmla="val 6667"/>
            </a:avLst>
          </a:prstGeom>
          <a:solidFill>
            <a:srgbClr val="F2F3F5"/>
          </a:solidFill>
          <a:ln w="12700">
            <a:solidFill>
              <a:srgbClr val="F2F3F5"/>
            </a:solidFill>
            <a:prstDash val="solid"/>
          </a:ln>
        </p:spPr>
        <p:txBody>
          <a:bodyPr/>
          <a:lstStyle/>
          <a:p>
            <a:endParaRPr lang="fr-BE"/>
          </a:p>
        </p:txBody>
      </p:sp>
      <p:sp>
        <p:nvSpPr>
          <p:cNvPr id="19" name="Shape 16"/>
          <p:cNvSpPr/>
          <p:nvPr/>
        </p:nvSpPr>
        <p:spPr>
          <a:xfrm>
            <a:off x="960120" y="4663440"/>
            <a:ext cx="548640" cy="548640"/>
          </a:xfrm>
          <a:prstGeom prst="ellipse">
            <a:avLst/>
          </a:prstGeom>
          <a:solidFill>
            <a:srgbClr val="C92A2A"/>
          </a:solidFill>
          <a:ln w="12700">
            <a:solidFill>
              <a:srgbClr val="C92A2A"/>
            </a:solidFill>
            <a:prstDash val="solid"/>
          </a:ln>
        </p:spPr>
        <p:txBody>
          <a:bodyPr/>
          <a:lstStyle/>
          <a:p>
            <a:endParaRPr lang="fr-BE"/>
          </a:p>
        </p:txBody>
      </p:sp>
      <p:sp>
        <p:nvSpPr>
          <p:cNvPr id="20" name="Text 17"/>
          <p:cNvSpPr txBox="1"/>
          <p:nvPr/>
        </p:nvSpPr>
        <p:spPr>
          <a:xfrm>
            <a:off x="1737360" y="4526280"/>
            <a:ext cx="1828800" cy="457200"/>
          </a:xfrm>
          <a:prstGeom prst="rect">
            <a:avLst/>
          </a:prstGeom>
          <a:noFill/>
          <a:ln/>
        </p:spPr>
        <p:txBody>
          <a:bodyPr wrap="square" lIns="0" tIns="0" rIns="0" bIns="0" rtlCol="0" anchor="ctr"/>
          <a:lstStyle/>
          <a:p>
            <a:pPr marL="0" indent="0">
              <a:buNone/>
            </a:pPr>
            <a:r>
              <a:rPr lang="en-US" sz="2200" b="1" dirty="0">
                <a:solidFill>
                  <a:srgbClr val="16181D"/>
                </a:solidFill>
                <a:latin typeface="Arial" pitchFamily="34" charset="0"/>
                <a:ea typeface="Arial" pitchFamily="34" charset="-122"/>
                <a:cs typeface="Arial" pitchFamily="34" charset="-120"/>
              </a:rPr>
              <a:t>Rouge</a:t>
            </a:r>
            <a:endParaRPr lang="en-US" sz="2200" dirty="0"/>
          </a:p>
        </p:txBody>
      </p:sp>
      <p:sp>
        <p:nvSpPr>
          <p:cNvPr id="21" name="Text 18"/>
          <p:cNvSpPr txBox="1"/>
          <p:nvPr/>
        </p:nvSpPr>
        <p:spPr>
          <a:xfrm>
            <a:off x="1737360" y="4983480"/>
            <a:ext cx="2011680" cy="365760"/>
          </a:xfrm>
          <a:prstGeom prst="rect">
            <a:avLst/>
          </a:prstGeom>
          <a:noFill/>
          <a:ln/>
        </p:spPr>
        <p:txBody>
          <a:bodyPr wrap="square" lIns="0" tIns="0" rIns="0" bIns="0" rtlCol="0" anchor="ctr"/>
          <a:lstStyle/>
          <a:p>
            <a:pPr marL="0" indent="0">
              <a:buNone/>
            </a:pPr>
            <a:r>
              <a:rPr lang="en-US" sz="1500" dirty="0">
                <a:solidFill>
                  <a:srgbClr val="5F6670"/>
                </a:solidFill>
                <a:latin typeface="Calibri" pitchFamily="34" charset="0"/>
                <a:ea typeface="Calibri" pitchFamily="34" charset="-122"/>
                <a:cs typeface="Calibri" pitchFamily="34" charset="-120"/>
              </a:rPr>
              <a:t>Sans IA</a:t>
            </a:r>
            <a:endParaRPr lang="en-US" sz="1500" dirty="0"/>
          </a:p>
        </p:txBody>
      </p:sp>
      <p:sp>
        <p:nvSpPr>
          <p:cNvPr id="22" name="Text 19"/>
          <p:cNvSpPr txBox="1"/>
          <p:nvPr/>
        </p:nvSpPr>
        <p:spPr>
          <a:xfrm>
            <a:off x="3931920" y="4389120"/>
            <a:ext cx="7315200" cy="1097280"/>
          </a:xfrm>
          <a:prstGeom prst="rect">
            <a:avLst/>
          </a:prstGeom>
          <a:noFill/>
          <a:ln/>
        </p:spPr>
        <p:txBody>
          <a:bodyPr wrap="square" lIns="0" tIns="0" rIns="0" bIns="0" rtlCol="0" anchor="ctr"/>
          <a:lstStyle/>
          <a:p>
            <a:pPr marL="0" indent="0">
              <a:buNone/>
            </a:pPr>
            <a:r>
              <a:rPr lang="en-US" sz="1700" dirty="0">
                <a:solidFill>
                  <a:srgbClr val="16181D"/>
                </a:solidFill>
                <a:latin typeface="Calibri" pitchFamily="34" charset="0"/>
                <a:ea typeface="Calibri" pitchFamily="34" charset="-122"/>
                <a:cs typeface="Calibri" pitchFamily="34" charset="-120"/>
              </a:rPr>
              <a:t>Les QCM. C'est là qu'on vérifie ce que vous savez vraiment.</a:t>
            </a:r>
            <a:endParaRPr lang="en-US" sz="1700" dirty="0"/>
          </a:p>
        </p:txBody>
      </p:sp>
      <p:sp>
        <p:nvSpPr>
          <p:cNvPr id="23" name="Text 20"/>
          <p:cNvSpPr txBox="1"/>
          <p:nvPr/>
        </p:nvSpPr>
        <p:spPr>
          <a:xfrm>
            <a:off x="640080" y="5577840"/>
            <a:ext cx="10911535" cy="411480"/>
          </a:xfrm>
          <a:prstGeom prst="rect">
            <a:avLst/>
          </a:prstGeom>
          <a:noFill/>
          <a:ln/>
        </p:spPr>
        <p:txBody>
          <a:bodyPr wrap="square" lIns="0" tIns="0" rIns="0" bIns="0" rtlCol="0" anchor="ctr"/>
          <a:lstStyle/>
          <a:p>
            <a:pPr marL="0" indent="0">
              <a:buNone/>
            </a:pPr>
            <a:r>
              <a:rPr lang="en-US" sz="1700" b="1" dirty="0">
                <a:solidFill>
                  <a:srgbClr val="E8590C"/>
                </a:solidFill>
                <a:latin typeface="Calibri" pitchFamily="34" charset="0"/>
                <a:ea typeface="Calibri" pitchFamily="34" charset="-122"/>
                <a:cs typeface="Calibri" pitchFamily="34" charset="-120"/>
              </a:rPr>
              <a:t>Et toujours : aucune donnée de votre employeur dans un outil public.</a:t>
            </a:r>
            <a:endParaRPr lang="en-US" sz="17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CHARTE IA</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AI-LOG.md : cinq minutes par livrable</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38</a:t>
            </a:r>
            <a:endParaRPr lang="en-US" sz="1000" dirty="0"/>
          </a:p>
        </p:txBody>
      </p:sp>
      <p:sp>
        <p:nvSpPr>
          <p:cNvPr id="8" name="Shape 5"/>
          <p:cNvSpPr/>
          <p:nvPr/>
        </p:nvSpPr>
        <p:spPr>
          <a:xfrm>
            <a:off x="640080" y="1828800"/>
            <a:ext cx="6583680" cy="3931920"/>
          </a:xfrm>
          <a:prstGeom prst="roundRect">
            <a:avLst>
              <a:gd name="adj" fmla="val 1860"/>
            </a:avLst>
          </a:prstGeom>
          <a:solidFill>
            <a:srgbClr val="1E2127"/>
          </a:solidFill>
          <a:ln w="12700">
            <a:solidFill>
              <a:srgbClr val="1E2127"/>
            </a:solidFill>
            <a:prstDash val="solid"/>
          </a:ln>
        </p:spPr>
        <p:txBody>
          <a:bodyPr/>
          <a:lstStyle/>
          <a:p>
            <a:endParaRPr lang="fr-BE"/>
          </a:p>
        </p:txBody>
      </p:sp>
      <p:sp>
        <p:nvSpPr>
          <p:cNvPr id="9" name="Text 6"/>
          <p:cNvSpPr txBox="1"/>
          <p:nvPr/>
        </p:nvSpPr>
        <p:spPr>
          <a:xfrm>
            <a:off x="914400" y="2057400"/>
            <a:ext cx="6035040" cy="3474720"/>
          </a:xfrm>
          <a:prstGeom prst="rect">
            <a:avLst/>
          </a:prstGeom>
          <a:noFill/>
          <a:ln/>
        </p:spPr>
        <p:txBody>
          <a:bodyPr wrap="square" lIns="0" tIns="0" rIns="0" bIns="0" rtlCol="0" anchor="t"/>
          <a:lstStyle/>
          <a:p>
            <a:pPr marL="0" indent="0">
              <a:buNone/>
            </a:pPr>
            <a:r>
              <a:rPr lang="en-US" sz="1600" dirty="0">
                <a:solidFill>
                  <a:srgbClr val="8B929C"/>
                </a:solidFill>
                <a:latin typeface="Consolas" pitchFamily="34" charset="0"/>
                <a:ea typeface="Consolas" pitchFamily="34" charset="-122"/>
                <a:cs typeface="Consolas" pitchFamily="34" charset="-120"/>
              </a:rPr>
              <a:t>## 2026-10-02 · Classe Incident</a:t>
            </a:r>
            <a:endParaRPr lang="en-US" sz="1600" dirty="0"/>
          </a:p>
          <a:p>
            <a:pPr marL="0" indent="0">
              <a:buNone/>
            </a:pPr>
            <a:r>
              <a:rPr lang="en-US" sz="1600" dirty="0">
                <a:solidFill>
                  <a:srgbClr val="E6E6E6"/>
                </a:solidFill>
                <a:latin typeface="Consolas" pitchFamily="34" charset="0"/>
                <a:ea typeface="Consolas" pitchFamily="34" charset="-122"/>
                <a:cs typeface="Consolas" pitchFamily="34" charset="-120"/>
              </a:rPr>
              <a:t>Outil : Claude</a:t>
            </a:r>
            <a:endParaRPr lang="en-US" sz="1600" dirty="0"/>
          </a:p>
          <a:p>
            <a:pPr marL="0" indent="0">
              <a:buNone/>
            </a:pPr>
            <a:r>
              <a:rPr lang="en-US" sz="1600" dirty="0">
                <a:solidFill>
                  <a:srgbClr val="E6E6E6"/>
                </a:solidFill>
                <a:latin typeface="Consolas" pitchFamily="34" charset="0"/>
                <a:ea typeface="Consolas" pitchFamily="34" charset="-122"/>
                <a:cs typeface="Consolas" pitchFamily="34" charset="-120"/>
              </a:rPr>
              <a:t>Demande : générer les transitions de statut</a:t>
            </a:r>
            <a:endParaRPr lang="en-US" sz="1600" dirty="0"/>
          </a:p>
          <a:p>
            <a:pPr marL="0" indent="0">
              <a:buNone/>
            </a:pPr>
            <a:r>
              <a:rPr lang="en-US" sz="1600" dirty="0">
                <a:solidFill>
                  <a:srgbClr val="E6E6E6"/>
                </a:solidFill>
                <a:latin typeface="Consolas" pitchFamily="34" charset="0"/>
                <a:ea typeface="Consolas" pitchFamily="34" charset="-122"/>
                <a:cs typeface="Consolas" pitchFamily="34" charset="-120"/>
              </a:rPr>
              <a:t> </a:t>
            </a:r>
            <a:endParaRPr lang="en-US" sz="1600" dirty="0"/>
          </a:p>
          <a:p>
            <a:pPr marL="0" indent="0">
              <a:buNone/>
            </a:pPr>
            <a:r>
              <a:rPr lang="en-US" sz="1600" dirty="0">
                <a:solidFill>
                  <a:srgbClr val="E6E6E6"/>
                </a:solidFill>
                <a:latin typeface="Consolas" pitchFamily="34" charset="0"/>
                <a:ea typeface="Consolas" pitchFamily="34" charset="-122"/>
                <a:cs typeface="Consolas" pitchFamily="34" charset="-120"/>
              </a:rPr>
              <a:t>Problème : Closed -&gt; Open était autorisé</a:t>
            </a:r>
            <a:endParaRPr lang="en-US" sz="1600" dirty="0"/>
          </a:p>
          <a:p>
            <a:pPr marL="0" indent="0">
              <a:buNone/>
            </a:pPr>
            <a:r>
              <a:rPr lang="en-US" sz="1600" dirty="0">
                <a:solidFill>
                  <a:srgbClr val="E6E6E6"/>
                </a:solidFill>
                <a:latin typeface="Consolas" pitchFamily="34" charset="0"/>
                <a:ea typeface="Consolas" pitchFamily="34" charset="-122"/>
                <a:cs typeface="Consolas" pitchFamily="34" charset="-120"/>
              </a:rPr>
              <a:t>Correction : ajout d'une vérification dans Close()</a:t>
            </a:r>
            <a:endParaRPr lang="en-US" sz="1600" dirty="0"/>
          </a:p>
          <a:p>
            <a:pPr marL="0" indent="0">
              <a:buNone/>
            </a:pPr>
            <a:r>
              <a:rPr lang="en-US" sz="1600" dirty="0">
                <a:solidFill>
                  <a:srgbClr val="E6E6E6"/>
                </a:solidFill>
                <a:latin typeface="Consolas" pitchFamily="34" charset="0"/>
                <a:ea typeface="Consolas" pitchFamily="34" charset="-122"/>
                <a:cs typeface="Consolas" pitchFamily="34" charset="-120"/>
              </a:rPr>
              <a:t> </a:t>
            </a:r>
            <a:endParaRPr lang="en-US" sz="1600" dirty="0"/>
          </a:p>
          <a:p>
            <a:pPr marL="0" indent="0">
              <a:buNone/>
            </a:pPr>
            <a:r>
              <a:rPr lang="en-US" sz="1600" dirty="0">
                <a:solidFill>
                  <a:srgbClr val="E6E6E6"/>
                </a:solidFill>
                <a:latin typeface="Consolas" pitchFamily="34" charset="0"/>
                <a:ea typeface="Consolas" pitchFamily="34" charset="-122"/>
                <a:cs typeface="Consolas" pitchFamily="34" charset="-120"/>
              </a:rPr>
              <a:t>Ce que j'ai appris : l'IA ne connaît pas</a:t>
            </a:r>
            <a:endParaRPr lang="en-US" sz="1600" dirty="0"/>
          </a:p>
          <a:p>
            <a:pPr marL="0" indent="0">
              <a:buNone/>
            </a:pPr>
            <a:r>
              <a:rPr lang="en-US" sz="1600" dirty="0">
                <a:solidFill>
                  <a:srgbClr val="E6E6E6"/>
                </a:solidFill>
                <a:latin typeface="Consolas" pitchFamily="34" charset="0"/>
                <a:ea typeface="Consolas" pitchFamily="34" charset="-122"/>
                <a:cs typeface="Consolas" pitchFamily="34" charset="-120"/>
              </a:rPr>
              <a:t>les règles métier si je ne les donne pas.</a:t>
            </a:r>
            <a:endParaRPr lang="en-US" sz="1600" dirty="0"/>
          </a:p>
        </p:txBody>
      </p:sp>
      <p:sp>
        <p:nvSpPr>
          <p:cNvPr id="10" name="Text 7"/>
          <p:cNvSpPr txBox="1"/>
          <p:nvPr/>
        </p:nvSpPr>
        <p:spPr>
          <a:xfrm>
            <a:off x="7680960" y="2011680"/>
            <a:ext cx="3840480" cy="2743200"/>
          </a:xfrm>
          <a:prstGeom prst="rect">
            <a:avLst/>
          </a:prstGeom>
          <a:noFill/>
          <a:ln/>
        </p:spPr>
        <p:txBody>
          <a:bodyPr wrap="square" lIns="0" tIns="0" rIns="0" bIns="0" rtlCol="0" anchor="t"/>
          <a:lstStyle/>
          <a:p>
            <a:pPr marL="228600" indent="-228600">
              <a:spcAft>
                <a:spcPts val="800"/>
              </a:spcAft>
              <a:buSzPct val="100000"/>
              <a:buChar char="•"/>
            </a:pPr>
            <a:r>
              <a:rPr lang="en-US" sz="2000" dirty="0">
                <a:solidFill>
                  <a:srgbClr val="16181D"/>
                </a:solidFill>
                <a:latin typeface="Calibri" pitchFamily="34" charset="0"/>
                <a:ea typeface="Calibri" pitchFamily="34" charset="-122"/>
                <a:cs typeface="Calibri" pitchFamily="34" charset="-120"/>
              </a:rPr>
              <a:t>Ce que vous avez demandé</a:t>
            </a:r>
            <a:endParaRPr lang="en-US" sz="2000" dirty="0"/>
          </a:p>
          <a:p>
            <a:pPr marL="228600" indent="-228600">
              <a:spcAft>
                <a:spcPts val="800"/>
              </a:spcAft>
              <a:buSzPct val="100000"/>
              <a:buChar char="•"/>
            </a:pPr>
            <a:r>
              <a:rPr lang="en-US" sz="2000" dirty="0">
                <a:solidFill>
                  <a:srgbClr val="16181D"/>
                </a:solidFill>
                <a:latin typeface="Calibri" pitchFamily="34" charset="0"/>
                <a:ea typeface="Calibri" pitchFamily="34" charset="-122"/>
                <a:cs typeface="Calibri" pitchFamily="34" charset="-120"/>
              </a:rPr>
              <a:t>Ce qui était faux</a:t>
            </a:r>
            <a:endParaRPr lang="en-US" sz="2000" dirty="0"/>
          </a:p>
          <a:p>
            <a:pPr marL="228600" indent="-228600">
              <a:spcAft>
                <a:spcPts val="800"/>
              </a:spcAft>
              <a:buSzPct val="100000"/>
              <a:buChar char="•"/>
            </a:pPr>
            <a:r>
              <a:rPr lang="en-US" sz="2000" dirty="0">
                <a:solidFill>
                  <a:srgbClr val="16181D"/>
                </a:solidFill>
                <a:latin typeface="Calibri" pitchFamily="34" charset="0"/>
                <a:ea typeface="Calibri" pitchFamily="34" charset="-122"/>
                <a:cs typeface="Calibri" pitchFamily="34" charset="-120"/>
              </a:rPr>
              <a:t>Ce que vous avez corrigé</a:t>
            </a:r>
            <a:endParaRPr lang="en-US" sz="2000" dirty="0"/>
          </a:p>
          <a:p>
            <a:pPr marL="228600" indent="-228600">
              <a:spcAft>
                <a:spcPts val="800"/>
              </a:spcAft>
              <a:buSzPct val="100000"/>
              <a:buChar char="•"/>
            </a:pPr>
            <a:r>
              <a:rPr lang="en-US" sz="2000" dirty="0">
                <a:solidFill>
                  <a:srgbClr val="16181D"/>
                </a:solidFill>
                <a:latin typeface="Calibri" pitchFamily="34" charset="0"/>
                <a:ea typeface="Calibri" pitchFamily="34" charset="-122"/>
                <a:cs typeface="Calibri" pitchFamily="34" charset="-120"/>
              </a:rPr>
              <a:t>Ce que vous avez appris</a:t>
            </a:r>
            <a:endParaRPr lang="en-US" sz="2000" dirty="0"/>
          </a:p>
        </p:txBody>
      </p:sp>
      <p:sp>
        <p:nvSpPr>
          <p:cNvPr id="11" name="Text 8"/>
          <p:cNvSpPr txBox="1"/>
          <p:nvPr/>
        </p:nvSpPr>
        <p:spPr>
          <a:xfrm>
            <a:off x="7680960" y="4480560"/>
            <a:ext cx="3840480" cy="1188720"/>
          </a:xfrm>
          <a:prstGeom prst="rect">
            <a:avLst/>
          </a:prstGeom>
          <a:noFill/>
          <a:ln/>
        </p:spPr>
        <p:txBody>
          <a:bodyPr wrap="square" lIns="0" tIns="0" rIns="0" bIns="0" rtlCol="0" anchor="t"/>
          <a:lstStyle/>
          <a:p>
            <a:pPr marL="0" indent="0">
              <a:buNone/>
            </a:pPr>
            <a:r>
              <a:rPr lang="en-US" sz="1600" i="1" dirty="0">
                <a:solidFill>
                  <a:srgbClr val="5F6670"/>
                </a:solidFill>
                <a:latin typeface="Calibri" pitchFamily="34" charset="0"/>
                <a:ea typeface="Calibri" pitchFamily="34" charset="-122"/>
                <a:cs typeface="Calibri" pitchFamily="34" charset="-120"/>
              </a:rPr>
              <a:t>Un AI-LOG honnête vaut plus qu'un code parfait qu'on ne sait pas expliquer.</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CHARTE IA</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AI-LOG.md : comment le tenir sans y passer du temps</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39</a:t>
            </a:r>
            <a:endParaRPr lang="en-US" sz="1000" dirty="0"/>
          </a:p>
        </p:txBody>
      </p:sp>
      <p:sp>
        <p:nvSpPr>
          <p:cNvPr id="8" name="Shape 5"/>
          <p:cNvSpPr/>
          <p:nvPr/>
        </p:nvSpPr>
        <p:spPr>
          <a:xfrm>
            <a:off x="640080" y="1783080"/>
            <a:ext cx="3474720" cy="3429000"/>
          </a:xfrm>
          <a:prstGeom prst="roundRect">
            <a:avLst>
              <a:gd name="adj" fmla="val 2133"/>
            </a:avLst>
          </a:prstGeom>
          <a:solidFill>
            <a:srgbClr val="F2F3F5"/>
          </a:solidFill>
          <a:ln w="12700">
            <a:solidFill>
              <a:srgbClr val="F2F3F5"/>
            </a:solidFill>
            <a:prstDash val="solid"/>
          </a:ln>
        </p:spPr>
        <p:txBody>
          <a:bodyPr/>
          <a:lstStyle/>
          <a:p>
            <a:endParaRPr lang="fr-BE"/>
          </a:p>
        </p:txBody>
      </p:sp>
      <p:sp>
        <p:nvSpPr>
          <p:cNvPr id="9" name="Text 6"/>
          <p:cNvSpPr txBox="1"/>
          <p:nvPr/>
        </p:nvSpPr>
        <p:spPr>
          <a:xfrm>
            <a:off x="914400" y="1920240"/>
            <a:ext cx="457200" cy="502920"/>
          </a:xfrm>
          <a:prstGeom prst="rect">
            <a:avLst/>
          </a:prstGeom>
          <a:noFill/>
          <a:ln/>
        </p:spPr>
        <p:txBody>
          <a:bodyPr wrap="square" lIns="0" tIns="0" rIns="0" bIns="0" rtlCol="0" anchor="ctr"/>
          <a:lstStyle/>
          <a:p>
            <a:pPr marL="0" indent="0">
              <a:buNone/>
            </a:pPr>
            <a:r>
              <a:rPr lang="en-US" sz="2600" b="1" dirty="0">
                <a:solidFill>
                  <a:srgbClr val="E8590C"/>
                </a:solidFill>
                <a:latin typeface="Arial" pitchFamily="34" charset="0"/>
                <a:ea typeface="Arial" pitchFamily="34" charset="-122"/>
                <a:cs typeface="Arial" pitchFamily="34" charset="-120"/>
              </a:rPr>
              <a:t>1</a:t>
            </a:r>
            <a:endParaRPr lang="en-US" sz="2600" dirty="0"/>
          </a:p>
        </p:txBody>
      </p:sp>
      <p:sp>
        <p:nvSpPr>
          <p:cNvPr id="10" name="Text 7"/>
          <p:cNvSpPr txBox="1"/>
          <p:nvPr/>
        </p:nvSpPr>
        <p:spPr>
          <a:xfrm>
            <a:off x="1371600" y="1938528"/>
            <a:ext cx="2651760" cy="502920"/>
          </a:xfrm>
          <a:prstGeom prst="rect">
            <a:avLst/>
          </a:prstGeom>
          <a:noFill/>
          <a:ln/>
        </p:spPr>
        <p:txBody>
          <a:bodyPr wrap="square" lIns="0" tIns="0" rIns="0" bIns="0" rtlCol="0" anchor="ctr"/>
          <a:lstStyle/>
          <a:p>
            <a:pPr marL="0" indent="0">
              <a:buNone/>
            </a:pPr>
            <a:r>
              <a:rPr lang="en-US" sz="1900" b="1" dirty="0">
                <a:solidFill>
                  <a:srgbClr val="16181D"/>
                </a:solidFill>
                <a:latin typeface="Arial" pitchFamily="34" charset="0"/>
                <a:ea typeface="Arial" pitchFamily="34" charset="-122"/>
                <a:cs typeface="Arial" pitchFamily="34" charset="-120"/>
              </a:rPr>
              <a:t>À la main</a:t>
            </a:r>
            <a:endParaRPr lang="en-US" sz="1900" dirty="0"/>
          </a:p>
        </p:txBody>
      </p:sp>
      <p:sp>
        <p:nvSpPr>
          <p:cNvPr id="11" name="Text 8"/>
          <p:cNvSpPr txBox="1"/>
          <p:nvPr/>
        </p:nvSpPr>
        <p:spPr>
          <a:xfrm>
            <a:off x="914400" y="2514600"/>
            <a:ext cx="2926080" cy="777240"/>
          </a:xfrm>
          <a:prstGeom prst="rect">
            <a:avLst/>
          </a:prstGeom>
          <a:noFill/>
          <a:ln/>
        </p:spPr>
        <p:txBody>
          <a:bodyPr wrap="square" lIns="0" tIns="0" rIns="0" bIns="0" rtlCol="0" anchor="t"/>
          <a:lstStyle/>
          <a:p>
            <a:pPr marL="0" indent="0">
              <a:buNone/>
            </a:pPr>
            <a:r>
              <a:rPr lang="en-US" sz="1400" dirty="0">
                <a:solidFill>
                  <a:srgbClr val="5F6670"/>
                </a:solidFill>
                <a:latin typeface="Calibri" pitchFamily="34" charset="0"/>
                <a:ea typeface="Calibri" pitchFamily="34" charset="-122"/>
                <a:cs typeface="Calibri" pitchFamily="34" charset="-120"/>
              </a:rPr>
              <a:t>Un modèle est fourni dans le template de chaque livrable. Un bloc par session.</a:t>
            </a:r>
            <a:endParaRPr lang="en-US" sz="1400" dirty="0"/>
          </a:p>
        </p:txBody>
      </p:sp>
      <p:sp>
        <p:nvSpPr>
          <p:cNvPr id="12" name="Shape 9"/>
          <p:cNvSpPr/>
          <p:nvPr/>
        </p:nvSpPr>
        <p:spPr>
          <a:xfrm>
            <a:off x="822960" y="3383280"/>
            <a:ext cx="3108960" cy="1645920"/>
          </a:xfrm>
          <a:prstGeom prst="roundRect">
            <a:avLst>
              <a:gd name="adj" fmla="val 4444"/>
            </a:avLst>
          </a:prstGeom>
          <a:solidFill>
            <a:srgbClr val="1E2127"/>
          </a:solidFill>
          <a:ln w="12700">
            <a:solidFill>
              <a:srgbClr val="1E2127"/>
            </a:solidFill>
            <a:prstDash val="solid"/>
          </a:ln>
        </p:spPr>
        <p:txBody>
          <a:bodyPr/>
          <a:lstStyle/>
          <a:p>
            <a:endParaRPr lang="fr-BE"/>
          </a:p>
        </p:txBody>
      </p:sp>
      <p:sp>
        <p:nvSpPr>
          <p:cNvPr id="13" name="Text 10"/>
          <p:cNvSpPr txBox="1"/>
          <p:nvPr/>
        </p:nvSpPr>
        <p:spPr>
          <a:xfrm>
            <a:off x="960120" y="3493008"/>
            <a:ext cx="2834640" cy="1463040"/>
          </a:xfrm>
          <a:prstGeom prst="rect">
            <a:avLst/>
          </a:prstGeom>
          <a:noFill/>
          <a:ln/>
        </p:spPr>
        <p:txBody>
          <a:bodyPr wrap="square" lIns="0" tIns="0" rIns="0" bIns="0" rtlCol="0" anchor="t"/>
          <a:lstStyle/>
          <a:p>
            <a:pPr marL="0" indent="0">
              <a:buNone/>
            </a:pPr>
            <a:r>
              <a:rPr lang="en-US" sz="1150" dirty="0">
                <a:solidFill>
                  <a:srgbClr val="E6E6E6"/>
                </a:solidFill>
                <a:latin typeface="Consolas" pitchFamily="34" charset="0"/>
                <a:ea typeface="Consolas" pitchFamily="34" charset="-122"/>
                <a:cs typeface="Consolas" pitchFamily="34" charset="-120"/>
              </a:rPr>
              <a:t>## 2026-10-02 · Titre</a:t>
            </a:r>
            <a:endParaRPr lang="en-US" sz="1150" dirty="0"/>
          </a:p>
          <a:p>
            <a:pPr marL="0" indent="0">
              <a:buNone/>
            </a:pPr>
            <a:r>
              <a:rPr lang="en-US" sz="1150" dirty="0">
                <a:solidFill>
                  <a:srgbClr val="E6E6E6"/>
                </a:solidFill>
                <a:latin typeface="Consolas" pitchFamily="34" charset="0"/>
                <a:ea typeface="Consolas" pitchFamily="34" charset="-122"/>
                <a:cs typeface="Consolas" pitchFamily="34" charset="-120"/>
              </a:rPr>
              <a:t>Outil :</a:t>
            </a:r>
            <a:endParaRPr lang="en-US" sz="1150" dirty="0"/>
          </a:p>
          <a:p>
            <a:pPr marL="0" indent="0">
              <a:buNone/>
            </a:pPr>
            <a:r>
              <a:rPr lang="en-US" sz="1150" dirty="0">
                <a:solidFill>
                  <a:srgbClr val="E6E6E6"/>
                </a:solidFill>
                <a:latin typeface="Consolas" pitchFamily="34" charset="0"/>
                <a:ea typeface="Consolas" pitchFamily="34" charset="-122"/>
                <a:cs typeface="Consolas" pitchFamily="34" charset="-120"/>
              </a:rPr>
              <a:t>Demande :</a:t>
            </a:r>
            <a:endParaRPr lang="en-US" sz="1150" dirty="0"/>
          </a:p>
          <a:p>
            <a:pPr marL="0" indent="0">
              <a:buNone/>
            </a:pPr>
            <a:r>
              <a:rPr lang="en-US" sz="1150" dirty="0">
                <a:solidFill>
                  <a:srgbClr val="E6E6E6"/>
                </a:solidFill>
                <a:latin typeface="Consolas" pitchFamily="34" charset="0"/>
                <a:ea typeface="Consolas" pitchFamily="34" charset="-122"/>
                <a:cs typeface="Consolas" pitchFamily="34" charset="-120"/>
              </a:rPr>
              <a:t>Problème :</a:t>
            </a:r>
            <a:endParaRPr lang="en-US" sz="1150" dirty="0"/>
          </a:p>
          <a:p>
            <a:pPr marL="0" indent="0">
              <a:buNone/>
            </a:pPr>
            <a:r>
              <a:rPr lang="en-US" sz="1150" dirty="0">
                <a:solidFill>
                  <a:srgbClr val="E6E6E6"/>
                </a:solidFill>
                <a:latin typeface="Consolas" pitchFamily="34" charset="0"/>
                <a:ea typeface="Consolas" pitchFamily="34" charset="-122"/>
                <a:cs typeface="Consolas" pitchFamily="34" charset="-120"/>
              </a:rPr>
              <a:t>Correction :</a:t>
            </a:r>
            <a:endParaRPr lang="en-US" sz="1150" dirty="0"/>
          </a:p>
          <a:p>
            <a:pPr marL="0" indent="0">
              <a:buNone/>
            </a:pPr>
            <a:r>
              <a:rPr lang="en-US" sz="1150" dirty="0">
                <a:solidFill>
                  <a:srgbClr val="E6E6E6"/>
                </a:solidFill>
                <a:latin typeface="Consolas" pitchFamily="34" charset="0"/>
                <a:ea typeface="Consolas" pitchFamily="34" charset="-122"/>
                <a:cs typeface="Consolas" pitchFamily="34" charset="-120"/>
              </a:rPr>
              <a:t>Appris :</a:t>
            </a:r>
            <a:endParaRPr lang="en-US" sz="1150" dirty="0"/>
          </a:p>
        </p:txBody>
      </p:sp>
      <p:sp>
        <p:nvSpPr>
          <p:cNvPr id="14" name="Shape 11"/>
          <p:cNvSpPr/>
          <p:nvPr/>
        </p:nvSpPr>
        <p:spPr>
          <a:xfrm>
            <a:off x="4343400" y="1783080"/>
            <a:ext cx="3474720" cy="3429000"/>
          </a:xfrm>
          <a:prstGeom prst="roundRect">
            <a:avLst>
              <a:gd name="adj" fmla="val 2133"/>
            </a:avLst>
          </a:prstGeom>
          <a:solidFill>
            <a:srgbClr val="F2F3F5"/>
          </a:solidFill>
          <a:ln w="12700">
            <a:solidFill>
              <a:srgbClr val="F2F3F5"/>
            </a:solidFill>
            <a:prstDash val="solid"/>
          </a:ln>
        </p:spPr>
        <p:txBody>
          <a:bodyPr/>
          <a:lstStyle/>
          <a:p>
            <a:endParaRPr lang="fr-BE"/>
          </a:p>
        </p:txBody>
      </p:sp>
      <p:sp>
        <p:nvSpPr>
          <p:cNvPr id="15" name="Text 12"/>
          <p:cNvSpPr txBox="1"/>
          <p:nvPr/>
        </p:nvSpPr>
        <p:spPr>
          <a:xfrm>
            <a:off x="4617720" y="1920240"/>
            <a:ext cx="457200" cy="502920"/>
          </a:xfrm>
          <a:prstGeom prst="rect">
            <a:avLst/>
          </a:prstGeom>
          <a:noFill/>
          <a:ln/>
        </p:spPr>
        <p:txBody>
          <a:bodyPr wrap="square" lIns="0" tIns="0" rIns="0" bIns="0" rtlCol="0" anchor="ctr"/>
          <a:lstStyle/>
          <a:p>
            <a:pPr marL="0" indent="0">
              <a:buNone/>
            </a:pPr>
            <a:r>
              <a:rPr lang="en-US" sz="2600" b="1" dirty="0">
                <a:solidFill>
                  <a:srgbClr val="E8590C"/>
                </a:solidFill>
                <a:latin typeface="Arial" pitchFamily="34" charset="0"/>
                <a:ea typeface="Arial" pitchFamily="34" charset="-122"/>
                <a:cs typeface="Arial" pitchFamily="34" charset="-120"/>
              </a:rPr>
              <a:t>2</a:t>
            </a:r>
            <a:endParaRPr lang="en-US" sz="2600" dirty="0"/>
          </a:p>
        </p:txBody>
      </p:sp>
      <p:sp>
        <p:nvSpPr>
          <p:cNvPr id="16" name="Text 13"/>
          <p:cNvSpPr txBox="1"/>
          <p:nvPr/>
        </p:nvSpPr>
        <p:spPr>
          <a:xfrm>
            <a:off x="5074920" y="1938528"/>
            <a:ext cx="2651760" cy="502920"/>
          </a:xfrm>
          <a:prstGeom prst="rect">
            <a:avLst/>
          </a:prstGeom>
          <a:noFill/>
          <a:ln/>
        </p:spPr>
        <p:txBody>
          <a:bodyPr wrap="square" lIns="0" tIns="0" rIns="0" bIns="0" rtlCol="0" anchor="ctr"/>
          <a:lstStyle/>
          <a:p>
            <a:pPr marL="0" indent="0">
              <a:buNone/>
            </a:pPr>
            <a:r>
              <a:rPr lang="en-US" sz="1900" b="1" dirty="0">
                <a:solidFill>
                  <a:srgbClr val="16181D"/>
                </a:solidFill>
                <a:latin typeface="Arial" pitchFamily="34" charset="0"/>
                <a:ea typeface="Arial" pitchFamily="34" charset="-122"/>
                <a:cs typeface="Arial" pitchFamily="34" charset="-120"/>
              </a:rPr>
              <a:t>Demandé à l'IA</a:t>
            </a:r>
            <a:endParaRPr lang="en-US" sz="1900" dirty="0"/>
          </a:p>
        </p:txBody>
      </p:sp>
      <p:sp>
        <p:nvSpPr>
          <p:cNvPr id="17" name="Text 14"/>
          <p:cNvSpPr txBox="1"/>
          <p:nvPr/>
        </p:nvSpPr>
        <p:spPr>
          <a:xfrm>
            <a:off x="4617720" y="2514600"/>
            <a:ext cx="2926080" cy="777240"/>
          </a:xfrm>
          <a:prstGeom prst="rect">
            <a:avLst/>
          </a:prstGeom>
          <a:noFill/>
          <a:ln/>
        </p:spPr>
        <p:txBody>
          <a:bodyPr wrap="square" lIns="0" tIns="0" rIns="0" bIns="0" rtlCol="0" anchor="t"/>
          <a:lstStyle/>
          <a:p>
            <a:pPr marL="0" indent="0">
              <a:buNone/>
            </a:pPr>
            <a:r>
              <a:rPr lang="en-US" sz="1400" dirty="0">
                <a:solidFill>
                  <a:srgbClr val="5F6670"/>
                </a:solidFill>
                <a:latin typeface="Calibri" pitchFamily="34" charset="0"/>
                <a:ea typeface="Calibri" pitchFamily="34" charset="-122"/>
                <a:cs typeface="Calibri" pitchFamily="34" charset="-120"/>
              </a:rPr>
              <a:t>En fin de session, un prompt fourni résume ce que vous avez fait.</a:t>
            </a:r>
            <a:endParaRPr lang="en-US" sz="1400" dirty="0"/>
          </a:p>
        </p:txBody>
      </p:sp>
      <p:sp>
        <p:nvSpPr>
          <p:cNvPr id="18" name="Shape 15"/>
          <p:cNvSpPr/>
          <p:nvPr/>
        </p:nvSpPr>
        <p:spPr>
          <a:xfrm>
            <a:off x="4526280" y="3383280"/>
            <a:ext cx="3108960" cy="1645920"/>
          </a:xfrm>
          <a:prstGeom prst="roundRect">
            <a:avLst>
              <a:gd name="adj" fmla="val 4444"/>
            </a:avLst>
          </a:prstGeom>
          <a:solidFill>
            <a:srgbClr val="1E2127"/>
          </a:solidFill>
          <a:ln w="12700">
            <a:solidFill>
              <a:srgbClr val="1E2127"/>
            </a:solidFill>
            <a:prstDash val="solid"/>
          </a:ln>
        </p:spPr>
        <p:txBody>
          <a:bodyPr/>
          <a:lstStyle/>
          <a:p>
            <a:endParaRPr lang="fr-BE"/>
          </a:p>
        </p:txBody>
      </p:sp>
      <p:sp>
        <p:nvSpPr>
          <p:cNvPr id="19" name="Text 16"/>
          <p:cNvSpPr txBox="1"/>
          <p:nvPr/>
        </p:nvSpPr>
        <p:spPr>
          <a:xfrm>
            <a:off x="4663440" y="3493008"/>
            <a:ext cx="2834640" cy="1463040"/>
          </a:xfrm>
          <a:prstGeom prst="rect">
            <a:avLst/>
          </a:prstGeom>
          <a:noFill/>
          <a:ln/>
        </p:spPr>
        <p:txBody>
          <a:bodyPr wrap="square" lIns="0" tIns="0" rIns="0" bIns="0" rtlCol="0" anchor="t"/>
          <a:lstStyle/>
          <a:p>
            <a:pPr marL="0" indent="0">
              <a:buNone/>
            </a:pPr>
            <a:r>
              <a:rPr lang="en-US" sz="1150" dirty="0">
                <a:solidFill>
                  <a:srgbClr val="E6E6E6"/>
                </a:solidFill>
                <a:latin typeface="Consolas" pitchFamily="34" charset="0"/>
                <a:ea typeface="Consolas" pitchFamily="34" charset="-122"/>
                <a:cs typeface="Consolas" pitchFamily="34" charset="-120"/>
              </a:rPr>
              <a:t>Résume cette session au format</a:t>
            </a:r>
            <a:endParaRPr lang="en-US" sz="1150" dirty="0"/>
          </a:p>
          <a:p>
            <a:pPr marL="0" indent="0">
              <a:buNone/>
            </a:pPr>
            <a:r>
              <a:rPr lang="en-US" sz="1150" dirty="0">
                <a:solidFill>
                  <a:srgbClr val="E6E6E6"/>
                </a:solidFill>
                <a:latin typeface="Consolas" pitchFamily="34" charset="0"/>
                <a:ea typeface="Consolas" pitchFamily="34" charset="-122"/>
                <a:cs typeface="Consolas" pitchFamily="34" charset="-120"/>
              </a:rPr>
              <a:t>AI-LOG.md : date, outil, demandes,</a:t>
            </a:r>
            <a:endParaRPr lang="en-US" sz="1150" dirty="0"/>
          </a:p>
          <a:p>
            <a:pPr marL="0" indent="0">
              <a:buNone/>
            </a:pPr>
            <a:r>
              <a:rPr lang="en-US" sz="1150" dirty="0">
                <a:solidFill>
                  <a:srgbClr val="E6E6E6"/>
                </a:solidFill>
                <a:latin typeface="Consolas" pitchFamily="34" charset="0"/>
                <a:ea typeface="Consolas" pitchFamily="34" charset="-122"/>
                <a:cs typeface="Consolas" pitchFamily="34" charset="-120"/>
              </a:rPr>
              <a:t>fichiers modifiés. Laisse vides</a:t>
            </a:r>
            <a:endParaRPr lang="en-US" sz="1150" dirty="0"/>
          </a:p>
          <a:p>
            <a:pPr marL="0" indent="0">
              <a:buNone/>
            </a:pPr>
            <a:r>
              <a:rPr lang="en-US" sz="1150" dirty="0">
                <a:solidFill>
                  <a:srgbClr val="E6E6E6"/>
                </a:solidFill>
                <a:latin typeface="Consolas" pitchFamily="34" charset="0"/>
                <a:ea typeface="Consolas" pitchFamily="34" charset="-122"/>
                <a:cs typeface="Consolas" pitchFamily="34" charset="-120"/>
              </a:rPr>
              <a:t>Problème, Correction et Appris.</a:t>
            </a:r>
            <a:endParaRPr lang="en-US" sz="1150" dirty="0"/>
          </a:p>
        </p:txBody>
      </p:sp>
      <p:sp>
        <p:nvSpPr>
          <p:cNvPr id="20" name="Shape 17"/>
          <p:cNvSpPr/>
          <p:nvPr/>
        </p:nvSpPr>
        <p:spPr>
          <a:xfrm>
            <a:off x="8046720" y="1783080"/>
            <a:ext cx="3474720" cy="3429000"/>
          </a:xfrm>
          <a:prstGeom prst="roundRect">
            <a:avLst>
              <a:gd name="adj" fmla="val 2133"/>
            </a:avLst>
          </a:prstGeom>
          <a:solidFill>
            <a:srgbClr val="F2F3F5"/>
          </a:solidFill>
          <a:ln w="12700">
            <a:solidFill>
              <a:srgbClr val="F2F3F5"/>
            </a:solidFill>
            <a:prstDash val="solid"/>
          </a:ln>
        </p:spPr>
        <p:txBody>
          <a:bodyPr/>
          <a:lstStyle/>
          <a:p>
            <a:endParaRPr lang="fr-BE"/>
          </a:p>
        </p:txBody>
      </p:sp>
      <p:sp>
        <p:nvSpPr>
          <p:cNvPr id="21" name="Text 18"/>
          <p:cNvSpPr txBox="1"/>
          <p:nvPr/>
        </p:nvSpPr>
        <p:spPr>
          <a:xfrm>
            <a:off x="8321040" y="1920240"/>
            <a:ext cx="457200" cy="502920"/>
          </a:xfrm>
          <a:prstGeom prst="rect">
            <a:avLst/>
          </a:prstGeom>
          <a:noFill/>
          <a:ln/>
        </p:spPr>
        <p:txBody>
          <a:bodyPr wrap="square" lIns="0" tIns="0" rIns="0" bIns="0" rtlCol="0" anchor="ctr"/>
          <a:lstStyle/>
          <a:p>
            <a:pPr marL="0" indent="0">
              <a:buNone/>
            </a:pPr>
            <a:r>
              <a:rPr lang="en-US" sz="2600" b="1" dirty="0">
                <a:solidFill>
                  <a:srgbClr val="E8590C"/>
                </a:solidFill>
                <a:latin typeface="Arial" pitchFamily="34" charset="0"/>
                <a:ea typeface="Arial" pitchFamily="34" charset="-122"/>
                <a:cs typeface="Arial" pitchFamily="34" charset="-120"/>
              </a:rPr>
              <a:t>3</a:t>
            </a:r>
            <a:endParaRPr lang="en-US" sz="2600" dirty="0"/>
          </a:p>
        </p:txBody>
      </p:sp>
      <p:sp>
        <p:nvSpPr>
          <p:cNvPr id="22" name="Text 19"/>
          <p:cNvSpPr txBox="1"/>
          <p:nvPr/>
        </p:nvSpPr>
        <p:spPr>
          <a:xfrm>
            <a:off x="8778240" y="1938528"/>
            <a:ext cx="2651760" cy="502920"/>
          </a:xfrm>
          <a:prstGeom prst="rect">
            <a:avLst/>
          </a:prstGeom>
          <a:noFill/>
          <a:ln/>
        </p:spPr>
        <p:txBody>
          <a:bodyPr wrap="square" lIns="0" tIns="0" rIns="0" bIns="0" rtlCol="0" anchor="ctr"/>
          <a:lstStyle/>
          <a:p>
            <a:pPr marL="0" indent="0">
              <a:buNone/>
            </a:pPr>
            <a:r>
              <a:rPr lang="en-US" sz="1900" b="1" dirty="0">
                <a:solidFill>
                  <a:srgbClr val="16181D"/>
                </a:solidFill>
                <a:latin typeface="Arial" pitchFamily="34" charset="0"/>
                <a:ea typeface="Arial" pitchFamily="34" charset="-122"/>
                <a:cs typeface="Arial" pitchFamily="34" charset="-120"/>
              </a:rPr>
              <a:t>Automatique</a:t>
            </a:r>
            <a:endParaRPr lang="en-US" sz="1900" dirty="0"/>
          </a:p>
        </p:txBody>
      </p:sp>
      <p:sp>
        <p:nvSpPr>
          <p:cNvPr id="23" name="Text 20"/>
          <p:cNvSpPr txBox="1"/>
          <p:nvPr/>
        </p:nvSpPr>
        <p:spPr>
          <a:xfrm>
            <a:off x="8321040" y="2514600"/>
            <a:ext cx="2926080" cy="777240"/>
          </a:xfrm>
          <a:prstGeom prst="rect">
            <a:avLst/>
          </a:prstGeom>
          <a:noFill/>
          <a:ln/>
        </p:spPr>
        <p:txBody>
          <a:bodyPr wrap="square" lIns="0" tIns="0" rIns="0" bIns="0" rtlCol="0" anchor="t"/>
          <a:lstStyle/>
          <a:p>
            <a:pPr marL="0" indent="0">
              <a:buNone/>
            </a:pPr>
            <a:r>
              <a:rPr lang="en-US" sz="1400" dirty="0">
                <a:solidFill>
                  <a:srgbClr val="5F6670"/>
                </a:solidFill>
                <a:latin typeface="Calibri" pitchFamily="34" charset="0"/>
                <a:ea typeface="Calibri" pitchFamily="34" charset="-122"/>
                <a:cs typeface="Calibri" pitchFamily="34" charset="-120"/>
              </a:rPr>
              <a:t>Une consigne permanente dans AGENTS.md ou CLAUDE.md, relue par l'assistant.</a:t>
            </a:r>
            <a:endParaRPr lang="en-US" sz="1400" dirty="0"/>
          </a:p>
        </p:txBody>
      </p:sp>
      <p:sp>
        <p:nvSpPr>
          <p:cNvPr id="24" name="Shape 21"/>
          <p:cNvSpPr/>
          <p:nvPr/>
        </p:nvSpPr>
        <p:spPr>
          <a:xfrm>
            <a:off x="8229600" y="3383280"/>
            <a:ext cx="3108960" cy="1645920"/>
          </a:xfrm>
          <a:prstGeom prst="roundRect">
            <a:avLst>
              <a:gd name="adj" fmla="val 4444"/>
            </a:avLst>
          </a:prstGeom>
          <a:solidFill>
            <a:srgbClr val="1E2127"/>
          </a:solidFill>
          <a:ln w="12700">
            <a:solidFill>
              <a:srgbClr val="1E2127"/>
            </a:solidFill>
            <a:prstDash val="solid"/>
          </a:ln>
        </p:spPr>
        <p:txBody>
          <a:bodyPr/>
          <a:lstStyle/>
          <a:p>
            <a:endParaRPr lang="fr-BE"/>
          </a:p>
        </p:txBody>
      </p:sp>
      <p:sp>
        <p:nvSpPr>
          <p:cNvPr id="25" name="Text 22"/>
          <p:cNvSpPr txBox="1"/>
          <p:nvPr/>
        </p:nvSpPr>
        <p:spPr>
          <a:xfrm>
            <a:off x="8366760" y="3493008"/>
            <a:ext cx="2834640" cy="1463040"/>
          </a:xfrm>
          <a:prstGeom prst="rect">
            <a:avLst/>
          </a:prstGeom>
          <a:noFill/>
          <a:ln/>
        </p:spPr>
        <p:txBody>
          <a:bodyPr wrap="square" lIns="0" tIns="0" rIns="0" bIns="0" rtlCol="0" anchor="t"/>
          <a:lstStyle/>
          <a:p>
            <a:pPr marL="0" indent="0">
              <a:buNone/>
            </a:pPr>
            <a:r>
              <a:rPr lang="en-US" sz="1150" dirty="0">
                <a:solidFill>
                  <a:srgbClr val="E6E6E6"/>
                </a:solidFill>
                <a:latin typeface="Consolas" pitchFamily="34" charset="0"/>
                <a:ea typeface="Consolas" pitchFamily="34" charset="-122"/>
                <a:cs typeface="Consolas" pitchFamily="34" charset="-120"/>
              </a:rPr>
              <a:t>## AI-LOG</a:t>
            </a:r>
            <a:endParaRPr lang="en-US" sz="1150" dirty="0"/>
          </a:p>
          <a:p>
            <a:pPr marL="0" indent="0">
              <a:buNone/>
            </a:pPr>
            <a:r>
              <a:rPr lang="en-US" sz="1150" dirty="0">
                <a:solidFill>
                  <a:srgbClr val="E6E6E6"/>
                </a:solidFill>
                <a:latin typeface="Consolas" pitchFamily="34" charset="0"/>
                <a:ea typeface="Consolas" pitchFamily="34" charset="-122"/>
                <a:cs typeface="Consolas" pitchFamily="34" charset="-120"/>
              </a:rPr>
              <a:t>À la fin de chaque tâche, ajoute</a:t>
            </a:r>
            <a:endParaRPr lang="en-US" sz="1150" dirty="0"/>
          </a:p>
          <a:p>
            <a:pPr marL="0" indent="0">
              <a:buNone/>
            </a:pPr>
            <a:r>
              <a:rPr lang="en-US" sz="1150" dirty="0">
                <a:solidFill>
                  <a:srgbClr val="E6E6E6"/>
                </a:solidFill>
                <a:latin typeface="Consolas" pitchFamily="34" charset="0"/>
                <a:ea typeface="Consolas" pitchFamily="34" charset="-122"/>
                <a:cs typeface="Consolas" pitchFamily="34" charset="-120"/>
              </a:rPr>
              <a:t>une entrée dans AI-LOG.md</a:t>
            </a:r>
            <a:endParaRPr lang="en-US" sz="1150" dirty="0"/>
          </a:p>
          <a:p>
            <a:pPr marL="0" indent="0">
              <a:buNone/>
            </a:pPr>
            <a:r>
              <a:rPr lang="en-US" sz="1150" dirty="0">
                <a:solidFill>
                  <a:srgbClr val="E6E6E6"/>
                </a:solidFill>
                <a:latin typeface="Consolas" pitchFamily="34" charset="0"/>
                <a:ea typeface="Consolas" pitchFamily="34" charset="-122"/>
                <a:cs typeface="Consolas" pitchFamily="34" charset="-120"/>
              </a:rPr>
              <a:t>(date, demande, fichiers).</a:t>
            </a:r>
            <a:endParaRPr lang="en-US" sz="1150" dirty="0"/>
          </a:p>
        </p:txBody>
      </p:sp>
      <p:sp>
        <p:nvSpPr>
          <p:cNvPr id="26" name="Shape 23"/>
          <p:cNvSpPr/>
          <p:nvPr/>
        </p:nvSpPr>
        <p:spPr>
          <a:xfrm>
            <a:off x="640080" y="5394960"/>
            <a:ext cx="10911535" cy="594360"/>
          </a:xfrm>
          <a:prstGeom prst="roundRect">
            <a:avLst>
              <a:gd name="adj" fmla="val 12308"/>
            </a:avLst>
          </a:prstGeom>
          <a:solidFill>
            <a:srgbClr val="16181D"/>
          </a:solidFill>
          <a:ln w="12700">
            <a:solidFill>
              <a:srgbClr val="16181D"/>
            </a:solidFill>
            <a:prstDash val="solid"/>
          </a:ln>
        </p:spPr>
        <p:txBody>
          <a:bodyPr/>
          <a:lstStyle/>
          <a:p>
            <a:endParaRPr lang="fr-BE"/>
          </a:p>
        </p:txBody>
      </p:sp>
      <p:sp>
        <p:nvSpPr>
          <p:cNvPr id="27" name="Text 24"/>
          <p:cNvSpPr txBox="1"/>
          <p:nvPr/>
        </p:nvSpPr>
        <p:spPr>
          <a:xfrm>
            <a:off x="914400" y="5394960"/>
            <a:ext cx="10362895" cy="59436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Dans tous les cas, « Problème », « Correction » et « Appris », c'est vous qui les écrivez.</a:t>
            </a:r>
            <a:endParaRPr lang="en-US" sz="17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LA RÈGLE</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L'IA écrit. C'est vous qui répondez du code.</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40</a:t>
            </a:r>
            <a:endParaRPr lang="en-US" sz="1000" dirty="0"/>
          </a:p>
        </p:txBody>
      </p:sp>
      <p:sp>
        <p:nvSpPr>
          <p:cNvPr id="8" name="Shape 5"/>
          <p:cNvSpPr/>
          <p:nvPr/>
        </p:nvSpPr>
        <p:spPr>
          <a:xfrm>
            <a:off x="640080" y="1783080"/>
            <a:ext cx="7498080" cy="2468880"/>
          </a:xfrm>
          <a:prstGeom prst="roundRect">
            <a:avLst>
              <a:gd name="adj" fmla="val 2963"/>
            </a:avLst>
          </a:prstGeom>
          <a:solidFill>
            <a:srgbClr val="1E2127"/>
          </a:solidFill>
          <a:ln w="12700">
            <a:solidFill>
              <a:srgbClr val="1E2127"/>
            </a:solidFill>
            <a:prstDash val="solid"/>
          </a:ln>
        </p:spPr>
        <p:txBody>
          <a:bodyPr/>
          <a:lstStyle/>
          <a:p>
            <a:endParaRPr lang="fr-BE"/>
          </a:p>
        </p:txBody>
      </p:sp>
      <p:sp>
        <p:nvSpPr>
          <p:cNvPr id="9" name="Text 6"/>
          <p:cNvSpPr txBox="1"/>
          <p:nvPr/>
        </p:nvSpPr>
        <p:spPr>
          <a:xfrm>
            <a:off x="914400" y="2011680"/>
            <a:ext cx="6949440" cy="2011680"/>
          </a:xfrm>
          <a:prstGeom prst="rect">
            <a:avLst/>
          </a:prstGeom>
          <a:noFill/>
          <a:ln/>
        </p:spPr>
        <p:txBody>
          <a:bodyPr wrap="square" lIns="0" tIns="0" rIns="0" bIns="0" rtlCol="0" anchor="t"/>
          <a:lstStyle/>
          <a:p>
            <a:pPr marL="0" indent="0">
              <a:buNone/>
            </a:pPr>
            <a:r>
              <a:rPr lang="en-US" sz="1500" dirty="0">
                <a:solidFill>
                  <a:srgbClr val="E6E6E6"/>
                </a:solidFill>
                <a:latin typeface="Consolas" pitchFamily="34" charset="0"/>
                <a:ea typeface="Consolas" pitchFamily="34" charset="-122"/>
                <a:cs typeface="Consolas" pitchFamily="34" charset="-120"/>
              </a:rPr>
              <a:t>$ git blame src/Incident.cs</a:t>
            </a:r>
            <a:endParaRPr lang="en-US" sz="1500" dirty="0"/>
          </a:p>
          <a:p>
            <a:pPr marL="0" indent="0">
              <a:buNone/>
            </a:pPr>
            <a:r>
              <a:rPr lang="en-US" sz="1500" dirty="0">
                <a:solidFill>
                  <a:srgbClr val="E6E6E6"/>
                </a:solidFill>
                <a:latin typeface="Consolas" pitchFamily="34" charset="0"/>
                <a:ea typeface="Consolas" pitchFamily="34" charset="-122"/>
                <a:cs typeface="Consolas" pitchFamily="34" charset="-120"/>
              </a:rPr>
              <a:t> </a:t>
            </a:r>
            <a:endParaRPr lang="en-US" sz="1500" dirty="0"/>
          </a:p>
          <a:p>
            <a:pPr marL="0" indent="0">
              <a:buNone/>
            </a:pPr>
            <a:r>
              <a:rPr lang="en-US" sz="1500" dirty="0">
                <a:solidFill>
                  <a:srgbClr val="E6E6E6"/>
                </a:solidFill>
                <a:latin typeface="Consolas" pitchFamily="34" charset="0"/>
                <a:ea typeface="Consolas" pitchFamily="34" charset="-122"/>
                <a:cs typeface="Consolas" pitchFamily="34" charset="-120"/>
              </a:rPr>
              <a:t>a3f9c21 (Sophie Martin)  public void Close()</a:t>
            </a:r>
            <a:endParaRPr lang="en-US" sz="1500" dirty="0"/>
          </a:p>
          <a:p>
            <a:pPr marL="0" indent="0">
              <a:buNone/>
            </a:pPr>
            <a:r>
              <a:rPr lang="en-US" sz="1500" dirty="0">
                <a:solidFill>
                  <a:srgbClr val="E6E6E6"/>
                </a:solidFill>
                <a:latin typeface="Consolas" pitchFamily="34" charset="0"/>
                <a:ea typeface="Consolas" pitchFamily="34" charset="-122"/>
                <a:cs typeface="Consolas" pitchFamily="34" charset="-120"/>
              </a:rPr>
              <a:t>a3f9c21 (Sophie Martin)  {</a:t>
            </a:r>
            <a:endParaRPr lang="en-US" sz="1500" dirty="0"/>
          </a:p>
          <a:p>
            <a:pPr marL="0" indent="0">
              <a:buNone/>
            </a:pPr>
            <a:r>
              <a:rPr lang="en-US" sz="1500" b="1" dirty="0">
                <a:solidFill>
                  <a:srgbClr val="FFA94D"/>
                </a:solidFill>
                <a:latin typeface="Consolas" pitchFamily="34" charset="0"/>
                <a:ea typeface="Consolas" pitchFamily="34" charset="-122"/>
                <a:cs typeface="Consolas" pitchFamily="34" charset="-120"/>
              </a:rPr>
              <a:t>a3f9c21 (Sophie Martin)      Status = IncidentStatus.Closed;</a:t>
            </a:r>
            <a:endParaRPr lang="en-US" sz="1500" dirty="0"/>
          </a:p>
          <a:p>
            <a:pPr marL="0" indent="0">
              <a:buNone/>
            </a:pPr>
            <a:r>
              <a:rPr lang="en-US" sz="1500" dirty="0">
                <a:solidFill>
                  <a:srgbClr val="E6E6E6"/>
                </a:solidFill>
                <a:latin typeface="Consolas" pitchFamily="34" charset="0"/>
                <a:ea typeface="Consolas" pitchFamily="34" charset="-122"/>
                <a:cs typeface="Consolas" pitchFamily="34" charset="-120"/>
              </a:rPr>
              <a:t>a3f9c21 (Sophie Martin)  }</a:t>
            </a:r>
            <a:endParaRPr lang="en-US" sz="1500" dirty="0"/>
          </a:p>
        </p:txBody>
      </p:sp>
      <p:sp>
        <p:nvSpPr>
          <p:cNvPr id="10" name="Text 7"/>
          <p:cNvSpPr txBox="1"/>
          <p:nvPr/>
        </p:nvSpPr>
        <p:spPr>
          <a:xfrm>
            <a:off x="640080" y="4343400"/>
            <a:ext cx="7498080" cy="365760"/>
          </a:xfrm>
          <a:prstGeom prst="rect">
            <a:avLst/>
          </a:prstGeom>
          <a:noFill/>
          <a:ln/>
        </p:spPr>
        <p:txBody>
          <a:bodyPr wrap="square" lIns="0" tIns="0" rIns="0" bIns="0" rtlCol="0" anchor="ctr"/>
          <a:lstStyle/>
          <a:p>
            <a:pPr marL="0" indent="0">
              <a:buNone/>
            </a:pPr>
            <a:r>
              <a:rPr lang="en-US" sz="1500" i="1" dirty="0">
                <a:solidFill>
                  <a:srgbClr val="C92A2A"/>
                </a:solidFill>
                <a:latin typeface="Calibri" pitchFamily="34" charset="0"/>
                <a:ea typeface="Calibri" pitchFamily="34" charset="-122"/>
                <a:cs typeface="Calibri" pitchFamily="34" charset="-120"/>
              </a:rPr>
              <a:t>Aucune vérification : un incident jamais traité peut être clôturé.</a:t>
            </a:r>
            <a:endParaRPr lang="en-US" sz="1500" dirty="0"/>
          </a:p>
        </p:txBody>
      </p:sp>
      <p:sp>
        <p:nvSpPr>
          <p:cNvPr id="11" name="Shape 8"/>
          <p:cNvSpPr/>
          <p:nvPr/>
        </p:nvSpPr>
        <p:spPr>
          <a:xfrm>
            <a:off x="8412480" y="1783080"/>
            <a:ext cx="3108960" cy="3931920"/>
          </a:xfrm>
          <a:prstGeom prst="roundRect">
            <a:avLst>
              <a:gd name="adj" fmla="val 2353"/>
            </a:avLst>
          </a:prstGeom>
          <a:solidFill>
            <a:srgbClr val="F2F3F5"/>
          </a:solidFill>
          <a:ln w="12700">
            <a:solidFill>
              <a:srgbClr val="F2F3F5"/>
            </a:solidFill>
            <a:prstDash val="solid"/>
          </a:ln>
        </p:spPr>
        <p:txBody>
          <a:bodyPr/>
          <a:lstStyle/>
          <a:p>
            <a:endParaRPr lang="fr-BE"/>
          </a:p>
        </p:txBody>
      </p:sp>
      <p:sp>
        <p:nvSpPr>
          <p:cNvPr id="12" name="Text 9"/>
          <p:cNvSpPr txBox="1"/>
          <p:nvPr/>
        </p:nvSpPr>
        <p:spPr>
          <a:xfrm>
            <a:off x="8641080" y="1965960"/>
            <a:ext cx="2697480" cy="3566160"/>
          </a:xfrm>
          <a:prstGeom prst="rect">
            <a:avLst/>
          </a:prstGeom>
          <a:noFill/>
          <a:ln/>
        </p:spPr>
        <p:txBody>
          <a:bodyPr wrap="square" lIns="0" tIns="0" rIns="0" bIns="0" rtlCol="0" anchor="t"/>
          <a:lstStyle/>
          <a:p>
            <a:pPr marL="0" indent="0">
              <a:buNone/>
            </a:pPr>
            <a:r>
              <a:rPr lang="en-US" sz="1800" b="1" dirty="0">
                <a:solidFill>
                  <a:srgbClr val="16181D"/>
                </a:solidFill>
                <a:latin typeface="Calibri" pitchFamily="34" charset="0"/>
                <a:ea typeface="Calibri" pitchFamily="34" charset="-122"/>
                <a:cs typeface="Calibri" pitchFamily="34" charset="-120"/>
              </a:rPr>
              <a:t>Au travail</a:t>
            </a:r>
            <a:endParaRPr lang="en-US" sz="1800" dirty="0"/>
          </a:p>
          <a:p>
            <a:pPr marL="0" indent="0">
              <a:buNone/>
            </a:pPr>
            <a:r>
              <a:rPr lang="en-US" sz="1500" dirty="0">
                <a:solidFill>
                  <a:srgbClr val="5F6670"/>
                </a:solidFill>
                <a:latin typeface="Calibri" pitchFamily="34" charset="0"/>
                <a:ea typeface="Calibri" pitchFamily="34" charset="-122"/>
                <a:cs typeface="Calibri" pitchFamily="34" charset="-120"/>
              </a:rPr>
              <a:t>Chaque ligne porte le nom de la personne qui l'a poussée. Si ça casse en production, c'est elle qu'on appelle.
</a:t>
            </a:r>
            <a:endParaRPr lang="en-US" sz="1800" dirty="0"/>
          </a:p>
          <a:p>
            <a:pPr marL="0" indent="0">
              <a:buNone/>
            </a:pPr>
            <a:r>
              <a:rPr lang="en-US" sz="1800" b="1" dirty="0">
                <a:solidFill>
                  <a:srgbClr val="16181D"/>
                </a:solidFill>
                <a:latin typeface="Calibri" pitchFamily="34" charset="0"/>
                <a:ea typeface="Calibri" pitchFamily="34" charset="-122"/>
                <a:cs typeface="Calibri" pitchFamily="34" charset="-120"/>
              </a:rPr>
              <a:t>Dans ce cours</a:t>
            </a:r>
            <a:endParaRPr lang="en-US" sz="1800" dirty="0"/>
          </a:p>
          <a:p>
            <a:pPr marL="0" indent="0">
              <a:buNone/>
            </a:pPr>
            <a:r>
              <a:rPr lang="en-US" sz="1500" dirty="0">
                <a:solidFill>
                  <a:srgbClr val="5F6670"/>
                </a:solidFill>
                <a:latin typeface="Calibri" pitchFamily="34" charset="0"/>
                <a:ea typeface="Calibri" pitchFamily="34" charset="-122"/>
                <a:cs typeface="Calibri" pitchFamily="34" charset="-120"/>
              </a:rPr>
              <a:t>Au QCM : un extrait de code et une question « que se passe-t-il si… ? »</a:t>
            </a:r>
            <a:endParaRPr lang="en-US" sz="1800" dirty="0"/>
          </a:p>
        </p:txBody>
      </p:sp>
      <p:sp>
        <p:nvSpPr>
          <p:cNvPr id="13" name="Text 10"/>
          <p:cNvSpPr txBox="1"/>
          <p:nvPr/>
        </p:nvSpPr>
        <p:spPr>
          <a:xfrm>
            <a:off x="640080" y="5029200"/>
            <a:ext cx="7498080" cy="548640"/>
          </a:xfrm>
          <a:prstGeom prst="rect">
            <a:avLst/>
          </a:prstGeom>
          <a:noFill/>
          <a:ln/>
        </p:spPr>
        <p:txBody>
          <a:bodyPr wrap="square" lIns="0" tIns="0" rIns="0" bIns="0" rtlCol="0" anchor="ctr"/>
          <a:lstStyle/>
          <a:p>
            <a:pPr marL="0" indent="0">
              <a:buNone/>
            </a:pPr>
            <a:r>
              <a:rPr lang="en-US" sz="2000" b="1" dirty="0">
                <a:solidFill>
                  <a:srgbClr val="16181D"/>
                </a:solidFill>
                <a:latin typeface="Arial" pitchFamily="34" charset="0"/>
                <a:ea typeface="Arial" pitchFamily="34" charset="-122"/>
                <a:cs typeface="Arial" pitchFamily="34" charset="-120"/>
              </a:rPr>
              <a:t>Vous devez pouvoir expliquer chaque ligne que vous rendez.</a:t>
            </a:r>
            <a:endParaRPr lang="en-US" sz="2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2F3F5"/>
        </a:solidFill>
        <a:effectLst/>
      </p:bgPr>
    </p:bg>
    <p:spTree>
      <p:nvGrpSpPr>
        <p:cNvPr id="1" name=""/>
        <p:cNvGrpSpPr/>
        <p:nvPr/>
      </p:nvGrpSpPr>
      <p:grpSpPr>
        <a:xfrm>
          <a:off x="0" y="0"/>
          <a:ext cx="0" cy="0"/>
          <a:chOff x="0" y="0"/>
          <a:chExt cx="0" cy="0"/>
        </a:xfrm>
      </p:grpSpPr>
      <p:sp>
        <p:nvSpPr>
          <p:cNvPr id="2" name="Text 0"/>
          <p:cNvSpPr txBox="1"/>
          <p:nvPr/>
        </p:nvSpPr>
        <p:spPr>
          <a:xfrm>
            <a:off x="640080" y="2103120"/>
            <a:ext cx="10911535" cy="1097280"/>
          </a:xfrm>
          <a:prstGeom prst="rect">
            <a:avLst/>
          </a:prstGeom>
          <a:noFill/>
          <a:ln/>
        </p:spPr>
        <p:txBody>
          <a:bodyPr wrap="square" lIns="0" tIns="0" rIns="0" bIns="0" rtlCol="0" anchor="ctr"/>
          <a:lstStyle/>
          <a:p>
            <a:pPr marL="0" indent="0">
              <a:buNone/>
            </a:pPr>
            <a:r>
              <a:rPr lang="en-US" sz="6000" b="1" dirty="0">
                <a:solidFill>
                  <a:srgbClr val="16181D"/>
                </a:solidFill>
                <a:latin typeface="Arial" pitchFamily="34" charset="0"/>
                <a:ea typeface="Arial" pitchFamily="34" charset="-122"/>
                <a:cs typeface="Arial" pitchFamily="34" charset="-120"/>
              </a:rPr>
              <a:t>Vos questions</a:t>
            </a:r>
            <a:endParaRPr lang="en-US" sz="6000" dirty="0"/>
          </a:p>
        </p:txBody>
      </p:sp>
      <p:sp>
        <p:nvSpPr>
          <p:cNvPr id="3" name="Text 1"/>
          <p:cNvSpPr txBox="1"/>
          <p:nvPr/>
        </p:nvSpPr>
        <p:spPr>
          <a:xfrm>
            <a:off x="640080" y="3291840"/>
            <a:ext cx="10911535" cy="548640"/>
          </a:xfrm>
          <a:prstGeom prst="rect">
            <a:avLst/>
          </a:prstGeom>
          <a:noFill/>
          <a:ln/>
        </p:spPr>
        <p:txBody>
          <a:bodyPr wrap="square" lIns="0" tIns="0" rIns="0" bIns="0" rtlCol="0" anchor="ctr"/>
          <a:lstStyle/>
          <a:p>
            <a:pPr marL="0" indent="0">
              <a:buNone/>
            </a:pPr>
            <a:r>
              <a:rPr lang="en-US" sz="2200" dirty="0">
                <a:solidFill>
                  <a:srgbClr val="5F6670"/>
                </a:solidFill>
                <a:latin typeface="Calibri" pitchFamily="34" charset="0"/>
                <a:ea typeface="Calibri" pitchFamily="34" charset="-122"/>
                <a:cs typeface="Calibri" pitchFamily="34" charset="-120"/>
              </a:rPr>
              <a:t>Je réponds maintenant aux questions posées dans le chat depuis le début.</a:t>
            </a:r>
            <a:endParaRPr lang="en-US" sz="2200" dirty="0"/>
          </a:p>
        </p:txBody>
      </p:sp>
      <p:sp>
        <p:nvSpPr>
          <p:cNvPr id="4" name="Text 2"/>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41</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2F3F5"/>
        </a:solidFill>
        <a:effectLst/>
      </p:bgPr>
    </p:bg>
    <p:spTree>
      <p:nvGrpSpPr>
        <p:cNvPr id="1" name=""/>
        <p:cNvGrpSpPr/>
        <p:nvPr/>
      </p:nvGrpSpPr>
      <p:grpSpPr>
        <a:xfrm>
          <a:off x="0" y="0"/>
          <a:ext cx="0" cy="0"/>
          <a:chOff x="0" y="0"/>
          <a:chExt cx="0" cy="0"/>
        </a:xfrm>
      </p:grpSpPr>
      <p:sp>
        <p:nvSpPr>
          <p:cNvPr id="2" name="Text 0"/>
          <p:cNvSpPr txBox="1"/>
          <p:nvPr/>
        </p:nvSpPr>
        <p:spPr>
          <a:xfrm>
            <a:off x="640080" y="2194560"/>
            <a:ext cx="10911535" cy="1280160"/>
          </a:xfrm>
          <a:prstGeom prst="rect">
            <a:avLst/>
          </a:prstGeom>
          <a:noFill/>
          <a:ln/>
        </p:spPr>
        <p:txBody>
          <a:bodyPr wrap="square" lIns="0" tIns="0" rIns="0" bIns="0" rtlCol="0" anchor="ctr"/>
          <a:lstStyle/>
          <a:p>
            <a:pPr marL="0" indent="0">
              <a:buNone/>
            </a:pPr>
            <a:r>
              <a:rPr lang="en-US" sz="7200" b="1" dirty="0">
                <a:solidFill>
                  <a:srgbClr val="16181D"/>
                </a:solidFill>
                <a:latin typeface="Arial" pitchFamily="34" charset="0"/>
                <a:ea typeface="Arial" pitchFamily="34" charset="-122"/>
                <a:cs typeface="Arial" pitchFamily="34" charset="-120"/>
              </a:rPr>
              <a:t>Pause</a:t>
            </a:r>
            <a:endParaRPr lang="en-US" sz="7200" dirty="0"/>
          </a:p>
        </p:txBody>
      </p:sp>
      <p:sp>
        <p:nvSpPr>
          <p:cNvPr id="3" name="Text 1"/>
          <p:cNvSpPr txBox="1"/>
          <p:nvPr/>
        </p:nvSpPr>
        <p:spPr>
          <a:xfrm>
            <a:off x="640080" y="3566160"/>
            <a:ext cx="10911535" cy="548640"/>
          </a:xfrm>
          <a:prstGeom prst="rect">
            <a:avLst/>
          </a:prstGeom>
          <a:noFill/>
          <a:ln/>
        </p:spPr>
        <p:txBody>
          <a:bodyPr wrap="square" lIns="0" tIns="0" rIns="0" bIns="0" rtlCol="0" anchor="ctr"/>
          <a:lstStyle/>
          <a:p>
            <a:pPr marL="0" indent="0">
              <a:buNone/>
            </a:pPr>
            <a:r>
              <a:rPr lang="en-US" sz="2200" dirty="0">
                <a:solidFill>
                  <a:srgbClr val="5F6670"/>
                </a:solidFill>
                <a:latin typeface="Calibri" pitchFamily="34" charset="0"/>
                <a:ea typeface="Calibri" pitchFamily="34" charset="-122"/>
                <a:cs typeface="Calibri" pitchFamily="34" charset="-120"/>
              </a:rPr>
              <a:t>10 minutes. On reprend à l'heure affichée dans le chat.</a:t>
            </a:r>
            <a:endParaRPr lang="en-US" sz="2200" dirty="0"/>
          </a:p>
        </p:txBody>
      </p:sp>
      <p:sp>
        <p:nvSpPr>
          <p:cNvPr id="4" name="Text 2"/>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42</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6181D"/>
        </a:solidFill>
        <a:effectLst/>
      </p:bgPr>
    </p:bg>
    <p:spTree>
      <p:nvGrpSpPr>
        <p:cNvPr id="1" name=""/>
        <p:cNvGrpSpPr/>
        <p:nvPr/>
      </p:nvGrpSpPr>
      <p:grpSpPr>
        <a:xfrm>
          <a:off x="0" y="0"/>
          <a:ext cx="0" cy="0"/>
          <a:chOff x="0" y="0"/>
          <a:chExt cx="0" cy="0"/>
        </a:xfrm>
      </p:grpSpPr>
      <p:sp>
        <p:nvSpPr>
          <p:cNvPr id="2" name="Text 0"/>
          <p:cNvSpPr txBox="1"/>
          <p:nvPr/>
        </p:nvSpPr>
        <p:spPr>
          <a:xfrm>
            <a:off x="640080" y="1463040"/>
            <a:ext cx="2743200" cy="1280160"/>
          </a:xfrm>
          <a:prstGeom prst="rect">
            <a:avLst/>
          </a:prstGeom>
          <a:noFill/>
          <a:ln/>
        </p:spPr>
        <p:txBody>
          <a:bodyPr wrap="square" lIns="0" tIns="0" rIns="0" bIns="0" rtlCol="0" anchor="ctr"/>
          <a:lstStyle/>
          <a:p>
            <a:pPr marL="0" indent="0">
              <a:buNone/>
            </a:pPr>
            <a:r>
              <a:rPr lang="en-US" sz="9600" b="1" dirty="0">
                <a:solidFill>
                  <a:srgbClr val="E8590C"/>
                </a:solidFill>
                <a:latin typeface="Arial" pitchFamily="34" charset="0"/>
                <a:ea typeface="Arial" pitchFamily="34" charset="-122"/>
                <a:cs typeface="Arial" pitchFamily="34" charset="-120"/>
              </a:rPr>
              <a:t>03</a:t>
            </a:r>
            <a:endParaRPr lang="en-US" sz="9600" dirty="0"/>
          </a:p>
        </p:txBody>
      </p:sp>
      <p:sp>
        <p:nvSpPr>
          <p:cNvPr id="3" name="Text 1"/>
          <p:cNvSpPr txBox="1"/>
          <p:nvPr/>
        </p:nvSpPr>
        <p:spPr>
          <a:xfrm>
            <a:off x="640080" y="2834640"/>
            <a:ext cx="10911535" cy="1005840"/>
          </a:xfrm>
          <a:prstGeom prst="rect">
            <a:avLst/>
          </a:prstGeom>
          <a:noFill/>
          <a:ln/>
        </p:spPr>
        <p:txBody>
          <a:bodyPr wrap="square" lIns="0" tIns="0" rIns="0" bIns="0" rtlCol="0" anchor="ctr"/>
          <a:lstStyle/>
          <a:p>
            <a:pPr marL="0" indent="0">
              <a:buNone/>
            </a:pPr>
            <a:r>
              <a:rPr lang="en-US" sz="4400" b="1" dirty="0">
                <a:solidFill>
                  <a:srgbClr val="FFFFFF"/>
                </a:solidFill>
                <a:latin typeface="Arial" pitchFamily="34" charset="0"/>
                <a:ea typeface="Arial" pitchFamily="34" charset="-122"/>
                <a:cs typeface="Arial" pitchFamily="34" charset="-120"/>
              </a:rPr>
              <a:t>La programmation orientée objet</a:t>
            </a:r>
            <a:endParaRPr lang="en-US" sz="4400" dirty="0"/>
          </a:p>
        </p:txBody>
      </p:sp>
      <p:sp>
        <p:nvSpPr>
          <p:cNvPr id="4" name="Text 2"/>
          <p:cNvSpPr txBox="1"/>
          <p:nvPr/>
        </p:nvSpPr>
        <p:spPr>
          <a:xfrm>
            <a:off x="640080" y="3840480"/>
            <a:ext cx="10911535" cy="731520"/>
          </a:xfrm>
          <a:prstGeom prst="rect">
            <a:avLst/>
          </a:prstGeom>
          <a:noFill/>
          <a:ln/>
        </p:spPr>
        <p:txBody>
          <a:bodyPr wrap="square" lIns="0" tIns="0" rIns="0" bIns="0" rtlCol="0" anchor="ctr"/>
          <a:lstStyle/>
          <a:p>
            <a:pPr marL="0" indent="0">
              <a:buNone/>
            </a:pPr>
            <a:r>
              <a:rPr lang="en-US" sz="2000" dirty="0">
                <a:solidFill>
                  <a:srgbClr val="C9CDD3"/>
                </a:solidFill>
                <a:latin typeface="Calibri" pitchFamily="34" charset="0"/>
                <a:ea typeface="Calibri" pitchFamily="34" charset="-122"/>
                <a:cs typeface="Calibri" pitchFamily="34" charset="-120"/>
              </a:rPr>
              <a:t>D'où elle vient, à quoi elle sert. Sans code pour l'instant.</a:t>
            </a:r>
            <a:endParaRPr lang="en-US" sz="20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9AA0A8"/>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9AA0A8"/>
                </a:solidFill>
                <a:latin typeface="Calibri" pitchFamily="34" charset="0"/>
                <a:ea typeface="Calibri" pitchFamily="34" charset="-122"/>
                <a:cs typeface="Calibri" pitchFamily="34" charset="-120"/>
              </a:rPr>
              <a:t>43</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POURQUOI</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Le problème que la POO résout</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44</a:t>
            </a:r>
            <a:endParaRPr lang="en-US" sz="1000" dirty="0"/>
          </a:p>
        </p:txBody>
      </p:sp>
      <p:sp>
        <p:nvSpPr>
          <p:cNvPr id="8" name="Shape 5"/>
          <p:cNvSpPr/>
          <p:nvPr/>
        </p:nvSpPr>
        <p:spPr>
          <a:xfrm>
            <a:off x="640080" y="1828800"/>
            <a:ext cx="5303520" cy="3749040"/>
          </a:xfrm>
          <a:prstGeom prst="roundRect">
            <a:avLst>
              <a:gd name="adj" fmla="val 1951"/>
            </a:avLst>
          </a:prstGeom>
          <a:solidFill>
            <a:srgbClr val="F2F3F5"/>
          </a:solidFill>
          <a:ln w="12700">
            <a:solidFill>
              <a:srgbClr val="F2F3F5"/>
            </a:solidFill>
            <a:prstDash val="solid"/>
          </a:ln>
        </p:spPr>
        <p:txBody>
          <a:bodyPr/>
          <a:lstStyle/>
          <a:p>
            <a:endParaRPr lang="fr-BE"/>
          </a:p>
        </p:txBody>
      </p:sp>
      <p:sp>
        <p:nvSpPr>
          <p:cNvPr id="9" name="Text 6"/>
          <p:cNvSpPr txBox="1"/>
          <p:nvPr/>
        </p:nvSpPr>
        <p:spPr>
          <a:xfrm>
            <a:off x="960120" y="2011680"/>
            <a:ext cx="4754880" cy="457200"/>
          </a:xfrm>
          <a:prstGeom prst="rect">
            <a:avLst/>
          </a:prstGeom>
          <a:noFill/>
          <a:ln/>
        </p:spPr>
        <p:txBody>
          <a:bodyPr wrap="square" lIns="0" tIns="0" rIns="0" bIns="0" rtlCol="0" anchor="ctr"/>
          <a:lstStyle/>
          <a:p>
            <a:pPr marL="0" indent="0">
              <a:buNone/>
            </a:pPr>
            <a:r>
              <a:rPr lang="en-US" sz="2000" b="1" dirty="0">
                <a:solidFill>
                  <a:srgbClr val="16181D"/>
                </a:solidFill>
                <a:latin typeface="Arial" pitchFamily="34" charset="0"/>
                <a:ea typeface="Arial" pitchFamily="34" charset="-122"/>
                <a:cs typeface="Arial" pitchFamily="34" charset="-120"/>
              </a:rPr>
              <a:t>Sans objets : le « code spaghetti »</a:t>
            </a:r>
            <a:endParaRPr lang="en-US" sz="2000" dirty="0"/>
          </a:p>
        </p:txBody>
      </p:sp>
      <p:sp>
        <p:nvSpPr>
          <p:cNvPr id="10" name="Text 7"/>
          <p:cNvSpPr txBox="1"/>
          <p:nvPr/>
        </p:nvSpPr>
        <p:spPr>
          <a:xfrm>
            <a:off x="960120" y="2651760"/>
            <a:ext cx="4663440" cy="1828800"/>
          </a:xfrm>
          <a:prstGeom prst="rect">
            <a:avLst/>
          </a:prstGeom>
          <a:noFill/>
          <a:ln/>
        </p:spPr>
        <p:txBody>
          <a:bodyPr wrap="square" lIns="0" tIns="0" rIns="0" bIns="0" rtlCol="0" anchor="t"/>
          <a:lstStyle/>
          <a:p>
            <a:pPr marL="0" indent="0">
              <a:buNone/>
            </a:pPr>
            <a:r>
              <a:rPr lang="en-US" sz="1700" dirty="0">
                <a:solidFill>
                  <a:srgbClr val="5F6670"/>
                </a:solidFill>
                <a:latin typeface="Calibri" pitchFamily="34" charset="0"/>
                <a:ea typeface="Calibri" pitchFamily="34" charset="-122"/>
                <a:cs typeface="Calibri" pitchFamily="34" charset="-120"/>
              </a:rPr>
              <a:t>Une recette de milliers de lignes.</a:t>
            </a:r>
            <a:endParaRPr lang="en-US" sz="1700" dirty="0"/>
          </a:p>
          <a:p>
            <a:pPr marL="0" indent="0">
              <a:buNone/>
            </a:pPr>
            <a:r>
              <a:rPr lang="en-US" sz="1700" dirty="0">
                <a:solidFill>
                  <a:srgbClr val="5F6670"/>
                </a:solidFill>
                <a:latin typeface="Calibri" pitchFamily="34" charset="0"/>
                <a:ea typeface="Calibri" pitchFamily="34" charset="-122"/>
                <a:cs typeface="Calibri" pitchFamily="34" charset="-120"/>
              </a:rPr>
              <a:t>Toutes les données accessibles partout.</a:t>
            </a:r>
            <a:endParaRPr lang="en-US" sz="1700" dirty="0"/>
          </a:p>
          <a:p>
            <a:pPr marL="0" indent="0">
              <a:buNone/>
            </a:pPr>
            <a:r>
              <a:rPr lang="en-US" sz="1700" dirty="0">
                <a:solidFill>
                  <a:srgbClr val="5F6670"/>
                </a:solidFill>
                <a:latin typeface="Calibri" pitchFamily="34" charset="0"/>
                <a:ea typeface="Calibri" pitchFamily="34" charset="-122"/>
                <a:cs typeface="Calibri" pitchFamily="34" charset="-120"/>
              </a:rPr>
              <a:t>On change la ligne 200, la ligne 4 000 casse.</a:t>
            </a:r>
            <a:endParaRPr lang="en-US" sz="1700" dirty="0"/>
          </a:p>
        </p:txBody>
      </p:sp>
      <p:sp>
        <p:nvSpPr>
          <p:cNvPr id="11" name="Shape 8"/>
          <p:cNvSpPr/>
          <p:nvPr/>
        </p:nvSpPr>
        <p:spPr>
          <a:xfrm>
            <a:off x="6217920" y="1828800"/>
            <a:ext cx="5303520" cy="3749040"/>
          </a:xfrm>
          <a:prstGeom prst="roundRect">
            <a:avLst>
              <a:gd name="adj" fmla="val 1951"/>
            </a:avLst>
          </a:prstGeom>
          <a:solidFill>
            <a:srgbClr val="16181D"/>
          </a:solidFill>
          <a:ln w="12700">
            <a:solidFill>
              <a:srgbClr val="16181D"/>
            </a:solidFill>
            <a:prstDash val="solid"/>
          </a:ln>
        </p:spPr>
        <p:txBody>
          <a:bodyPr/>
          <a:lstStyle/>
          <a:p>
            <a:endParaRPr lang="fr-BE"/>
          </a:p>
        </p:txBody>
      </p:sp>
      <p:sp>
        <p:nvSpPr>
          <p:cNvPr id="12" name="Text 9"/>
          <p:cNvSpPr txBox="1"/>
          <p:nvPr/>
        </p:nvSpPr>
        <p:spPr>
          <a:xfrm>
            <a:off x="6537960" y="2011680"/>
            <a:ext cx="4754880" cy="45720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Avec des objets : des briques</a:t>
            </a:r>
            <a:endParaRPr lang="en-US" sz="2000" dirty="0"/>
          </a:p>
        </p:txBody>
      </p:sp>
      <p:sp>
        <p:nvSpPr>
          <p:cNvPr id="13" name="Text 10"/>
          <p:cNvSpPr txBox="1"/>
          <p:nvPr/>
        </p:nvSpPr>
        <p:spPr>
          <a:xfrm>
            <a:off x="6537960" y="2651760"/>
            <a:ext cx="4663440" cy="1828800"/>
          </a:xfrm>
          <a:prstGeom prst="rect">
            <a:avLst/>
          </a:prstGeom>
          <a:noFill/>
          <a:ln/>
        </p:spPr>
        <p:txBody>
          <a:bodyPr wrap="square" lIns="0" tIns="0" rIns="0" bIns="0" rtlCol="0" anchor="t"/>
          <a:lstStyle/>
          <a:p>
            <a:pPr marL="0" indent="0">
              <a:buNone/>
            </a:pPr>
            <a:r>
              <a:rPr lang="en-US" sz="1700" dirty="0">
                <a:solidFill>
                  <a:srgbClr val="C9CDD3"/>
                </a:solidFill>
                <a:latin typeface="Calibri" pitchFamily="34" charset="0"/>
                <a:ea typeface="Calibri" pitchFamily="34" charset="-122"/>
                <a:cs typeface="Calibri" pitchFamily="34" charset="-120"/>
              </a:rPr>
              <a:t>Chaque brique a un rôle.</a:t>
            </a:r>
            <a:endParaRPr lang="en-US" sz="1700" dirty="0"/>
          </a:p>
          <a:p>
            <a:pPr marL="0" indent="0">
              <a:buNone/>
            </a:pPr>
            <a:r>
              <a:rPr lang="en-US" sz="1700" dirty="0">
                <a:solidFill>
                  <a:srgbClr val="C9CDD3"/>
                </a:solidFill>
                <a:latin typeface="Calibri" pitchFamily="34" charset="0"/>
                <a:ea typeface="Calibri" pitchFamily="34" charset="-122"/>
                <a:cs typeface="Calibri" pitchFamily="34" charset="-120"/>
              </a:rPr>
              <a:t>Elle protège ses données.</a:t>
            </a:r>
            <a:endParaRPr lang="en-US" sz="1700" dirty="0"/>
          </a:p>
          <a:p>
            <a:pPr marL="0" indent="0">
              <a:buNone/>
            </a:pPr>
            <a:r>
              <a:rPr lang="en-US" sz="1700" dirty="0">
                <a:solidFill>
                  <a:srgbClr val="C9CDD3"/>
                </a:solidFill>
                <a:latin typeface="Calibri" pitchFamily="34" charset="0"/>
                <a:ea typeface="Calibri" pitchFamily="34" charset="-122"/>
                <a:cs typeface="Calibri" pitchFamily="34" charset="-120"/>
              </a:rPr>
              <a:t>On remplace une brique sans tout reconstruire.</a:t>
            </a:r>
            <a:endParaRPr lang="en-US" sz="1700" dirty="0"/>
          </a:p>
        </p:txBody>
      </p:sp>
      <p:sp>
        <p:nvSpPr>
          <p:cNvPr id="14" name="Shape 11"/>
          <p:cNvSpPr/>
          <p:nvPr/>
        </p:nvSpPr>
        <p:spPr>
          <a:xfrm>
            <a:off x="6583680" y="4937760"/>
            <a:ext cx="731520" cy="384048"/>
          </a:xfrm>
          <a:prstGeom prst="roundRect">
            <a:avLst>
              <a:gd name="adj" fmla="val 11905"/>
            </a:avLst>
          </a:prstGeom>
          <a:solidFill>
            <a:srgbClr val="E8590C"/>
          </a:solidFill>
          <a:ln w="12700">
            <a:solidFill>
              <a:srgbClr val="16181D"/>
            </a:solidFill>
            <a:prstDash val="solid"/>
          </a:ln>
        </p:spPr>
        <p:txBody>
          <a:bodyPr/>
          <a:lstStyle/>
          <a:p>
            <a:endParaRPr lang="fr-BE"/>
          </a:p>
        </p:txBody>
      </p:sp>
      <p:sp>
        <p:nvSpPr>
          <p:cNvPr id="15" name="Shape 12"/>
          <p:cNvSpPr/>
          <p:nvPr/>
        </p:nvSpPr>
        <p:spPr>
          <a:xfrm>
            <a:off x="7360920" y="4937760"/>
            <a:ext cx="731520" cy="384048"/>
          </a:xfrm>
          <a:prstGeom prst="roundRect">
            <a:avLst>
              <a:gd name="adj" fmla="val 11905"/>
            </a:avLst>
          </a:prstGeom>
          <a:solidFill>
            <a:srgbClr val="FFA94D"/>
          </a:solidFill>
          <a:ln w="12700">
            <a:solidFill>
              <a:srgbClr val="16181D"/>
            </a:solidFill>
            <a:prstDash val="solid"/>
          </a:ln>
        </p:spPr>
        <p:txBody>
          <a:bodyPr/>
          <a:lstStyle/>
          <a:p>
            <a:endParaRPr lang="fr-BE"/>
          </a:p>
        </p:txBody>
      </p:sp>
      <p:sp>
        <p:nvSpPr>
          <p:cNvPr id="16" name="Shape 13"/>
          <p:cNvSpPr/>
          <p:nvPr/>
        </p:nvSpPr>
        <p:spPr>
          <a:xfrm>
            <a:off x="8138160" y="4937760"/>
            <a:ext cx="731520" cy="384048"/>
          </a:xfrm>
          <a:prstGeom prst="roundRect">
            <a:avLst>
              <a:gd name="adj" fmla="val 11905"/>
            </a:avLst>
          </a:prstGeom>
          <a:solidFill>
            <a:srgbClr val="E8590C"/>
          </a:solidFill>
          <a:ln w="12700">
            <a:solidFill>
              <a:srgbClr val="16181D"/>
            </a:solidFill>
            <a:prstDash val="solid"/>
          </a:ln>
        </p:spPr>
        <p:txBody>
          <a:bodyPr/>
          <a:lstStyle/>
          <a:p>
            <a:endParaRPr lang="fr-BE"/>
          </a:p>
        </p:txBody>
      </p:sp>
      <p:sp>
        <p:nvSpPr>
          <p:cNvPr id="17" name="Shape 14"/>
          <p:cNvSpPr/>
          <p:nvPr/>
        </p:nvSpPr>
        <p:spPr>
          <a:xfrm>
            <a:off x="6967728" y="4526280"/>
            <a:ext cx="731520" cy="384048"/>
          </a:xfrm>
          <a:prstGeom prst="roundRect">
            <a:avLst>
              <a:gd name="adj" fmla="val 11905"/>
            </a:avLst>
          </a:prstGeom>
          <a:solidFill>
            <a:srgbClr val="FFFFFF"/>
          </a:solidFill>
          <a:ln w="12700">
            <a:solidFill>
              <a:srgbClr val="16181D"/>
            </a:solidFill>
            <a:prstDash val="solid"/>
          </a:ln>
        </p:spPr>
        <p:txBody>
          <a:bodyPr/>
          <a:lstStyle/>
          <a:p>
            <a:endParaRPr lang="fr-BE"/>
          </a:p>
        </p:txBody>
      </p:sp>
      <p:sp>
        <p:nvSpPr>
          <p:cNvPr id="18" name="Shape 15"/>
          <p:cNvSpPr/>
          <p:nvPr/>
        </p:nvSpPr>
        <p:spPr>
          <a:xfrm>
            <a:off x="7744968" y="4526280"/>
            <a:ext cx="731520" cy="384048"/>
          </a:xfrm>
          <a:prstGeom prst="roundRect">
            <a:avLst>
              <a:gd name="adj" fmla="val 11905"/>
            </a:avLst>
          </a:prstGeom>
          <a:solidFill>
            <a:srgbClr val="FFA94D"/>
          </a:solidFill>
          <a:ln w="12700">
            <a:solidFill>
              <a:srgbClr val="16181D"/>
            </a:solidFill>
            <a:prstDash val="solid"/>
          </a:ln>
        </p:spPr>
        <p:txBody>
          <a:bodyPr/>
          <a:lstStyle/>
          <a:p>
            <a:endParaRPr lang="fr-BE"/>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HISTOIRE</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60 ans d'objets : cinq langages qui ont tout changé</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45</a:t>
            </a:r>
            <a:endParaRPr lang="en-US" sz="1000" dirty="0"/>
          </a:p>
        </p:txBody>
      </p:sp>
      <p:sp>
        <p:nvSpPr>
          <p:cNvPr id="8" name="Shape 5"/>
          <p:cNvSpPr/>
          <p:nvPr/>
        </p:nvSpPr>
        <p:spPr>
          <a:xfrm>
            <a:off x="914400" y="3246120"/>
            <a:ext cx="10362895" cy="0"/>
          </a:xfrm>
          <a:prstGeom prst="line">
            <a:avLst/>
          </a:prstGeom>
          <a:noFill/>
          <a:ln w="25400">
            <a:solidFill>
              <a:srgbClr val="D9DCE1"/>
            </a:solidFill>
            <a:prstDash val="solid"/>
          </a:ln>
        </p:spPr>
        <p:txBody>
          <a:bodyPr/>
          <a:lstStyle/>
          <a:p>
            <a:endParaRPr lang="fr-BE"/>
          </a:p>
        </p:txBody>
      </p:sp>
      <p:pic>
        <p:nvPicPr>
          <p:cNvPr id="9" name="Image 0" descr="img/Kristen_Nygaard.jpg"/>
          <p:cNvPicPr>
            <a:picLocks noChangeAspect="1"/>
          </p:cNvPicPr>
          <p:nvPr/>
        </p:nvPicPr>
        <p:blipFill>
          <a:blip r:embed="rId3"/>
          <a:stretch>
            <a:fillRect/>
          </a:stretch>
        </p:blipFill>
        <p:spPr>
          <a:xfrm>
            <a:off x="1136874" y="1783080"/>
            <a:ext cx="1188720" cy="1188720"/>
          </a:xfrm>
          <a:prstGeom prst="ellipse">
            <a:avLst/>
          </a:prstGeom>
        </p:spPr>
      </p:pic>
      <p:sp>
        <p:nvSpPr>
          <p:cNvPr id="10" name="Text 6"/>
          <p:cNvSpPr txBox="1"/>
          <p:nvPr/>
        </p:nvSpPr>
        <p:spPr>
          <a:xfrm>
            <a:off x="640080" y="3383280"/>
            <a:ext cx="2182307" cy="411480"/>
          </a:xfrm>
          <a:prstGeom prst="rect">
            <a:avLst/>
          </a:prstGeom>
          <a:noFill/>
          <a:ln/>
        </p:spPr>
        <p:txBody>
          <a:bodyPr wrap="square" lIns="0" tIns="0" rIns="0" bIns="0" rtlCol="0" anchor="ctr"/>
          <a:lstStyle/>
          <a:p>
            <a:pPr marL="0" indent="0" algn="ctr">
              <a:buNone/>
            </a:pPr>
            <a:r>
              <a:rPr lang="en-US" sz="2200" b="1" dirty="0">
                <a:solidFill>
                  <a:srgbClr val="16181D"/>
                </a:solidFill>
                <a:latin typeface="Arial" pitchFamily="34" charset="0"/>
                <a:ea typeface="Arial" pitchFamily="34" charset="-122"/>
                <a:cs typeface="Arial" pitchFamily="34" charset="-120"/>
              </a:rPr>
              <a:t>1967</a:t>
            </a:r>
            <a:endParaRPr lang="en-US" sz="2200" dirty="0"/>
          </a:p>
        </p:txBody>
      </p:sp>
      <p:sp>
        <p:nvSpPr>
          <p:cNvPr id="11" name="Text 7"/>
          <p:cNvSpPr txBox="1"/>
          <p:nvPr/>
        </p:nvSpPr>
        <p:spPr>
          <a:xfrm>
            <a:off x="640080" y="3794760"/>
            <a:ext cx="2182307" cy="365760"/>
          </a:xfrm>
          <a:prstGeom prst="rect">
            <a:avLst/>
          </a:prstGeom>
          <a:noFill/>
          <a:ln/>
        </p:spPr>
        <p:txBody>
          <a:bodyPr wrap="square" lIns="0" tIns="0" rIns="0" bIns="0" rtlCol="0" anchor="ctr"/>
          <a:lstStyle/>
          <a:p>
            <a:pPr marL="0" indent="0" algn="ctr">
              <a:buNone/>
            </a:pPr>
            <a:r>
              <a:rPr lang="en-US" sz="1700" b="1" dirty="0">
                <a:solidFill>
                  <a:srgbClr val="16181D"/>
                </a:solidFill>
                <a:latin typeface="Arial" pitchFamily="34" charset="0"/>
                <a:ea typeface="Arial" pitchFamily="34" charset="-122"/>
                <a:cs typeface="Arial" pitchFamily="34" charset="-120"/>
              </a:rPr>
              <a:t>Simula 67</a:t>
            </a:r>
            <a:endParaRPr lang="en-US" sz="1700" dirty="0"/>
          </a:p>
        </p:txBody>
      </p:sp>
      <p:sp>
        <p:nvSpPr>
          <p:cNvPr id="12" name="Text 8"/>
          <p:cNvSpPr txBox="1"/>
          <p:nvPr/>
        </p:nvSpPr>
        <p:spPr>
          <a:xfrm>
            <a:off x="731520" y="4160520"/>
            <a:ext cx="1999427" cy="365760"/>
          </a:xfrm>
          <a:prstGeom prst="rect">
            <a:avLst/>
          </a:prstGeom>
          <a:noFill/>
          <a:ln/>
        </p:spPr>
        <p:txBody>
          <a:bodyPr wrap="square" lIns="0" tIns="0" rIns="0" bIns="0" rtlCol="0" anchor="ctr"/>
          <a:lstStyle/>
          <a:p>
            <a:pPr marL="0" indent="0" algn="ctr">
              <a:buNone/>
            </a:pPr>
            <a:r>
              <a:rPr lang="en-US" sz="1300" i="1" dirty="0">
                <a:solidFill>
                  <a:srgbClr val="5F6670"/>
                </a:solidFill>
                <a:latin typeface="Calibri" pitchFamily="34" charset="0"/>
                <a:ea typeface="Calibri" pitchFamily="34" charset="-122"/>
                <a:cs typeface="Calibri" pitchFamily="34" charset="-120"/>
              </a:rPr>
              <a:t>K. Nygaard et O.-J. Dahl</a:t>
            </a:r>
            <a:endParaRPr lang="en-US" sz="1300" dirty="0"/>
          </a:p>
        </p:txBody>
      </p:sp>
      <p:sp>
        <p:nvSpPr>
          <p:cNvPr id="13" name="Text 9"/>
          <p:cNvSpPr txBox="1"/>
          <p:nvPr/>
        </p:nvSpPr>
        <p:spPr>
          <a:xfrm>
            <a:off x="749808" y="4526280"/>
            <a:ext cx="1962851" cy="914400"/>
          </a:xfrm>
          <a:prstGeom prst="rect">
            <a:avLst/>
          </a:prstGeom>
          <a:noFill/>
          <a:ln/>
        </p:spPr>
        <p:txBody>
          <a:bodyPr wrap="square" lIns="0" tIns="0" rIns="0" bIns="0" rtlCol="0" anchor="t"/>
          <a:lstStyle/>
          <a:p>
            <a:pPr marL="0" indent="0" algn="ctr">
              <a:buNone/>
            </a:pPr>
            <a:r>
              <a:rPr lang="en-US" sz="1400" dirty="0">
                <a:solidFill>
                  <a:srgbClr val="16181D"/>
                </a:solidFill>
                <a:latin typeface="Calibri" pitchFamily="34" charset="0"/>
                <a:ea typeface="Calibri" pitchFamily="34" charset="-122"/>
                <a:cs typeface="Calibri" pitchFamily="34" charset="-120"/>
              </a:rPr>
              <a:t>Oslo. Classes, objets, héritage pour simuler le réel.</a:t>
            </a:r>
            <a:endParaRPr lang="en-US" sz="1400" dirty="0"/>
          </a:p>
        </p:txBody>
      </p:sp>
      <p:pic>
        <p:nvPicPr>
          <p:cNvPr id="14" name="Image 1" descr="img/Alan_Kay.jpg"/>
          <p:cNvPicPr>
            <a:picLocks noChangeAspect="1"/>
          </p:cNvPicPr>
          <p:nvPr/>
        </p:nvPicPr>
        <p:blipFill>
          <a:blip r:embed="rId4"/>
          <a:stretch>
            <a:fillRect/>
          </a:stretch>
        </p:blipFill>
        <p:spPr>
          <a:xfrm>
            <a:off x="3319181" y="1783080"/>
            <a:ext cx="1188720" cy="1188720"/>
          </a:xfrm>
          <a:prstGeom prst="ellipse">
            <a:avLst/>
          </a:prstGeom>
        </p:spPr>
      </p:pic>
      <p:sp>
        <p:nvSpPr>
          <p:cNvPr id="15" name="Text 10"/>
          <p:cNvSpPr txBox="1"/>
          <p:nvPr/>
        </p:nvSpPr>
        <p:spPr>
          <a:xfrm>
            <a:off x="2822387" y="3383280"/>
            <a:ext cx="2182307" cy="411480"/>
          </a:xfrm>
          <a:prstGeom prst="rect">
            <a:avLst/>
          </a:prstGeom>
          <a:noFill/>
          <a:ln/>
        </p:spPr>
        <p:txBody>
          <a:bodyPr wrap="square" lIns="0" tIns="0" rIns="0" bIns="0" rtlCol="0" anchor="ctr"/>
          <a:lstStyle/>
          <a:p>
            <a:pPr marL="0" indent="0" algn="ctr">
              <a:buNone/>
            </a:pPr>
            <a:r>
              <a:rPr lang="en-US" sz="2200" b="1" dirty="0">
                <a:solidFill>
                  <a:srgbClr val="16181D"/>
                </a:solidFill>
                <a:latin typeface="Arial" pitchFamily="34" charset="0"/>
                <a:ea typeface="Arial" pitchFamily="34" charset="-122"/>
                <a:cs typeface="Arial" pitchFamily="34" charset="-120"/>
              </a:rPr>
              <a:t>1972</a:t>
            </a:r>
            <a:endParaRPr lang="en-US" sz="2200" dirty="0"/>
          </a:p>
        </p:txBody>
      </p:sp>
      <p:sp>
        <p:nvSpPr>
          <p:cNvPr id="16" name="Text 11"/>
          <p:cNvSpPr txBox="1"/>
          <p:nvPr/>
        </p:nvSpPr>
        <p:spPr>
          <a:xfrm>
            <a:off x="2822387" y="3794760"/>
            <a:ext cx="2182307" cy="365760"/>
          </a:xfrm>
          <a:prstGeom prst="rect">
            <a:avLst/>
          </a:prstGeom>
          <a:noFill/>
          <a:ln/>
        </p:spPr>
        <p:txBody>
          <a:bodyPr wrap="square" lIns="0" tIns="0" rIns="0" bIns="0" rtlCol="0" anchor="ctr"/>
          <a:lstStyle/>
          <a:p>
            <a:pPr marL="0" indent="0" algn="ctr">
              <a:buNone/>
            </a:pPr>
            <a:r>
              <a:rPr lang="en-US" sz="1700" b="1" dirty="0">
                <a:solidFill>
                  <a:srgbClr val="16181D"/>
                </a:solidFill>
                <a:latin typeface="Arial" pitchFamily="34" charset="0"/>
                <a:ea typeface="Arial" pitchFamily="34" charset="-122"/>
                <a:cs typeface="Arial" pitchFamily="34" charset="-120"/>
              </a:rPr>
              <a:t>Smalltalk</a:t>
            </a:r>
            <a:endParaRPr lang="en-US" sz="1700" dirty="0"/>
          </a:p>
        </p:txBody>
      </p:sp>
      <p:sp>
        <p:nvSpPr>
          <p:cNvPr id="17" name="Text 12"/>
          <p:cNvSpPr txBox="1"/>
          <p:nvPr/>
        </p:nvSpPr>
        <p:spPr>
          <a:xfrm>
            <a:off x="2913827" y="4160520"/>
            <a:ext cx="1999427" cy="365760"/>
          </a:xfrm>
          <a:prstGeom prst="rect">
            <a:avLst/>
          </a:prstGeom>
          <a:noFill/>
          <a:ln/>
        </p:spPr>
        <p:txBody>
          <a:bodyPr wrap="square" lIns="0" tIns="0" rIns="0" bIns="0" rtlCol="0" anchor="ctr"/>
          <a:lstStyle/>
          <a:p>
            <a:pPr marL="0" indent="0" algn="ctr">
              <a:buNone/>
            </a:pPr>
            <a:r>
              <a:rPr lang="en-US" sz="1300" i="1" dirty="0">
                <a:solidFill>
                  <a:srgbClr val="5F6670"/>
                </a:solidFill>
                <a:latin typeface="Calibri" pitchFamily="34" charset="0"/>
                <a:ea typeface="Calibri" pitchFamily="34" charset="-122"/>
                <a:cs typeface="Calibri" pitchFamily="34" charset="-120"/>
              </a:rPr>
              <a:t>Alan Kay</a:t>
            </a:r>
            <a:endParaRPr lang="en-US" sz="1300" dirty="0"/>
          </a:p>
        </p:txBody>
      </p:sp>
      <p:sp>
        <p:nvSpPr>
          <p:cNvPr id="18" name="Text 13"/>
          <p:cNvSpPr txBox="1"/>
          <p:nvPr/>
        </p:nvSpPr>
        <p:spPr>
          <a:xfrm>
            <a:off x="2932115" y="4526280"/>
            <a:ext cx="1962851" cy="914400"/>
          </a:xfrm>
          <a:prstGeom prst="rect">
            <a:avLst/>
          </a:prstGeom>
          <a:noFill/>
          <a:ln/>
        </p:spPr>
        <p:txBody>
          <a:bodyPr wrap="square" lIns="0" tIns="0" rIns="0" bIns="0" rtlCol="0" anchor="t"/>
          <a:lstStyle/>
          <a:p>
            <a:pPr marL="0" indent="0" algn="ctr">
              <a:buNone/>
            </a:pPr>
            <a:r>
              <a:rPr lang="en-US" sz="1400" dirty="0">
                <a:solidFill>
                  <a:srgbClr val="16181D"/>
                </a:solidFill>
                <a:latin typeface="Calibri" pitchFamily="34" charset="0"/>
                <a:ea typeface="Calibri" pitchFamily="34" charset="-122"/>
                <a:cs typeface="Calibri" pitchFamily="34" charset="-120"/>
              </a:rPr>
              <a:t>Xerox PARC. Invente le terme « orienté objet ».</a:t>
            </a:r>
            <a:endParaRPr lang="en-US" sz="1400" dirty="0"/>
          </a:p>
        </p:txBody>
      </p:sp>
      <p:pic>
        <p:nvPicPr>
          <p:cNvPr id="19" name="Image 2" descr="img/Bjarne_Stroustrup.jpg"/>
          <p:cNvPicPr>
            <a:picLocks noChangeAspect="1"/>
          </p:cNvPicPr>
          <p:nvPr/>
        </p:nvPicPr>
        <p:blipFill>
          <a:blip r:embed="rId5"/>
          <a:stretch>
            <a:fillRect/>
          </a:stretch>
        </p:blipFill>
        <p:spPr>
          <a:xfrm>
            <a:off x="5501488" y="1783080"/>
            <a:ext cx="1188720" cy="1188720"/>
          </a:xfrm>
          <a:prstGeom prst="ellipse">
            <a:avLst/>
          </a:prstGeom>
        </p:spPr>
      </p:pic>
      <p:sp>
        <p:nvSpPr>
          <p:cNvPr id="20" name="Text 14"/>
          <p:cNvSpPr txBox="1"/>
          <p:nvPr/>
        </p:nvSpPr>
        <p:spPr>
          <a:xfrm>
            <a:off x="5004694" y="3383280"/>
            <a:ext cx="2182307" cy="411480"/>
          </a:xfrm>
          <a:prstGeom prst="rect">
            <a:avLst/>
          </a:prstGeom>
          <a:noFill/>
          <a:ln/>
        </p:spPr>
        <p:txBody>
          <a:bodyPr wrap="square" lIns="0" tIns="0" rIns="0" bIns="0" rtlCol="0" anchor="ctr"/>
          <a:lstStyle/>
          <a:p>
            <a:pPr marL="0" indent="0" algn="ctr">
              <a:buNone/>
            </a:pPr>
            <a:r>
              <a:rPr lang="en-US" sz="2200" b="1" dirty="0">
                <a:solidFill>
                  <a:srgbClr val="16181D"/>
                </a:solidFill>
                <a:latin typeface="Arial" pitchFamily="34" charset="0"/>
                <a:ea typeface="Arial" pitchFamily="34" charset="-122"/>
                <a:cs typeface="Arial" pitchFamily="34" charset="-120"/>
              </a:rPr>
              <a:t>1985</a:t>
            </a:r>
            <a:endParaRPr lang="en-US" sz="2200" dirty="0"/>
          </a:p>
        </p:txBody>
      </p:sp>
      <p:sp>
        <p:nvSpPr>
          <p:cNvPr id="21" name="Text 15"/>
          <p:cNvSpPr txBox="1"/>
          <p:nvPr/>
        </p:nvSpPr>
        <p:spPr>
          <a:xfrm>
            <a:off x="5004694" y="3794760"/>
            <a:ext cx="2182307" cy="365760"/>
          </a:xfrm>
          <a:prstGeom prst="rect">
            <a:avLst/>
          </a:prstGeom>
          <a:noFill/>
          <a:ln/>
        </p:spPr>
        <p:txBody>
          <a:bodyPr wrap="square" lIns="0" tIns="0" rIns="0" bIns="0" rtlCol="0" anchor="ctr"/>
          <a:lstStyle/>
          <a:p>
            <a:pPr marL="0" indent="0" algn="ctr">
              <a:buNone/>
            </a:pPr>
            <a:r>
              <a:rPr lang="en-US" sz="1700" b="1" dirty="0">
                <a:solidFill>
                  <a:srgbClr val="16181D"/>
                </a:solidFill>
                <a:latin typeface="Arial" pitchFamily="34" charset="0"/>
                <a:ea typeface="Arial" pitchFamily="34" charset="-122"/>
                <a:cs typeface="Arial" pitchFamily="34" charset="-120"/>
              </a:rPr>
              <a:t>C++</a:t>
            </a:r>
            <a:endParaRPr lang="en-US" sz="1700" dirty="0"/>
          </a:p>
        </p:txBody>
      </p:sp>
      <p:sp>
        <p:nvSpPr>
          <p:cNvPr id="22" name="Text 16"/>
          <p:cNvSpPr txBox="1"/>
          <p:nvPr/>
        </p:nvSpPr>
        <p:spPr>
          <a:xfrm>
            <a:off x="5096134" y="4160520"/>
            <a:ext cx="1999427" cy="365760"/>
          </a:xfrm>
          <a:prstGeom prst="rect">
            <a:avLst/>
          </a:prstGeom>
          <a:noFill/>
          <a:ln/>
        </p:spPr>
        <p:txBody>
          <a:bodyPr wrap="square" lIns="0" tIns="0" rIns="0" bIns="0" rtlCol="0" anchor="ctr"/>
          <a:lstStyle/>
          <a:p>
            <a:pPr marL="0" indent="0" algn="ctr">
              <a:buNone/>
            </a:pPr>
            <a:r>
              <a:rPr lang="en-US" sz="1300" i="1" dirty="0">
                <a:solidFill>
                  <a:srgbClr val="5F6670"/>
                </a:solidFill>
                <a:latin typeface="Calibri" pitchFamily="34" charset="0"/>
                <a:ea typeface="Calibri" pitchFamily="34" charset="-122"/>
                <a:cs typeface="Calibri" pitchFamily="34" charset="-120"/>
              </a:rPr>
              <a:t>Bjarne Stroustrup</a:t>
            </a:r>
            <a:endParaRPr lang="en-US" sz="1300" dirty="0"/>
          </a:p>
        </p:txBody>
      </p:sp>
      <p:sp>
        <p:nvSpPr>
          <p:cNvPr id="23" name="Text 17"/>
          <p:cNvSpPr txBox="1"/>
          <p:nvPr/>
        </p:nvSpPr>
        <p:spPr>
          <a:xfrm>
            <a:off x="5114422" y="4526280"/>
            <a:ext cx="1962851" cy="914400"/>
          </a:xfrm>
          <a:prstGeom prst="rect">
            <a:avLst/>
          </a:prstGeom>
          <a:noFill/>
          <a:ln/>
        </p:spPr>
        <p:txBody>
          <a:bodyPr wrap="square" lIns="0" tIns="0" rIns="0" bIns="0" rtlCol="0" anchor="t"/>
          <a:lstStyle/>
          <a:p>
            <a:pPr marL="0" indent="0" algn="ctr">
              <a:buNone/>
            </a:pPr>
            <a:r>
              <a:rPr lang="en-US" sz="1400" dirty="0">
                <a:solidFill>
                  <a:srgbClr val="16181D"/>
                </a:solidFill>
                <a:latin typeface="Calibri" pitchFamily="34" charset="0"/>
                <a:ea typeface="Calibri" pitchFamily="34" charset="-122"/>
                <a:cs typeface="Calibri" pitchFamily="34" charset="-120"/>
              </a:rPr>
              <a:t>Bell Labs. Les classes ajoutées au langage C.</a:t>
            </a:r>
            <a:endParaRPr lang="en-US" sz="1400" dirty="0"/>
          </a:p>
        </p:txBody>
      </p:sp>
      <p:pic>
        <p:nvPicPr>
          <p:cNvPr id="24" name="Image 3" descr="img/James_Gosling.jpg"/>
          <p:cNvPicPr>
            <a:picLocks noChangeAspect="1"/>
          </p:cNvPicPr>
          <p:nvPr/>
        </p:nvPicPr>
        <p:blipFill>
          <a:blip r:embed="rId6"/>
          <a:stretch>
            <a:fillRect/>
          </a:stretch>
        </p:blipFill>
        <p:spPr>
          <a:xfrm>
            <a:off x="7683795" y="1783080"/>
            <a:ext cx="1188720" cy="1188720"/>
          </a:xfrm>
          <a:prstGeom prst="ellipse">
            <a:avLst/>
          </a:prstGeom>
        </p:spPr>
      </p:pic>
      <p:sp>
        <p:nvSpPr>
          <p:cNvPr id="25" name="Text 18"/>
          <p:cNvSpPr txBox="1"/>
          <p:nvPr/>
        </p:nvSpPr>
        <p:spPr>
          <a:xfrm>
            <a:off x="7187001" y="3383280"/>
            <a:ext cx="2182307" cy="411480"/>
          </a:xfrm>
          <a:prstGeom prst="rect">
            <a:avLst/>
          </a:prstGeom>
          <a:noFill/>
          <a:ln/>
        </p:spPr>
        <p:txBody>
          <a:bodyPr wrap="square" lIns="0" tIns="0" rIns="0" bIns="0" rtlCol="0" anchor="ctr"/>
          <a:lstStyle/>
          <a:p>
            <a:pPr marL="0" indent="0" algn="ctr">
              <a:buNone/>
            </a:pPr>
            <a:r>
              <a:rPr lang="en-US" sz="2200" b="1" dirty="0">
                <a:solidFill>
                  <a:srgbClr val="16181D"/>
                </a:solidFill>
                <a:latin typeface="Arial" pitchFamily="34" charset="0"/>
                <a:ea typeface="Arial" pitchFamily="34" charset="-122"/>
                <a:cs typeface="Arial" pitchFamily="34" charset="-120"/>
              </a:rPr>
              <a:t>1995</a:t>
            </a:r>
            <a:endParaRPr lang="en-US" sz="2200" dirty="0"/>
          </a:p>
        </p:txBody>
      </p:sp>
      <p:sp>
        <p:nvSpPr>
          <p:cNvPr id="26" name="Text 19"/>
          <p:cNvSpPr txBox="1"/>
          <p:nvPr/>
        </p:nvSpPr>
        <p:spPr>
          <a:xfrm>
            <a:off x="7187001" y="3794760"/>
            <a:ext cx="2182307" cy="365760"/>
          </a:xfrm>
          <a:prstGeom prst="rect">
            <a:avLst/>
          </a:prstGeom>
          <a:noFill/>
          <a:ln/>
        </p:spPr>
        <p:txBody>
          <a:bodyPr wrap="square" lIns="0" tIns="0" rIns="0" bIns="0" rtlCol="0" anchor="ctr"/>
          <a:lstStyle/>
          <a:p>
            <a:pPr marL="0" indent="0" algn="ctr">
              <a:buNone/>
            </a:pPr>
            <a:r>
              <a:rPr lang="en-US" sz="1700" b="1" dirty="0">
                <a:solidFill>
                  <a:srgbClr val="16181D"/>
                </a:solidFill>
                <a:latin typeface="Arial" pitchFamily="34" charset="0"/>
                <a:ea typeface="Arial" pitchFamily="34" charset="-122"/>
                <a:cs typeface="Arial" pitchFamily="34" charset="-120"/>
              </a:rPr>
              <a:t>Java</a:t>
            </a:r>
            <a:endParaRPr lang="en-US" sz="1700" dirty="0"/>
          </a:p>
        </p:txBody>
      </p:sp>
      <p:sp>
        <p:nvSpPr>
          <p:cNvPr id="27" name="Text 20"/>
          <p:cNvSpPr txBox="1"/>
          <p:nvPr/>
        </p:nvSpPr>
        <p:spPr>
          <a:xfrm>
            <a:off x="7278441" y="4160520"/>
            <a:ext cx="1999427" cy="365760"/>
          </a:xfrm>
          <a:prstGeom prst="rect">
            <a:avLst/>
          </a:prstGeom>
          <a:noFill/>
          <a:ln/>
        </p:spPr>
        <p:txBody>
          <a:bodyPr wrap="square" lIns="0" tIns="0" rIns="0" bIns="0" rtlCol="0" anchor="ctr"/>
          <a:lstStyle/>
          <a:p>
            <a:pPr marL="0" indent="0" algn="ctr">
              <a:buNone/>
            </a:pPr>
            <a:r>
              <a:rPr lang="en-US" sz="1300" i="1" dirty="0">
                <a:solidFill>
                  <a:srgbClr val="5F6670"/>
                </a:solidFill>
                <a:latin typeface="Calibri" pitchFamily="34" charset="0"/>
                <a:ea typeface="Calibri" pitchFamily="34" charset="-122"/>
                <a:cs typeface="Calibri" pitchFamily="34" charset="-120"/>
              </a:rPr>
              <a:t>James Gosling</a:t>
            </a:r>
            <a:endParaRPr lang="en-US" sz="1300" dirty="0"/>
          </a:p>
        </p:txBody>
      </p:sp>
      <p:sp>
        <p:nvSpPr>
          <p:cNvPr id="28" name="Text 21"/>
          <p:cNvSpPr txBox="1"/>
          <p:nvPr/>
        </p:nvSpPr>
        <p:spPr>
          <a:xfrm>
            <a:off x="7296729" y="4526280"/>
            <a:ext cx="1962851" cy="914400"/>
          </a:xfrm>
          <a:prstGeom prst="rect">
            <a:avLst/>
          </a:prstGeom>
          <a:noFill/>
          <a:ln/>
        </p:spPr>
        <p:txBody>
          <a:bodyPr wrap="square" lIns="0" tIns="0" rIns="0" bIns="0" rtlCol="0" anchor="t"/>
          <a:lstStyle/>
          <a:p>
            <a:pPr marL="0" indent="0" algn="ctr">
              <a:buNone/>
            </a:pPr>
            <a:r>
              <a:rPr lang="en-US" sz="1400" dirty="0">
                <a:solidFill>
                  <a:srgbClr val="16181D"/>
                </a:solidFill>
                <a:latin typeface="Calibri" pitchFamily="34" charset="0"/>
                <a:ea typeface="Calibri" pitchFamily="34" charset="-122"/>
                <a:cs typeface="Calibri" pitchFamily="34" charset="-120"/>
              </a:rPr>
              <a:t>Sun. « Write once, run anywhere ».</a:t>
            </a:r>
            <a:endParaRPr lang="en-US" sz="1400" dirty="0"/>
          </a:p>
        </p:txBody>
      </p:sp>
      <p:pic>
        <p:nvPicPr>
          <p:cNvPr id="29" name="Image 4" descr="img/Anders_Hejlsberg.jpg"/>
          <p:cNvPicPr>
            <a:picLocks noChangeAspect="1"/>
          </p:cNvPicPr>
          <p:nvPr/>
        </p:nvPicPr>
        <p:blipFill>
          <a:blip r:embed="rId7"/>
          <a:stretch>
            <a:fillRect/>
          </a:stretch>
        </p:blipFill>
        <p:spPr>
          <a:xfrm>
            <a:off x="9866102" y="1783080"/>
            <a:ext cx="1188720" cy="1188720"/>
          </a:xfrm>
          <a:prstGeom prst="ellipse">
            <a:avLst/>
          </a:prstGeom>
        </p:spPr>
      </p:pic>
      <p:sp>
        <p:nvSpPr>
          <p:cNvPr id="30" name="Text 22"/>
          <p:cNvSpPr txBox="1"/>
          <p:nvPr/>
        </p:nvSpPr>
        <p:spPr>
          <a:xfrm>
            <a:off x="9369308" y="3383280"/>
            <a:ext cx="2182307" cy="411480"/>
          </a:xfrm>
          <a:prstGeom prst="rect">
            <a:avLst/>
          </a:prstGeom>
          <a:noFill/>
          <a:ln/>
        </p:spPr>
        <p:txBody>
          <a:bodyPr wrap="square" lIns="0" tIns="0" rIns="0" bIns="0" rtlCol="0" anchor="ctr"/>
          <a:lstStyle/>
          <a:p>
            <a:pPr marL="0" indent="0" algn="ctr">
              <a:buNone/>
            </a:pPr>
            <a:r>
              <a:rPr lang="en-US" sz="2200" b="1" dirty="0">
                <a:solidFill>
                  <a:srgbClr val="E8590C"/>
                </a:solidFill>
                <a:latin typeface="Arial" pitchFamily="34" charset="0"/>
                <a:ea typeface="Arial" pitchFamily="34" charset="-122"/>
                <a:cs typeface="Arial" pitchFamily="34" charset="-120"/>
              </a:rPr>
              <a:t>2002</a:t>
            </a:r>
            <a:endParaRPr lang="en-US" sz="2200" dirty="0"/>
          </a:p>
        </p:txBody>
      </p:sp>
      <p:sp>
        <p:nvSpPr>
          <p:cNvPr id="31" name="Text 23"/>
          <p:cNvSpPr txBox="1"/>
          <p:nvPr/>
        </p:nvSpPr>
        <p:spPr>
          <a:xfrm>
            <a:off x="9369308" y="3794760"/>
            <a:ext cx="2182307" cy="365760"/>
          </a:xfrm>
          <a:prstGeom prst="rect">
            <a:avLst/>
          </a:prstGeom>
          <a:noFill/>
          <a:ln/>
        </p:spPr>
        <p:txBody>
          <a:bodyPr wrap="square" lIns="0" tIns="0" rIns="0" bIns="0" rtlCol="0" anchor="ctr"/>
          <a:lstStyle/>
          <a:p>
            <a:pPr marL="0" indent="0" algn="ctr">
              <a:buNone/>
            </a:pPr>
            <a:r>
              <a:rPr lang="en-US" sz="1700" b="1" dirty="0">
                <a:solidFill>
                  <a:srgbClr val="16181D"/>
                </a:solidFill>
                <a:latin typeface="Arial" pitchFamily="34" charset="0"/>
                <a:ea typeface="Arial" pitchFamily="34" charset="-122"/>
                <a:cs typeface="Arial" pitchFamily="34" charset="-120"/>
              </a:rPr>
              <a:t>C#</a:t>
            </a:r>
            <a:endParaRPr lang="en-US" sz="1700" dirty="0"/>
          </a:p>
        </p:txBody>
      </p:sp>
      <p:sp>
        <p:nvSpPr>
          <p:cNvPr id="32" name="Text 24"/>
          <p:cNvSpPr txBox="1"/>
          <p:nvPr/>
        </p:nvSpPr>
        <p:spPr>
          <a:xfrm>
            <a:off x="9460748" y="4160520"/>
            <a:ext cx="1999427" cy="365760"/>
          </a:xfrm>
          <a:prstGeom prst="rect">
            <a:avLst/>
          </a:prstGeom>
          <a:noFill/>
          <a:ln/>
        </p:spPr>
        <p:txBody>
          <a:bodyPr wrap="square" lIns="0" tIns="0" rIns="0" bIns="0" rtlCol="0" anchor="ctr"/>
          <a:lstStyle/>
          <a:p>
            <a:pPr marL="0" indent="0" algn="ctr">
              <a:buNone/>
            </a:pPr>
            <a:r>
              <a:rPr lang="en-US" sz="1300" i="1" dirty="0">
                <a:solidFill>
                  <a:srgbClr val="5F6670"/>
                </a:solidFill>
                <a:latin typeface="Calibri" pitchFamily="34" charset="0"/>
                <a:ea typeface="Calibri" pitchFamily="34" charset="-122"/>
                <a:cs typeface="Calibri" pitchFamily="34" charset="-120"/>
              </a:rPr>
              <a:t>Anders Hejlsberg</a:t>
            </a:r>
            <a:endParaRPr lang="en-US" sz="1300" dirty="0"/>
          </a:p>
        </p:txBody>
      </p:sp>
      <p:sp>
        <p:nvSpPr>
          <p:cNvPr id="33" name="Text 25"/>
          <p:cNvSpPr txBox="1"/>
          <p:nvPr/>
        </p:nvSpPr>
        <p:spPr>
          <a:xfrm>
            <a:off x="9479036" y="4526280"/>
            <a:ext cx="1962851" cy="914400"/>
          </a:xfrm>
          <a:prstGeom prst="rect">
            <a:avLst/>
          </a:prstGeom>
          <a:noFill/>
          <a:ln/>
        </p:spPr>
        <p:txBody>
          <a:bodyPr wrap="square" lIns="0" tIns="0" rIns="0" bIns="0" rtlCol="0" anchor="t"/>
          <a:lstStyle/>
          <a:p>
            <a:pPr marL="0" indent="0" algn="ctr">
              <a:buNone/>
            </a:pPr>
            <a:r>
              <a:rPr lang="en-US" sz="1400" dirty="0">
                <a:solidFill>
                  <a:srgbClr val="16181D"/>
                </a:solidFill>
                <a:latin typeface="Calibri" pitchFamily="34" charset="0"/>
                <a:ea typeface="Calibri" pitchFamily="34" charset="-122"/>
                <a:cs typeface="Calibri" pitchFamily="34" charset="-120"/>
              </a:rPr>
              <a:t>Microsoft. Né avec .NET. Notre langage.</a:t>
            </a:r>
            <a:endParaRPr lang="en-US" sz="1400" dirty="0"/>
          </a:p>
        </p:txBody>
      </p:sp>
      <p:sp>
        <p:nvSpPr>
          <p:cNvPr id="34" name="Text 26"/>
          <p:cNvSpPr txBox="1"/>
          <p:nvPr/>
        </p:nvSpPr>
        <p:spPr>
          <a:xfrm>
            <a:off x="640080" y="5577840"/>
            <a:ext cx="10911535" cy="365760"/>
          </a:xfrm>
          <a:prstGeom prst="rect">
            <a:avLst/>
          </a:prstGeom>
          <a:noFill/>
          <a:ln/>
        </p:spPr>
        <p:txBody>
          <a:bodyPr wrap="square" lIns="0" tIns="0" rIns="0" bIns="0" rtlCol="0" anchor="ctr"/>
          <a:lstStyle/>
          <a:p>
            <a:pPr marL="0" indent="0">
              <a:buNone/>
            </a:pPr>
            <a:r>
              <a:rPr lang="en-US" sz="1000" i="1" dirty="0">
                <a:solidFill>
                  <a:srgbClr val="5F6670"/>
                </a:solidFill>
                <a:latin typeface="Calibri" pitchFamily="34" charset="0"/>
                <a:ea typeface="Calibri" pitchFamily="34" charset="-122"/>
                <a:cs typeface="Calibri" pitchFamily="34" charset="-120"/>
              </a:rPr>
              <a:t>Sources : Dahl et Nygaard, « SIMULA: an ALGOL-based simulation language », CACM, 1966 ; Kay, « The Early History of Smalltalk », ACM HOPL-II, 1993 ; Stroustrup, The Design and Evolution of C++, 1994.</a:t>
            </a:r>
            <a:endParaRPr lang="en-US" sz="1000" dirty="0"/>
          </a:p>
        </p:txBody>
      </p:sp>
      <p:sp>
        <p:nvSpPr>
          <p:cNvPr id="35" name="Text 27"/>
          <p:cNvSpPr txBox="1"/>
          <p:nvPr/>
        </p:nvSpPr>
        <p:spPr>
          <a:xfrm>
            <a:off x="640080" y="5943600"/>
            <a:ext cx="10911535" cy="320040"/>
          </a:xfrm>
          <a:prstGeom prst="rect">
            <a:avLst/>
          </a:prstGeom>
          <a:noFill/>
          <a:ln/>
        </p:spPr>
        <p:txBody>
          <a:bodyPr wrap="square" lIns="0" tIns="0" rIns="0" bIns="0" rtlCol="0" anchor="ctr"/>
          <a:lstStyle/>
          <a:p>
            <a:pPr marL="0" indent="0">
              <a:buNone/>
            </a:pPr>
            <a:r>
              <a:rPr lang="en-US" sz="900" i="1" dirty="0">
                <a:solidFill>
                  <a:srgbClr val="5F6670"/>
                </a:solidFill>
                <a:latin typeface="Calibri" pitchFamily="34" charset="0"/>
                <a:ea typeface="Calibri" pitchFamily="34" charset="-122"/>
                <a:cs typeface="Calibri" pitchFamily="34" charset="-120"/>
              </a:rPr>
              <a:t>Photos Wikimedia Commons : J. Stolfi (domaine public), M. Wichary (CC BY 2.0), ICPCNews (CC BY 2.0), P. Campbell (CC BY-SA 4.0), DBegley (CC BY 2.0).</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AUJOURD'HUI</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Les langages les plus utilisés sont orientés objet</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46</a:t>
            </a:r>
            <a:endParaRPr lang="en-US" sz="1000" dirty="0"/>
          </a:p>
        </p:txBody>
      </p:sp>
      <p:graphicFrame>
        <p:nvGraphicFramePr>
          <p:cNvPr id="8" name="Chart 0"/>
          <p:cNvGraphicFramePr/>
          <p:nvPr/>
        </p:nvGraphicFramePr>
        <p:xfrm>
          <a:off x="640080" y="1737360"/>
          <a:ext cx="731520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5"/>
          <p:cNvSpPr/>
          <p:nvPr/>
        </p:nvSpPr>
        <p:spPr>
          <a:xfrm>
            <a:off x="8321040" y="1920240"/>
            <a:ext cx="3200400" cy="3291840"/>
          </a:xfrm>
          <a:prstGeom prst="roundRect">
            <a:avLst>
              <a:gd name="adj" fmla="val 2286"/>
            </a:avLst>
          </a:prstGeom>
          <a:solidFill>
            <a:srgbClr val="F2F3F5"/>
          </a:solidFill>
          <a:ln w="12700">
            <a:solidFill>
              <a:srgbClr val="F2F3F5"/>
            </a:solidFill>
            <a:prstDash val="solid"/>
          </a:ln>
        </p:spPr>
        <p:txBody>
          <a:bodyPr/>
          <a:lstStyle/>
          <a:p>
            <a:endParaRPr lang="fr-BE"/>
          </a:p>
        </p:txBody>
      </p:sp>
      <p:sp>
        <p:nvSpPr>
          <p:cNvPr id="10" name="Text 6"/>
          <p:cNvSpPr txBox="1"/>
          <p:nvPr/>
        </p:nvSpPr>
        <p:spPr>
          <a:xfrm>
            <a:off x="8549640" y="2103120"/>
            <a:ext cx="2743200" cy="2926080"/>
          </a:xfrm>
          <a:prstGeom prst="rect">
            <a:avLst/>
          </a:prstGeom>
          <a:noFill/>
          <a:ln/>
        </p:spPr>
        <p:txBody>
          <a:bodyPr wrap="square" lIns="0" tIns="0" rIns="0" bIns="0" rtlCol="0" anchor="t"/>
          <a:lstStyle/>
          <a:p>
            <a:pPr marL="0" indent="0">
              <a:buNone/>
            </a:pPr>
            <a:r>
              <a:rPr lang="en-US" sz="1800" b="1" dirty="0">
                <a:solidFill>
                  <a:srgbClr val="16181D"/>
                </a:solidFill>
                <a:latin typeface="Calibri" pitchFamily="34" charset="0"/>
                <a:ea typeface="Calibri" pitchFamily="34" charset="-122"/>
                <a:cs typeface="Calibri" pitchFamily="34" charset="-120"/>
              </a:rPr>
              <a:t>Même façon de penser, d'un langage à l'autre.</a:t>
            </a:r>
            <a:endParaRPr lang="en-US" sz="1800" dirty="0"/>
          </a:p>
          <a:p>
            <a:pPr marL="0" indent="0">
              <a:buNone/>
            </a:pPr>
            <a:endParaRPr lang="en-US" sz="1800" dirty="0"/>
          </a:p>
          <a:p>
            <a:pPr marL="0" indent="0">
              <a:buNone/>
            </a:pPr>
            <a:r>
              <a:rPr lang="en-US" sz="1500" dirty="0">
                <a:solidFill>
                  <a:srgbClr val="5F6670"/>
                </a:solidFill>
                <a:latin typeface="Calibri" pitchFamily="34" charset="0"/>
                <a:ea typeface="Calibri" pitchFamily="34" charset="-122"/>
                <a:cs typeface="Calibri" pitchFamily="34" charset="-120"/>
              </a:rPr>
              <a:t>Apprendre la POO en C#, c'est pouvoir lire du Java ou du Python demain.</a:t>
            </a:r>
            <a:endParaRPr lang="en-US" sz="1800" dirty="0"/>
          </a:p>
        </p:txBody>
      </p:sp>
      <p:sp>
        <p:nvSpPr>
          <p:cNvPr id="11" name="Text 7"/>
          <p:cNvSpPr txBox="1"/>
          <p:nvPr/>
        </p:nvSpPr>
        <p:spPr>
          <a:xfrm>
            <a:off x="640080" y="5989320"/>
            <a:ext cx="10911535" cy="320040"/>
          </a:xfrm>
          <a:prstGeom prst="rect">
            <a:avLst/>
          </a:prstGeom>
          <a:noFill/>
          <a:ln/>
        </p:spPr>
        <p:txBody>
          <a:bodyPr wrap="square" lIns="0" tIns="0" rIns="0" bIns="0" rtlCol="0" anchor="ctr"/>
          <a:lstStyle/>
          <a:p>
            <a:pPr marL="0" indent="0">
              <a:buNone/>
            </a:pPr>
            <a:r>
              <a:rPr lang="en-US" sz="1000" i="1" dirty="0">
                <a:solidFill>
                  <a:srgbClr val="5F6670"/>
                </a:solidFill>
                <a:latin typeface="Calibri" pitchFamily="34" charset="0"/>
                <a:ea typeface="Calibri" pitchFamily="34" charset="-122"/>
                <a:cs typeface="Calibri" pitchFamily="34" charset="-120"/>
              </a:rPr>
              <a:t>Source : Stack Overflow Developer Survey 2025, « Programming, scripting and markup languages », tous répondants (31 771 réponses).</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PARTICIPATION · 3 MINUTES</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Lundi, 8 h 12</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47</a:t>
            </a:r>
            <a:endParaRPr lang="en-US" sz="1000" dirty="0"/>
          </a:p>
        </p:txBody>
      </p:sp>
      <p:sp>
        <p:nvSpPr>
          <p:cNvPr id="8" name="Shape 5"/>
          <p:cNvSpPr/>
          <p:nvPr/>
        </p:nvSpPr>
        <p:spPr>
          <a:xfrm>
            <a:off x="640080" y="1783080"/>
            <a:ext cx="6766560" cy="2926080"/>
          </a:xfrm>
          <a:prstGeom prst="roundRect">
            <a:avLst>
              <a:gd name="adj" fmla="val 2500"/>
            </a:avLst>
          </a:prstGeom>
          <a:solidFill>
            <a:srgbClr val="F2F3F5"/>
          </a:solidFill>
          <a:ln w="12700">
            <a:solidFill>
              <a:srgbClr val="F2F3F5"/>
            </a:solidFill>
            <a:prstDash val="solid"/>
          </a:ln>
        </p:spPr>
        <p:txBody>
          <a:bodyPr/>
          <a:lstStyle/>
          <a:p>
            <a:endParaRPr lang="fr-BE"/>
          </a:p>
        </p:txBody>
      </p:sp>
      <p:sp>
        <p:nvSpPr>
          <p:cNvPr id="9" name="Text 6"/>
          <p:cNvSpPr txBox="1"/>
          <p:nvPr/>
        </p:nvSpPr>
        <p:spPr>
          <a:xfrm>
            <a:off x="960120" y="1965960"/>
            <a:ext cx="6217920" cy="2560320"/>
          </a:xfrm>
          <a:prstGeom prst="rect">
            <a:avLst/>
          </a:prstGeom>
          <a:noFill/>
          <a:ln/>
        </p:spPr>
        <p:txBody>
          <a:bodyPr wrap="square" lIns="0" tIns="0" rIns="0" bIns="0" rtlCol="0" anchor="t"/>
          <a:lstStyle/>
          <a:p>
            <a:pPr marL="0" indent="0">
              <a:buNone/>
            </a:pPr>
            <a:r>
              <a:rPr lang="en-US" sz="2000" dirty="0">
                <a:solidFill>
                  <a:srgbClr val="16181D"/>
                </a:solidFill>
                <a:latin typeface="Calibri" pitchFamily="34" charset="0"/>
                <a:ea typeface="Calibri" pitchFamily="34" charset="-122"/>
                <a:cs typeface="Calibri" pitchFamily="34" charset="-120"/>
              </a:rPr>
              <a:t>Sophie, comptable, reçoit un mail : « DHL : votre colis est bloqué, confirmez votre adresse ». Elle clique et saisit son mot de passe.</a:t>
            </a:r>
            <a:endParaRPr lang="en-US" sz="2000" dirty="0"/>
          </a:p>
          <a:p>
            <a:pPr marL="0" indent="0">
              <a:buNone/>
            </a:pPr>
            <a:endParaRPr lang="en-US" sz="2000" dirty="0"/>
          </a:p>
          <a:p>
            <a:pPr marL="0" indent="0">
              <a:buNone/>
            </a:pPr>
            <a:r>
              <a:rPr lang="en-US" sz="2000" dirty="0">
                <a:solidFill>
                  <a:srgbClr val="16181D"/>
                </a:solidFill>
                <a:latin typeface="Calibri" pitchFamily="34" charset="0"/>
                <a:ea typeface="Calibri" pitchFamily="34" charset="-122"/>
                <a:cs typeface="Calibri" pitchFamily="34" charset="-120"/>
              </a:rPr>
              <a:t>À 8 h 30, elle appelle le helpdesk.</a:t>
            </a:r>
            <a:endParaRPr lang="en-US" sz="2000" dirty="0"/>
          </a:p>
        </p:txBody>
      </p:sp>
      <p:sp>
        <p:nvSpPr>
          <p:cNvPr id="10" name="Shape 7"/>
          <p:cNvSpPr/>
          <p:nvPr/>
        </p:nvSpPr>
        <p:spPr>
          <a:xfrm>
            <a:off x="7680960" y="1783080"/>
            <a:ext cx="3840480" cy="2926080"/>
          </a:xfrm>
          <a:prstGeom prst="roundRect">
            <a:avLst>
              <a:gd name="adj" fmla="val 2500"/>
            </a:avLst>
          </a:prstGeom>
          <a:solidFill>
            <a:srgbClr val="16181D"/>
          </a:solidFill>
          <a:ln w="12700">
            <a:solidFill>
              <a:srgbClr val="16181D"/>
            </a:solidFill>
            <a:prstDash val="solid"/>
          </a:ln>
        </p:spPr>
        <p:txBody>
          <a:bodyPr/>
          <a:lstStyle/>
          <a:p>
            <a:endParaRPr lang="fr-BE"/>
          </a:p>
        </p:txBody>
      </p:sp>
      <p:sp>
        <p:nvSpPr>
          <p:cNvPr id="11" name="Text 8"/>
          <p:cNvSpPr txBox="1"/>
          <p:nvPr/>
        </p:nvSpPr>
        <p:spPr>
          <a:xfrm>
            <a:off x="7909560" y="1965960"/>
            <a:ext cx="3383280" cy="2560320"/>
          </a:xfrm>
          <a:prstGeom prst="rect">
            <a:avLst/>
          </a:prstGeom>
          <a:noFill/>
          <a:ln/>
        </p:spPr>
        <p:txBody>
          <a:bodyPr wrap="square" lIns="0" tIns="0" rIns="0" bIns="0" rtlCol="0" anchor="t"/>
          <a:lstStyle/>
          <a:p>
            <a:pPr marL="0" indent="0">
              <a:buNone/>
            </a:pPr>
            <a:r>
              <a:rPr lang="en-US" sz="2000" b="1" dirty="0">
                <a:solidFill>
                  <a:srgbClr val="E8590C"/>
                </a:solidFill>
                <a:latin typeface="Calibri" pitchFamily="34" charset="0"/>
                <a:ea typeface="Calibri" pitchFamily="34" charset="-122"/>
                <a:cs typeface="Calibri" pitchFamily="34" charset="-120"/>
              </a:rPr>
              <a:t>Vous êtes l'analyste.</a:t>
            </a:r>
            <a:endParaRPr lang="en-US" sz="2000" dirty="0"/>
          </a:p>
          <a:p>
            <a:pPr marL="0" indent="0">
              <a:buNone/>
            </a:pPr>
            <a:endParaRPr lang="en-US" sz="2000" dirty="0"/>
          </a:p>
          <a:p>
            <a:pPr marL="0" indent="0">
              <a:buNone/>
            </a:pPr>
            <a:r>
              <a:rPr lang="en-US" sz="1800" dirty="0">
                <a:solidFill>
                  <a:srgbClr val="FFFFFF"/>
                </a:solidFill>
                <a:latin typeface="Calibri" pitchFamily="34" charset="0"/>
                <a:ea typeface="Calibri" pitchFamily="34" charset="-122"/>
                <a:cs typeface="Calibri" pitchFamily="34" charset="-120"/>
              </a:rPr>
              <a:t>Dans le chat : qu'allez-vous noter sur ce signalement ?</a:t>
            </a:r>
            <a:endParaRPr lang="en-US" sz="2000" dirty="0"/>
          </a:p>
        </p:txBody>
      </p:sp>
      <p:sp>
        <p:nvSpPr>
          <p:cNvPr id="12" name="Text 9"/>
          <p:cNvSpPr txBox="1"/>
          <p:nvPr/>
        </p:nvSpPr>
        <p:spPr>
          <a:xfrm>
            <a:off x="640080" y="5029200"/>
            <a:ext cx="10911535" cy="731520"/>
          </a:xfrm>
          <a:prstGeom prst="rect">
            <a:avLst/>
          </a:prstGeom>
          <a:noFill/>
          <a:ln/>
        </p:spPr>
        <p:txBody>
          <a:bodyPr wrap="square" lIns="0" tIns="0" rIns="0" bIns="0" rtlCol="0" anchor="ctr"/>
          <a:lstStyle/>
          <a:p>
            <a:pPr marL="0" indent="0">
              <a:buNone/>
            </a:pPr>
            <a:r>
              <a:rPr lang="en-US" sz="1800" b="1" dirty="0">
                <a:solidFill>
                  <a:srgbClr val="E8590C"/>
                </a:solidFill>
                <a:latin typeface="Calibri" pitchFamily="34" charset="0"/>
                <a:ea typeface="Calibri" pitchFamily="34" charset="-122"/>
                <a:cs typeface="Calibri" pitchFamily="34" charset="-120"/>
              </a:rPr>
              <a:t>Objectif : </a:t>
            </a:r>
            <a:r>
              <a:rPr lang="en-US" sz="1800" dirty="0">
                <a:solidFill>
                  <a:srgbClr val="16181D"/>
                </a:solidFill>
                <a:latin typeface="Calibri" pitchFamily="34" charset="0"/>
                <a:ea typeface="Calibri" pitchFamily="34" charset="-122"/>
                <a:cs typeface="Calibri" pitchFamily="34" charset="-120"/>
              </a:rPr>
              <a:t>trouver nous-mêmes ce que notre programme devra connaître et savoir faire. C'est la première étape de toute application.</a:t>
            </a:r>
            <a:endParaRPr lang="en-US" sz="1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CE QUE VOUS VENEZ DE FAIRE</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Vous venez de modéliser un objet</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48</a:t>
            </a:r>
            <a:endParaRPr lang="en-US" sz="1000" dirty="0"/>
          </a:p>
        </p:txBody>
      </p:sp>
      <p:sp>
        <p:nvSpPr>
          <p:cNvPr id="8" name="Shape 5"/>
          <p:cNvSpPr/>
          <p:nvPr/>
        </p:nvSpPr>
        <p:spPr>
          <a:xfrm>
            <a:off x="640080" y="1783080"/>
            <a:ext cx="5303520" cy="3108960"/>
          </a:xfrm>
          <a:prstGeom prst="roundRect">
            <a:avLst>
              <a:gd name="adj" fmla="val 2353"/>
            </a:avLst>
          </a:prstGeom>
          <a:solidFill>
            <a:srgbClr val="F2F3F5"/>
          </a:solidFill>
          <a:ln w="12700">
            <a:solidFill>
              <a:srgbClr val="F2F3F5"/>
            </a:solidFill>
            <a:prstDash val="solid"/>
          </a:ln>
        </p:spPr>
        <p:txBody>
          <a:bodyPr/>
          <a:lstStyle/>
          <a:p>
            <a:endParaRPr lang="fr-BE"/>
          </a:p>
        </p:txBody>
      </p:sp>
      <p:sp>
        <p:nvSpPr>
          <p:cNvPr id="9" name="Text 6"/>
          <p:cNvSpPr txBox="1"/>
          <p:nvPr/>
        </p:nvSpPr>
        <p:spPr>
          <a:xfrm>
            <a:off x="960120" y="1920240"/>
            <a:ext cx="2743200" cy="457200"/>
          </a:xfrm>
          <a:prstGeom prst="rect">
            <a:avLst/>
          </a:prstGeom>
          <a:noFill/>
          <a:ln/>
        </p:spPr>
        <p:txBody>
          <a:bodyPr wrap="square" lIns="0" tIns="0" rIns="0" bIns="0" rtlCol="0" anchor="ctr"/>
          <a:lstStyle/>
          <a:p>
            <a:pPr marL="0" indent="0">
              <a:buNone/>
            </a:pPr>
            <a:r>
              <a:rPr lang="en-US" sz="2200" b="1" dirty="0">
                <a:solidFill>
                  <a:srgbClr val="16181D"/>
                </a:solidFill>
                <a:latin typeface="Arial" pitchFamily="34" charset="0"/>
                <a:ea typeface="Arial" pitchFamily="34" charset="-122"/>
                <a:cs typeface="Arial" pitchFamily="34" charset="-120"/>
              </a:rPr>
              <a:t>Ce qu'il est</a:t>
            </a:r>
            <a:endParaRPr lang="en-US" sz="2200" dirty="0"/>
          </a:p>
        </p:txBody>
      </p:sp>
      <p:sp>
        <p:nvSpPr>
          <p:cNvPr id="10" name="Text 7"/>
          <p:cNvSpPr txBox="1"/>
          <p:nvPr/>
        </p:nvSpPr>
        <p:spPr>
          <a:xfrm>
            <a:off x="3474720" y="1965960"/>
            <a:ext cx="2286000" cy="411480"/>
          </a:xfrm>
          <a:prstGeom prst="rect">
            <a:avLst/>
          </a:prstGeom>
          <a:noFill/>
          <a:ln/>
        </p:spPr>
        <p:txBody>
          <a:bodyPr wrap="square" lIns="0" tIns="0" rIns="0" bIns="0" rtlCol="0" anchor="ctr"/>
          <a:lstStyle/>
          <a:p>
            <a:pPr marL="0" indent="0" algn="r">
              <a:buNone/>
            </a:pPr>
            <a:r>
              <a:rPr lang="en-US" sz="1500" b="1" dirty="0">
                <a:solidFill>
                  <a:srgbClr val="E8590C"/>
                </a:solidFill>
                <a:latin typeface="Calibri" pitchFamily="34" charset="0"/>
                <a:ea typeface="Calibri" pitchFamily="34" charset="-122"/>
                <a:cs typeface="Calibri" pitchFamily="34" charset="-120"/>
              </a:rPr>
              <a:t>données → attributs</a:t>
            </a:r>
            <a:endParaRPr lang="en-US" sz="1500" dirty="0"/>
          </a:p>
        </p:txBody>
      </p:sp>
      <p:sp>
        <p:nvSpPr>
          <p:cNvPr id="11" name="Text 8"/>
          <p:cNvSpPr txBox="1"/>
          <p:nvPr/>
        </p:nvSpPr>
        <p:spPr>
          <a:xfrm>
            <a:off x="960120" y="2560320"/>
            <a:ext cx="4754880" cy="228600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rgbClr val="16181D"/>
                </a:solidFill>
                <a:latin typeface="Calibri" pitchFamily="34" charset="0"/>
                <a:ea typeface="Calibri" pitchFamily="34" charset="-122"/>
                <a:cs typeface="Calibri" pitchFamily="34" charset="-120"/>
              </a:rPr>
              <a:t>Titre : « Phishing DHL »</a:t>
            </a:r>
            <a:endParaRPr lang="en-US" sz="1700" dirty="0"/>
          </a:p>
          <a:p>
            <a:pPr marL="228600" indent="-228600">
              <a:spcAft>
                <a:spcPts val="800"/>
              </a:spcAft>
              <a:buSzPct val="100000"/>
              <a:buChar char="•"/>
            </a:pPr>
            <a:r>
              <a:rPr lang="en-US" sz="1700" dirty="0">
                <a:solidFill>
                  <a:srgbClr val="16181D"/>
                </a:solidFill>
                <a:latin typeface="Calibri" pitchFamily="34" charset="0"/>
                <a:ea typeface="Calibri" pitchFamily="34" charset="-122"/>
                <a:cs typeface="Calibri" pitchFamily="34" charset="-120"/>
              </a:rPr>
              <a:t>Déclarant : Sophie</a:t>
            </a:r>
            <a:endParaRPr lang="en-US" sz="1700" dirty="0"/>
          </a:p>
          <a:p>
            <a:pPr marL="228600" indent="-228600">
              <a:spcAft>
                <a:spcPts val="800"/>
              </a:spcAft>
              <a:buSzPct val="100000"/>
              <a:buChar char="•"/>
            </a:pPr>
            <a:r>
              <a:rPr lang="en-US" sz="1700" dirty="0">
                <a:solidFill>
                  <a:srgbClr val="16181D"/>
                </a:solidFill>
                <a:latin typeface="Calibri" pitchFamily="34" charset="0"/>
                <a:ea typeface="Calibri" pitchFamily="34" charset="-122"/>
                <a:cs typeface="Calibri" pitchFamily="34" charset="-120"/>
              </a:rPr>
              <a:t>Date : lundi 8 h 12</a:t>
            </a:r>
            <a:endParaRPr lang="en-US" sz="1700" dirty="0"/>
          </a:p>
          <a:p>
            <a:pPr marL="228600" indent="-228600">
              <a:spcAft>
                <a:spcPts val="800"/>
              </a:spcAft>
              <a:buSzPct val="100000"/>
              <a:buChar char="•"/>
            </a:pPr>
            <a:r>
              <a:rPr lang="en-US" sz="1700" dirty="0">
                <a:solidFill>
                  <a:srgbClr val="16181D"/>
                </a:solidFill>
                <a:latin typeface="Calibri" pitchFamily="34" charset="0"/>
                <a:ea typeface="Calibri" pitchFamily="34" charset="-122"/>
                <a:cs typeface="Calibri" pitchFamily="34" charset="-120"/>
              </a:rPr>
              <a:t>Gravité : haute (mot de passe saisi)</a:t>
            </a:r>
            <a:endParaRPr lang="en-US" sz="1700" dirty="0"/>
          </a:p>
          <a:p>
            <a:pPr marL="228600" indent="-228600">
              <a:spcAft>
                <a:spcPts val="800"/>
              </a:spcAft>
              <a:buSzPct val="100000"/>
              <a:buChar char="•"/>
            </a:pPr>
            <a:r>
              <a:rPr lang="en-US" sz="1700" dirty="0">
                <a:solidFill>
                  <a:srgbClr val="16181D"/>
                </a:solidFill>
                <a:latin typeface="Calibri" pitchFamily="34" charset="0"/>
                <a:ea typeface="Calibri" pitchFamily="34" charset="-122"/>
                <a:cs typeface="Calibri" pitchFamily="34" charset="-120"/>
              </a:rPr>
              <a:t>Statut : ouvert</a:t>
            </a:r>
            <a:endParaRPr lang="en-US" sz="1700" dirty="0"/>
          </a:p>
        </p:txBody>
      </p:sp>
      <p:sp>
        <p:nvSpPr>
          <p:cNvPr id="12" name="Shape 9"/>
          <p:cNvSpPr/>
          <p:nvPr/>
        </p:nvSpPr>
        <p:spPr>
          <a:xfrm>
            <a:off x="6217920" y="1783080"/>
            <a:ext cx="5303520" cy="3108960"/>
          </a:xfrm>
          <a:prstGeom prst="roundRect">
            <a:avLst>
              <a:gd name="adj" fmla="val 2353"/>
            </a:avLst>
          </a:prstGeom>
          <a:solidFill>
            <a:srgbClr val="F2F3F5"/>
          </a:solidFill>
          <a:ln w="12700">
            <a:solidFill>
              <a:srgbClr val="F2F3F5"/>
            </a:solidFill>
            <a:prstDash val="solid"/>
          </a:ln>
        </p:spPr>
        <p:txBody>
          <a:bodyPr/>
          <a:lstStyle/>
          <a:p>
            <a:endParaRPr lang="fr-BE"/>
          </a:p>
        </p:txBody>
      </p:sp>
      <p:sp>
        <p:nvSpPr>
          <p:cNvPr id="13" name="Text 10"/>
          <p:cNvSpPr txBox="1"/>
          <p:nvPr/>
        </p:nvSpPr>
        <p:spPr>
          <a:xfrm>
            <a:off x="6537960" y="1920240"/>
            <a:ext cx="2743200" cy="457200"/>
          </a:xfrm>
          <a:prstGeom prst="rect">
            <a:avLst/>
          </a:prstGeom>
          <a:noFill/>
          <a:ln/>
        </p:spPr>
        <p:txBody>
          <a:bodyPr wrap="square" lIns="0" tIns="0" rIns="0" bIns="0" rtlCol="0" anchor="ctr"/>
          <a:lstStyle/>
          <a:p>
            <a:pPr marL="0" indent="0">
              <a:buNone/>
            </a:pPr>
            <a:r>
              <a:rPr lang="en-US" sz="2200" b="1" dirty="0">
                <a:solidFill>
                  <a:srgbClr val="16181D"/>
                </a:solidFill>
                <a:latin typeface="Arial" pitchFamily="34" charset="0"/>
                <a:ea typeface="Arial" pitchFamily="34" charset="-122"/>
                <a:cs typeface="Arial" pitchFamily="34" charset="-120"/>
              </a:rPr>
              <a:t>Ce qu'on en fait</a:t>
            </a:r>
            <a:endParaRPr lang="en-US" sz="2200" dirty="0"/>
          </a:p>
        </p:txBody>
      </p:sp>
      <p:sp>
        <p:nvSpPr>
          <p:cNvPr id="14" name="Text 11"/>
          <p:cNvSpPr txBox="1"/>
          <p:nvPr/>
        </p:nvSpPr>
        <p:spPr>
          <a:xfrm>
            <a:off x="9052560" y="1965960"/>
            <a:ext cx="2286000" cy="411480"/>
          </a:xfrm>
          <a:prstGeom prst="rect">
            <a:avLst/>
          </a:prstGeom>
          <a:noFill/>
          <a:ln/>
        </p:spPr>
        <p:txBody>
          <a:bodyPr wrap="square" lIns="0" tIns="0" rIns="0" bIns="0" rtlCol="0" anchor="ctr"/>
          <a:lstStyle/>
          <a:p>
            <a:pPr marL="0" indent="0" algn="r">
              <a:buNone/>
            </a:pPr>
            <a:r>
              <a:rPr lang="en-US" sz="1500" b="1" dirty="0">
                <a:solidFill>
                  <a:srgbClr val="E8590C"/>
                </a:solidFill>
                <a:latin typeface="Calibri" pitchFamily="34" charset="0"/>
                <a:ea typeface="Calibri" pitchFamily="34" charset="-122"/>
                <a:cs typeface="Calibri" pitchFamily="34" charset="-120"/>
              </a:rPr>
              <a:t>actions → méthodes</a:t>
            </a:r>
            <a:endParaRPr lang="en-US" sz="1500" dirty="0"/>
          </a:p>
        </p:txBody>
      </p:sp>
      <p:sp>
        <p:nvSpPr>
          <p:cNvPr id="15" name="Text 12"/>
          <p:cNvSpPr txBox="1"/>
          <p:nvPr/>
        </p:nvSpPr>
        <p:spPr>
          <a:xfrm>
            <a:off x="6537960" y="2560320"/>
            <a:ext cx="4754880" cy="228600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rgbClr val="16181D"/>
                </a:solidFill>
                <a:latin typeface="Calibri" pitchFamily="34" charset="0"/>
                <a:ea typeface="Calibri" pitchFamily="34" charset="-122"/>
                <a:cs typeface="Calibri" pitchFamily="34" charset="-120"/>
              </a:rPr>
              <a:t>Le prendre en charge</a:t>
            </a:r>
            <a:endParaRPr lang="en-US" sz="1700" dirty="0"/>
          </a:p>
          <a:p>
            <a:pPr marL="228600" indent="-228600">
              <a:spcAft>
                <a:spcPts val="800"/>
              </a:spcAft>
              <a:buSzPct val="100000"/>
              <a:buChar char="•"/>
            </a:pPr>
            <a:r>
              <a:rPr lang="en-US" sz="1700" dirty="0">
                <a:solidFill>
                  <a:srgbClr val="16181D"/>
                </a:solidFill>
                <a:latin typeface="Calibri" pitchFamily="34" charset="0"/>
                <a:ea typeface="Calibri" pitchFamily="34" charset="-122"/>
                <a:cs typeface="Calibri" pitchFamily="34" charset="-120"/>
              </a:rPr>
              <a:t>Le résoudre</a:t>
            </a:r>
            <a:endParaRPr lang="en-US" sz="1700" dirty="0"/>
          </a:p>
          <a:p>
            <a:pPr marL="228600" indent="-228600">
              <a:spcAft>
                <a:spcPts val="800"/>
              </a:spcAft>
              <a:buSzPct val="100000"/>
              <a:buChar char="•"/>
            </a:pPr>
            <a:r>
              <a:rPr lang="en-US" sz="1700" dirty="0">
                <a:solidFill>
                  <a:srgbClr val="16181D"/>
                </a:solidFill>
                <a:latin typeface="Calibri" pitchFamily="34" charset="0"/>
                <a:ea typeface="Calibri" pitchFamily="34" charset="-122"/>
                <a:cs typeface="Calibri" pitchFamily="34" charset="-120"/>
              </a:rPr>
              <a:t>Le clôturer</a:t>
            </a:r>
            <a:endParaRPr lang="en-US" sz="1700" dirty="0"/>
          </a:p>
        </p:txBody>
      </p:sp>
      <p:sp>
        <p:nvSpPr>
          <p:cNvPr id="16" name="Shape 13"/>
          <p:cNvSpPr/>
          <p:nvPr/>
        </p:nvSpPr>
        <p:spPr>
          <a:xfrm>
            <a:off x="640080" y="5120640"/>
            <a:ext cx="10911535" cy="777240"/>
          </a:xfrm>
          <a:prstGeom prst="roundRect">
            <a:avLst>
              <a:gd name="adj" fmla="val 9412"/>
            </a:avLst>
          </a:prstGeom>
          <a:solidFill>
            <a:srgbClr val="16181D"/>
          </a:solidFill>
          <a:ln w="12700">
            <a:solidFill>
              <a:srgbClr val="16181D"/>
            </a:solidFill>
            <a:prstDash val="solid"/>
          </a:ln>
        </p:spPr>
        <p:txBody>
          <a:bodyPr/>
          <a:lstStyle/>
          <a:p>
            <a:endParaRPr lang="fr-BE"/>
          </a:p>
        </p:txBody>
      </p:sp>
      <p:sp>
        <p:nvSpPr>
          <p:cNvPr id="17" name="Text 14"/>
          <p:cNvSpPr txBox="1"/>
          <p:nvPr/>
        </p:nvSpPr>
        <p:spPr>
          <a:xfrm>
            <a:off x="960120" y="5120640"/>
            <a:ext cx="10271455" cy="77724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Attributs + méthodes = un objet. Le reste de la séance : comment l'écrire proprement.</a:t>
            </a:r>
            <a:endParaRPr lang="en-US" sz="1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CLASSE ET OBJET</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Le formulaire vierge et le formulaire rempli</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49</a:t>
            </a:r>
            <a:endParaRPr lang="en-US" sz="1000" dirty="0"/>
          </a:p>
        </p:txBody>
      </p:sp>
      <p:sp>
        <p:nvSpPr>
          <p:cNvPr id="8" name="Shape 5"/>
          <p:cNvSpPr/>
          <p:nvPr/>
        </p:nvSpPr>
        <p:spPr>
          <a:xfrm>
            <a:off x="640080" y="1828800"/>
            <a:ext cx="5120640" cy="3657600"/>
          </a:xfrm>
          <a:prstGeom prst="roundRect">
            <a:avLst>
              <a:gd name="adj" fmla="val 2000"/>
            </a:avLst>
          </a:prstGeom>
          <a:solidFill>
            <a:srgbClr val="F2F3F5"/>
          </a:solidFill>
          <a:ln w="12700">
            <a:solidFill>
              <a:srgbClr val="F2F3F5"/>
            </a:solidFill>
            <a:prstDash val="solid"/>
          </a:ln>
        </p:spPr>
        <p:txBody>
          <a:bodyPr/>
          <a:lstStyle/>
          <a:p>
            <a:endParaRPr lang="fr-BE"/>
          </a:p>
        </p:txBody>
      </p:sp>
      <p:sp>
        <p:nvSpPr>
          <p:cNvPr id="9" name="Text 6"/>
          <p:cNvSpPr txBox="1"/>
          <p:nvPr/>
        </p:nvSpPr>
        <p:spPr>
          <a:xfrm>
            <a:off x="1005840" y="2011680"/>
            <a:ext cx="3657600" cy="548640"/>
          </a:xfrm>
          <a:prstGeom prst="rect">
            <a:avLst/>
          </a:prstGeom>
          <a:noFill/>
          <a:ln/>
        </p:spPr>
        <p:txBody>
          <a:bodyPr wrap="square" lIns="0" tIns="0" rIns="0" bIns="0" rtlCol="0" anchor="ctr"/>
          <a:lstStyle/>
          <a:p>
            <a:pPr marL="0" indent="0">
              <a:buNone/>
            </a:pPr>
            <a:r>
              <a:rPr lang="en-US" sz="2600" b="1" dirty="0">
                <a:solidFill>
                  <a:srgbClr val="16181D"/>
                </a:solidFill>
                <a:latin typeface="Arial" pitchFamily="34" charset="0"/>
                <a:ea typeface="Arial" pitchFamily="34" charset="-122"/>
                <a:cs typeface="Arial" pitchFamily="34" charset="-120"/>
              </a:rPr>
              <a:t>Classe</a:t>
            </a:r>
            <a:endParaRPr lang="en-US" sz="2600" dirty="0"/>
          </a:p>
        </p:txBody>
      </p:sp>
      <p:sp>
        <p:nvSpPr>
          <p:cNvPr id="10" name="Text 7"/>
          <p:cNvSpPr txBox="1"/>
          <p:nvPr/>
        </p:nvSpPr>
        <p:spPr>
          <a:xfrm>
            <a:off x="1005840" y="2560320"/>
            <a:ext cx="4114800" cy="365760"/>
          </a:xfrm>
          <a:prstGeom prst="rect">
            <a:avLst/>
          </a:prstGeom>
          <a:noFill/>
          <a:ln/>
        </p:spPr>
        <p:txBody>
          <a:bodyPr wrap="square" lIns="0" tIns="0" rIns="0" bIns="0" rtlCol="0" anchor="ctr"/>
          <a:lstStyle/>
          <a:p>
            <a:pPr marL="0" indent="0">
              <a:buNone/>
            </a:pPr>
            <a:r>
              <a:rPr lang="en-US" sz="1600" dirty="0">
                <a:solidFill>
                  <a:srgbClr val="5F6670"/>
                </a:solidFill>
                <a:latin typeface="Calibri" pitchFamily="34" charset="0"/>
                <a:ea typeface="Calibri" pitchFamily="34" charset="-122"/>
                <a:cs typeface="Calibri" pitchFamily="34" charset="-120"/>
              </a:rPr>
              <a:t>Le modèle, écrit une fois</a:t>
            </a:r>
            <a:endParaRPr lang="en-US" sz="1600" dirty="0"/>
          </a:p>
        </p:txBody>
      </p:sp>
      <p:sp>
        <p:nvSpPr>
          <p:cNvPr id="11" name="Text 8"/>
          <p:cNvSpPr txBox="1"/>
          <p:nvPr/>
        </p:nvSpPr>
        <p:spPr>
          <a:xfrm>
            <a:off x="1005840" y="3108960"/>
            <a:ext cx="4389120" cy="411480"/>
          </a:xfrm>
          <a:prstGeom prst="rect">
            <a:avLst/>
          </a:prstGeom>
          <a:noFill/>
          <a:ln/>
        </p:spPr>
        <p:txBody>
          <a:bodyPr wrap="square" lIns="0" tIns="0" rIns="0" bIns="0" rtlCol="0" anchor="ctr"/>
          <a:lstStyle/>
          <a:p>
            <a:pPr marL="0" indent="0">
              <a:buNone/>
            </a:pPr>
            <a:r>
              <a:rPr lang="en-US" sz="1600" dirty="0">
                <a:solidFill>
                  <a:srgbClr val="5F6670"/>
                </a:solidFill>
                <a:latin typeface="Consolas" pitchFamily="34" charset="0"/>
                <a:ea typeface="Consolas" pitchFamily="34" charset="-122"/>
                <a:cs typeface="Consolas" pitchFamily="34" charset="-120"/>
              </a:rPr>
              <a:t>Titre : ____________</a:t>
            </a:r>
            <a:endParaRPr lang="en-US" sz="1600" dirty="0"/>
          </a:p>
        </p:txBody>
      </p:sp>
      <p:sp>
        <p:nvSpPr>
          <p:cNvPr id="12" name="Text 9"/>
          <p:cNvSpPr txBox="1"/>
          <p:nvPr/>
        </p:nvSpPr>
        <p:spPr>
          <a:xfrm>
            <a:off x="1005840" y="3611880"/>
            <a:ext cx="4389120" cy="411480"/>
          </a:xfrm>
          <a:prstGeom prst="rect">
            <a:avLst/>
          </a:prstGeom>
          <a:noFill/>
          <a:ln/>
        </p:spPr>
        <p:txBody>
          <a:bodyPr wrap="square" lIns="0" tIns="0" rIns="0" bIns="0" rtlCol="0" anchor="ctr"/>
          <a:lstStyle/>
          <a:p>
            <a:pPr marL="0" indent="0">
              <a:buNone/>
            </a:pPr>
            <a:r>
              <a:rPr lang="en-US" sz="1600" dirty="0">
                <a:solidFill>
                  <a:srgbClr val="5F6670"/>
                </a:solidFill>
                <a:latin typeface="Consolas" pitchFamily="34" charset="0"/>
                <a:ea typeface="Consolas" pitchFamily="34" charset="-122"/>
                <a:cs typeface="Consolas" pitchFamily="34" charset="-120"/>
              </a:rPr>
              <a:t>Gravité : ____________</a:t>
            </a:r>
            <a:endParaRPr lang="en-US" sz="1600" dirty="0"/>
          </a:p>
        </p:txBody>
      </p:sp>
      <p:sp>
        <p:nvSpPr>
          <p:cNvPr id="13" name="Text 10"/>
          <p:cNvSpPr txBox="1"/>
          <p:nvPr/>
        </p:nvSpPr>
        <p:spPr>
          <a:xfrm>
            <a:off x="1005840" y="4114800"/>
            <a:ext cx="4389120" cy="411480"/>
          </a:xfrm>
          <a:prstGeom prst="rect">
            <a:avLst/>
          </a:prstGeom>
          <a:noFill/>
          <a:ln/>
        </p:spPr>
        <p:txBody>
          <a:bodyPr wrap="square" lIns="0" tIns="0" rIns="0" bIns="0" rtlCol="0" anchor="ctr"/>
          <a:lstStyle/>
          <a:p>
            <a:pPr marL="0" indent="0">
              <a:buNone/>
            </a:pPr>
            <a:r>
              <a:rPr lang="en-US" sz="1600" dirty="0">
                <a:solidFill>
                  <a:srgbClr val="5F6670"/>
                </a:solidFill>
                <a:latin typeface="Consolas" pitchFamily="34" charset="0"/>
                <a:ea typeface="Consolas" pitchFamily="34" charset="-122"/>
                <a:cs typeface="Consolas" pitchFamily="34" charset="-120"/>
              </a:rPr>
              <a:t>Statut : ____________</a:t>
            </a:r>
            <a:endParaRPr lang="en-US" sz="1600" dirty="0"/>
          </a:p>
        </p:txBody>
      </p:sp>
      <p:sp>
        <p:nvSpPr>
          <p:cNvPr id="14" name="Text 11"/>
          <p:cNvSpPr txBox="1"/>
          <p:nvPr/>
        </p:nvSpPr>
        <p:spPr>
          <a:xfrm>
            <a:off x="1005840" y="4617720"/>
            <a:ext cx="4389120" cy="411480"/>
          </a:xfrm>
          <a:prstGeom prst="rect">
            <a:avLst/>
          </a:prstGeom>
          <a:noFill/>
          <a:ln/>
        </p:spPr>
        <p:txBody>
          <a:bodyPr wrap="square" lIns="0" tIns="0" rIns="0" bIns="0" rtlCol="0" anchor="ctr"/>
          <a:lstStyle/>
          <a:p>
            <a:pPr marL="0" indent="0">
              <a:buNone/>
            </a:pPr>
            <a:r>
              <a:rPr lang="en-US" sz="1600" dirty="0">
                <a:solidFill>
                  <a:srgbClr val="5F6670"/>
                </a:solidFill>
                <a:latin typeface="Consolas" pitchFamily="34" charset="0"/>
                <a:ea typeface="Consolas" pitchFamily="34" charset="-122"/>
                <a:cs typeface="Consolas" pitchFamily="34" charset="-120"/>
              </a:rPr>
              <a:t>Déclaré par : ____________</a:t>
            </a:r>
            <a:endParaRPr lang="en-US" sz="1600" dirty="0"/>
          </a:p>
        </p:txBody>
      </p:sp>
      <p:sp>
        <p:nvSpPr>
          <p:cNvPr id="15" name="Text 12"/>
          <p:cNvSpPr txBox="1"/>
          <p:nvPr/>
        </p:nvSpPr>
        <p:spPr>
          <a:xfrm>
            <a:off x="5806440" y="3017520"/>
            <a:ext cx="640080" cy="365760"/>
          </a:xfrm>
          <a:prstGeom prst="rect">
            <a:avLst/>
          </a:prstGeom>
          <a:noFill/>
          <a:ln/>
        </p:spPr>
        <p:txBody>
          <a:bodyPr wrap="square" lIns="0" tIns="0" rIns="0" bIns="0" rtlCol="0" anchor="ctr"/>
          <a:lstStyle/>
          <a:p>
            <a:pPr marL="0" indent="0" algn="ctr">
              <a:buNone/>
            </a:pPr>
            <a:r>
              <a:rPr lang="en-US" sz="1600" b="1" dirty="0">
                <a:solidFill>
                  <a:srgbClr val="E8590C"/>
                </a:solidFill>
                <a:latin typeface="Consolas" pitchFamily="34" charset="0"/>
                <a:ea typeface="Consolas" pitchFamily="34" charset="-122"/>
                <a:cs typeface="Consolas" pitchFamily="34" charset="-120"/>
              </a:rPr>
              <a:t>new</a:t>
            </a:r>
            <a:endParaRPr lang="en-US" sz="1600" dirty="0"/>
          </a:p>
        </p:txBody>
      </p:sp>
      <p:sp>
        <p:nvSpPr>
          <p:cNvPr id="16" name="Text 13"/>
          <p:cNvSpPr txBox="1"/>
          <p:nvPr/>
        </p:nvSpPr>
        <p:spPr>
          <a:xfrm>
            <a:off x="5806440" y="3291840"/>
            <a:ext cx="640080" cy="731520"/>
          </a:xfrm>
          <a:prstGeom prst="rect">
            <a:avLst/>
          </a:prstGeom>
          <a:noFill/>
          <a:ln/>
        </p:spPr>
        <p:txBody>
          <a:bodyPr wrap="square" lIns="0" tIns="0" rIns="0" bIns="0" rtlCol="0" anchor="ctr"/>
          <a:lstStyle/>
          <a:p>
            <a:pPr marL="0" indent="0" algn="ctr">
              <a:buNone/>
            </a:pPr>
            <a:r>
              <a:rPr lang="en-US" sz="4000" dirty="0">
                <a:solidFill>
                  <a:srgbClr val="E8590C"/>
                </a:solidFill>
                <a:latin typeface="Arial" pitchFamily="34" charset="0"/>
                <a:ea typeface="Arial" pitchFamily="34" charset="-122"/>
                <a:cs typeface="Arial" pitchFamily="34" charset="-120"/>
              </a:rPr>
              <a:t>→</a:t>
            </a:r>
            <a:endParaRPr lang="en-US" sz="4000" dirty="0"/>
          </a:p>
        </p:txBody>
      </p:sp>
      <p:sp>
        <p:nvSpPr>
          <p:cNvPr id="17" name="Shape 14"/>
          <p:cNvSpPr/>
          <p:nvPr/>
        </p:nvSpPr>
        <p:spPr>
          <a:xfrm>
            <a:off x="6492240" y="1828800"/>
            <a:ext cx="5029200" cy="3657600"/>
          </a:xfrm>
          <a:prstGeom prst="roundRect">
            <a:avLst>
              <a:gd name="adj" fmla="val 2000"/>
            </a:avLst>
          </a:prstGeom>
          <a:solidFill>
            <a:srgbClr val="16181D"/>
          </a:solidFill>
          <a:ln w="12700">
            <a:solidFill>
              <a:srgbClr val="16181D"/>
            </a:solidFill>
            <a:prstDash val="solid"/>
          </a:ln>
        </p:spPr>
        <p:txBody>
          <a:bodyPr/>
          <a:lstStyle/>
          <a:p>
            <a:endParaRPr lang="fr-BE"/>
          </a:p>
        </p:txBody>
      </p:sp>
      <p:sp>
        <p:nvSpPr>
          <p:cNvPr id="18" name="Text 15"/>
          <p:cNvSpPr txBox="1"/>
          <p:nvPr/>
        </p:nvSpPr>
        <p:spPr>
          <a:xfrm>
            <a:off x="6858000" y="2011680"/>
            <a:ext cx="3657600" cy="548640"/>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Objet</a:t>
            </a:r>
            <a:endParaRPr lang="en-US" sz="2600" dirty="0"/>
          </a:p>
        </p:txBody>
      </p:sp>
      <p:sp>
        <p:nvSpPr>
          <p:cNvPr id="19" name="Text 16"/>
          <p:cNvSpPr txBox="1"/>
          <p:nvPr/>
        </p:nvSpPr>
        <p:spPr>
          <a:xfrm>
            <a:off x="6858000" y="2560320"/>
            <a:ext cx="4389120" cy="365760"/>
          </a:xfrm>
          <a:prstGeom prst="rect">
            <a:avLst/>
          </a:prstGeom>
          <a:noFill/>
          <a:ln/>
        </p:spPr>
        <p:txBody>
          <a:bodyPr wrap="square" lIns="0" tIns="0" rIns="0" bIns="0" rtlCol="0" anchor="ctr"/>
          <a:lstStyle/>
          <a:p>
            <a:pPr marL="0" indent="0">
              <a:buNone/>
            </a:pPr>
            <a:r>
              <a:rPr lang="en-US" sz="1600" dirty="0">
                <a:solidFill>
                  <a:srgbClr val="FFA94D"/>
                </a:solidFill>
                <a:latin typeface="Calibri" pitchFamily="34" charset="0"/>
                <a:ea typeface="Calibri" pitchFamily="34" charset="-122"/>
                <a:cs typeface="Calibri" pitchFamily="34" charset="-120"/>
              </a:rPr>
              <a:t>Une instance : l'incident n°1042</a:t>
            </a:r>
            <a:endParaRPr lang="en-US" sz="1600" dirty="0"/>
          </a:p>
        </p:txBody>
      </p:sp>
      <p:sp>
        <p:nvSpPr>
          <p:cNvPr id="20" name="Text 17"/>
          <p:cNvSpPr txBox="1"/>
          <p:nvPr/>
        </p:nvSpPr>
        <p:spPr>
          <a:xfrm>
            <a:off x="6858000" y="3108960"/>
            <a:ext cx="4389120" cy="411480"/>
          </a:xfrm>
          <a:prstGeom prst="rect">
            <a:avLst/>
          </a:prstGeom>
          <a:noFill/>
          <a:ln/>
        </p:spPr>
        <p:txBody>
          <a:bodyPr wrap="square" lIns="0" tIns="0" rIns="0" bIns="0" rtlCol="0" anchor="ctr"/>
          <a:lstStyle/>
          <a:p>
            <a:pPr marL="0" indent="0">
              <a:buNone/>
            </a:pPr>
            <a:r>
              <a:rPr lang="en-US" sz="1600" dirty="0">
                <a:solidFill>
                  <a:srgbClr val="E6E6E6"/>
                </a:solidFill>
                <a:latin typeface="Consolas" pitchFamily="34" charset="0"/>
                <a:ea typeface="Consolas" pitchFamily="34" charset="-122"/>
                <a:cs typeface="Consolas" pitchFamily="34" charset="-120"/>
              </a:rPr>
              <a:t>Titre : Phishing DHL</a:t>
            </a:r>
            <a:endParaRPr lang="en-US" sz="1600" dirty="0"/>
          </a:p>
        </p:txBody>
      </p:sp>
      <p:sp>
        <p:nvSpPr>
          <p:cNvPr id="21" name="Text 18"/>
          <p:cNvSpPr txBox="1"/>
          <p:nvPr/>
        </p:nvSpPr>
        <p:spPr>
          <a:xfrm>
            <a:off x="6858000" y="3611880"/>
            <a:ext cx="4389120" cy="411480"/>
          </a:xfrm>
          <a:prstGeom prst="rect">
            <a:avLst/>
          </a:prstGeom>
          <a:noFill/>
          <a:ln/>
        </p:spPr>
        <p:txBody>
          <a:bodyPr wrap="square" lIns="0" tIns="0" rIns="0" bIns="0" rtlCol="0" anchor="ctr"/>
          <a:lstStyle/>
          <a:p>
            <a:pPr marL="0" indent="0">
              <a:buNone/>
            </a:pPr>
            <a:r>
              <a:rPr lang="en-US" sz="1600" dirty="0">
                <a:solidFill>
                  <a:srgbClr val="E6E6E6"/>
                </a:solidFill>
                <a:latin typeface="Consolas" pitchFamily="34" charset="0"/>
                <a:ea typeface="Consolas" pitchFamily="34" charset="-122"/>
                <a:cs typeface="Consolas" pitchFamily="34" charset="-120"/>
              </a:rPr>
              <a:t>Gravité : High</a:t>
            </a:r>
            <a:endParaRPr lang="en-US" sz="1600" dirty="0"/>
          </a:p>
        </p:txBody>
      </p:sp>
      <p:sp>
        <p:nvSpPr>
          <p:cNvPr id="22" name="Text 19"/>
          <p:cNvSpPr txBox="1"/>
          <p:nvPr/>
        </p:nvSpPr>
        <p:spPr>
          <a:xfrm>
            <a:off x="6858000" y="4114800"/>
            <a:ext cx="4389120" cy="411480"/>
          </a:xfrm>
          <a:prstGeom prst="rect">
            <a:avLst/>
          </a:prstGeom>
          <a:noFill/>
          <a:ln/>
        </p:spPr>
        <p:txBody>
          <a:bodyPr wrap="square" lIns="0" tIns="0" rIns="0" bIns="0" rtlCol="0" anchor="ctr"/>
          <a:lstStyle/>
          <a:p>
            <a:pPr marL="0" indent="0">
              <a:buNone/>
            </a:pPr>
            <a:r>
              <a:rPr lang="en-US" sz="1600" dirty="0">
                <a:solidFill>
                  <a:srgbClr val="E6E6E6"/>
                </a:solidFill>
                <a:latin typeface="Consolas" pitchFamily="34" charset="0"/>
                <a:ea typeface="Consolas" pitchFamily="34" charset="-122"/>
                <a:cs typeface="Consolas" pitchFamily="34" charset="-120"/>
              </a:rPr>
              <a:t>Statut : Open</a:t>
            </a:r>
            <a:endParaRPr lang="en-US" sz="1600" dirty="0"/>
          </a:p>
        </p:txBody>
      </p:sp>
      <p:sp>
        <p:nvSpPr>
          <p:cNvPr id="23" name="Text 20"/>
          <p:cNvSpPr txBox="1"/>
          <p:nvPr/>
        </p:nvSpPr>
        <p:spPr>
          <a:xfrm>
            <a:off x="6858000" y="4617720"/>
            <a:ext cx="4389120" cy="411480"/>
          </a:xfrm>
          <a:prstGeom prst="rect">
            <a:avLst/>
          </a:prstGeom>
          <a:noFill/>
          <a:ln/>
        </p:spPr>
        <p:txBody>
          <a:bodyPr wrap="square" lIns="0" tIns="0" rIns="0" bIns="0" rtlCol="0" anchor="ctr"/>
          <a:lstStyle/>
          <a:p>
            <a:pPr marL="0" indent="0">
              <a:buNone/>
            </a:pPr>
            <a:r>
              <a:rPr lang="en-US" sz="1600" dirty="0">
                <a:solidFill>
                  <a:srgbClr val="E6E6E6"/>
                </a:solidFill>
                <a:latin typeface="Consolas" pitchFamily="34" charset="0"/>
                <a:ea typeface="Consolas" pitchFamily="34" charset="-122"/>
                <a:cs typeface="Consolas" pitchFamily="34" charset="-120"/>
              </a:rPr>
              <a:t>Déclaré par : Sophie</a:t>
            </a:r>
            <a:endParaRPr lang="en-US" sz="16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ENCAPSULATION</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Le guichet de la banque</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50</a:t>
            </a:r>
            <a:endParaRPr lang="en-US" sz="1000" dirty="0"/>
          </a:p>
        </p:txBody>
      </p:sp>
      <p:sp>
        <p:nvSpPr>
          <p:cNvPr id="8" name="Shape 5"/>
          <p:cNvSpPr/>
          <p:nvPr/>
        </p:nvSpPr>
        <p:spPr>
          <a:xfrm>
            <a:off x="640080" y="1920240"/>
            <a:ext cx="3291840" cy="3291840"/>
          </a:xfrm>
          <a:prstGeom prst="roundRect">
            <a:avLst>
              <a:gd name="adj" fmla="val 2222"/>
            </a:avLst>
          </a:prstGeom>
          <a:solidFill>
            <a:srgbClr val="F2F3F5"/>
          </a:solidFill>
          <a:ln w="12700">
            <a:solidFill>
              <a:srgbClr val="F2F3F5"/>
            </a:solidFill>
            <a:prstDash val="solid"/>
          </a:ln>
        </p:spPr>
        <p:txBody>
          <a:bodyPr/>
          <a:lstStyle/>
          <a:p>
            <a:endParaRPr lang="fr-BE"/>
          </a:p>
        </p:txBody>
      </p:sp>
      <p:sp>
        <p:nvSpPr>
          <p:cNvPr id="9" name="Text 6"/>
          <p:cNvSpPr txBox="1"/>
          <p:nvPr/>
        </p:nvSpPr>
        <p:spPr>
          <a:xfrm>
            <a:off x="640080" y="2103120"/>
            <a:ext cx="3291840" cy="457200"/>
          </a:xfrm>
          <a:prstGeom prst="rect">
            <a:avLst/>
          </a:prstGeom>
          <a:noFill/>
          <a:ln/>
        </p:spPr>
        <p:txBody>
          <a:bodyPr wrap="square" lIns="0" tIns="0" rIns="0" bIns="0" rtlCol="0" anchor="ctr"/>
          <a:lstStyle/>
          <a:p>
            <a:pPr marL="0" indent="0" algn="ctr">
              <a:buNone/>
            </a:pPr>
            <a:r>
              <a:rPr lang="en-US" sz="2200" b="1" dirty="0">
                <a:solidFill>
                  <a:srgbClr val="16181D"/>
                </a:solidFill>
                <a:latin typeface="Arial" pitchFamily="34" charset="0"/>
                <a:ea typeface="Arial" pitchFamily="34" charset="-122"/>
                <a:cs typeface="Arial" pitchFamily="34" charset="-120"/>
              </a:rPr>
              <a:t>Vous</a:t>
            </a:r>
            <a:endParaRPr lang="en-US" sz="2200" dirty="0"/>
          </a:p>
        </p:txBody>
      </p:sp>
      <p:sp>
        <p:nvSpPr>
          <p:cNvPr id="10" name="Text 7"/>
          <p:cNvSpPr txBox="1"/>
          <p:nvPr/>
        </p:nvSpPr>
        <p:spPr>
          <a:xfrm>
            <a:off x="822960" y="2926080"/>
            <a:ext cx="2926080" cy="1097280"/>
          </a:xfrm>
          <a:prstGeom prst="rect">
            <a:avLst/>
          </a:prstGeom>
          <a:noFill/>
          <a:ln/>
        </p:spPr>
        <p:txBody>
          <a:bodyPr wrap="square" lIns="0" tIns="0" rIns="0" bIns="0" rtlCol="0" anchor="ctr"/>
          <a:lstStyle/>
          <a:p>
            <a:pPr marL="0" indent="0" algn="ctr">
              <a:buNone/>
            </a:pPr>
            <a:r>
              <a:rPr lang="en-US" sz="1700" i="1" dirty="0">
                <a:solidFill>
                  <a:srgbClr val="5F6670"/>
                </a:solidFill>
                <a:latin typeface="Calibri" pitchFamily="34" charset="0"/>
                <a:ea typeface="Calibri" pitchFamily="34" charset="-122"/>
                <a:cs typeface="Calibri" pitchFamily="34" charset="-120"/>
              </a:rPr>
              <a:t>« Je veux retirer 500 € »</a:t>
            </a:r>
            <a:endParaRPr lang="en-US" sz="1700" dirty="0"/>
          </a:p>
        </p:txBody>
      </p:sp>
      <p:sp>
        <p:nvSpPr>
          <p:cNvPr id="11" name="Text 8"/>
          <p:cNvSpPr txBox="1"/>
          <p:nvPr/>
        </p:nvSpPr>
        <p:spPr>
          <a:xfrm>
            <a:off x="3931920" y="2926080"/>
            <a:ext cx="731520" cy="822960"/>
          </a:xfrm>
          <a:prstGeom prst="rect">
            <a:avLst/>
          </a:prstGeom>
          <a:noFill/>
          <a:ln/>
        </p:spPr>
        <p:txBody>
          <a:bodyPr wrap="square" lIns="0" tIns="0" rIns="0" bIns="0" rtlCol="0" anchor="ctr"/>
          <a:lstStyle/>
          <a:p>
            <a:pPr marL="0" indent="0" algn="ctr">
              <a:buNone/>
            </a:pPr>
            <a:r>
              <a:rPr lang="en-US" sz="3600" dirty="0">
                <a:solidFill>
                  <a:srgbClr val="E8590C"/>
                </a:solidFill>
                <a:latin typeface="Arial" pitchFamily="34" charset="0"/>
                <a:ea typeface="Arial" pitchFamily="34" charset="-122"/>
                <a:cs typeface="Arial" pitchFamily="34" charset="-120"/>
              </a:rPr>
              <a:t>→</a:t>
            </a:r>
            <a:endParaRPr lang="en-US" sz="3600" dirty="0"/>
          </a:p>
        </p:txBody>
      </p:sp>
      <p:sp>
        <p:nvSpPr>
          <p:cNvPr id="12" name="Shape 9"/>
          <p:cNvSpPr/>
          <p:nvPr/>
        </p:nvSpPr>
        <p:spPr>
          <a:xfrm>
            <a:off x="4663440" y="1920240"/>
            <a:ext cx="3108960" cy="3291840"/>
          </a:xfrm>
          <a:prstGeom prst="roundRect">
            <a:avLst>
              <a:gd name="adj" fmla="val 2353"/>
            </a:avLst>
          </a:prstGeom>
          <a:solidFill>
            <a:srgbClr val="16181D"/>
          </a:solidFill>
          <a:ln w="12700">
            <a:solidFill>
              <a:srgbClr val="16181D"/>
            </a:solidFill>
            <a:prstDash val="solid"/>
          </a:ln>
        </p:spPr>
        <p:txBody>
          <a:bodyPr/>
          <a:lstStyle/>
          <a:p>
            <a:endParaRPr lang="fr-BE"/>
          </a:p>
        </p:txBody>
      </p:sp>
      <p:sp>
        <p:nvSpPr>
          <p:cNvPr id="13" name="Text 10"/>
          <p:cNvSpPr txBox="1"/>
          <p:nvPr/>
        </p:nvSpPr>
        <p:spPr>
          <a:xfrm>
            <a:off x="4663440" y="2103120"/>
            <a:ext cx="3108960"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Le guichet</a:t>
            </a:r>
            <a:endParaRPr lang="en-US" sz="2200" dirty="0"/>
          </a:p>
        </p:txBody>
      </p:sp>
      <p:sp>
        <p:nvSpPr>
          <p:cNvPr id="14" name="Text 11"/>
          <p:cNvSpPr txBox="1"/>
          <p:nvPr/>
        </p:nvSpPr>
        <p:spPr>
          <a:xfrm>
            <a:off x="4846320" y="2834640"/>
            <a:ext cx="2743200" cy="1280160"/>
          </a:xfrm>
          <a:prstGeom prst="rect">
            <a:avLst/>
          </a:prstGeom>
          <a:noFill/>
          <a:ln/>
        </p:spPr>
        <p:txBody>
          <a:bodyPr wrap="square" lIns="0" tIns="0" rIns="0" bIns="0" rtlCol="0" anchor="ctr"/>
          <a:lstStyle/>
          <a:p>
            <a:pPr marL="0" indent="0" algn="ctr">
              <a:buNone/>
            </a:pPr>
            <a:r>
              <a:rPr lang="en-US" sz="1600" dirty="0">
                <a:solidFill>
                  <a:srgbClr val="FFA94D"/>
                </a:solidFill>
                <a:latin typeface="Calibri" pitchFamily="34" charset="0"/>
                <a:ea typeface="Calibri" pitchFamily="34" charset="-122"/>
                <a:cs typeface="Calibri" pitchFamily="34" charset="-120"/>
              </a:rPr>
              <a:t>public</a:t>
            </a:r>
            <a:endParaRPr lang="en-US" sz="1600" dirty="0"/>
          </a:p>
          <a:p>
            <a:pPr marL="0" indent="0" algn="ctr">
              <a:buNone/>
            </a:pPr>
            <a:r>
              <a:rPr lang="en-US" sz="1600" dirty="0">
                <a:solidFill>
                  <a:srgbClr val="FFA94D"/>
                </a:solidFill>
                <a:latin typeface="Calibri" pitchFamily="34" charset="0"/>
                <a:ea typeface="Calibri" pitchFamily="34" charset="-122"/>
                <a:cs typeface="Calibri" pitchFamily="34" charset="-120"/>
              </a:rPr>
              <a:t>vérifie, accepte ou refuse</a:t>
            </a:r>
            <a:endParaRPr lang="en-US" sz="1600" dirty="0"/>
          </a:p>
        </p:txBody>
      </p:sp>
      <p:sp>
        <p:nvSpPr>
          <p:cNvPr id="15" name="Text 12"/>
          <p:cNvSpPr txBox="1"/>
          <p:nvPr/>
        </p:nvSpPr>
        <p:spPr>
          <a:xfrm>
            <a:off x="7772400" y="2926080"/>
            <a:ext cx="731520" cy="822960"/>
          </a:xfrm>
          <a:prstGeom prst="rect">
            <a:avLst/>
          </a:prstGeom>
          <a:noFill/>
          <a:ln/>
        </p:spPr>
        <p:txBody>
          <a:bodyPr wrap="square" lIns="0" tIns="0" rIns="0" bIns="0" rtlCol="0" anchor="ctr"/>
          <a:lstStyle/>
          <a:p>
            <a:pPr marL="0" indent="0" algn="ctr">
              <a:buNone/>
            </a:pPr>
            <a:r>
              <a:rPr lang="en-US" sz="3600" dirty="0">
                <a:solidFill>
                  <a:srgbClr val="E8590C"/>
                </a:solidFill>
                <a:latin typeface="Arial" pitchFamily="34" charset="0"/>
                <a:ea typeface="Arial" pitchFamily="34" charset="-122"/>
                <a:cs typeface="Arial" pitchFamily="34" charset="-120"/>
              </a:rPr>
              <a:t>→</a:t>
            </a:r>
            <a:endParaRPr lang="en-US" sz="3600" dirty="0"/>
          </a:p>
        </p:txBody>
      </p:sp>
      <p:sp>
        <p:nvSpPr>
          <p:cNvPr id="16" name="Shape 13"/>
          <p:cNvSpPr/>
          <p:nvPr/>
        </p:nvSpPr>
        <p:spPr>
          <a:xfrm>
            <a:off x="8503920" y="1920240"/>
            <a:ext cx="3017520" cy="3291840"/>
          </a:xfrm>
          <a:prstGeom prst="roundRect">
            <a:avLst>
              <a:gd name="adj" fmla="val 2424"/>
            </a:avLst>
          </a:prstGeom>
          <a:solidFill>
            <a:srgbClr val="F2F3F5"/>
          </a:solidFill>
          <a:ln w="12700">
            <a:solidFill>
              <a:srgbClr val="F2F3F5"/>
            </a:solidFill>
            <a:prstDash val="solid"/>
          </a:ln>
        </p:spPr>
        <p:txBody>
          <a:bodyPr/>
          <a:lstStyle/>
          <a:p>
            <a:endParaRPr lang="fr-BE"/>
          </a:p>
        </p:txBody>
      </p:sp>
      <p:sp>
        <p:nvSpPr>
          <p:cNvPr id="17" name="Text 14"/>
          <p:cNvSpPr txBox="1"/>
          <p:nvPr/>
        </p:nvSpPr>
        <p:spPr>
          <a:xfrm>
            <a:off x="8503920" y="2103120"/>
            <a:ext cx="3017520" cy="457200"/>
          </a:xfrm>
          <a:prstGeom prst="rect">
            <a:avLst/>
          </a:prstGeom>
          <a:noFill/>
          <a:ln/>
        </p:spPr>
        <p:txBody>
          <a:bodyPr wrap="square" lIns="0" tIns="0" rIns="0" bIns="0" rtlCol="0" anchor="ctr"/>
          <a:lstStyle/>
          <a:p>
            <a:pPr marL="0" indent="0" algn="ctr">
              <a:buNone/>
            </a:pPr>
            <a:r>
              <a:rPr lang="en-US" sz="2200" b="1" dirty="0">
                <a:solidFill>
                  <a:srgbClr val="16181D"/>
                </a:solidFill>
                <a:latin typeface="Arial" pitchFamily="34" charset="0"/>
                <a:ea typeface="Arial" pitchFamily="34" charset="-122"/>
                <a:cs typeface="Arial" pitchFamily="34" charset="-120"/>
              </a:rPr>
              <a:t>Le coffre</a:t>
            </a:r>
            <a:endParaRPr lang="en-US" sz="2200" dirty="0"/>
          </a:p>
        </p:txBody>
      </p:sp>
      <p:sp>
        <p:nvSpPr>
          <p:cNvPr id="18" name="Text 15"/>
          <p:cNvSpPr txBox="1"/>
          <p:nvPr/>
        </p:nvSpPr>
        <p:spPr>
          <a:xfrm>
            <a:off x="8686800" y="2834640"/>
            <a:ext cx="2651760" cy="1280160"/>
          </a:xfrm>
          <a:prstGeom prst="rect">
            <a:avLst/>
          </a:prstGeom>
          <a:noFill/>
          <a:ln/>
        </p:spPr>
        <p:txBody>
          <a:bodyPr wrap="square" lIns="0" tIns="0" rIns="0" bIns="0" rtlCol="0" anchor="ctr"/>
          <a:lstStyle/>
          <a:p>
            <a:pPr marL="0" indent="0" algn="ctr">
              <a:buNone/>
            </a:pPr>
            <a:r>
              <a:rPr lang="en-US" sz="1600" dirty="0">
                <a:solidFill>
                  <a:srgbClr val="5F6670"/>
                </a:solidFill>
                <a:latin typeface="Calibri" pitchFamily="34" charset="0"/>
                <a:ea typeface="Calibri" pitchFamily="34" charset="-122"/>
                <a:cs typeface="Calibri" pitchFamily="34" charset="-120"/>
              </a:rPr>
              <a:t>private</a:t>
            </a:r>
            <a:endParaRPr lang="en-US" sz="1600" dirty="0"/>
          </a:p>
          <a:p>
            <a:pPr marL="0" indent="0" algn="ctr">
              <a:buNone/>
            </a:pPr>
            <a:r>
              <a:rPr lang="en-US" sz="1600" dirty="0">
                <a:solidFill>
                  <a:srgbClr val="5F6670"/>
                </a:solidFill>
                <a:latin typeface="Calibri" pitchFamily="34" charset="0"/>
                <a:ea typeface="Calibri" pitchFamily="34" charset="-122"/>
                <a:cs typeface="Calibri" pitchFamily="34" charset="-120"/>
              </a:rPr>
              <a:t>le solde, l'historique</a:t>
            </a:r>
            <a:endParaRPr lang="en-US" sz="1600" dirty="0"/>
          </a:p>
        </p:txBody>
      </p:sp>
      <p:sp>
        <p:nvSpPr>
          <p:cNvPr id="19" name="Text 16"/>
          <p:cNvSpPr txBox="1"/>
          <p:nvPr/>
        </p:nvSpPr>
        <p:spPr>
          <a:xfrm>
            <a:off x="640080" y="5486400"/>
            <a:ext cx="10911535" cy="457200"/>
          </a:xfrm>
          <a:prstGeom prst="rect">
            <a:avLst/>
          </a:prstGeom>
          <a:noFill/>
          <a:ln/>
        </p:spPr>
        <p:txBody>
          <a:bodyPr wrap="square" lIns="0" tIns="0" rIns="0" bIns="0" rtlCol="0" anchor="ctr"/>
          <a:lstStyle/>
          <a:p>
            <a:pPr marL="0" indent="0">
              <a:buNone/>
            </a:pPr>
            <a:r>
              <a:rPr lang="en-US" sz="1800" b="1" dirty="0">
                <a:solidFill>
                  <a:srgbClr val="16181D"/>
                </a:solidFill>
                <a:latin typeface="Calibri" pitchFamily="34" charset="0"/>
                <a:ea typeface="Calibri" pitchFamily="34" charset="-122"/>
                <a:cs typeface="Calibri" pitchFamily="34" charset="-120"/>
              </a:rPr>
              <a:t>Les données restent derrière le comptoir. On n'y touche qu'en passant par le guichet.</a:t>
            </a:r>
            <a:endParaRPr lang="en-US" sz="1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LES RÈGLES MÉTIER</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Un incident ne change pas d'état n'importe comment</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51</a:t>
            </a:r>
            <a:endParaRPr lang="en-US" sz="1000" dirty="0"/>
          </a:p>
        </p:txBody>
      </p:sp>
      <p:sp>
        <p:nvSpPr>
          <p:cNvPr id="8" name="Text 5"/>
          <p:cNvSpPr txBox="1"/>
          <p:nvPr/>
        </p:nvSpPr>
        <p:spPr>
          <a:xfrm>
            <a:off x="640080" y="1783080"/>
            <a:ext cx="6400800" cy="2103120"/>
          </a:xfrm>
          <a:prstGeom prst="rect">
            <a:avLst/>
          </a:prstGeom>
          <a:noFill/>
          <a:ln/>
        </p:spPr>
        <p:txBody>
          <a:bodyPr wrap="square" lIns="0" tIns="0" rIns="0" bIns="0" rtlCol="0" anchor="t"/>
          <a:lstStyle/>
          <a:p>
            <a:pPr marL="228600" indent="-228600">
              <a:spcAft>
                <a:spcPts val="800"/>
              </a:spcAft>
              <a:buSzPct val="100000"/>
              <a:buChar char="•"/>
            </a:pPr>
            <a:r>
              <a:rPr lang="en-US" sz="1600" b="1" dirty="0">
                <a:solidFill>
                  <a:srgbClr val="16181D"/>
                </a:solidFill>
                <a:latin typeface="Calibri" pitchFamily="34" charset="0"/>
                <a:ea typeface="Calibri" pitchFamily="34" charset="-122"/>
                <a:cs typeface="Calibri" pitchFamily="34" charset="-120"/>
              </a:rPr>
              <a:t>Une règle métier vient du métier, pas de l'informatique.</a:t>
            </a:r>
            <a:endParaRPr lang="en-US" sz="1600" dirty="0"/>
          </a:p>
          <a:p>
            <a:pPr marL="228600" indent="-228600">
              <a:spcAft>
                <a:spcPts val="800"/>
              </a:spcAft>
              <a:buSzPct val="100000"/>
              <a:buChar char="•"/>
            </a:pPr>
            <a:r>
              <a:rPr lang="en-US" sz="1600" dirty="0">
                <a:solidFill>
                  <a:srgbClr val="16181D"/>
                </a:solidFill>
                <a:latin typeface="Calibri" pitchFamily="34" charset="0"/>
                <a:ea typeface="Calibri" pitchFamily="34" charset="-122"/>
                <a:cs typeface="Calibri" pitchFamily="34" charset="-120"/>
              </a:rPr>
              <a:t>Un incident naît « Open », avec un titre.</a:t>
            </a:r>
            <a:endParaRPr lang="en-US" sz="1600" dirty="0"/>
          </a:p>
          <a:p>
            <a:pPr marL="228600" indent="-228600">
              <a:spcAft>
                <a:spcPts val="800"/>
              </a:spcAft>
              <a:buSzPct val="100000"/>
              <a:buChar char="•"/>
            </a:pPr>
            <a:r>
              <a:rPr lang="en-US" sz="1600" dirty="0">
                <a:solidFill>
                  <a:srgbClr val="16181D"/>
                </a:solidFill>
                <a:latin typeface="Calibri" pitchFamily="34" charset="0"/>
                <a:ea typeface="Calibri" pitchFamily="34" charset="-122"/>
                <a:cs typeface="Calibri" pitchFamily="34" charset="-120"/>
              </a:rPr>
              <a:t>Il passe en cours de traitement, puis résolu, puis clôturé.</a:t>
            </a:r>
            <a:endParaRPr lang="en-US" sz="1600" dirty="0"/>
          </a:p>
          <a:p>
            <a:pPr marL="228600" indent="-228600">
              <a:spcAft>
                <a:spcPts val="800"/>
              </a:spcAft>
              <a:buSzPct val="100000"/>
              <a:buChar char="•"/>
            </a:pPr>
            <a:r>
              <a:rPr lang="en-US" sz="1600" dirty="0">
                <a:solidFill>
                  <a:srgbClr val="16181D"/>
                </a:solidFill>
                <a:latin typeface="Calibri" pitchFamily="34" charset="0"/>
                <a:ea typeface="Calibri" pitchFamily="34" charset="-122"/>
                <a:cs typeface="Calibri" pitchFamily="34" charset="-120"/>
              </a:rPr>
              <a:t>Il ne saute pas d'étape.</a:t>
            </a:r>
            <a:endParaRPr lang="en-US" sz="1600" dirty="0"/>
          </a:p>
          <a:p>
            <a:pPr marL="228600" indent="-228600">
              <a:spcAft>
                <a:spcPts val="800"/>
              </a:spcAft>
              <a:buSzPct val="100000"/>
              <a:buChar char="•"/>
            </a:pPr>
            <a:r>
              <a:rPr lang="en-US" sz="1600" dirty="0">
                <a:solidFill>
                  <a:srgbClr val="16181D"/>
                </a:solidFill>
                <a:latin typeface="Calibri" pitchFamily="34" charset="0"/>
                <a:ea typeface="Calibri" pitchFamily="34" charset="-122"/>
                <a:cs typeface="Calibri" pitchFamily="34" charset="-120"/>
              </a:rPr>
              <a:t>Un incident clôturé ne se rouvre pas.</a:t>
            </a:r>
            <a:endParaRPr lang="en-US" sz="1600" dirty="0"/>
          </a:p>
        </p:txBody>
      </p:sp>
      <p:sp>
        <p:nvSpPr>
          <p:cNvPr id="9" name="Shape 6"/>
          <p:cNvSpPr/>
          <p:nvPr/>
        </p:nvSpPr>
        <p:spPr>
          <a:xfrm>
            <a:off x="7315200" y="1828800"/>
            <a:ext cx="4206240" cy="1371600"/>
          </a:xfrm>
          <a:prstGeom prst="roundRect">
            <a:avLst>
              <a:gd name="adj" fmla="val 5333"/>
            </a:avLst>
          </a:prstGeom>
          <a:solidFill>
            <a:srgbClr val="16181D"/>
          </a:solidFill>
          <a:ln w="12700">
            <a:solidFill>
              <a:srgbClr val="16181D"/>
            </a:solidFill>
            <a:prstDash val="solid"/>
          </a:ln>
        </p:spPr>
        <p:txBody>
          <a:bodyPr/>
          <a:lstStyle/>
          <a:p>
            <a:endParaRPr lang="fr-BE"/>
          </a:p>
        </p:txBody>
      </p:sp>
      <p:sp>
        <p:nvSpPr>
          <p:cNvPr id="10" name="Text 7"/>
          <p:cNvSpPr txBox="1"/>
          <p:nvPr/>
        </p:nvSpPr>
        <p:spPr>
          <a:xfrm>
            <a:off x="7543800" y="1828800"/>
            <a:ext cx="3749040" cy="137160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C'est l'objet qui refuse, pas le développeur qui « fait attention ».</a:t>
            </a:r>
            <a:endParaRPr lang="en-US" sz="1700" dirty="0"/>
          </a:p>
        </p:txBody>
      </p:sp>
      <p:sp>
        <p:nvSpPr>
          <p:cNvPr id="11" name="Text 8"/>
          <p:cNvSpPr txBox="1"/>
          <p:nvPr/>
        </p:nvSpPr>
        <p:spPr>
          <a:xfrm>
            <a:off x="640080" y="3840480"/>
            <a:ext cx="5486400" cy="320040"/>
          </a:xfrm>
          <a:prstGeom prst="rect">
            <a:avLst/>
          </a:prstGeom>
          <a:noFill/>
          <a:ln/>
        </p:spPr>
        <p:txBody>
          <a:bodyPr wrap="square" lIns="0" tIns="0" rIns="0" bIns="0" rtlCol="0" anchor="ctr"/>
          <a:lstStyle/>
          <a:p>
            <a:pPr marL="0" indent="0">
              <a:buNone/>
            </a:pPr>
            <a:r>
              <a:rPr lang="en-US" sz="1300" b="1" kern="0" spc="200" dirty="0">
                <a:solidFill>
                  <a:srgbClr val="5F6670"/>
                </a:solidFill>
                <a:latin typeface="Calibri" pitchFamily="34" charset="0"/>
                <a:ea typeface="Calibri" pitchFamily="34" charset="-122"/>
                <a:cs typeface="Calibri" pitchFamily="34" charset="-120"/>
              </a:rPr>
              <a:t>Diagramme d'états UML</a:t>
            </a:r>
            <a:endParaRPr lang="en-US" sz="1300" dirty="0"/>
          </a:p>
        </p:txBody>
      </p:sp>
      <p:pic>
        <p:nvPicPr>
          <p:cNvPr id="12" name="Image 0" descr="diag/etats.png"/>
          <p:cNvPicPr>
            <a:picLocks noChangeAspect="1"/>
          </p:cNvPicPr>
          <p:nvPr/>
        </p:nvPicPr>
        <p:blipFill>
          <a:blip r:embed="rId3"/>
          <a:stretch>
            <a:fillRect/>
          </a:stretch>
        </p:blipFill>
        <p:spPr>
          <a:xfrm>
            <a:off x="640080" y="4402573"/>
            <a:ext cx="10911535" cy="1664733"/>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6181D"/>
        </a:solidFill>
        <a:effectLst/>
      </p:bgPr>
    </p:bg>
    <p:spTree>
      <p:nvGrpSpPr>
        <p:cNvPr id="1" name=""/>
        <p:cNvGrpSpPr/>
        <p:nvPr/>
      </p:nvGrpSpPr>
      <p:grpSpPr>
        <a:xfrm>
          <a:off x="0" y="0"/>
          <a:ext cx="0" cy="0"/>
          <a:chOff x="0" y="0"/>
          <a:chExt cx="0" cy="0"/>
        </a:xfrm>
      </p:grpSpPr>
      <p:sp>
        <p:nvSpPr>
          <p:cNvPr id="2" name="Text 0"/>
          <p:cNvSpPr txBox="1"/>
          <p:nvPr/>
        </p:nvSpPr>
        <p:spPr>
          <a:xfrm>
            <a:off x="640080" y="1463040"/>
            <a:ext cx="2743200" cy="1280160"/>
          </a:xfrm>
          <a:prstGeom prst="rect">
            <a:avLst/>
          </a:prstGeom>
          <a:noFill/>
          <a:ln/>
        </p:spPr>
        <p:txBody>
          <a:bodyPr wrap="square" lIns="0" tIns="0" rIns="0" bIns="0" rtlCol="0" anchor="ctr"/>
          <a:lstStyle/>
          <a:p>
            <a:pPr marL="0" indent="0">
              <a:buNone/>
            </a:pPr>
            <a:r>
              <a:rPr lang="en-US" sz="9600" b="1" dirty="0">
                <a:solidFill>
                  <a:srgbClr val="E8590C"/>
                </a:solidFill>
                <a:latin typeface="Arial" pitchFamily="34" charset="0"/>
                <a:ea typeface="Arial" pitchFamily="34" charset="-122"/>
                <a:cs typeface="Arial" pitchFamily="34" charset="-120"/>
              </a:rPr>
              <a:t>04</a:t>
            </a:r>
            <a:endParaRPr lang="en-US" sz="9600" dirty="0"/>
          </a:p>
        </p:txBody>
      </p:sp>
      <p:sp>
        <p:nvSpPr>
          <p:cNvPr id="3" name="Text 1"/>
          <p:cNvSpPr txBox="1"/>
          <p:nvPr/>
        </p:nvSpPr>
        <p:spPr>
          <a:xfrm>
            <a:off x="640080" y="2834640"/>
            <a:ext cx="10911535" cy="1005840"/>
          </a:xfrm>
          <a:prstGeom prst="rect">
            <a:avLst/>
          </a:prstGeom>
          <a:noFill/>
          <a:ln/>
        </p:spPr>
        <p:txBody>
          <a:bodyPr wrap="square" lIns="0" tIns="0" rIns="0" bIns="0" rtlCol="0" anchor="ctr"/>
          <a:lstStyle/>
          <a:p>
            <a:pPr marL="0" indent="0">
              <a:buNone/>
            </a:pPr>
            <a:r>
              <a:rPr lang="en-US" sz="4400" b="1" dirty="0">
                <a:solidFill>
                  <a:srgbClr val="FFFFFF"/>
                </a:solidFill>
                <a:latin typeface="Arial" pitchFamily="34" charset="0"/>
                <a:ea typeface="Arial" pitchFamily="34" charset="-122"/>
                <a:cs typeface="Arial" pitchFamily="34" charset="-120"/>
              </a:rPr>
              <a:t>UML</a:t>
            </a:r>
            <a:endParaRPr lang="en-US" sz="4400" dirty="0"/>
          </a:p>
        </p:txBody>
      </p:sp>
      <p:sp>
        <p:nvSpPr>
          <p:cNvPr id="4" name="Text 2"/>
          <p:cNvSpPr txBox="1"/>
          <p:nvPr/>
        </p:nvSpPr>
        <p:spPr>
          <a:xfrm>
            <a:off x="640080" y="3840480"/>
            <a:ext cx="10911535" cy="731520"/>
          </a:xfrm>
          <a:prstGeom prst="rect">
            <a:avLst/>
          </a:prstGeom>
          <a:noFill/>
          <a:ln/>
        </p:spPr>
        <p:txBody>
          <a:bodyPr wrap="square" lIns="0" tIns="0" rIns="0" bIns="0" rtlCol="0" anchor="ctr"/>
          <a:lstStyle/>
          <a:p>
            <a:pPr marL="0" indent="0">
              <a:buNone/>
            </a:pPr>
            <a:r>
              <a:rPr lang="en-US" sz="2000" dirty="0">
                <a:solidFill>
                  <a:srgbClr val="C9CDD3"/>
                </a:solidFill>
                <a:latin typeface="Calibri" pitchFamily="34" charset="0"/>
                <a:ea typeface="Calibri" pitchFamily="34" charset="-122"/>
                <a:cs typeface="Calibri" pitchFamily="34" charset="-120"/>
              </a:rPr>
              <a:t>Le langage commun pour dessiner un logiciel</a:t>
            </a:r>
            <a:endParaRPr lang="en-US" sz="20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9AA0A8"/>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9AA0A8"/>
                </a:solidFill>
                <a:latin typeface="Calibri" pitchFamily="34" charset="0"/>
                <a:ea typeface="Calibri" pitchFamily="34" charset="-122"/>
                <a:cs typeface="Calibri" pitchFamily="34" charset="-120"/>
              </a:rPr>
              <a:t>52</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UML · HISTOIRE</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La guerre des méthodes, puis un standard</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53</a:t>
            </a:r>
            <a:endParaRPr lang="en-US" sz="1000" dirty="0"/>
          </a:p>
        </p:txBody>
      </p:sp>
      <p:pic>
        <p:nvPicPr>
          <p:cNvPr id="8" name="Image 0" descr="img/Grady_Booch.jpg"/>
          <p:cNvPicPr>
            <a:picLocks noChangeAspect="1"/>
          </p:cNvPicPr>
          <p:nvPr/>
        </p:nvPicPr>
        <p:blipFill>
          <a:blip r:embed="rId3"/>
          <a:stretch>
            <a:fillRect/>
          </a:stretch>
        </p:blipFill>
        <p:spPr>
          <a:xfrm>
            <a:off x="822960" y="1828800"/>
            <a:ext cx="1280160" cy="1280160"/>
          </a:xfrm>
          <a:prstGeom prst="ellipse">
            <a:avLst/>
          </a:prstGeom>
        </p:spPr>
      </p:pic>
      <p:sp>
        <p:nvSpPr>
          <p:cNvPr id="9" name="Text 5"/>
          <p:cNvSpPr txBox="1"/>
          <p:nvPr/>
        </p:nvSpPr>
        <p:spPr>
          <a:xfrm>
            <a:off x="640080" y="3200400"/>
            <a:ext cx="1645920" cy="365760"/>
          </a:xfrm>
          <a:prstGeom prst="rect">
            <a:avLst/>
          </a:prstGeom>
          <a:noFill/>
          <a:ln/>
        </p:spPr>
        <p:txBody>
          <a:bodyPr wrap="square" lIns="0" tIns="0" rIns="0" bIns="0" rtlCol="0" anchor="ctr"/>
          <a:lstStyle/>
          <a:p>
            <a:pPr marL="0" indent="0" algn="ctr">
              <a:buNone/>
            </a:pPr>
            <a:r>
              <a:rPr lang="en-US" sz="1400" b="1" dirty="0">
                <a:solidFill>
                  <a:srgbClr val="16181D"/>
                </a:solidFill>
                <a:latin typeface="Arial" pitchFamily="34" charset="0"/>
                <a:ea typeface="Arial" pitchFamily="34" charset="-122"/>
                <a:cs typeface="Arial" pitchFamily="34" charset="-120"/>
              </a:rPr>
              <a:t>Grady Booch</a:t>
            </a:r>
            <a:endParaRPr lang="en-US" sz="1400" dirty="0"/>
          </a:p>
        </p:txBody>
      </p:sp>
      <p:sp>
        <p:nvSpPr>
          <p:cNvPr id="10" name="Text 6"/>
          <p:cNvSpPr txBox="1"/>
          <p:nvPr/>
        </p:nvSpPr>
        <p:spPr>
          <a:xfrm>
            <a:off x="640080" y="3566160"/>
            <a:ext cx="1645920" cy="457200"/>
          </a:xfrm>
          <a:prstGeom prst="rect">
            <a:avLst/>
          </a:prstGeom>
          <a:noFill/>
          <a:ln/>
        </p:spPr>
        <p:txBody>
          <a:bodyPr wrap="square" lIns="0" tIns="0" rIns="0" bIns="0" rtlCol="0" anchor="t"/>
          <a:lstStyle/>
          <a:p>
            <a:pPr marL="0" indent="0" algn="ctr">
              <a:buNone/>
            </a:pPr>
            <a:r>
              <a:rPr lang="en-US" sz="1300" dirty="0">
                <a:solidFill>
                  <a:srgbClr val="5F6670"/>
                </a:solidFill>
                <a:latin typeface="Calibri" pitchFamily="34" charset="0"/>
                <a:ea typeface="Calibri" pitchFamily="34" charset="-122"/>
                <a:cs typeface="Calibri" pitchFamily="34" charset="-120"/>
              </a:rPr>
              <a:t>Méthode Booch</a:t>
            </a:r>
            <a:endParaRPr lang="en-US" sz="1300" dirty="0"/>
          </a:p>
        </p:txBody>
      </p:sp>
      <p:sp>
        <p:nvSpPr>
          <p:cNvPr id="11" name="Shape 7"/>
          <p:cNvSpPr/>
          <p:nvPr/>
        </p:nvSpPr>
        <p:spPr>
          <a:xfrm>
            <a:off x="2743200" y="1828800"/>
            <a:ext cx="1280160" cy="1280160"/>
          </a:xfrm>
          <a:prstGeom prst="ellipse">
            <a:avLst/>
          </a:prstGeom>
          <a:solidFill>
            <a:srgbClr val="D9DCE1"/>
          </a:solidFill>
          <a:ln w="12700">
            <a:solidFill>
              <a:srgbClr val="D9DCE1"/>
            </a:solidFill>
            <a:prstDash val="solid"/>
          </a:ln>
        </p:spPr>
        <p:txBody>
          <a:bodyPr/>
          <a:lstStyle/>
          <a:p>
            <a:endParaRPr lang="fr-BE"/>
          </a:p>
        </p:txBody>
      </p:sp>
      <p:sp>
        <p:nvSpPr>
          <p:cNvPr id="12" name="Text 8"/>
          <p:cNvSpPr txBox="1"/>
          <p:nvPr/>
        </p:nvSpPr>
        <p:spPr>
          <a:xfrm>
            <a:off x="2743200" y="1828800"/>
            <a:ext cx="1280160" cy="1280160"/>
          </a:xfrm>
          <a:prstGeom prst="rect">
            <a:avLst/>
          </a:prstGeom>
          <a:noFill/>
          <a:ln/>
        </p:spPr>
        <p:txBody>
          <a:bodyPr wrap="square" lIns="0" tIns="0" rIns="0" bIns="0" rtlCol="0" anchor="ctr"/>
          <a:lstStyle/>
          <a:p>
            <a:pPr marL="0" indent="0" algn="ctr">
              <a:buNone/>
            </a:pPr>
            <a:r>
              <a:rPr lang="en-US" sz="2200" b="1" dirty="0">
                <a:solidFill>
                  <a:srgbClr val="5F6670"/>
                </a:solidFill>
                <a:latin typeface="Arial" pitchFamily="34" charset="0"/>
                <a:ea typeface="Arial" pitchFamily="34" charset="-122"/>
                <a:cs typeface="Arial" pitchFamily="34" charset="-120"/>
              </a:rPr>
              <a:t>JR</a:t>
            </a:r>
            <a:endParaRPr lang="en-US" sz="2200" dirty="0"/>
          </a:p>
        </p:txBody>
      </p:sp>
      <p:sp>
        <p:nvSpPr>
          <p:cNvPr id="13" name="Text 9"/>
          <p:cNvSpPr txBox="1"/>
          <p:nvPr/>
        </p:nvSpPr>
        <p:spPr>
          <a:xfrm>
            <a:off x="2560320" y="3200400"/>
            <a:ext cx="1645920" cy="365760"/>
          </a:xfrm>
          <a:prstGeom prst="rect">
            <a:avLst/>
          </a:prstGeom>
          <a:noFill/>
          <a:ln/>
        </p:spPr>
        <p:txBody>
          <a:bodyPr wrap="square" lIns="0" tIns="0" rIns="0" bIns="0" rtlCol="0" anchor="ctr"/>
          <a:lstStyle/>
          <a:p>
            <a:pPr marL="0" indent="0" algn="ctr">
              <a:buNone/>
            </a:pPr>
            <a:r>
              <a:rPr lang="en-US" sz="1400" b="1" dirty="0">
                <a:solidFill>
                  <a:srgbClr val="16181D"/>
                </a:solidFill>
                <a:latin typeface="Arial" pitchFamily="34" charset="0"/>
                <a:ea typeface="Arial" pitchFamily="34" charset="-122"/>
                <a:cs typeface="Arial" pitchFamily="34" charset="-120"/>
              </a:rPr>
              <a:t>James Rumbaugh</a:t>
            </a:r>
            <a:endParaRPr lang="en-US" sz="1400" dirty="0"/>
          </a:p>
        </p:txBody>
      </p:sp>
      <p:sp>
        <p:nvSpPr>
          <p:cNvPr id="14" name="Text 10"/>
          <p:cNvSpPr txBox="1"/>
          <p:nvPr/>
        </p:nvSpPr>
        <p:spPr>
          <a:xfrm>
            <a:off x="2560320" y="3566160"/>
            <a:ext cx="1645920" cy="457200"/>
          </a:xfrm>
          <a:prstGeom prst="rect">
            <a:avLst/>
          </a:prstGeom>
          <a:noFill/>
          <a:ln/>
        </p:spPr>
        <p:txBody>
          <a:bodyPr wrap="square" lIns="0" tIns="0" rIns="0" bIns="0" rtlCol="0" anchor="t"/>
          <a:lstStyle/>
          <a:p>
            <a:pPr marL="0" indent="0" algn="ctr">
              <a:buNone/>
            </a:pPr>
            <a:r>
              <a:rPr lang="en-US" sz="1300" dirty="0">
                <a:solidFill>
                  <a:srgbClr val="5F6670"/>
                </a:solidFill>
                <a:latin typeface="Calibri" pitchFamily="34" charset="0"/>
                <a:ea typeface="Calibri" pitchFamily="34" charset="-122"/>
                <a:cs typeface="Calibri" pitchFamily="34" charset="-120"/>
              </a:rPr>
              <a:t>OMT</a:t>
            </a:r>
            <a:endParaRPr lang="en-US" sz="1300" dirty="0"/>
          </a:p>
        </p:txBody>
      </p:sp>
      <p:pic>
        <p:nvPicPr>
          <p:cNvPr id="15" name="Image 1" descr="img/Ivar_Jacobson.jpg"/>
          <p:cNvPicPr>
            <a:picLocks noChangeAspect="1"/>
          </p:cNvPicPr>
          <p:nvPr/>
        </p:nvPicPr>
        <p:blipFill>
          <a:blip r:embed="rId4"/>
          <a:stretch>
            <a:fillRect/>
          </a:stretch>
        </p:blipFill>
        <p:spPr>
          <a:xfrm>
            <a:off x="4663440" y="1828800"/>
            <a:ext cx="1280160" cy="1280160"/>
          </a:xfrm>
          <a:prstGeom prst="ellipse">
            <a:avLst/>
          </a:prstGeom>
        </p:spPr>
      </p:pic>
      <p:sp>
        <p:nvSpPr>
          <p:cNvPr id="16" name="Text 11"/>
          <p:cNvSpPr txBox="1"/>
          <p:nvPr/>
        </p:nvSpPr>
        <p:spPr>
          <a:xfrm>
            <a:off x="4480560" y="3200400"/>
            <a:ext cx="1645920" cy="365760"/>
          </a:xfrm>
          <a:prstGeom prst="rect">
            <a:avLst/>
          </a:prstGeom>
          <a:noFill/>
          <a:ln/>
        </p:spPr>
        <p:txBody>
          <a:bodyPr wrap="square" lIns="0" tIns="0" rIns="0" bIns="0" rtlCol="0" anchor="ctr"/>
          <a:lstStyle/>
          <a:p>
            <a:pPr marL="0" indent="0" algn="ctr">
              <a:buNone/>
            </a:pPr>
            <a:r>
              <a:rPr lang="en-US" sz="1400" b="1" dirty="0">
                <a:solidFill>
                  <a:srgbClr val="16181D"/>
                </a:solidFill>
                <a:latin typeface="Arial" pitchFamily="34" charset="0"/>
                <a:ea typeface="Arial" pitchFamily="34" charset="-122"/>
                <a:cs typeface="Arial" pitchFamily="34" charset="-120"/>
              </a:rPr>
              <a:t>Ivar Jacobson</a:t>
            </a:r>
            <a:endParaRPr lang="en-US" sz="1400" dirty="0"/>
          </a:p>
        </p:txBody>
      </p:sp>
      <p:sp>
        <p:nvSpPr>
          <p:cNvPr id="17" name="Text 12"/>
          <p:cNvSpPr txBox="1"/>
          <p:nvPr/>
        </p:nvSpPr>
        <p:spPr>
          <a:xfrm>
            <a:off x="4480560" y="3566160"/>
            <a:ext cx="1645920" cy="457200"/>
          </a:xfrm>
          <a:prstGeom prst="rect">
            <a:avLst/>
          </a:prstGeom>
          <a:noFill/>
          <a:ln/>
        </p:spPr>
        <p:txBody>
          <a:bodyPr wrap="square" lIns="0" tIns="0" rIns="0" bIns="0" rtlCol="0" anchor="t"/>
          <a:lstStyle/>
          <a:p>
            <a:pPr marL="0" indent="0" algn="ctr">
              <a:buNone/>
            </a:pPr>
            <a:r>
              <a:rPr lang="en-US" sz="1300" dirty="0">
                <a:solidFill>
                  <a:srgbClr val="5F6670"/>
                </a:solidFill>
                <a:latin typeface="Calibri" pitchFamily="34" charset="0"/>
                <a:ea typeface="Calibri" pitchFamily="34" charset="-122"/>
                <a:cs typeface="Calibri" pitchFamily="34" charset="-120"/>
              </a:rPr>
              <a:t>OOSE, cas d'utilisation</a:t>
            </a:r>
            <a:endParaRPr lang="en-US" sz="1300" dirty="0"/>
          </a:p>
        </p:txBody>
      </p:sp>
      <p:sp>
        <p:nvSpPr>
          <p:cNvPr id="18" name="Text 13"/>
          <p:cNvSpPr txBox="1"/>
          <p:nvPr/>
        </p:nvSpPr>
        <p:spPr>
          <a:xfrm>
            <a:off x="640080" y="4160520"/>
            <a:ext cx="5669280" cy="365760"/>
          </a:xfrm>
          <a:prstGeom prst="rect">
            <a:avLst/>
          </a:prstGeom>
          <a:noFill/>
          <a:ln/>
        </p:spPr>
        <p:txBody>
          <a:bodyPr wrap="square" lIns="0" tIns="0" rIns="0" bIns="0" rtlCol="0" anchor="ctr"/>
          <a:lstStyle/>
          <a:p>
            <a:pPr marL="0" indent="0">
              <a:buNone/>
            </a:pPr>
            <a:r>
              <a:rPr lang="en-US" sz="1400" i="1" dirty="0">
                <a:solidFill>
                  <a:srgbClr val="5F6670"/>
                </a:solidFill>
                <a:latin typeface="Calibri" pitchFamily="34" charset="0"/>
                <a:ea typeface="Calibri" pitchFamily="34" charset="-122"/>
                <a:cs typeface="Calibri" pitchFamily="34" charset="-120"/>
              </a:rPr>
              <a:t>Les « Three Amigos », réunis chez Rational Software en 1994-1995.</a:t>
            </a:r>
            <a:endParaRPr lang="en-US" sz="1400" dirty="0"/>
          </a:p>
        </p:txBody>
      </p:sp>
      <p:sp>
        <p:nvSpPr>
          <p:cNvPr id="19" name="Shape 14"/>
          <p:cNvSpPr/>
          <p:nvPr/>
        </p:nvSpPr>
        <p:spPr>
          <a:xfrm>
            <a:off x="6675120" y="1892808"/>
            <a:ext cx="256032" cy="256032"/>
          </a:xfrm>
          <a:prstGeom prst="ellipse">
            <a:avLst/>
          </a:prstGeom>
          <a:solidFill>
            <a:srgbClr val="16181D"/>
          </a:solidFill>
          <a:ln w="12700">
            <a:solidFill>
              <a:srgbClr val="16181D"/>
            </a:solidFill>
            <a:prstDash val="solid"/>
          </a:ln>
        </p:spPr>
        <p:txBody>
          <a:bodyPr/>
          <a:lstStyle/>
          <a:p>
            <a:endParaRPr lang="fr-BE"/>
          </a:p>
        </p:txBody>
      </p:sp>
      <p:sp>
        <p:nvSpPr>
          <p:cNvPr id="20" name="Text 15"/>
          <p:cNvSpPr txBox="1"/>
          <p:nvPr/>
        </p:nvSpPr>
        <p:spPr>
          <a:xfrm>
            <a:off x="7132320" y="1783080"/>
            <a:ext cx="1463040" cy="457200"/>
          </a:xfrm>
          <a:prstGeom prst="rect">
            <a:avLst/>
          </a:prstGeom>
          <a:noFill/>
          <a:ln/>
        </p:spPr>
        <p:txBody>
          <a:bodyPr wrap="square" lIns="0" tIns="0" rIns="0" bIns="0" rtlCol="0" anchor="ctr"/>
          <a:lstStyle/>
          <a:p>
            <a:pPr marL="0" indent="0">
              <a:buNone/>
            </a:pPr>
            <a:r>
              <a:rPr lang="en-US" sz="1700" b="1" dirty="0">
                <a:solidFill>
                  <a:srgbClr val="16181D"/>
                </a:solidFill>
                <a:latin typeface="Arial" pitchFamily="34" charset="0"/>
                <a:ea typeface="Arial" pitchFamily="34" charset="-122"/>
                <a:cs typeface="Arial" pitchFamily="34" charset="-120"/>
              </a:rPr>
              <a:t>1990-1994</a:t>
            </a:r>
            <a:endParaRPr lang="en-US" sz="1700" dirty="0"/>
          </a:p>
        </p:txBody>
      </p:sp>
      <p:sp>
        <p:nvSpPr>
          <p:cNvPr id="21" name="Text 16"/>
          <p:cNvSpPr txBox="1"/>
          <p:nvPr/>
        </p:nvSpPr>
        <p:spPr>
          <a:xfrm>
            <a:off x="8595360" y="1783080"/>
            <a:ext cx="3017520" cy="457200"/>
          </a:xfrm>
          <a:prstGeom prst="rect">
            <a:avLst/>
          </a:prstGeom>
          <a:noFill/>
          <a:ln/>
        </p:spPr>
        <p:txBody>
          <a:bodyPr wrap="square" lIns="0" tIns="0" rIns="0" bIns="0" rtlCol="0" anchor="ctr"/>
          <a:lstStyle/>
          <a:p>
            <a:pPr marL="0" indent="0">
              <a:buNone/>
            </a:pPr>
            <a:r>
              <a:rPr lang="en-US" sz="1500" dirty="0">
                <a:solidFill>
                  <a:srgbClr val="16181D"/>
                </a:solidFill>
                <a:latin typeface="Calibri" pitchFamily="34" charset="0"/>
                <a:ea typeface="Calibri" pitchFamily="34" charset="-122"/>
                <a:cs typeface="Calibri" pitchFamily="34" charset="-120"/>
              </a:rPr>
              <a:t>Des dizaines de méthodes concurrentes</a:t>
            </a:r>
            <a:endParaRPr lang="en-US" sz="1500" dirty="0"/>
          </a:p>
        </p:txBody>
      </p:sp>
      <p:sp>
        <p:nvSpPr>
          <p:cNvPr id="22" name="Shape 17"/>
          <p:cNvSpPr/>
          <p:nvPr/>
        </p:nvSpPr>
        <p:spPr>
          <a:xfrm>
            <a:off x="6675120" y="2670048"/>
            <a:ext cx="256032" cy="256032"/>
          </a:xfrm>
          <a:prstGeom prst="ellipse">
            <a:avLst/>
          </a:prstGeom>
          <a:solidFill>
            <a:srgbClr val="16181D"/>
          </a:solidFill>
          <a:ln w="12700">
            <a:solidFill>
              <a:srgbClr val="16181D"/>
            </a:solidFill>
            <a:prstDash val="solid"/>
          </a:ln>
        </p:spPr>
        <p:txBody>
          <a:bodyPr/>
          <a:lstStyle/>
          <a:p>
            <a:endParaRPr lang="fr-BE"/>
          </a:p>
        </p:txBody>
      </p:sp>
      <p:sp>
        <p:nvSpPr>
          <p:cNvPr id="23" name="Text 18"/>
          <p:cNvSpPr txBox="1"/>
          <p:nvPr/>
        </p:nvSpPr>
        <p:spPr>
          <a:xfrm>
            <a:off x="7132320" y="2560320"/>
            <a:ext cx="1463040" cy="457200"/>
          </a:xfrm>
          <a:prstGeom prst="rect">
            <a:avLst/>
          </a:prstGeom>
          <a:noFill/>
          <a:ln/>
        </p:spPr>
        <p:txBody>
          <a:bodyPr wrap="square" lIns="0" tIns="0" rIns="0" bIns="0" rtlCol="0" anchor="ctr"/>
          <a:lstStyle/>
          <a:p>
            <a:pPr marL="0" indent="0">
              <a:buNone/>
            </a:pPr>
            <a:r>
              <a:rPr lang="en-US" sz="1700" b="1" dirty="0">
                <a:solidFill>
                  <a:srgbClr val="16181D"/>
                </a:solidFill>
                <a:latin typeface="Arial" pitchFamily="34" charset="0"/>
                <a:ea typeface="Arial" pitchFamily="34" charset="-122"/>
                <a:cs typeface="Arial" pitchFamily="34" charset="-120"/>
              </a:rPr>
              <a:t>1997</a:t>
            </a:r>
            <a:endParaRPr lang="en-US" sz="1700" dirty="0"/>
          </a:p>
        </p:txBody>
      </p:sp>
      <p:sp>
        <p:nvSpPr>
          <p:cNvPr id="24" name="Text 19"/>
          <p:cNvSpPr txBox="1"/>
          <p:nvPr/>
        </p:nvSpPr>
        <p:spPr>
          <a:xfrm>
            <a:off x="8595360" y="2560320"/>
            <a:ext cx="3017520" cy="457200"/>
          </a:xfrm>
          <a:prstGeom prst="rect">
            <a:avLst/>
          </a:prstGeom>
          <a:noFill/>
          <a:ln/>
        </p:spPr>
        <p:txBody>
          <a:bodyPr wrap="square" lIns="0" tIns="0" rIns="0" bIns="0" rtlCol="0" anchor="ctr"/>
          <a:lstStyle/>
          <a:p>
            <a:pPr marL="0" indent="0">
              <a:buNone/>
            </a:pPr>
            <a:r>
              <a:rPr lang="en-US" sz="1500" dirty="0">
                <a:solidFill>
                  <a:srgbClr val="16181D"/>
                </a:solidFill>
                <a:latin typeface="Calibri" pitchFamily="34" charset="0"/>
                <a:ea typeface="Calibri" pitchFamily="34" charset="-122"/>
                <a:cs typeface="Calibri" pitchFamily="34" charset="-120"/>
              </a:rPr>
              <a:t>UML 1.1 adopté par l'OMG</a:t>
            </a:r>
            <a:endParaRPr lang="en-US" sz="1500" dirty="0"/>
          </a:p>
        </p:txBody>
      </p:sp>
      <p:sp>
        <p:nvSpPr>
          <p:cNvPr id="25" name="Shape 20"/>
          <p:cNvSpPr/>
          <p:nvPr/>
        </p:nvSpPr>
        <p:spPr>
          <a:xfrm>
            <a:off x="6675120" y="3447288"/>
            <a:ext cx="256032" cy="256032"/>
          </a:xfrm>
          <a:prstGeom prst="ellipse">
            <a:avLst/>
          </a:prstGeom>
          <a:solidFill>
            <a:srgbClr val="16181D"/>
          </a:solidFill>
          <a:ln w="12700">
            <a:solidFill>
              <a:srgbClr val="16181D"/>
            </a:solidFill>
            <a:prstDash val="solid"/>
          </a:ln>
        </p:spPr>
        <p:txBody>
          <a:bodyPr/>
          <a:lstStyle/>
          <a:p>
            <a:endParaRPr lang="fr-BE"/>
          </a:p>
        </p:txBody>
      </p:sp>
      <p:sp>
        <p:nvSpPr>
          <p:cNvPr id="26" name="Text 21"/>
          <p:cNvSpPr txBox="1"/>
          <p:nvPr/>
        </p:nvSpPr>
        <p:spPr>
          <a:xfrm>
            <a:off x="7132320" y="3337560"/>
            <a:ext cx="1463040" cy="457200"/>
          </a:xfrm>
          <a:prstGeom prst="rect">
            <a:avLst/>
          </a:prstGeom>
          <a:noFill/>
          <a:ln/>
        </p:spPr>
        <p:txBody>
          <a:bodyPr wrap="square" lIns="0" tIns="0" rIns="0" bIns="0" rtlCol="0" anchor="ctr"/>
          <a:lstStyle/>
          <a:p>
            <a:pPr marL="0" indent="0">
              <a:buNone/>
            </a:pPr>
            <a:r>
              <a:rPr lang="en-US" sz="1700" b="1" dirty="0">
                <a:solidFill>
                  <a:srgbClr val="16181D"/>
                </a:solidFill>
                <a:latin typeface="Arial" pitchFamily="34" charset="0"/>
                <a:ea typeface="Arial" pitchFamily="34" charset="-122"/>
                <a:cs typeface="Arial" pitchFamily="34" charset="-120"/>
              </a:rPr>
              <a:t>2005</a:t>
            </a:r>
            <a:endParaRPr lang="en-US" sz="1700" dirty="0"/>
          </a:p>
        </p:txBody>
      </p:sp>
      <p:sp>
        <p:nvSpPr>
          <p:cNvPr id="27" name="Text 22"/>
          <p:cNvSpPr txBox="1"/>
          <p:nvPr/>
        </p:nvSpPr>
        <p:spPr>
          <a:xfrm>
            <a:off x="8595360" y="3337560"/>
            <a:ext cx="3017520" cy="457200"/>
          </a:xfrm>
          <a:prstGeom prst="rect">
            <a:avLst/>
          </a:prstGeom>
          <a:noFill/>
          <a:ln/>
        </p:spPr>
        <p:txBody>
          <a:bodyPr wrap="square" lIns="0" tIns="0" rIns="0" bIns="0" rtlCol="0" anchor="ctr"/>
          <a:lstStyle/>
          <a:p>
            <a:pPr marL="0" indent="0">
              <a:buNone/>
            </a:pPr>
            <a:r>
              <a:rPr lang="en-US" sz="1500" dirty="0">
                <a:solidFill>
                  <a:srgbClr val="16181D"/>
                </a:solidFill>
                <a:latin typeface="Calibri" pitchFamily="34" charset="0"/>
                <a:ea typeface="Calibri" pitchFamily="34" charset="-122"/>
                <a:cs typeface="Calibri" pitchFamily="34" charset="-120"/>
              </a:rPr>
              <a:t>UML 2.0</a:t>
            </a:r>
            <a:endParaRPr lang="en-US" sz="1500" dirty="0"/>
          </a:p>
        </p:txBody>
      </p:sp>
      <p:sp>
        <p:nvSpPr>
          <p:cNvPr id="28" name="Shape 23"/>
          <p:cNvSpPr/>
          <p:nvPr/>
        </p:nvSpPr>
        <p:spPr>
          <a:xfrm>
            <a:off x="6675120" y="4224528"/>
            <a:ext cx="256032" cy="256032"/>
          </a:xfrm>
          <a:prstGeom prst="ellipse">
            <a:avLst/>
          </a:prstGeom>
          <a:solidFill>
            <a:srgbClr val="16181D"/>
          </a:solidFill>
          <a:ln w="12700">
            <a:solidFill>
              <a:srgbClr val="16181D"/>
            </a:solidFill>
            <a:prstDash val="solid"/>
          </a:ln>
        </p:spPr>
        <p:txBody>
          <a:bodyPr/>
          <a:lstStyle/>
          <a:p>
            <a:endParaRPr lang="fr-BE"/>
          </a:p>
        </p:txBody>
      </p:sp>
      <p:sp>
        <p:nvSpPr>
          <p:cNvPr id="29" name="Text 24"/>
          <p:cNvSpPr txBox="1"/>
          <p:nvPr/>
        </p:nvSpPr>
        <p:spPr>
          <a:xfrm>
            <a:off x="7132320" y="4114800"/>
            <a:ext cx="1463040" cy="457200"/>
          </a:xfrm>
          <a:prstGeom prst="rect">
            <a:avLst/>
          </a:prstGeom>
          <a:noFill/>
          <a:ln/>
        </p:spPr>
        <p:txBody>
          <a:bodyPr wrap="square" lIns="0" tIns="0" rIns="0" bIns="0" rtlCol="0" anchor="ctr"/>
          <a:lstStyle/>
          <a:p>
            <a:pPr marL="0" indent="0">
              <a:buNone/>
            </a:pPr>
            <a:r>
              <a:rPr lang="en-US" sz="1700" b="1" dirty="0">
                <a:solidFill>
                  <a:srgbClr val="16181D"/>
                </a:solidFill>
                <a:latin typeface="Arial" pitchFamily="34" charset="0"/>
                <a:ea typeface="Arial" pitchFamily="34" charset="-122"/>
                <a:cs typeface="Arial" pitchFamily="34" charset="-120"/>
              </a:rPr>
              <a:t>2012</a:t>
            </a:r>
            <a:endParaRPr lang="en-US" sz="1700" dirty="0"/>
          </a:p>
        </p:txBody>
      </p:sp>
      <p:sp>
        <p:nvSpPr>
          <p:cNvPr id="30" name="Text 25"/>
          <p:cNvSpPr txBox="1"/>
          <p:nvPr/>
        </p:nvSpPr>
        <p:spPr>
          <a:xfrm>
            <a:off x="8595360" y="4114800"/>
            <a:ext cx="3017520" cy="457200"/>
          </a:xfrm>
          <a:prstGeom prst="rect">
            <a:avLst/>
          </a:prstGeom>
          <a:noFill/>
          <a:ln/>
        </p:spPr>
        <p:txBody>
          <a:bodyPr wrap="square" lIns="0" tIns="0" rIns="0" bIns="0" rtlCol="0" anchor="ctr"/>
          <a:lstStyle/>
          <a:p>
            <a:pPr marL="0" indent="0">
              <a:buNone/>
            </a:pPr>
            <a:r>
              <a:rPr lang="en-US" sz="1500" dirty="0">
                <a:solidFill>
                  <a:srgbClr val="16181D"/>
                </a:solidFill>
                <a:latin typeface="Calibri" pitchFamily="34" charset="0"/>
                <a:ea typeface="Calibri" pitchFamily="34" charset="-122"/>
                <a:cs typeface="Calibri" pitchFamily="34" charset="-120"/>
              </a:rPr>
              <a:t>Norme ISO/IEC 19505</a:t>
            </a:r>
            <a:endParaRPr lang="en-US" sz="1500" dirty="0"/>
          </a:p>
        </p:txBody>
      </p:sp>
      <p:sp>
        <p:nvSpPr>
          <p:cNvPr id="31" name="Shape 26"/>
          <p:cNvSpPr/>
          <p:nvPr/>
        </p:nvSpPr>
        <p:spPr>
          <a:xfrm>
            <a:off x="6675120" y="5001768"/>
            <a:ext cx="256032" cy="256032"/>
          </a:xfrm>
          <a:prstGeom prst="ellipse">
            <a:avLst/>
          </a:prstGeom>
          <a:solidFill>
            <a:srgbClr val="E8590C"/>
          </a:solidFill>
          <a:ln w="12700">
            <a:solidFill>
              <a:srgbClr val="E8590C"/>
            </a:solidFill>
            <a:prstDash val="solid"/>
          </a:ln>
        </p:spPr>
        <p:txBody>
          <a:bodyPr/>
          <a:lstStyle/>
          <a:p>
            <a:endParaRPr lang="fr-BE"/>
          </a:p>
        </p:txBody>
      </p:sp>
      <p:sp>
        <p:nvSpPr>
          <p:cNvPr id="32" name="Text 27"/>
          <p:cNvSpPr txBox="1"/>
          <p:nvPr/>
        </p:nvSpPr>
        <p:spPr>
          <a:xfrm>
            <a:off x="7132320" y="4892040"/>
            <a:ext cx="1463040" cy="457200"/>
          </a:xfrm>
          <a:prstGeom prst="rect">
            <a:avLst/>
          </a:prstGeom>
          <a:noFill/>
          <a:ln/>
        </p:spPr>
        <p:txBody>
          <a:bodyPr wrap="square" lIns="0" tIns="0" rIns="0" bIns="0" rtlCol="0" anchor="ctr"/>
          <a:lstStyle/>
          <a:p>
            <a:pPr marL="0" indent="0">
              <a:buNone/>
            </a:pPr>
            <a:r>
              <a:rPr lang="en-US" sz="1700" b="1" dirty="0">
                <a:solidFill>
                  <a:srgbClr val="E8590C"/>
                </a:solidFill>
                <a:latin typeface="Arial" pitchFamily="34" charset="0"/>
                <a:ea typeface="Arial" pitchFamily="34" charset="-122"/>
                <a:cs typeface="Arial" pitchFamily="34" charset="-120"/>
              </a:rPr>
              <a:t>2017</a:t>
            </a:r>
            <a:endParaRPr lang="en-US" sz="1700" dirty="0"/>
          </a:p>
        </p:txBody>
      </p:sp>
      <p:sp>
        <p:nvSpPr>
          <p:cNvPr id="33" name="Text 28"/>
          <p:cNvSpPr txBox="1"/>
          <p:nvPr/>
        </p:nvSpPr>
        <p:spPr>
          <a:xfrm>
            <a:off x="8595360" y="4892040"/>
            <a:ext cx="3017520" cy="457200"/>
          </a:xfrm>
          <a:prstGeom prst="rect">
            <a:avLst/>
          </a:prstGeom>
          <a:noFill/>
          <a:ln/>
        </p:spPr>
        <p:txBody>
          <a:bodyPr wrap="square" lIns="0" tIns="0" rIns="0" bIns="0" rtlCol="0" anchor="ctr"/>
          <a:lstStyle/>
          <a:p>
            <a:pPr marL="0" indent="0">
              <a:buNone/>
            </a:pPr>
            <a:r>
              <a:rPr lang="en-US" sz="1500" dirty="0">
                <a:solidFill>
                  <a:srgbClr val="16181D"/>
                </a:solidFill>
                <a:latin typeface="Calibri" pitchFamily="34" charset="0"/>
                <a:ea typeface="Calibri" pitchFamily="34" charset="-122"/>
                <a:cs typeface="Calibri" pitchFamily="34" charset="-120"/>
              </a:rPr>
              <a:t>UML 2.5.1, version actuelle</a:t>
            </a:r>
            <a:endParaRPr lang="en-US" sz="1500" dirty="0"/>
          </a:p>
        </p:txBody>
      </p:sp>
      <p:sp>
        <p:nvSpPr>
          <p:cNvPr id="34" name="Text 29"/>
          <p:cNvSpPr txBox="1"/>
          <p:nvPr/>
        </p:nvSpPr>
        <p:spPr>
          <a:xfrm>
            <a:off x="640080" y="5669280"/>
            <a:ext cx="10911535" cy="274320"/>
          </a:xfrm>
          <a:prstGeom prst="rect">
            <a:avLst/>
          </a:prstGeom>
          <a:noFill/>
          <a:ln/>
        </p:spPr>
        <p:txBody>
          <a:bodyPr wrap="square" lIns="0" tIns="0" rIns="0" bIns="0" rtlCol="0" anchor="ctr"/>
          <a:lstStyle/>
          <a:p>
            <a:pPr marL="0" indent="0">
              <a:buNone/>
            </a:pPr>
            <a:r>
              <a:rPr lang="en-US" sz="900" i="1" dirty="0">
                <a:solidFill>
                  <a:srgbClr val="5F6670"/>
                </a:solidFill>
                <a:latin typeface="Calibri" pitchFamily="34" charset="0"/>
                <a:ea typeface="Calibri" pitchFamily="34" charset="-122"/>
                <a:cs typeface="Calibri" pitchFamily="34" charset="-120"/>
              </a:rPr>
              <a:t>Photos Wikimedia Commons : vonguard / YMS (CC BY-SA 2.0), A. Pierantonio (CC BY-SA 2.0).</a:t>
            </a:r>
            <a:endParaRPr lang="en-US" sz="900" dirty="0"/>
          </a:p>
        </p:txBody>
      </p:sp>
      <p:sp>
        <p:nvSpPr>
          <p:cNvPr id="35" name="Text 30"/>
          <p:cNvSpPr txBox="1"/>
          <p:nvPr/>
        </p:nvSpPr>
        <p:spPr>
          <a:xfrm>
            <a:off x="640080" y="5989320"/>
            <a:ext cx="10911535" cy="320040"/>
          </a:xfrm>
          <a:prstGeom prst="rect">
            <a:avLst/>
          </a:prstGeom>
          <a:noFill/>
          <a:ln/>
        </p:spPr>
        <p:txBody>
          <a:bodyPr wrap="square" lIns="0" tIns="0" rIns="0" bIns="0" rtlCol="0" anchor="ctr"/>
          <a:lstStyle/>
          <a:p>
            <a:pPr marL="0" indent="0">
              <a:buNone/>
            </a:pPr>
            <a:r>
              <a:rPr lang="en-US" sz="1000" i="1" dirty="0">
                <a:solidFill>
                  <a:srgbClr val="5F6670"/>
                </a:solidFill>
                <a:latin typeface="Calibri" pitchFamily="34" charset="0"/>
                <a:ea typeface="Calibri" pitchFamily="34" charset="-122"/>
                <a:cs typeface="Calibri" pitchFamily="34" charset="-120"/>
              </a:rPr>
              <a:t>Source : Object Management Group, UML Specification, historique des versions (omg.org/spec/UML) ; ISO/IEC 19505-1/2:2012.</a:t>
            </a:r>
            <a:endParaRPr lang="en-US"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UML · LES DIAGRAMMES</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14 diagrammes. En pratique, on en utilise 4 ou 5.</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54</a:t>
            </a:r>
            <a:endParaRPr lang="en-US" sz="1000" dirty="0"/>
          </a:p>
        </p:txBody>
      </p:sp>
      <p:sp>
        <p:nvSpPr>
          <p:cNvPr id="8" name="Shape 5"/>
          <p:cNvSpPr/>
          <p:nvPr/>
        </p:nvSpPr>
        <p:spPr>
          <a:xfrm>
            <a:off x="640080" y="1783080"/>
            <a:ext cx="5303520" cy="822960"/>
          </a:xfrm>
          <a:prstGeom prst="roundRect">
            <a:avLst>
              <a:gd name="adj" fmla="val 8889"/>
            </a:avLst>
          </a:prstGeom>
          <a:solidFill>
            <a:srgbClr val="16181D"/>
          </a:solidFill>
          <a:ln w="12700">
            <a:solidFill>
              <a:srgbClr val="16181D"/>
            </a:solidFill>
            <a:prstDash val="solid"/>
          </a:ln>
        </p:spPr>
        <p:txBody>
          <a:bodyPr/>
          <a:lstStyle/>
          <a:p>
            <a:endParaRPr lang="fr-BE"/>
          </a:p>
        </p:txBody>
      </p:sp>
      <p:sp>
        <p:nvSpPr>
          <p:cNvPr id="9" name="Text 6"/>
          <p:cNvSpPr txBox="1"/>
          <p:nvPr/>
        </p:nvSpPr>
        <p:spPr>
          <a:xfrm>
            <a:off x="914400" y="1783080"/>
            <a:ext cx="4846320" cy="82296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Structure</a:t>
            </a:r>
            <a:r>
              <a:rPr lang="en-US" sz="1400" dirty="0">
                <a:solidFill>
                  <a:srgbClr val="C9CDD3"/>
                </a:solidFill>
                <a:latin typeface="Calibri" pitchFamily="34" charset="0"/>
                <a:ea typeface="Calibri" pitchFamily="34" charset="-122"/>
                <a:cs typeface="Calibri" pitchFamily="34" charset="-120"/>
              </a:rPr>
              <a:t>   ce que le système est</a:t>
            </a:r>
            <a:endParaRPr lang="en-US" sz="1900" dirty="0"/>
          </a:p>
        </p:txBody>
      </p:sp>
      <p:sp>
        <p:nvSpPr>
          <p:cNvPr id="10" name="Shape 7"/>
          <p:cNvSpPr/>
          <p:nvPr/>
        </p:nvSpPr>
        <p:spPr>
          <a:xfrm>
            <a:off x="640080" y="2743200"/>
            <a:ext cx="2606040" cy="594360"/>
          </a:xfrm>
          <a:prstGeom prst="roundRect">
            <a:avLst>
              <a:gd name="adj" fmla="val 12308"/>
            </a:avLst>
          </a:prstGeom>
          <a:solidFill>
            <a:srgbClr val="E8590C"/>
          </a:solidFill>
          <a:ln w="12700">
            <a:solidFill>
              <a:srgbClr val="E8590C"/>
            </a:solidFill>
            <a:prstDash val="solid"/>
          </a:ln>
        </p:spPr>
        <p:txBody>
          <a:bodyPr/>
          <a:lstStyle/>
          <a:p>
            <a:endParaRPr lang="fr-BE"/>
          </a:p>
        </p:txBody>
      </p:sp>
      <p:sp>
        <p:nvSpPr>
          <p:cNvPr id="11" name="Text 8"/>
          <p:cNvSpPr txBox="1"/>
          <p:nvPr/>
        </p:nvSpPr>
        <p:spPr>
          <a:xfrm>
            <a:off x="777240" y="2743200"/>
            <a:ext cx="2377440" cy="5943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Classes</a:t>
            </a:r>
            <a:endParaRPr lang="en-US" sz="1400" dirty="0"/>
          </a:p>
        </p:txBody>
      </p:sp>
      <p:sp>
        <p:nvSpPr>
          <p:cNvPr id="12" name="Shape 9"/>
          <p:cNvSpPr/>
          <p:nvPr/>
        </p:nvSpPr>
        <p:spPr>
          <a:xfrm>
            <a:off x="3337560" y="2743200"/>
            <a:ext cx="2606040" cy="594360"/>
          </a:xfrm>
          <a:prstGeom prst="roundRect">
            <a:avLst>
              <a:gd name="adj" fmla="val 12308"/>
            </a:avLst>
          </a:prstGeom>
          <a:solidFill>
            <a:srgbClr val="F2F3F5"/>
          </a:solidFill>
          <a:ln w="12700">
            <a:solidFill>
              <a:srgbClr val="F2F3F5"/>
            </a:solidFill>
            <a:prstDash val="solid"/>
          </a:ln>
        </p:spPr>
        <p:txBody>
          <a:bodyPr/>
          <a:lstStyle/>
          <a:p>
            <a:endParaRPr lang="fr-BE"/>
          </a:p>
        </p:txBody>
      </p:sp>
      <p:sp>
        <p:nvSpPr>
          <p:cNvPr id="13" name="Text 10"/>
          <p:cNvSpPr txBox="1"/>
          <p:nvPr/>
        </p:nvSpPr>
        <p:spPr>
          <a:xfrm>
            <a:off x="3474720" y="2743200"/>
            <a:ext cx="2377440" cy="594360"/>
          </a:xfrm>
          <a:prstGeom prst="rect">
            <a:avLst/>
          </a:prstGeom>
          <a:noFill/>
          <a:ln/>
        </p:spPr>
        <p:txBody>
          <a:bodyPr wrap="square" lIns="0" tIns="0" rIns="0" bIns="0" rtlCol="0" anchor="ctr"/>
          <a:lstStyle/>
          <a:p>
            <a:pPr marL="0" indent="0">
              <a:buNone/>
            </a:pPr>
            <a:r>
              <a:rPr lang="en-US" sz="1400" dirty="0">
                <a:solidFill>
                  <a:srgbClr val="5F6670"/>
                </a:solidFill>
                <a:latin typeface="Calibri" pitchFamily="34" charset="0"/>
                <a:ea typeface="Calibri" pitchFamily="34" charset="-122"/>
                <a:cs typeface="Calibri" pitchFamily="34" charset="-120"/>
              </a:rPr>
              <a:t>Objets</a:t>
            </a:r>
            <a:endParaRPr lang="en-US" sz="1400" dirty="0"/>
          </a:p>
        </p:txBody>
      </p:sp>
      <p:sp>
        <p:nvSpPr>
          <p:cNvPr id="14" name="Shape 11"/>
          <p:cNvSpPr/>
          <p:nvPr/>
        </p:nvSpPr>
        <p:spPr>
          <a:xfrm>
            <a:off x="640080" y="3474720"/>
            <a:ext cx="2606040" cy="594360"/>
          </a:xfrm>
          <a:prstGeom prst="roundRect">
            <a:avLst>
              <a:gd name="adj" fmla="val 12308"/>
            </a:avLst>
          </a:prstGeom>
          <a:solidFill>
            <a:srgbClr val="F2F3F5"/>
          </a:solidFill>
          <a:ln w="12700">
            <a:solidFill>
              <a:srgbClr val="F2F3F5"/>
            </a:solidFill>
            <a:prstDash val="solid"/>
          </a:ln>
        </p:spPr>
        <p:txBody>
          <a:bodyPr/>
          <a:lstStyle/>
          <a:p>
            <a:endParaRPr lang="fr-BE"/>
          </a:p>
        </p:txBody>
      </p:sp>
      <p:sp>
        <p:nvSpPr>
          <p:cNvPr id="15" name="Text 12"/>
          <p:cNvSpPr txBox="1"/>
          <p:nvPr/>
        </p:nvSpPr>
        <p:spPr>
          <a:xfrm>
            <a:off x="777240" y="3474720"/>
            <a:ext cx="2377440" cy="594360"/>
          </a:xfrm>
          <a:prstGeom prst="rect">
            <a:avLst/>
          </a:prstGeom>
          <a:noFill/>
          <a:ln/>
        </p:spPr>
        <p:txBody>
          <a:bodyPr wrap="square" lIns="0" tIns="0" rIns="0" bIns="0" rtlCol="0" anchor="ctr"/>
          <a:lstStyle/>
          <a:p>
            <a:pPr marL="0" indent="0">
              <a:buNone/>
            </a:pPr>
            <a:r>
              <a:rPr lang="en-US" sz="1400" dirty="0">
                <a:solidFill>
                  <a:srgbClr val="5F6670"/>
                </a:solidFill>
                <a:latin typeface="Calibri" pitchFamily="34" charset="0"/>
                <a:ea typeface="Calibri" pitchFamily="34" charset="-122"/>
                <a:cs typeface="Calibri" pitchFamily="34" charset="-120"/>
              </a:rPr>
              <a:t>Composants</a:t>
            </a:r>
            <a:endParaRPr lang="en-US" sz="1400" dirty="0"/>
          </a:p>
        </p:txBody>
      </p:sp>
      <p:sp>
        <p:nvSpPr>
          <p:cNvPr id="16" name="Shape 13"/>
          <p:cNvSpPr/>
          <p:nvPr/>
        </p:nvSpPr>
        <p:spPr>
          <a:xfrm>
            <a:off x="3337560" y="3474720"/>
            <a:ext cx="2606040" cy="594360"/>
          </a:xfrm>
          <a:prstGeom prst="roundRect">
            <a:avLst>
              <a:gd name="adj" fmla="val 12308"/>
            </a:avLst>
          </a:prstGeom>
          <a:solidFill>
            <a:srgbClr val="F2F3F5"/>
          </a:solidFill>
          <a:ln w="12700">
            <a:solidFill>
              <a:srgbClr val="F2F3F5"/>
            </a:solidFill>
            <a:prstDash val="solid"/>
          </a:ln>
        </p:spPr>
        <p:txBody>
          <a:bodyPr/>
          <a:lstStyle/>
          <a:p>
            <a:endParaRPr lang="fr-BE"/>
          </a:p>
        </p:txBody>
      </p:sp>
      <p:sp>
        <p:nvSpPr>
          <p:cNvPr id="17" name="Text 14"/>
          <p:cNvSpPr txBox="1"/>
          <p:nvPr/>
        </p:nvSpPr>
        <p:spPr>
          <a:xfrm>
            <a:off x="3474720" y="3474720"/>
            <a:ext cx="2377440" cy="594360"/>
          </a:xfrm>
          <a:prstGeom prst="rect">
            <a:avLst/>
          </a:prstGeom>
          <a:noFill/>
          <a:ln/>
        </p:spPr>
        <p:txBody>
          <a:bodyPr wrap="square" lIns="0" tIns="0" rIns="0" bIns="0" rtlCol="0" anchor="ctr"/>
          <a:lstStyle/>
          <a:p>
            <a:pPr marL="0" indent="0">
              <a:buNone/>
            </a:pPr>
            <a:r>
              <a:rPr lang="en-US" sz="1400" dirty="0">
                <a:solidFill>
                  <a:srgbClr val="5F6670"/>
                </a:solidFill>
                <a:latin typeface="Calibri" pitchFamily="34" charset="0"/>
                <a:ea typeface="Calibri" pitchFamily="34" charset="-122"/>
                <a:cs typeface="Calibri" pitchFamily="34" charset="-120"/>
              </a:rPr>
              <a:t>Déploiement</a:t>
            </a:r>
            <a:endParaRPr lang="en-US" sz="1400" dirty="0"/>
          </a:p>
        </p:txBody>
      </p:sp>
      <p:sp>
        <p:nvSpPr>
          <p:cNvPr id="18" name="Shape 15"/>
          <p:cNvSpPr/>
          <p:nvPr/>
        </p:nvSpPr>
        <p:spPr>
          <a:xfrm>
            <a:off x="640080" y="4206240"/>
            <a:ext cx="2606040" cy="594360"/>
          </a:xfrm>
          <a:prstGeom prst="roundRect">
            <a:avLst>
              <a:gd name="adj" fmla="val 12308"/>
            </a:avLst>
          </a:prstGeom>
          <a:solidFill>
            <a:srgbClr val="F2F3F5"/>
          </a:solidFill>
          <a:ln w="12700">
            <a:solidFill>
              <a:srgbClr val="F2F3F5"/>
            </a:solidFill>
            <a:prstDash val="solid"/>
          </a:ln>
        </p:spPr>
        <p:txBody>
          <a:bodyPr/>
          <a:lstStyle/>
          <a:p>
            <a:endParaRPr lang="fr-BE"/>
          </a:p>
        </p:txBody>
      </p:sp>
      <p:sp>
        <p:nvSpPr>
          <p:cNvPr id="19" name="Text 16"/>
          <p:cNvSpPr txBox="1"/>
          <p:nvPr/>
        </p:nvSpPr>
        <p:spPr>
          <a:xfrm>
            <a:off x="777240" y="4206240"/>
            <a:ext cx="2377440" cy="594360"/>
          </a:xfrm>
          <a:prstGeom prst="rect">
            <a:avLst/>
          </a:prstGeom>
          <a:noFill/>
          <a:ln/>
        </p:spPr>
        <p:txBody>
          <a:bodyPr wrap="square" lIns="0" tIns="0" rIns="0" bIns="0" rtlCol="0" anchor="ctr"/>
          <a:lstStyle/>
          <a:p>
            <a:pPr marL="0" indent="0">
              <a:buNone/>
            </a:pPr>
            <a:r>
              <a:rPr lang="en-US" sz="1400" dirty="0">
                <a:solidFill>
                  <a:srgbClr val="5F6670"/>
                </a:solidFill>
                <a:latin typeface="Calibri" pitchFamily="34" charset="0"/>
                <a:ea typeface="Calibri" pitchFamily="34" charset="-122"/>
                <a:cs typeface="Calibri" pitchFamily="34" charset="-120"/>
              </a:rPr>
              <a:t>Paquetages</a:t>
            </a:r>
            <a:endParaRPr lang="en-US" sz="1400" dirty="0"/>
          </a:p>
        </p:txBody>
      </p:sp>
      <p:sp>
        <p:nvSpPr>
          <p:cNvPr id="20" name="Shape 17"/>
          <p:cNvSpPr/>
          <p:nvPr/>
        </p:nvSpPr>
        <p:spPr>
          <a:xfrm>
            <a:off x="3337560" y="4206240"/>
            <a:ext cx="2606040" cy="594360"/>
          </a:xfrm>
          <a:prstGeom prst="roundRect">
            <a:avLst>
              <a:gd name="adj" fmla="val 12308"/>
            </a:avLst>
          </a:prstGeom>
          <a:solidFill>
            <a:srgbClr val="F2F3F5"/>
          </a:solidFill>
          <a:ln w="12700">
            <a:solidFill>
              <a:srgbClr val="F2F3F5"/>
            </a:solidFill>
            <a:prstDash val="solid"/>
          </a:ln>
        </p:spPr>
        <p:txBody>
          <a:bodyPr/>
          <a:lstStyle/>
          <a:p>
            <a:endParaRPr lang="fr-BE"/>
          </a:p>
        </p:txBody>
      </p:sp>
      <p:sp>
        <p:nvSpPr>
          <p:cNvPr id="21" name="Text 18"/>
          <p:cNvSpPr txBox="1"/>
          <p:nvPr/>
        </p:nvSpPr>
        <p:spPr>
          <a:xfrm>
            <a:off x="3474720" y="4206240"/>
            <a:ext cx="2377440" cy="594360"/>
          </a:xfrm>
          <a:prstGeom prst="rect">
            <a:avLst/>
          </a:prstGeom>
          <a:noFill/>
          <a:ln/>
        </p:spPr>
        <p:txBody>
          <a:bodyPr wrap="square" lIns="0" tIns="0" rIns="0" bIns="0" rtlCol="0" anchor="ctr"/>
          <a:lstStyle/>
          <a:p>
            <a:pPr marL="0" indent="0">
              <a:buNone/>
            </a:pPr>
            <a:r>
              <a:rPr lang="en-US" sz="1400" dirty="0">
                <a:solidFill>
                  <a:srgbClr val="5F6670"/>
                </a:solidFill>
                <a:latin typeface="Calibri" pitchFamily="34" charset="0"/>
                <a:ea typeface="Calibri" pitchFamily="34" charset="-122"/>
                <a:cs typeface="Calibri" pitchFamily="34" charset="-120"/>
              </a:rPr>
              <a:t>Structure composite</a:t>
            </a:r>
            <a:endParaRPr lang="en-US" sz="1400" dirty="0"/>
          </a:p>
        </p:txBody>
      </p:sp>
      <p:sp>
        <p:nvSpPr>
          <p:cNvPr id="22" name="Shape 19"/>
          <p:cNvSpPr/>
          <p:nvPr/>
        </p:nvSpPr>
        <p:spPr>
          <a:xfrm>
            <a:off x="640080" y="4937760"/>
            <a:ext cx="2606040" cy="594360"/>
          </a:xfrm>
          <a:prstGeom prst="roundRect">
            <a:avLst>
              <a:gd name="adj" fmla="val 12308"/>
            </a:avLst>
          </a:prstGeom>
          <a:solidFill>
            <a:srgbClr val="F2F3F5"/>
          </a:solidFill>
          <a:ln w="12700">
            <a:solidFill>
              <a:srgbClr val="F2F3F5"/>
            </a:solidFill>
            <a:prstDash val="solid"/>
          </a:ln>
        </p:spPr>
        <p:txBody>
          <a:bodyPr/>
          <a:lstStyle/>
          <a:p>
            <a:endParaRPr lang="fr-BE"/>
          </a:p>
        </p:txBody>
      </p:sp>
      <p:sp>
        <p:nvSpPr>
          <p:cNvPr id="23" name="Text 20"/>
          <p:cNvSpPr txBox="1"/>
          <p:nvPr/>
        </p:nvSpPr>
        <p:spPr>
          <a:xfrm>
            <a:off x="777240" y="4937760"/>
            <a:ext cx="2377440" cy="594360"/>
          </a:xfrm>
          <a:prstGeom prst="rect">
            <a:avLst/>
          </a:prstGeom>
          <a:noFill/>
          <a:ln/>
        </p:spPr>
        <p:txBody>
          <a:bodyPr wrap="square" lIns="0" tIns="0" rIns="0" bIns="0" rtlCol="0" anchor="ctr"/>
          <a:lstStyle/>
          <a:p>
            <a:pPr marL="0" indent="0">
              <a:buNone/>
            </a:pPr>
            <a:r>
              <a:rPr lang="en-US" sz="1400" dirty="0">
                <a:solidFill>
                  <a:srgbClr val="5F6670"/>
                </a:solidFill>
                <a:latin typeface="Calibri" pitchFamily="34" charset="0"/>
                <a:ea typeface="Calibri" pitchFamily="34" charset="-122"/>
                <a:cs typeface="Calibri" pitchFamily="34" charset="-120"/>
              </a:rPr>
              <a:t>Profils</a:t>
            </a:r>
            <a:endParaRPr lang="en-US" sz="1400" dirty="0"/>
          </a:p>
        </p:txBody>
      </p:sp>
      <p:sp>
        <p:nvSpPr>
          <p:cNvPr id="24" name="Shape 21"/>
          <p:cNvSpPr/>
          <p:nvPr/>
        </p:nvSpPr>
        <p:spPr>
          <a:xfrm>
            <a:off x="6217920" y="1783080"/>
            <a:ext cx="5303520" cy="822960"/>
          </a:xfrm>
          <a:prstGeom prst="roundRect">
            <a:avLst>
              <a:gd name="adj" fmla="val 8889"/>
            </a:avLst>
          </a:prstGeom>
          <a:solidFill>
            <a:srgbClr val="16181D"/>
          </a:solidFill>
          <a:ln w="12700">
            <a:solidFill>
              <a:srgbClr val="16181D"/>
            </a:solidFill>
            <a:prstDash val="solid"/>
          </a:ln>
        </p:spPr>
        <p:txBody>
          <a:bodyPr/>
          <a:lstStyle/>
          <a:p>
            <a:endParaRPr lang="fr-BE"/>
          </a:p>
        </p:txBody>
      </p:sp>
      <p:sp>
        <p:nvSpPr>
          <p:cNvPr id="25" name="Text 22"/>
          <p:cNvSpPr txBox="1"/>
          <p:nvPr/>
        </p:nvSpPr>
        <p:spPr>
          <a:xfrm>
            <a:off x="6492240" y="1783080"/>
            <a:ext cx="4846320" cy="82296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Comportement</a:t>
            </a:r>
            <a:r>
              <a:rPr lang="en-US" sz="1400" dirty="0">
                <a:solidFill>
                  <a:srgbClr val="C9CDD3"/>
                </a:solidFill>
                <a:latin typeface="Calibri" pitchFamily="34" charset="0"/>
                <a:ea typeface="Calibri" pitchFamily="34" charset="-122"/>
                <a:cs typeface="Calibri" pitchFamily="34" charset="-120"/>
              </a:rPr>
              <a:t>   ce que le système fait</a:t>
            </a:r>
            <a:endParaRPr lang="en-US" sz="1900" dirty="0"/>
          </a:p>
        </p:txBody>
      </p:sp>
      <p:sp>
        <p:nvSpPr>
          <p:cNvPr id="26" name="Shape 23"/>
          <p:cNvSpPr/>
          <p:nvPr/>
        </p:nvSpPr>
        <p:spPr>
          <a:xfrm>
            <a:off x="6217920" y="2743200"/>
            <a:ext cx="2606040" cy="594360"/>
          </a:xfrm>
          <a:prstGeom prst="roundRect">
            <a:avLst>
              <a:gd name="adj" fmla="val 12308"/>
            </a:avLst>
          </a:prstGeom>
          <a:solidFill>
            <a:srgbClr val="E8590C"/>
          </a:solidFill>
          <a:ln w="12700">
            <a:solidFill>
              <a:srgbClr val="E8590C"/>
            </a:solidFill>
            <a:prstDash val="solid"/>
          </a:ln>
        </p:spPr>
        <p:txBody>
          <a:bodyPr/>
          <a:lstStyle/>
          <a:p>
            <a:endParaRPr lang="fr-BE"/>
          </a:p>
        </p:txBody>
      </p:sp>
      <p:sp>
        <p:nvSpPr>
          <p:cNvPr id="27" name="Text 24"/>
          <p:cNvSpPr txBox="1"/>
          <p:nvPr/>
        </p:nvSpPr>
        <p:spPr>
          <a:xfrm>
            <a:off x="6355080" y="2743200"/>
            <a:ext cx="2377440" cy="5943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Cas d'utilisation</a:t>
            </a:r>
            <a:endParaRPr lang="en-US" sz="1400" dirty="0"/>
          </a:p>
        </p:txBody>
      </p:sp>
      <p:sp>
        <p:nvSpPr>
          <p:cNvPr id="28" name="Shape 25"/>
          <p:cNvSpPr/>
          <p:nvPr/>
        </p:nvSpPr>
        <p:spPr>
          <a:xfrm>
            <a:off x="8915400" y="2743200"/>
            <a:ext cx="2606040" cy="594360"/>
          </a:xfrm>
          <a:prstGeom prst="roundRect">
            <a:avLst>
              <a:gd name="adj" fmla="val 12308"/>
            </a:avLst>
          </a:prstGeom>
          <a:solidFill>
            <a:srgbClr val="E8590C"/>
          </a:solidFill>
          <a:ln w="12700">
            <a:solidFill>
              <a:srgbClr val="E8590C"/>
            </a:solidFill>
            <a:prstDash val="solid"/>
          </a:ln>
        </p:spPr>
        <p:txBody>
          <a:bodyPr/>
          <a:lstStyle/>
          <a:p>
            <a:endParaRPr lang="fr-BE"/>
          </a:p>
        </p:txBody>
      </p:sp>
      <p:sp>
        <p:nvSpPr>
          <p:cNvPr id="29" name="Text 26"/>
          <p:cNvSpPr txBox="1"/>
          <p:nvPr/>
        </p:nvSpPr>
        <p:spPr>
          <a:xfrm>
            <a:off x="9052560" y="2743200"/>
            <a:ext cx="2377440" cy="5943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Activités</a:t>
            </a:r>
            <a:endParaRPr lang="en-US" sz="1400" dirty="0"/>
          </a:p>
        </p:txBody>
      </p:sp>
      <p:sp>
        <p:nvSpPr>
          <p:cNvPr id="30" name="Shape 27"/>
          <p:cNvSpPr/>
          <p:nvPr/>
        </p:nvSpPr>
        <p:spPr>
          <a:xfrm>
            <a:off x="6217920" y="3474720"/>
            <a:ext cx="2606040" cy="594360"/>
          </a:xfrm>
          <a:prstGeom prst="roundRect">
            <a:avLst>
              <a:gd name="adj" fmla="val 12308"/>
            </a:avLst>
          </a:prstGeom>
          <a:solidFill>
            <a:srgbClr val="E8590C"/>
          </a:solidFill>
          <a:ln w="12700">
            <a:solidFill>
              <a:srgbClr val="E8590C"/>
            </a:solidFill>
            <a:prstDash val="solid"/>
          </a:ln>
        </p:spPr>
        <p:txBody>
          <a:bodyPr/>
          <a:lstStyle/>
          <a:p>
            <a:endParaRPr lang="fr-BE"/>
          </a:p>
        </p:txBody>
      </p:sp>
      <p:sp>
        <p:nvSpPr>
          <p:cNvPr id="31" name="Text 28"/>
          <p:cNvSpPr txBox="1"/>
          <p:nvPr/>
        </p:nvSpPr>
        <p:spPr>
          <a:xfrm>
            <a:off x="6355080" y="3474720"/>
            <a:ext cx="2377440" cy="5943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États</a:t>
            </a:r>
            <a:endParaRPr lang="en-US" sz="1400" dirty="0"/>
          </a:p>
        </p:txBody>
      </p:sp>
      <p:sp>
        <p:nvSpPr>
          <p:cNvPr id="32" name="Shape 29"/>
          <p:cNvSpPr/>
          <p:nvPr/>
        </p:nvSpPr>
        <p:spPr>
          <a:xfrm>
            <a:off x="8915400" y="3474720"/>
            <a:ext cx="2606040" cy="594360"/>
          </a:xfrm>
          <a:prstGeom prst="roundRect">
            <a:avLst>
              <a:gd name="adj" fmla="val 12308"/>
            </a:avLst>
          </a:prstGeom>
          <a:solidFill>
            <a:srgbClr val="E8590C"/>
          </a:solidFill>
          <a:ln w="12700">
            <a:solidFill>
              <a:srgbClr val="E8590C"/>
            </a:solidFill>
            <a:prstDash val="solid"/>
          </a:ln>
        </p:spPr>
        <p:txBody>
          <a:bodyPr/>
          <a:lstStyle/>
          <a:p>
            <a:endParaRPr lang="fr-BE"/>
          </a:p>
        </p:txBody>
      </p:sp>
      <p:sp>
        <p:nvSpPr>
          <p:cNvPr id="33" name="Text 30"/>
          <p:cNvSpPr txBox="1"/>
          <p:nvPr/>
        </p:nvSpPr>
        <p:spPr>
          <a:xfrm>
            <a:off x="9052560" y="3474720"/>
            <a:ext cx="2377440" cy="5943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Séquence</a:t>
            </a:r>
            <a:endParaRPr lang="en-US" sz="1400" dirty="0"/>
          </a:p>
        </p:txBody>
      </p:sp>
      <p:sp>
        <p:nvSpPr>
          <p:cNvPr id="34" name="Shape 31"/>
          <p:cNvSpPr/>
          <p:nvPr/>
        </p:nvSpPr>
        <p:spPr>
          <a:xfrm>
            <a:off x="6217920" y="4206240"/>
            <a:ext cx="2606040" cy="594360"/>
          </a:xfrm>
          <a:prstGeom prst="roundRect">
            <a:avLst>
              <a:gd name="adj" fmla="val 12308"/>
            </a:avLst>
          </a:prstGeom>
          <a:solidFill>
            <a:srgbClr val="F2F3F5"/>
          </a:solidFill>
          <a:ln w="12700">
            <a:solidFill>
              <a:srgbClr val="F2F3F5"/>
            </a:solidFill>
            <a:prstDash val="solid"/>
          </a:ln>
        </p:spPr>
        <p:txBody>
          <a:bodyPr/>
          <a:lstStyle/>
          <a:p>
            <a:endParaRPr lang="fr-BE"/>
          </a:p>
        </p:txBody>
      </p:sp>
      <p:sp>
        <p:nvSpPr>
          <p:cNvPr id="35" name="Text 32"/>
          <p:cNvSpPr txBox="1"/>
          <p:nvPr/>
        </p:nvSpPr>
        <p:spPr>
          <a:xfrm>
            <a:off x="6355080" y="4206240"/>
            <a:ext cx="2377440" cy="594360"/>
          </a:xfrm>
          <a:prstGeom prst="rect">
            <a:avLst/>
          </a:prstGeom>
          <a:noFill/>
          <a:ln/>
        </p:spPr>
        <p:txBody>
          <a:bodyPr wrap="square" lIns="0" tIns="0" rIns="0" bIns="0" rtlCol="0" anchor="ctr"/>
          <a:lstStyle/>
          <a:p>
            <a:pPr marL="0" indent="0">
              <a:buNone/>
            </a:pPr>
            <a:r>
              <a:rPr lang="en-US" sz="1400" dirty="0">
                <a:solidFill>
                  <a:srgbClr val="5F6670"/>
                </a:solidFill>
                <a:latin typeface="Calibri" pitchFamily="34" charset="0"/>
                <a:ea typeface="Calibri" pitchFamily="34" charset="-122"/>
                <a:cs typeface="Calibri" pitchFamily="34" charset="-120"/>
              </a:rPr>
              <a:t>Communication</a:t>
            </a:r>
            <a:endParaRPr lang="en-US" sz="1400" dirty="0"/>
          </a:p>
        </p:txBody>
      </p:sp>
      <p:sp>
        <p:nvSpPr>
          <p:cNvPr id="36" name="Shape 33"/>
          <p:cNvSpPr/>
          <p:nvPr/>
        </p:nvSpPr>
        <p:spPr>
          <a:xfrm>
            <a:off x="8915400" y="4206240"/>
            <a:ext cx="2606040" cy="594360"/>
          </a:xfrm>
          <a:prstGeom prst="roundRect">
            <a:avLst>
              <a:gd name="adj" fmla="val 12308"/>
            </a:avLst>
          </a:prstGeom>
          <a:solidFill>
            <a:srgbClr val="F2F3F5"/>
          </a:solidFill>
          <a:ln w="12700">
            <a:solidFill>
              <a:srgbClr val="F2F3F5"/>
            </a:solidFill>
            <a:prstDash val="solid"/>
          </a:ln>
        </p:spPr>
        <p:txBody>
          <a:bodyPr/>
          <a:lstStyle/>
          <a:p>
            <a:endParaRPr lang="fr-BE"/>
          </a:p>
        </p:txBody>
      </p:sp>
      <p:sp>
        <p:nvSpPr>
          <p:cNvPr id="37" name="Text 34"/>
          <p:cNvSpPr txBox="1"/>
          <p:nvPr/>
        </p:nvSpPr>
        <p:spPr>
          <a:xfrm>
            <a:off x="9052560" y="4206240"/>
            <a:ext cx="2377440" cy="594360"/>
          </a:xfrm>
          <a:prstGeom prst="rect">
            <a:avLst/>
          </a:prstGeom>
          <a:noFill/>
          <a:ln/>
        </p:spPr>
        <p:txBody>
          <a:bodyPr wrap="square" lIns="0" tIns="0" rIns="0" bIns="0" rtlCol="0" anchor="ctr"/>
          <a:lstStyle/>
          <a:p>
            <a:pPr marL="0" indent="0">
              <a:buNone/>
            </a:pPr>
            <a:r>
              <a:rPr lang="en-US" sz="1400" dirty="0">
                <a:solidFill>
                  <a:srgbClr val="5F6670"/>
                </a:solidFill>
                <a:latin typeface="Calibri" pitchFamily="34" charset="0"/>
                <a:ea typeface="Calibri" pitchFamily="34" charset="-122"/>
                <a:cs typeface="Calibri" pitchFamily="34" charset="-120"/>
              </a:rPr>
              <a:t>Vue d'ensemble des interactions</a:t>
            </a:r>
            <a:endParaRPr lang="en-US" sz="1400" dirty="0"/>
          </a:p>
        </p:txBody>
      </p:sp>
      <p:sp>
        <p:nvSpPr>
          <p:cNvPr id="38" name="Shape 35"/>
          <p:cNvSpPr/>
          <p:nvPr/>
        </p:nvSpPr>
        <p:spPr>
          <a:xfrm>
            <a:off x="6217920" y="4937760"/>
            <a:ext cx="2606040" cy="594360"/>
          </a:xfrm>
          <a:prstGeom prst="roundRect">
            <a:avLst>
              <a:gd name="adj" fmla="val 12308"/>
            </a:avLst>
          </a:prstGeom>
          <a:solidFill>
            <a:srgbClr val="F2F3F5"/>
          </a:solidFill>
          <a:ln w="12700">
            <a:solidFill>
              <a:srgbClr val="F2F3F5"/>
            </a:solidFill>
            <a:prstDash val="solid"/>
          </a:ln>
        </p:spPr>
        <p:txBody>
          <a:bodyPr/>
          <a:lstStyle/>
          <a:p>
            <a:endParaRPr lang="fr-BE"/>
          </a:p>
        </p:txBody>
      </p:sp>
      <p:sp>
        <p:nvSpPr>
          <p:cNvPr id="39" name="Text 36"/>
          <p:cNvSpPr txBox="1"/>
          <p:nvPr/>
        </p:nvSpPr>
        <p:spPr>
          <a:xfrm>
            <a:off x="6355080" y="4937760"/>
            <a:ext cx="2377440" cy="594360"/>
          </a:xfrm>
          <a:prstGeom prst="rect">
            <a:avLst/>
          </a:prstGeom>
          <a:noFill/>
          <a:ln/>
        </p:spPr>
        <p:txBody>
          <a:bodyPr wrap="square" lIns="0" tIns="0" rIns="0" bIns="0" rtlCol="0" anchor="ctr"/>
          <a:lstStyle/>
          <a:p>
            <a:pPr marL="0" indent="0">
              <a:buNone/>
            </a:pPr>
            <a:r>
              <a:rPr lang="en-US" sz="1400" dirty="0">
                <a:solidFill>
                  <a:srgbClr val="5F6670"/>
                </a:solidFill>
                <a:latin typeface="Calibri" pitchFamily="34" charset="0"/>
                <a:ea typeface="Calibri" pitchFamily="34" charset="-122"/>
                <a:cs typeface="Calibri" pitchFamily="34" charset="-120"/>
              </a:rPr>
              <a:t>Temps</a:t>
            </a:r>
            <a:endParaRPr lang="en-US" sz="1400" dirty="0"/>
          </a:p>
        </p:txBody>
      </p:sp>
      <p:sp>
        <p:nvSpPr>
          <p:cNvPr id="40" name="Text 37"/>
          <p:cNvSpPr txBox="1"/>
          <p:nvPr/>
        </p:nvSpPr>
        <p:spPr>
          <a:xfrm>
            <a:off x="640080" y="5623560"/>
            <a:ext cx="10911535" cy="365760"/>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En orange : ceux qu'on utilise dans ce cours, et qu'on croise en entreprise.</a:t>
            </a:r>
            <a:endParaRPr lang="en-US" sz="15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UML · DEUX EXEMPLES</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Cas d'utilisation et séquence, sur IncidentHub</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55</a:t>
            </a:r>
            <a:endParaRPr lang="en-US" sz="1000" dirty="0"/>
          </a:p>
        </p:txBody>
      </p:sp>
      <p:pic>
        <p:nvPicPr>
          <p:cNvPr id="8" name="Image 0" descr="diag/usecase.png"/>
          <p:cNvPicPr>
            <a:picLocks noChangeAspect="1"/>
          </p:cNvPicPr>
          <p:nvPr/>
        </p:nvPicPr>
        <p:blipFill>
          <a:blip r:embed="rId3"/>
          <a:stretch>
            <a:fillRect/>
          </a:stretch>
        </p:blipFill>
        <p:spPr>
          <a:xfrm>
            <a:off x="640080" y="2035315"/>
            <a:ext cx="5760720" cy="2513050"/>
          </a:xfrm>
          <a:prstGeom prst="rect">
            <a:avLst/>
          </a:prstGeom>
        </p:spPr>
      </p:pic>
      <p:pic>
        <p:nvPicPr>
          <p:cNvPr id="9" name="Image 1" descr="diag/sequence.png"/>
          <p:cNvPicPr>
            <a:picLocks noChangeAspect="1"/>
          </p:cNvPicPr>
          <p:nvPr/>
        </p:nvPicPr>
        <p:blipFill>
          <a:blip r:embed="rId4"/>
          <a:stretch>
            <a:fillRect/>
          </a:stretch>
        </p:blipFill>
        <p:spPr>
          <a:xfrm>
            <a:off x="6871820" y="1737360"/>
            <a:ext cx="4452920" cy="3383280"/>
          </a:xfrm>
          <a:prstGeom prst="rect">
            <a:avLst/>
          </a:prstGeom>
        </p:spPr>
      </p:pic>
      <p:sp>
        <p:nvSpPr>
          <p:cNvPr id="10" name="Shape 5"/>
          <p:cNvSpPr/>
          <p:nvPr/>
        </p:nvSpPr>
        <p:spPr>
          <a:xfrm>
            <a:off x="640080" y="4937760"/>
            <a:ext cx="5760720" cy="868680"/>
          </a:xfrm>
          <a:prstGeom prst="roundRect">
            <a:avLst>
              <a:gd name="adj" fmla="val 8421"/>
            </a:avLst>
          </a:prstGeom>
          <a:solidFill>
            <a:srgbClr val="F2F3F5"/>
          </a:solidFill>
          <a:ln w="12700">
            <a:solidFill>
              <a:srgbClr val="F2F3F5"/>
            </a:solidFill>
            <a:prstDash val="solid"/>
          </a:ln>
        </p:spPr>
        <p:txBody>
          <a:bodyPr/>
          <a:lstStyle/>
          <a:p>
            <a:endParaRPr lang="fr-BE"/>
          </a:p>
        </p:txBody>
      </p:sp>
      <p:sp>
        <p:nvSpPr>
          <p:cNvPr id="11" name="Text 6"/>
          <p:cNvSpPr txBox="1"/>
          <p:nvPr/>
        </p:nvSpPr>
        <p:spPr>
          <a:xfrm>
            <a:off x="822960" y="4983480"/>
            <a:ext cx="5486400" cy="777240"/>
          </a:xfrm>
          <a:prstGeom prst="rect">
            <a:avLst/>
          </a:prstGeom>
          <a:noFill/>
          <a:ln/>
        </p:spPr>
        <p:txBody>
          <a:bodyPr wrap="square" lIns="0" tIns="0" rIns="0" bIns="0" rtlCol="0" anchor="ctr"/>
          <a:lstStyle/>
          <a:p>
            <a:pPr marL="0" indent="0">
              <a:buNone/>
            </a:pPr>
            <a:r>
              <a:rPr lang="en-US" sz="1400" b="1" dirty="0">
                <a:solidFill>
                  <a:srgbClr val="E8590C"/>
                </a:solidFill>
                <a:latin typeface="Calibri" pitchFamily="34" charset="0"/>
                <a:ea typeface="Calibri" pitchFamily="34" charset="-122"/>
                <a:cs typeface="Calibri" pitchFamily="34" charset="-120"/>
              </a:rPr>
              <a:t>«include» </a:t>
            </a:r>
            <a:r>
              <a:rPr lang="en-US" sz="1400" dirty="0">
                <a:solidFill>
                  <a:srgbClr val="16181D"/>
                </a:solidFill>
                <a:latin typeface="Calibri" pitchFamily="34" charset="0"/>
                <a:ea typeface="Calibri" pitchFamily="34" charset="-122"/>
                <a:cs typeface="Calibri" pitchFamily="34" charset="-120"/>
              </a:rPr>
              <a:t>toujours inclus : signaler suppose de s'authentifier.</a:t>
            </a:r>
            <a:endParaRPr lang="en-US" sz="1400" dirty="0"/>
          </a:p>
          <a:p>
            <a:pPr marL="0" indent="0">
              <a:buNone/>
            </a:pPr>
            <a:r>
              <a:rPr lang="en-US" sz="1400" b="1" dirty="0">
                <a:solidFill>
                  <a:srgbClr val="E8590C"/>
                </a:solidFill>
                <a:latin typeface="Calibri" pitchFamily="34" charset="0"/>
                <a:ea typeface="Calibri" pitchFamily="34" charset="-122"/>
                <a:cs typeface="Calibri" pitchFamily="34" charset="-120"/>
              </a:rPr>
              <a:t>«extend» </a:t>
            </a:r>
            <a:r>
              <a:rPr lang="en-US" sz="1400" dirty="0">
                <a:solidFill>
                  <a:srgbClr val="16181D"/>
                </a:solidFill>
                <a:latin typeface="Calibri" pitchFamily="34" charset="0"/>
                <a:ea typeface="Calibri" pitchFamily="34" charset="-122"/>
                <a:cs typeface="Calibri" pitchFamily="34" charset="-120"/>
              </a:rPr>
              <a:t>possible en plus : on peut joindre une preuve.</a:t>
            </a:r>
            <a:endParaRPr lang="en-US" sz="1400" dirty="0"/>
          </a:p>
        </p:txBody>
      </p:sp>
      <p:sp>
        <p:nvSpPr>
          <p:cNvPr id="12" name="Text 7"/>
          <p:cNvSpPr txBox="1"/>
          <p:nvPr/>
        </p:nvSpPr>
        <p:spPr>
          <a:xfrm>
            <a:off x="640080" y="5852160"/>
            <a:ext cx="5760720" cy="365760"/>
          </a:xfrm>
          <a:prstGeom prst="rect">
            <a:avLst/>
          </a:prstGeom>
          <a:noFill/>
          <a:ln/>
        </p:spPr>
        <p:txBody>
          <a:bodyPr wrap="square" lIns="0" tIns="0" rIns="0" bIns="0" rtlCol="0" anchor="ctr"/>
          <a:lstStyle/>
          <a:p>
            <a:pPr marL="0" indent="0" algn="ctr">
              <a:buNone/>
            </a:pPr>
            <a:r>
              <a:rPr lang="en-US" sz="1400" b="1" dirty="0">
                <a:solidFill>
                  <a:srgbClr val="16181D"/>
                </a:solidFill>
                <a:latin typeface="Calibri" pitchFamily="34" charset="0"/>
                <a:ea typeface="Calibri" pitchFamily="34" charset="-122"/>
                <a:cs typeface="Calibri" pitchFamily="34" charset="-120"/>
              </a:rPr>
              <a:t>Cas d'utilisation : qui fait quoi (séance 2)</a:t>
            </a:r>
            <a:endParaRPr lang="en-US" sz="1400" dirty="0"/>
          </a:p>
        </p:txBody>
      </p:sp>
      <p:sp>
        <p:nvSpPr>
          <p:cNvPr id="13" name="Text 8"/>
          <p:cNvSpPr txBox="1"/>
          <p:nvPr/>
        </p:nvSpPr>
        <p:spPr>
          <a:xfrm>
            <a:off x="6675120" y="5257800"/>
            <a:ext cx="4846320" cy="365760"/>
          </a:xfrm>
          <a:prstGeom prst="rect">
            <a:avLst/>
          </a:prstGeom>
          <a:noFill/>
          <a:ln/>
        </p:spPr>
        <p:txBody>
          <a:bodyPr wrap="square" lIns="0" tIns="0" rIns="0" bIns="0" rtlCol="0" anchor="ctr"/>
          <a:lstStyle/>
          <a:p>
            <a:pPr marL="0" indent="0" algn="ctr">
              <a:buNone/>
            </a:pPr>
            <a:r>
              <a:rPr lang="en-US" sz="1400" b="1" dirty="0">
                <a:solidFill>
                  <a:srgbClr val="16181D"/>
                </a:solidFill>
                <a:latin typeface="Calibri" pitchFamily="34" charset="0"/>
                <a:ea typeface="Calibri" pitchFamily="34" charset="-122"/>
                <a:cs typeface="Calibri" pitchFamily="34" charset="-120"/>
              </a:rPr>
              <a:t>Séquence : qui appelle qui, dans quel ordre (séance 7)</a:t>
            </a:r>
            <a:endParaRPr lang="en-US" sz="1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UML · DIAGRAMME DE CLASSES</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Anatomie d'une classe</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56</a:t>
            </a:r>
            <a:endParaRPr lang="en-US" sz="1000" dirty="0"/>
          </a:p>
        </p:txBody>
      </p:sp>
      <p:pic>
        <p:nvPicPr>
          <p:cNvPr id="8" name="Image 0" descr="diag/anatomie.png"/>
          <p:cNvPicPr>
            <a:picLocks noChangeAspect="1"/>
          </p:cNvPicPr>
          <p:nvPr/>
        </p:nvPicPr>
        <p:blipFill>
          <a:blip r:embed="rId3"/>
          <a:stretch>
            <a:fillRect/>
          </a:stretch>
        </p:blipFill>
        <p:spPr>
          <a:xfrm>
            <a:off x="640080" y="1862586"/>
            <a:ext cx="4937760" cy="3590028"/>
          </a:xfrm>
          <a:prstGeom prst="rect">
            <a:avLst/>
          </a:prstGeom>
        </p:spPr>
      </p:pic>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852160" y="1783080"/>
          <a:ext cx="5696712" cy="3803904"/>
        </p:xfrm>
        <a:graphic>
          <a:graphicData uri="http://schemas.openxmlformats.org/drawingml/2006/table">
            <a:tbl>
              <a:tblPr/>
              <a:tblGrid>
                <a:gridCol w="1554480">
                  <a:extLst>
                    <a:ext uri="{9D8B030D-6E8A-4147-A177-3AD203B41FA5}">
                      <a16:colId xmlns:a16="http://schemas.microsoft.com/office/drawing/2014/main" val="20000"/>
                    </a:ext>
                  </a:extLst>
                </a:gridCol>
                <a:gridCol w="4142232">
                  <a:extLst>
                    <a:ext uri="{9D8B030D-6E8A-4147-A177-3AD203B41FA5}">
                      <a16:colId xmlns:a16="http://schemas.microsoft.com/office/drawing/2014/main" val="20001"/>
                    </a:ext>
                  </a:extLst>
                </a:gridCol>
              </a:tblGrid>
              <a:tr h="4754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Élément</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Comment on l'écrit</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extLst>
                  <a:ext uri="{0D108BD9-81ED-4DB2-BD59-A6C34878D82A}">
                    <a16:rowId xmlns:a16="http://schemas.microsoft.com/office/drawing/2014/main" val="10000"/>
                  </a:ext>
                </a:extLst>
              </a:tr>
              <a:tr h="475488">
                <a:tc>
                  <a:txBody>
                    <a:bodyPr/>
                    <a:lstStyle/>
                    <a:p>
                      <a:pPr marL="0" indent="0">
                        <a:buNone/>
                      </a:pPr>
                      <a:r>
                        <a:rPr lang="en-US" sz="1400" dirty="0">
                          <a:solidFill>
                            <a:srgbClr val="16181D"/>
                          </a:solidFill>
                          <a:latin typeface="Calibri" pitchFamily="34" charset="0"/>
                          <a:ea typeface="Calibri" pitchFamily="34" charset="-122"/>
                          <a:cs typeface="Calibri" pitchFamily="34" charset="-120"/>
                        </a:rPr>
                        <a:t>Nom</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400" dirty="0">
                          <a:solidFill>
                            <a:srgbClr val="16181D"/>
                          </a:solidFill>
                          <a:latin typeface="Calibri" pitchFamily="34" charset="0"/>
                          <a:ea typeface="Calibri" pitchFamily="34" charset="-122"/>
                          <a:cs typeface="Calibri" pitchFamily="34" charset="-120"/>
                        </a:rPr>
                        <a:t>Incident (un nom commun au singulier)</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400" dirty="0">
                          <a:solidFill>
                            <a:srgbClr val="16181D"/>
                          </a:solidFill>
                          <a:latin typeface="Calibri" pitchFamily="34" charset="0"/>
                          <a:ea typeface="Calibri" pitchFamily="34" charset="-122"/>
                          <a:cs typeface="Calibri" pitchFamily="34" charset="-120"/>
                        </a:rPr>
                        <a:t>Attribut</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marL="0" indent="0">
                        <a:buNone/>
                      </a:pPr>
                      <a:r>
                        <a:rPr lang="en-US" sz="1400" dirty="0">
                          <a:solidFill>
                            <a:srgbClr val="16181D"/>
                          </a:solidFill>
                          <a:latin typeface="Calibri" pitchFamily="34" charset="0"/>
                          <a:ea typeface="Calibri" pitchFamily="34" charset="-122"/>
                          <a:cs typeface="Calibri" pitchFamily="34" charset="-120"/>
                        </a:rPr>
                        <a:t>- nom : Type = valeur par défaut</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extLst>
                  <a:ext uri="{0D108BD9-81ED-4DB2-BD59-A6C34878D82A}">
                    <a16:rowId xmlns:a16="http://schemas.microsoft.com/office/drawing/2014/main" val="10002"/>
                  </a:ext>
                </a:extLst>
              </a:tr>
              <a:tr h="475488">
                <a:tc>
                  <a:txBody>
                    <a:bodyPr/>
                    <a:lstStyle/>
                    <a:p>
                      <a:pPr marL="0" indent="0">
                        <a:buNone/>
                      </a:pPr>
                      <a:r>
                        <a:rPr lang="en-US" sz="1400" dirty="0">
                          <a:solidFill>
                            <a:srgbClr val="16181D"/>
                          </a:solidFill>
                          <a:latin typeface="Calibri" pitchFamily="34" charset="0"/>
                          <a:ea typeface="Calibri" pitchFamily="34" charset="-122"/>
                          <a:cs typeface="Calibri" pitchFamily="34" charset="-120"/>
                        </a:rPr>
                        <a:t>exemple</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400" dirty="0">
                          <a:solidFill>
                            <a:srgbClr val="16181D"/>
                          </a:solidFill>
                          <a:latin typeface="Calibri" pitchFamily="34" charset="0"/>
                          <a:ea typeface="Calibri" pitchFamily="34" charset="-122"/>
                          <a:cs typeface="Calibri" pitchFamily="34" charset="-120"/>
                        </a:rPr>
                        <a:t>- status : IncidentStatus = Open</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400" dirty="0">
                          <a:solidFill>
                            <a:srgbClr val="16181D"/>
                          </a:solidFill>
                          <a:latin typeface="Calibri" pitchFamily="34" charset="0"/>
                          <a:ea typeface="Calibri" pitchFamily="34" charset="-122"/>
                          <a:cs typeface="Calibri" pitchFamily="34" charset="-120"/>
                        </a:rPr>
                        <a:t>Opération</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marL="0" indent="0">
                        <a:buNone/>
                      </a:pPr>
                      <a:r>
                        <a:rPr lang="en-US" sz="1400" dirty="0">
                          <a:solidFill>
                            <a:srgbClr val="16181D"/>
                          </a:solidFill>
                          <a:latin typeface="Calibri" pitchFamily="34" charset="0"/>
                          <a:ea typeface="Calibri" pitchFamily="34" charset="-122"/>
                          <a:cs typeface="Calibri" pitchFamily="34" charset="-120"/>
                        </a:rPr>
                        <a:t>+ nom(paramètre : Type) : Retour</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extLst>
                  <a:ext uri="{0D108BD9-81ED-4DB2-BD59-A6C34878D82A}">
                    <a16:rowId xmlns:a16="http://schemas.microsoft.com/office/drawing/2014/main" val="10004"/>
                  </a:ext>
                </a:extLst>
              </a:tr>
              <a:tr h="475488">
                <a:tc>
                  <a:txBody>
                    <a:bodyPr/>
                    <a:lstStyle/>
                    <a:p>
                      <a:pPr marL="0" indent="0">
                        <a:buNone/>
                      </a:pPr>
                      <a:r>
                        <a:rPr lang="en-US" sz="1400" dirty="0">
                          <a:solidFill>
                            <a:srgbClr val="16181D"/>
                          </a:solidFill>
                          <a:latin typeface="Calibri" pitchFamily="34" charset="0"/>
                          <a:ea typeface="Calibri" pitchFamily="34" charset="-122"/>
                          <a:cs typeface="Calibri" pitchFamily="34" charset="-120"/>
                        </a:rPr>
                        <a:t>exemple</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400" dirty="0">
                          <a:solidFill>
                            <a:srgbClr val="16181D"/>
                          </a:solidFill>
                          <a:latin typeface="Calibri" pitchFamily="34" charset="0"/>
                          <a:ea typeface="Calibri" pitchFamily="34" charset="-122"/>
                          <a:cs typeface="Calibri" pitchFamily="34" charset="-120"/>
                        </a:rPr>
                        <a:t>+ startWork() : void</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400" dirty="0">
                          <a:solidFill>
                            <a:srgbClr val="16181D"/>
                          </a:solidFill>
                          <a:latin typeface="Calibri" pitchFamily="34" charset="0"/>
                          <a:ea typeface="Calibri" pitchFamily="34" charset="-122"/>
                          <a:cs typeface="Calibri" pitchFamily="34" charset="-120"/>
                        </a:rPr>
                        <a:t>-  (moins)</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marL="0" indent="0">
                        <a:buNone/>
                      </a:pPr>
                      <a:r>
                        <a:rPr lang="en-US" sz="1400" dirty="0">
                          <a:solidFill>
                            <a:srgbClr val="16181D"/>
                          </a:solidFill>
                          <a:latin typeface="Calibri" pitchFamily="34" charset="0"/>
                          <a:ea typeface="Calibri" pitchFamily="34" charset="-122"/>
                          <a:cs typeface="Calibri" pitchFamily="34" charset="-120"/>
                        </a:rPr>
                        <a:t>private : le coffre, la classe seule y touche</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extLst>
                  <a:ext uri="{0D108BD9-81ED-4DB2-BD59-A6C34878D82A}">
                    <a16:rowId xmlns:a16="http://schemas.microsoft.com/office/drawing/2014/main" val="10006"/>
                  </a:ext>
                </a:extLst>
              </a:tr>
              <a:tr h="475488">
                <a:tc>
                  <a:txBody>
                    <a:bodyPr/>
                    <a:lstStyle/>
                    <a:p>
                      <a:pPr marL="0" indent="0">
                        <a:buNone/>
                      </a:pPr>
                      <a:r>
                        <a:rPr lang="en-US" sz="1400" dirty="0">
                          <a:solidFill>
                            <a:srgbClr val="16181D"/>
                          </a:solidFill>
                          <a:latin typeface="Calibri" pitchFamily="34" charset="0"/>
                          <a:ea typeface="Calibri" pitchFamily="34" charset="-122"/>
                          <a:cs typeface="Calibri" pitchFamily="34" charset="-120"/>
                        </a:rPr>
                        <a:t>+  (plus)</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400" dirty="0">
                          <a:solidFill>
                            <a:srgbClr val="16181D"/>
                          </a:solidFill>
                          <a:latin typeface="Calibri" pitchFamily="34" charset="0"/>
                          <a:ea typeface="Calibri" pitchFamily="34" charset="-122"/>
                          <a:cs typeface="Calibri" pitchFamily="34" charset="-120"/>
                        </a:rPr>
                        <a:t>public : le guichet, tout le monde l'utilise</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10" name="Text 5"/>
          <p:cNvSpPr txBox="1"/>
          <p:nvPr/>
        </p:nvSpPr>
        <p:spPr>
          <a:xfrm>
            <a:off x="5852160" y="5669280"/>
            <a:ext cx="5669280" cy="320040"/>
          </a:xfrm>
          <a:prstGeom prst="rect">
            <a:avLst/>
          </a:prstGeom>
          <a:noFill/>
          <a:ln/>
        </p:spPr>
        <p:txBody>
          <a:bodyPr wrap="square" lIns="0" tIns="0" rIns="0" bIns="0" rtlCol="0" anchor="ctr"/>
          <a:lstStyle/>
          <a:p>
            <a:pPr marL="0" indent="0">
              <a:buNone/>
            </a:pPr>
            <a:r>
              <a:rPr lang="en-US" sz="1300" i="1" dirty="0">
                <a:solidFill>
                  <a:srgbClr val="5F6670"/>
                </a:solidFill>
                <a:latin typeface="Calibri" pitchFamily="34" charset="0"/>
                <a:ea typeface="Calibri" pitchFamily="34" charset="-122"/>
                <a:cs typeface="Calibri" pitchFamily="34" charset="-120"/>
              </a:rPr>
              <a:t>Les autres symboles (#, ~, souligné, italique) arrivent en séance 2, avec l'héritage.</a:t>
            </a:r>
            <a:endParaRPr lang="en-US" sz="1300" dirty="0"/>
          </a:p>
        </p:txBody>
      </p:sp>
      <p:sp>
        <p:nvSpPr>
          <p:cNvPr id="11" name="Text 6"/>
          <p:cNvSpPr txBox="1"/>
          <p:nvPr/>
        </p:nvSpPr>
        <p:spPr>
          <a:xfrm>
            <a:off x="640080" y="5989320"/>
            <a:ext cx="10911535" cy="320040"/>
          </a:xfrm>
          <a:prstGeom prst="rect">
            <a:avLst/>
          </a:prstGeom>
          <a:noFill/>
          <a:ln/>
        </p:spPr>
        <p:txBody>
          <a:bodyPr wrap="square" lIns="0" tIns="0" rIns="0" bIns="0" rtlCol="0" anchor="ctr"/>
          <a:lstStyle/>
          <a:p>
            <a:pPr marL="0" indent="0">
              <a:buNone/>
            </a:pPr>
            <a:r>
              <a:rPr lang="en-US" sz="1000" i="1" dirty="0">
                <a:solidFill>
                  <a:srgbClr val="5F6670"/>
                </a:solidFill>
                <a:latin typeface="Calibri" pitchFamily="34" charset="0"/>
                <a:ea typeface="Calibri" pitchFamily="34" charset="-122"/>
                <a:cs typeface="Calibri" pitchFamily="34" charset="-120"/>
              </a:rPr>
              <a:t>Source : OMG, UML 2.5.1, chapitre 9 (Classification). Diagramme généré avec PlantUML.</a:t>
            </a:r>
            <a:endParaRPr lang="en-US" sz="1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UML · ASSOCIATION</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Relier deux classes : l'association et les multiplicités</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57</a:t>
            </a:r>
            <a:endParaRPr lang="en-US" sz="1000" dirty="0"/>
          </a:p>
        </p:txBody>
      </p:sp>
      <p:pic>
        <p:nvPicPr>
          <p:cNvPr id="8" name="Image 0" descr="diag/association.png"/>
          <p:cNvPicPr>
            <a:picLocks noChangeAspect="1"/>
          </p:cNvPicPr>
          <p:nvPr/>
        </p:nvPicPr>
        <p:blipFill>
          <a:blip r:embed="rId3"/>
          <a:stretch>
            <a:fillRect/>
          </a:stretch>
        </p:blipFill>
        <p:spPr>
          <a:xfrm>
            <a:off x="640080" y="1696015"/>
            <a:ext cx="6400800" cy="1408569"/>
          </a:xfrm>
          <a:prstGeom prst="rect">
            <a:avLst/>
          </a:prstGeom>
        </p:spPr>
      </p:pic>
      <p:sp>
        <p:nvSpPr>
          <p:cNvPr id="9" name="Text 5"/>
          <p:cNvSpPr txBox="1"/>
          <p:nvPr/>
        </p:nvSpPr>
        <p:spPr>
          <a:xfrm>
            <a:off x="7315200" y="1737360"/>
            <a:ext cx="4206240" cy="1371600"/>
          </a:xfrm>
          <a:prstGeom prst="rect">
            <a:avLst/>
          </a:prstGeom>
          <a:noFill/>
          <a:ln/>
        </p:spPr>
        <p:txBody>
          <a:bodyPr wrap="square" lIns="0" tIns="0" rIns="0" bIns="0" rtlCol="0" anchor="ctr"/>
          <a:lstStyle/>
          <a:p>
            <a:pPr marL="0" indent="0">
              <a:buNone/>
            </a:pPr>
            <a:r>
              <a:rPr lang="en-US" sz="1600" b="1" dirty="0">
                <a:solidFill>
                  <a:srgbClr val="16181D"/>
                </a:solidFill>
                <a:latin typeface="Calibri" pitchFamily="34" charset="0"/>
                <a:ea typeface="Calibri" pitchFamily="34" charset="-122"/>
                <a:cs typeface="Calibri" pitchFamily="34" charset="-120"/>
              </a:rPr>
              <a:t>Se lit : </a:t>
            </a:r>
            <a:r>
              <a:rPr lang="en-US" sz="1600" dirty="0">
                <a:solidFill>
                  <a:srgbClr val="16181D"/>
                </a:solidFill>
                <a:latin typeface="Calibri" pitchFamily="34" charset="0"/>
                <a:ea typeface="Calibri" pitchFamily="34" charset="-122"/>
                <a:cs typeface="Calibri" pitchFamily="34" charset="-120"/>
              </a:rPr>
              <a:t>un incident est déclaré par exactement 1 utilisateur ; un utilisateur déclare de 0 à plusieurs incidents.</a:t>
            </a:r>
            <a:endParaRPr lang="en-US" sz="1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640080" y="3337560"/>
          <a:ext cx="10908792" cy="2377440"/>
        </p:xfrm>
        <a:graphic>
          <a:graphicData uri="http://schemas.openxmlformats.org/drawingml/2006/table">
            <a:tbl>
              <a:tblPr/>
              <a:tblGrid>
                <a:gridCol w="20116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6153912">
                  <a:extLst>
                    <a:ext uri="{9D8B030D-6E8A-4147-A177-3AD203B41FA5}">
                      <a16:colId xmlns:a16="http://schemas.microsoft.com/office/drawing/2014/main" val="20002"/>
                    </a:ext>
                  </a:extLst>
                </a:gridCol>
              </a:tblGrid>
              <a:tr h="475488">
                <a:tc>
                  <a:txBody>
                    <a:bodyPr/>
                    <a:lstStyle/>
                    <a:p>
                      <a:pPr marL="0" indent="0">
                        <a:buNone/>
                      </a:pPr>
                      <a:r>
                        <a:rPr lang="en-US" sz="1600" b="1" dirty="0">
                          <a:solidFill>
                            <a:srgbClr val="FFFFFF"/>
                          </a:solidFill>
                          <a:latin typeface="Calibri" pitchFamily="34" charset="0"/>
                          <a:ea typeface="Calibri" pitchFamily="34" charset="-122"/>
                          <a:cs typeface="Calibri" pitchFamily="34" charset="-120"/>
                        </a:rPr>
                        <a:t>Multiplicité</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marL="0" indent="0">
                        <a:buNone/>
                      </a:pPr>
                      <a:r>
                        <a:rPr lang="en-US" sz="1600" b="1" dirty="0">
                          <a:solidFill>
                            <a:srgbClr val="FFFFFF"/>
                          </a:solidFill>
                          <a:latin typeface="Calibri" pitchFamily="34" charset="0"/>
                          <a:ea typeface="Calibri" pitchFamily="34" charset="-122"/>
                          <a:cs typeface="Calibri" pitchFamily="34" charset="-120"/>
                        </a:rPr>
                        <a:t>Se lit</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marL="0" indent="0">
                        <a:buNone/>
                      </a:pPr>
                      <a:r>
                        <a:rPr lang="en-US" sz="1600" b="1" dirty="0">
                          <a:solidFill>
                            <a:srgbClr val="FFFFFF"/>
                          </a:solidFill>
                          <a:latin typeface="Calibri" pitchFamily="34" charset="0"/>
                          <a:ea typeface="Calibri" pitchFamily="34" charset="-122"/>
                          <a:cs typeface="Calibri" pitchFamily="34" charset="-120"/>
                        </a:rPr>
                        <a:t>Exemple IncidentHub</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extLst>
                  <a:ext uri="{0D108BD9-81ED-4DB2-BD59-A6C34878D82A}">
                    <a16:rowId xmlns:a16="http://schemas.microsoft.com/office/drawing/2014/main" val="10000"/>
                  </a:ext>
                </a:extLst>
              </a:tr>
              <a:tr h="475488">
                <a:tc>
                  <a:txBody>
                    <a:bodyPr/>
                    <a:lstStyle/>
                    <a:p>
                      <a:pPr marL="0" indent="0">
                        <a:buNone/>
                      </a:pPr>
                      <a:r>
                        <a:rPr lang="en-US" sz="1600" dirty="0">
                          <a:solidFill>
                            <a:srgbClr val="16181D"/>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600" dirty="0">
                          <a:solidFill>
                            <a:srgbClr val="16181D"/>
                          </a:solidFill>
                          <a:latin typeface="Calibri" pitchFamily="34" charset="0"/>
                          <a:ea typeface="Calibri" pitchFamily="34" charset="-122"/>
                          <a:cs typeface="Calibri" pitchFamily="34" charset="-120"/>
                        </a:rPr>
                        <a:t>exactement un</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600" dirty="0">
                          <a:solidFill>
                            <a:srgbClr val="16181D"/>
                          </a:solidFill>
                          <a:latin typeface="Calibri" pitchFamily="34" charset="0"/>
                          <a:ea typeface="Calibri" pitchFamily="34" charset="-122"/>
                          <a:cs typeface="Calibri" pitchFamily="34" charset="-120"/>
                        </a:rPr>
                        <a:t>un incident a exactement un déclarant</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600" dirty="0">
                          <a:solidFill>
                            <a:srgbClr val="16181D"/>
                          </a:solidFill>
                          <a:latin typeface="Calibri" pitchFamily="34" charset="0"/>
                          <a:ea typeface="Calibri" pitchFamily="34" charset="-122"/>
                          <a:cs typeface="Calibri" pitchFamily="34" charset="-120"/>
                        </a:rPr>
                        <a:t>0..1</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marL="0" indent="0">
                        <a:buNone/>
                      </a:pPr>
                      <a:r>
                        <a:rPr lang="en-US" sz="1600" dirty="0">
                          <a:solidFill>
                            <a:srgbClr val="16181D"/>
                          </a:solidFill>
                          <a:latin typeface="Calibri" pitchFamily="34" charset="0"/>
                          <a:ea typeface="Calibri" pitchFamily="34" charset="-122"/>
                          <a:cs typeface="Calibri" pitchFamily="34" charset="-120"/>
                        </a:rPr>
                        <a:t>zéro ou un</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marL="0" indent="0">
                        <a:buNone/>
                      </a:pPr>
                      <a:r>
                        <a:rPr lang="en-US" sz="1600" dirty="0">
                          <a:solidFill>
                            <a:srgbClr val="16181D"/>
                          </a:solidFill>
                          <a:latin typeface="Calibri" pitchFamily="34" charset="0"/>
                          <a:ea typeface="Calibri" pitchFamily="34" charset="-122"/>
                          <a:cs typeface="Calibri" pitchFamily="34" charset="-120"/>
                        </a:rPr>
                        <a:t>un incident a au plus un analyste assigné</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extLst>
                  <a:ext uri="{0D108BD9-81ED-4DB2-BD59-A6C34878D82A}">
                    <a16:rowId xmlns:a16="http://schemas.microsoft.com/office/drawing/2014/main" val="10002"/>
                  </a:ext>
                </a:extLst>
              </a:tr>
              <a:tr h="475488">
                <a:tc>
                  <a:txBody>
                    <a:bodyPr/>
                    <a:lstStyle/>
                    <a:p>
                      <a:pPr marL="0" indent="0">
                        <a:buNone/>
                      </a:pPr>
                      <a:r>
                        <a:rPr lang="en-US" sz="1600" dirty="0">
                          <a:solidFill>
                            <a:srgbClr val="16181D"/>
                          </a:solidFill>
                          <a:latin typeface="Calibri" pitchFamily="34" charset="0"/>
                          <a:ea typeface="Calibri" pitchFamily="34" charset="-122"/>
                          <a:cs typeface="Calibri" pitchFamily="34" charset="-120"/>
                        </a:rPr>
                        <a:t>0..*  ou  *</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600" dirty="0">
                          <a:solidFill>
                            <a:srgbClr val="16181D"/>
                          </a:solidFill>
                          <a:latin typeface="Calibri" pitchFamily="34" charset="0"/>
                          <a:ea typeface="Calibri" pitchFamily="34" charset="-122"/>
                          <a:cs typeface="Calibri" pitchFamily="34" charset="-120"/>
                        </a:rPr>
                        <a:t>zéro ou plusieurs</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600" dirty="0">
                          <a:solidFill>
                            <a:srgbClr val="16181D"/>
                          </a:solidFill>
                          <a:latin typeface="Calibri" pitchFamily="34" charset="0"/>
                          <a:ea typeface="Calibri" pitchFamily="34" charset="-122"/>
                          <a:cs typeface="Calibri" pitchFamily="34" charset="-120"/>
                        </a:rPr>
                        <a:t>un utilisateur déclare 0 à n incidents</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600" dirty="0">
                          <a:solidFill>
                            <a:srgbClr val="16181D"/>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marL="0" indent="0">
                        <a:buNone/>
                      </a:pPr>
                      <a:r>
                        <a:rPr lang="en-US" sz="1600" dirty="0">
                          <a:solidFill>
                            <a:srgbClr val="16181D"/>
                          </a:solidFill>
                          <a:latin typeface="Calibri" pitchFamily="34" charset="0"/>
                          <a:ea typeface="Calibri" pitchFamily="34" charset="-122"/>
                          <a:cs typeface="Calibri" pitchFamily="34" charset="-120"/>
                        </a:rPr>
                        <a:t>au moins un</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marL="0" indent="0">
                        <a:buNone/>
                      </a:pPr>
                      <a:r>
                        <a:rPr lang="en-US" sz="1600" dirty="0">
                          <a:solidFill>
                            <a:srgbClr val="16181D"/>
                          </a:solidFill>
                          <a:latin typeface="Calibri" pitchFamily="34" charset="0"/>
                          <a:ea typeface="Calibri" pitchFamily="34" charset="-122"/>
                          <a:cs typeface="Calibri" pitchFamily="34" charset="-120"/>
                        </a:rPr>
                        <a:t>un rapport NIS2 concerne au moins un incident</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extLst>
                  <a:ext uri="{0D108BD9-81ED-4DB2-BD59-A6C34878D82A}">
                    <a16:rowId xmlns:a16="http://schemas.microsoft.com/office/drawing/2014/main" val="10004"/>
                  </a:ext>
                </a:extLst>
              </a:tr>
            </a:tbl>
          </a:graphicData>
        </a:graphic>
      </p:graphicFrame>
      <p:sp>
        <p:nvSpPr>
          <p:cNvPr id="11" name="Text 6"/>
          <p:cNvSpPr txBox="1"/>
          <p:nvPr/>
        </p:nvSpPr>
        <p:spPr>
          <a:xfrm>
            <a:off x="640080" y="5760720"/>
            <a:ext cx="10911535" cy="320040"/>
          </a:xfrm>
          <a:prstGeom prst="rect">
            <a:avLst/>
          </a:prstGeom>
          <a:noFill/>
          <a:ln/>
        </p:spPr>
        <p:txBody>
          <a:bodyPr wrap="square" lIns="0" tIns="0" rIns="0" bIns="0" rtlCol="0" anchor="ctr"/>
          <a:lstStyle/>
          <a:p>
            <a:pPr marL="0" indent="0">
              <a:buNone/>
            </a:pPr>
            <a:r>
              <a:rPr lang="en-US" sz="1300" i="1" dirty="0">
                <a:solidFill>
                  <a:srgbClr val="5F6670"/>
                </a:solidFill>
                <a:latin typeface="Calibri" pitchFamily="34" charset="0"/>
                <a:ea typeface="Calibri" pitchFamily="34" charset="-122"/>
                <a:cs typeface="Calibri" pitchFamily="34" charset="-120"/>
              </a:rPr>
              <a:t>Les autres relations (héritage, composition, agrégation…) : séance 2.</a:t>
            </a:r>
            <a:endParaRPr lang="en-US" sz="13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UML · RÈGLES MÉTIER</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Où écrire les règles métier dans un modèle</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58</a:t>
            </a:r>
            <a:endParaRPr lang="en-US" sz="1000" dirty="0"/>
          </a:p>
        </p:txBody>
      </p:sp>
      <p:sp>
        <p:nvSpPr>
          <p:cNvPr id="8" name="Shape 5"/>
          <p:cNvSpPr/>
          <p:nvPr/>
        </p:nvSpPr>
        <p:spPr>
          <a:xfrm>
            <a:off x="640080" y="1783080"/>
            <a:ext cx="3474720" cy="3291840"/>
          </a:xfrm>
          <a:prstGeom prst="roundRect">
            <a:avLst>
              <a:gd name="adj" fmla="val 2222"/>
            </a:avLst>
          </a:prstGeom>
          <a:solidFill>
            <a:srgbClr val="F2F3F5"/>
          </a:solidFill>
          <a:ln w="12700">
            <a:solidFill>
              <a:srgbClr val="F2F3F5"/>
            </a:solidFill>
            <a:prstDash val="solid"/>
          </a:ln>
        </p:spPr>
        <p:txBody>
          <a:bodyPr/>
          <a:lstStyle/>
          <a:p>
            <a:endParaRPr lang="fr-BE"/>
          </a:p>
        </p:txBody>
      </p:sp>
      <p:sp>
        <p:nvSpPr>
          <p:cNvPr id="9" name="Text 6"/>
          <p:cNvSpPr txBox="1"/>
          <p:nvPr/>
        </p:nvSpPr>
        <p:spPr>
          <a:xfrm>
            <a:off x="914400" y="1920240"/>
            <a:ext cx="548640" cy="548640"/>
          </a:xfrm>
          <a:prstGeom prst="rect">
            <a:avLst/>
          </a:prstGeom>
          <a:noFill/>
          <a:ln/>
        </p:spPr>
        <p:txBody>
          <a:bodyPr wrap="square" lIns="0" tIns="0" rIns="0" bIns="0" rtlCol="0" anchor="ctr"/>
          <a:lstStyle/>
          <a:p>
            <a:pPr marL="0" indent="0">
              <a:buNone/>
            </a:pPr>
            <a:r>
              <a:rPr lang="en-US" sz="3000" b="1" dirty="0">
                <a:solidFill>
                  <a:srgbClr val="E8590C"/>
                </a:solidFill>
                <a:latin typeface="Arial" pitchFamily="34" charset="0"/>
                <a:ea typeface="Arial" pitchFamily="34" charset="-122"/>
                <a:cs typeface="Arial" pitchFamily="34" charset="-120"/>
              </a:rPr>
              <a:t>1</a:t>
            </a:r>
            <a:endParaRPr lang="en-US" sz="3000" dirty="0"/>
          </a:p>
        </p:txBody>
      </p:sp>
      <p:sp>
        <p:nvSpPr>
          <p:cNvPr id="10" name="Text 7"/>
          <p:cNvSpPr txBox="1"/>
          <p:nvPr/>
        </p:nvSpPr>
        <p:spPr>
          <a:xfrm>
            <a:off x="1463040" y="1965960"/>
            <a:ext cx="2560320" cy="502920"/>
          </a:xfrm>
          <a:prstGeom prst="rect">
            <a:avLst/>
          </a:prstGeom>
          <a:noFill/>
          <a:ln/>
        </p:spPr>
        <p:txBody>
          <a:bodyPr wrap="square" lIns="0" tIns="0" rIns="0" bIns="0" rtlCol="0" anchor="ctr"/>
          <a:lstStyle/>
          <a:p>
            <a:pPr marL="0" indent="0">
              <a:buNone/>
            </a:pPr>
            <a:r>
              <a:rPr lang="en-US" sz="1900" b="1" dirty="0">
                <a:solidFill>
                  <a:srgbClr val="16181D"/>
                </a:solidFill>
                <a:latin typeface="Arial" pitchFamily="34" charset="0"/>
                <a:ea typeface="Arial" pitchFamily="34" charset="-122"/>
                <a:cs typeface="Arial" pitchFamily="34" charset="-120"/>
              </a:rPr>
              <a:t>Contrainte</a:t>
            </a:r>
            <a:endParaRPr lang="en-US" sz="1900" dirty="0"/>
          </a:p>
        </p:txBody>
      </p:sp>
      <p:sp>
        <p:nvSpPr>
          <p:cNvPr id="11" name="Text 8"/>
          <p:cNvSpPr txBox="1"/>
          <p:nvPr/>
        </p:nvSpPr>
        <p:spPr>
          <a:xfrm>
            <a:off x="914400" y="2606040"/>
            <a:ext cx="3017520" cy="640080"/>
          </a:xfrm>
          <a:prstGeom prst="rect">
            <a:avLst/>
          </a:prstGeom>
          <a:noFill/>
          <a:ln/>
        </p:spPr>
        <p:txBody>
          <a:bodyPr wrap="square" lIns="0" tIns="0" rIns="0" bIns="0" rtlCol="0" anchor="t"/>
          <a:lstStyle/>
          <a:p>
            <a:pPr marL="0" indent="0">
              <a:buNone/>
            </a:pPr>
            <a:r>
              <a:rPr lang="en-US" sz="1500" dirty="0">
                <a:solidFill>
                  <a:srgbClr val="5F6670"/>
                </a:solidFill>
                <a:latin typeface="Calibri" pitchFamily="34" charset="0"/>
                <a:ea typeface="Calibri" pitchFamily="34" charset="-122"/>
                <a:cs typeface="Calibri" pitchFamily="34" charset="-120"/>
              </a:rPr>
              <a:t>Sur l'élément, entre accolades.</a:t>
            </a:r>
            <a:endParaRPr lang="en-US" sz="1500" dirty="0"/>
          </a:p>
        </p:txBody>
      </p:sp>
      <p:sp>
        <p:nvSpPr>
          <p:cNvPr id="12" name="Shape 9"/>
          <p:cNvSpPr/>
          <p:nvPr/>
        </p:nvSpPr>
        <p:spPr>
          <a:xfrm>
            <a:off x="822960" y="3337560"/>
            <a:ext cx="3108960" cy="1554480"/>
          </a:xfrm>
          <a:prstGeom prst="roundRect">
            <a:avLst>
              <a:gd name="adj" fmla="val 4706"/>
            </a:avLst>
          </a:prstGeom>
          <a:solidFill>
            <a:srgbClr val="1E2127"/>
          </a:solidFill>
          <a:ln w="12700">
            <a:solidFill>
              <a:srgbClr val="1E2127"/>
            </a:solidFill>
            <a:prstDash val="solid"/>
          </a:ln>
        </p:spPr>
        <p:txBody>
          <a:bodyPr/>
          <a:lstStyle/>
          <a:p>
            <a:endParaRPr lang="fr-BE"/>
          </a:p>
        </p:txBody>
      </p:sp>
      <p:sp>
        <p:nvSpPr>
          <p:cNvPr id="13" name="Text 10"/>
          <p:cNvSpPr txBox="1"/>
          <p:nvPr/>
        </p:nvSpPr>
        <p:spPr>
          <a:xfrm>
            <a:off x="1005840" y="3474720"/>
            <a:ext cx="2743200" cy="1280160"/>
          </a:xfrm>
          <a:prstGeom prst="rect">
            <a:avLst/>
          </a:prstGeom>
          <a:noFill/>
          <a:ln/>
        </p:spPr>
        <p:txBody>
          <a:bodyPr wrap="square" lIns="0" tIns="0" rIns="0" bIns="0" rtlCol="0" anchor="t"/>
          <a:lstStyle/>
          <a:p>
            <a:pPr marL="0" indent="0">
              <a:buNone/>
            </a:pPr>
            <a:r>
              <a:rPr lang="en-US" sz="1300" dirty="0">
                <a:solidFill>
                  <a:srgbClr val="E6E6E6"/>
                </a:solidFill>
                <a:latin typeface="Consolas" pitchFamily="34" charset="0"/>
                <a:ea typeface="Consolas" pitchFamily="34" charset="-122"/>
                <a:cs typeface="Consolas" pitchFamily="34" charset="-120"/>
              </a:rPr>
              <a:t>title : String {non vide}</a:t>
            </a:r>
            <a:endParaRPr lang="en-US" sz="1300" dirty="0"/>
          </a:p>
        </p:txBody>
      </p:sp>
      <p:sp>
        <p:nvSpPr>
          <p:cNvPr id="14" name="Shape 11"/>
          <p:cNvSpPr/>
          <p:nvPr/>
        </p:nvSpPr>
        <p:spPr>
          <a:xfrm>
            <a:off x="4343400" y="1783080"/>
            <a:ext cx="3474720" cy="3291840"/>
          </a:xfrm>
          <a:prstGeom prst="roundRect">
            <a:avLst>
              <a:gd name="adj" fmla="val 2222"/>
            </a:avLst>
          </a:prstGeom>
          <a:solidFill>
            <a:srgbClr val="F2F3F5"/>
          </a:solidFill>
          <a:ln w="12700">
            <a:solidFill>
              <a:srgbClr val="F2F3F5"/>
            </a:solidFill>
            <a:prstDash val="solid"/>
          </a:ln>
        </p:spPr>
        <p:txBody>
          <a:bodyPr/>
          <a:lstStyle/>
          <a:p>
            <a:endParaRPr lang="fr-BE"/>
          </a:p>
        </p:txBody>
      </p:sp>
      <p:sp>
        <p:nvSpPr>
          <p:cNvPr id="15" name="Text 12"/>
          <p:cNvSpPr txBox="1"/>
          <p:nvPr/>
        </p:nvSpPr>
        <p:spPr>
          <a:xfrm>
            <a:off x="4617720" y="1920240"/>
            <a:ext cx="548640" cy="548640"/>
          </a:xfrm>
          <a:prstGeom prst="rect">
            <a:avLst/>
          </a:prstGeom>
          <a:noFill/>
          <a:ln/>
        </p:spPr>
        <p:txBody>
          <a:bodyPr wrap="square" lIns="0" tIns="0" rIns="0" bIns="0" rtlCol="0" anchor="ctr"/>
          <a:lstStyle/>
          <a:p>
            <a:pPr marL="0" indent="0">
              <a:buNone/>
            </a:pPr>
            <a:r>
              <a:rPr lang="en-US" sz="3000" b="1" dirty="0">
                <a:solidFill>
                  <a:srgbClr val="E8590C"/>
                </a:solidFill>
                <a:latin typeface="Arial" pitchFamily="34" charset="0"/>
                <a:ea typeface="Arial" pitchFamily="34" charset="-122"/>
                <a:cs typeface="Arial" pitchFamily="34" charset="-120"/>
              </a:rPr>
              <a:t>2</a:t>
            </a:r>
            <a:endParaRPr lang="en-US" sz="3000" dirty="0"/>
          </a:p>
        </p:txBody>
      </p:sp>
      <p:sp>
        <p:nvSpPr>
          <p:cNvPr id="16" name="Text 13"/>
          <p:cNvSpPr txBox="1"/>
          <p:nvPr/>
        </p:nvSpPr>
        <p:spPr>
          <a:xfrm>
            <a:off x="5166360" y="1965960"/>
            <a:ext cx="2560320" cy="502920"/>
          </a:xfrm>
          <a:prstGeom prst="rect">
            <a:avLst/>
          </a:prstGeom>
          <a:noFill/>
          <a:ln/>
        </p:spPr>
        <p:txBody>
          <a:bodyPr wrap="square" lIns="0" tIns="0" rIns="0" bIns="0" rtlCol="0" anchor="ctr"/>
          <a:lstStyle/>
          <a:p>
            <a:pPr marL="0" indent="0">
              <a:buNone/>
            </a:pPr>
            <a:r>
              <a:rPr lang="en-US" sz="1900" b="1" dirty="0">
                <a:solidFill>
                  <a:srgbClr val="16181D"/>
                </a:solidFill>
                <a:latin typeface="Arial" pitchFamily="34" charset="0"/>
                <a:ea typeface="Arial" pitchFamily="34" charset="-122"/>
                <a:cs typeface="Arial" pitchFamily="34" charset="-120"/>
              </a:rPr>
              <a:t>Une note (ou OCL)</a:t>
            </a:r>
            <a:endParaRPr lang="en-US" sz="1900" dirty="0"/>
          </a:p>
        </p:txBody>
      </p:sp>
      <p:sp>
        <p:nvSpPr>
          <p:cNvPr id="17" name="Text 14"/>
          <p:cNvSpPr txBox="1"/>
          <p:nvPr/>
        </p:nvSpPr>
        <p:spPr>
          <a:xfrm>
            <a:off x="4617720" y="2606040"/>
            <a:ext cx="3017520" cy="640080"/>
          </a:xfrm>
          <a:prstGeom prst="rect">
            <a:avLst/>
          </a:prstGeom>
          <a:noFill/>
          <a:ln/>
        </p:spPr>
        <p:txBody>
          <a:bodyPr wrap="square" lIns="0" tIns="0" rIns="0" bIns="0" rtlCol="0" anchor="t"/>
          <a:lstStyle/>
          <a:p>
            <a:pPr marL="0" indent="0">
              <a:buNone/>
            </a:pPr>
            <a:r>
              <a:rPr lang="en-US" sz="1500" dirty="0">
                <a:solidFill>
                  <a:srgbClr val="5F6670"/>
                </a:solidFill>
                <a:latin typeface="Calibri" pitchFamily="34" charset="0"/>
                <a:ea typeface="Calibri" pitchFamily="34" charset="-122"/>
                <a:cs typeface="Calibri" pitchFamily="34" charset="-120"/>
              </a:rPr>
              <a:t>En français, ou en OCL, le langage de règles de l'OMG.</a:t>
            </a:r>
            <a:endParaRPr lang="en-US" sz="1500" dirty="0"/>
          </a:p>
        </p:txBody>
      </p:sp>
      <p:sp>
        <p:nvSpPr>
          <p:cNvPr id="18" name="Shape 15"/>
          <p:cNvSpPr/>
          <p:nvPr/>
        </p:nvSpPr>
        <p:spPr>
          <a:xfrm>
            <a:off x="4526280" y="3337560"/>
            <a:ext cx="3108960" cy="1554480"/>
          </a:xfrm>
          <a:prstGeom prst="roundRect">
            <a:avLst>
              <a:gd name="adj" fmla="val 4706"/>
            </a:avLst>
          </a:prstGeom>
          <a:solidFill>
            <a:srgbClr val="1E2127"/>
          </a:solidFill>
          <a:ln w="12700">
            <a:solidFill>
              <a:srgbClr val="1E2127"/>
            </a:solidFill>
            <a:prstDash val="solid"/>
          </a:ln>
        </p:spPr>
        <p:txBody>
          <a:bodyPr/>
          <a:lstStyle/>
          <a:p>
            <a:endParaRPr lang="fr-BE"/>
          </a:p>
        </p:txBody>
      </p:sp>
      <p:sp>
        <p:nvSpPr>
          <p:cNvPr id="19" name="Text 16"/>
          <p:cNvSpPr txBox="1"/>
          <p:nvPr/>
        </p:nvSpPr>
        <p:spPr>
          <a:xfrm>
            <a:off x="4709160" y="3474720"/>
            <a:ext cx="2743200" cy="1280160"/>
          </a:xfrm>
          <a:prstGeom prst="rect">
            <a:avLst/>
          </a:prstGeom>
          <a:noFill/>
          <a:ln/>
        </p:spPr>
        <p:txBody>
          <a:bodyPr wrap="square" lIns="0" tIns="0" rIns="0" bIns="0" rtlCol="0" anchor="t"/>
          <a:lstStyle/>
          <a:p>
            <a:pPr marL="0" indent="0">
              <a:buNone/>
            </a:pPr>
            <a:r>
              <a:rPr lang="en-US" sz="1300" dirty="0">
                <a:solidFill>
                  <a:srgbClr val="E6E6E6"/>
                </a:solidFill>
                <a:latin typeface="Consolas" pitchFamily="34" charset="0"/>
                <a:ea typeface="Consolas" pitchFamily="34" charset="-122"/>
                <a:cs typeface="Consolas" pitchFamily="34" charset="-120"/>
              </a:rPr>
              <a:t>context Incident</a:t>
            </a:r>
            <a:endParaRPr lang="en-US" sz="1300" dirty="0"/>
          </a:p>
          <a:p>
            <a:pPr marL="0" indent="0">
              <a:buNone/>
            </a:pPr>
            <a:r>
              <a:rPr lang="en-US" sz="1300" dirty="0">
                <a:solidFill>
                  <a:srgbClr val="E6E6E6"/>
                </a:solidFill>
                <a:latin typeface="Consolas" pitchFamily="34" charset="0"/>
                <a:ea typeface="Consolas" pitchFamily="34" charset="-122"/>
                <a:cs typeface="Consolas" pitchFamily="34" charset="-120"/>
              </a:rPr>
              <a:t>inv: title &lt;&gt; ''</a:t>
            </a:r>
            <a:endParaRPr lang="en-US" sz="1300" dirty="0"/>
          </a:p>
        </p:txBody>
      </p:sp>
      <p:sp>
        <p:nvSpPr>
          <p:cNvPr id="20" name="Shape 17"/>
          <p:cNvSpPr/>
          <p:nvPr/>
        </p:nvSpPr>
        <p:spPr>
          <a:xfrm>
            <a:off x="8046720" y="1783080"/>
            <a:ext cx="3474720" cy="3291840"/>
          </a:xfrm>
          <a:prstGeom prst="roundRect">
            <a:avLst>
              <a:gd name="adj" fmla="val 2222"/>
            </a:avLst>
          </a:prstGeom>
          <a:solidFill>
            <a:srgbClr val="F2F3F5"/>
          </a:solidFill>
          <a:ln w="12700">
            <a:solidFill>
              <a:srgbClr val="F2F3F5"/>
            </a:solidFill>
            <a:prstDash val="solid"/>
          </a:ln>
        </p:spPr>
        <p:txBody>
          <a:bodyPr/>
          <a:lstStyle/>
          <a:p>
            <a:endParaRPr lang="fr-BE"/>
          </a:p>
        </p:txBody>
      </p:sp>
      <p:sp>
        <p:nvSpPr>
          <p:cNvPr id="21" name="Text 18"/>
          <p:cNvSpPr txBox="1"/>
          <p:nvPr/>
        </p:nvSpPr>
        <p:spPr>
          <a:xfrm>
            <a:off x="8321040" y="1920240"/>
            <a:ext cx="548640" cy="548640"/>
          </a:xfrm>
          <a:prstGeom prst="rect">
            <a:avLst/>
          </a:prstGeom>
          <a:noFill/>
          <a:ln/>
        </p:spPr>
        <p:txBody>
          <a:bodyPr wrap="square" lIns="0" tIns="0" rIns="0" bIns="0" rtlCol="0" anchor="ctr"/>
          <a:lstStyle/>
          <a:p>
            <a:pPr marL="0" indent="0">
              <a:buNone/>
            </a:pPr>
            <a:r>
              <a:rPr lang="en-US" sz="3000" b="1" dirty="0">
                <a:solidFill>
                  <a:srgbClr val="E8590C"/>
                </a:solidFill>
                <a:latin typeface="Arial" pitchFamily="34" charset="0"/>
                <a:ea typeface="Arial" pitchFamily="34" charset="-122"/>
                <a:cs typeface="Arial" pitchFamily="34" charset="-120"/>
              </a:rPr>
              <a:t>3</a:t>
            </a:r>
            <a:endParaRPr lang="en-US" sz="3000" dirty="0"/>
          </a:p>
        </p:txBody>
      </p:sp>
      <p:sp>
        <p:nvSpPr>
          <p:cNvPr id="22" name="Text 19"/>
          <p:cNvSpPr txBox="1"/>
          <p:nvPr/>
        </p:nvSpPr>
        <p:spPr>
          <a:xfrm>
            <a:off x="8869680" y="1965960"/>
            <a:ext cx="2560320" cy="502920"/>
          </a:xfrm>
          <a:prstGeom prst="rect">
            <a:avLst/>
          </a:prstGeom>
          <a:noFill/>
          <a:ln/>
        </p:spPr>
        <p:txBody>
          <a:bodyPr wrap="square" lIns="0" tIns="0" rIns="0" bIns="0" rtlCol="0" anchor="ctr"/>
          <a:lstStyle/>
          <a:p>
            <a:pPr marL="0" indent="0">
              <a:buNone/>
            </a:pPr>
            <a:r>
              <a:rPr lang="en-US" sz="1900" b="1" dirty="0">
                <a:solidFill>
                  <a:srgbClr val="16181D"/>
                </a:solidFill>
                <a:latin typeface="Arial" pitchFamily="34" charset="0"/>
                <a:ea typeface="Arial" pitchFamily="34" charset="-122"/>
                <a:cs typeface="Arial" pitchFamily="34" charset="-120"/>
              </a:rPr>
              <a:t>Diagramme d'états</a:t>
            </a:r>
            <a:endParaRPr lang="en-US" sz="1900" dirty="0"/>
          </a:p>
        </p:txBody>
      </p:sp>
      <p:sp>
        <p:nvSpPr>
          <p:cNvPr id="23" name="Text 20"/>
          <p:cNvSpPr txBox="1"/>
          <p:nvPr/>
        </p:nvSpPr>
        <p:spPr>
          <a:xfrm>
            <a:off x="8321040" y="2606040"/>
            <a:ext cx="3017520" cy="640080"/>
          </a:xfrm>
          <a:prstGeom prst="rect">
            <a:avLst/>
          </a:prstGeom>
          <a:noFill/>
          <a:ln/>
        </p:spPr>
        <p:txBody>
          <a:bodyPr wrap="square" lIns="0" tIns="0" rIns="0" bIns="0" rtlCol="0" anchor="t"/>
          <a:lstStyle/>
          <a:p>
            <a:pPr marL="0" indent="0">
              <a:buNone/>
            </a:pPr>
            <a:r>
              <a:rPr lang="en-US" sz="1500" dirty="0">
                <a:solidFill>
                  <a:srgbClr val="5F6670"/>
                </a:solidFill>
                <a:latin typeface="Calibri" pitchFamily="34" charset="0"/>
                <a:ea typeface="Calibri" pitchFamily="34" charset="-122"/>
                <a:cs typeface="Calibri" pitchFamily="34" charset="-120"/>
              </a:rPr>
              <a:t>Les transitions autorisées.</a:t>
            </a:r>
            <a:endParaRPr lang="en-US" sz="1500" dirty="0"/>
          </a:p>
        </p:txBody>
      </p:sp>
      <p:sp>
        <p:nvSpPr>
          <p:cNvPr id="24" name="Shape 21"/>
          <p:cNvSpPr/>
          <p:nvPr/>
        </p:nvSpPr>
        <p:spPr>
          <a:xfrm>
            <a:off x="8229600" y="3337560"/>
            <a:ext cx="3108960" cy="1554480"/>
          </a:xfrm>
          <a:prstGeom prst="roundRect">
            <a:avLst>
              <a:gd name="adj" fmla="val 4706"/>
            </a:avLst>
          </a:prstGeom>
          <a:solidFill>
            <a:srgbClr val="1E2127"/>
          </a:solidFill>
          <a:ln w="12700">
            <a:solidFill>
              <a:srgbClr val="1E2127"/>
            </a:solidFill>
            <a:prstDash val="solid"/>
          </a:ln>
        </p:spPr>
        <p:txBody>
          <a:bodyPr/>
          <a:lstStyle/>
          <a:p>
            <a:endParaRPr lang="fr-BE"/>
          </a:p>
        </p:txBody>
      </p:sp>
      <p:sp>
        <p:nvSpPr>
          <p:cNvPr id="25" name="Text 22"/>
          <p:cNvSpPr txBox="1"/>
          <p:nvPr/>
        </p:nvSpPr>
        <p:spPr>
          <a:xfrm>
            <a:off x="8412480" y="3474720"/>
            <a:ext cx="2743200" cy="1280160"/>
          </a:xfrm>
          <a:prstGeom prst="rect">
            <a:avLst/>
          </a:prstGeom>
          <a:noFill/>
          <a:ln/>
        </p:spPr>
        <p:txBody>
          <a:bodyPr wrap="square" lIns="0" tIns="0" rIns="0" bIns="0" rtlCol="0" anchor="t"/>
          <a:lstStyle/>
          <a:p>
            <a:pPr marL="0" indent="0">
              <a:buNone/>
            </a:pPr>
            <a:r>
              <a:rPr lang="en-US" sz="1300" dirty="0">
                <a:solidFill>
                  <a:srgbClr val="E6E6E6"/>
                </a:solidFill>
                <a:latin typeface="Consolas" pitchFamily="34" charset="0"/>
                <a:ea typeface="Consolas" pitchFamily="34" charset="-122"/>
                <a:cs typeface="Consolas" pitchFamily="34" charset="-120"/>
              </a:rPr>
              <a:t>Open → InProgress</a:t>
            </a:r>
            <a:endParaRPr lang="en-US" sz="1300" dirty="0"/>
          </a:p>
          <a:p>
            <a:pPr marL="0" indent="0">
              <a:buNone/>
            </a:pPr>
            <a:r>
              <a:rPr lang="en-US" sz="1300" dirty="0">
                <a:solidFill>
                  <a:srgbClr val="E6E6E6"/>
                </a:solidFill>
                <a:latin typeface="Consolas" pitchFamily="34" charset="0"/>
                <a:ea typeface="Consolas" pitchFamily="34" charset="-122"/>
                <a:cs typeface="Consolas" pitchFamily="34" charset="-120"/>
              </a:rPr>
              <a:t>→ Resolved → Closed</a:t>
            </a:r>
            <a:endParaRPr lang="en-US" sz="1300" dirty="0"/>
          </a:p>
        </p:txBody>
      </p:sp>
      <p:sp>
        <p:nvSpPr>
          <p:cNvPr id="26" name="Shape 23"/>
          <p:cNvSpPr/>
          <p:nvPr/>
        </p:nvSpPr>
        <p:spPr>
          <a:xfrm>
            <a:off x="640080" y="5303520"/>
            <a:ext cx="10911535" cy="640080"/>
          </a:xfrm>
          <a:prstGeom prst="roundRect">
            <a:avLst>
              <a:gd name="adj" fmla="val 11429"/>
            </a:avLst>
          </a:prstGeom>
          <a:solidFill>
            <a:srgbClr val="16181D"/>
          </a:solidFill>
          <a:ln w="12700">
            <a:solidFill>
              <a:srgbClr val="16181D"/>
            </a:solidFill>
            <a:prstDash val="solid"/>
          </a:ln>
        </p:spPr>
        <p:txBody>
          <a:bodyPr/>
          <a:lstStyle/>
          <a:p>
            <a:endParaRPr lang="fr-BE"/>
          </a:p>
        </p:txBody>
      </p:sp>
      <p:sp>
        <p:nvSpPr>
          <p:cNvPr id="27" name="Text 24"/>
          <p:cNvSpPr txBox="1"/>
          <p:nvPr/>
        </p:nvSpPr>
        <p:spPr>
          <a:xfrm>
            <a:off x="914400" y="5303520"/>
            <a:ext cx="10362895" cy="64008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En 2026, un 4e endroit : les tests automatisés, qui vérifient ces règles à chaque modification (séance 8).</a:t>
            </a:r>
            <a:endParaRPr lang="en-US" sz="16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UML · CONVENTIONS</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Conventions de nommage</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59</a:t>
            </a:r>
            <a:endParaRPr lang="en-US" sz="10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10908792" cy="3401568"/>
        </p:xfrm>
        <a:graphic>
          <a:graphicData uri="http://schemas.openxmlformats.org/drawingml/2006/table">
            <a:tbl>
              <a:tblPr/>
              <a:tblGrid>
                <a:gridCol w="164592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2679192">
                  <a:extLst>
                    <a:ext uri="{9D8B030D-6E8A-4147-A177-3AD203B41FA5}">
                      <a16:colId xmlns:a16="http://schemas.microsoft.com/office/drawing/2014/main" val="20003"/>
                    </a:ext>
                  </a:extLst>
                </a:gridCol>
              </a:tblGrid>
              <a:tr h="566928">
                <a:tc>
                  <a:txBody>
                    <a:bodyPr/>
                    <a:lstStyle/>
                    <a:p>
                      <a:pPr marL="0" indent="0">
                        <a:buNone/>
                      </a:pPr>
                      <a:r>
                        <a:rPr lang="en-US" sz="1600" b="1" dirty="0">
                          <a:solidFill>
                            <a:srgbClr val="FFFFFF"/>
                          </a:solidFill>
                          <a:latin typeface="Calibri" pitchFamily="34" charset="0"/>
                          <a:ea typeface="Calibri" pitchFamily="34" charset="-122"/>
                          <a:cs typeface="Calibri" pitchFamily="34" charset="-120"/>
                        </a:rPr>
                        <a:t>Élément</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marL="0" indent="0">
                        <a:buNone/>
                      </a:pPr>
                      <a:r>
                        <a:rPr lang="en-US" sz="1600" b="1" dirty="0">
                          <a:solidFill>
                            <a:srgbClr val="FFFFFF"/>
                          </a:solidFill>
                          <a:latin typeface="Calibri" pitchFamily="34" charset="0"/>
                          <a:ea typeface="Calibri" pitchFamily="34" charset="-122"/>
                          <a:cs typeface="Calibri" pitchFamily="34" charset="-120"/>
                        </a:rPr>
                        <a:t>Règle</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marL="0" indent="0">
                        <a:buNone/>
                      </a:pPr>
                      <a:r>
                        <a:rPr lang="en-US" sz="1600" b="1" dirty="0">
                          <a:solidFill>
                            <a:srgbClr val="FFFFFF"/>
                          </a:solidFill>
                          <a:latin typeface="Calibri" pitchFamily="34" charset="0"/>
                          <a:ea typeface="Calibri" pitchFamily="34" charset="-122"/>
                          <a:cs typeface="Calibri" pitchFamily="34" charset="-120"/>
                        </a:rPr>
                        <a:t>Oui</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marL="0" indent="0">
                        <a:buNone/>
                      </a:pPr>
                      <a:r>
                        <a:rPr lang="en-US" sz="1600" b="1" dirty="0">
                          <a:solidFill>
                            <a:srgbClr val="FFFFFF"/>
                          </a:solidFill>
                          <a:latin typeface="Calibri" pitchFamily="34" charset="0"/>
                          <a:ea typeface="Calibri" pitchFamily="34" charset="-122"/>
                          <a:cs typeface="Calibri" pitchFamily="34" charset="-120"/>
                        </a:rPr>
                        <a:t>Non</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extLst>
                  <a:ext uri="{0D108BD9-81ED-4DB2-BD59-A6C34878D82A}">
                    <a16:rowId xmlns:a16="http://schemas.microsoft.com/office/drawing/2014/main" val="10000"/>
                  </a:ext>
                </a:extLst>
              </a:tr>
              <a:tr h="566928">
                <a:tc>
                  <a:txBody>
                    <a:bodyPr/>
                    <a:lstStyle/>
                    <a:p>
                      <a:pPr marL="0" indent="0">
                        <a:buNone/>
                      </a:pPr>
                      <a:r>
                        <a:rPr lang="en-US" sz="1600" dirty="0">
                          <a:solidFill>
                            <a:srgbClr val="16181D"/>
                          </a:solidFill>
                          <a:latin typeface="Calibri" pitchFamily="34" charset="0"/>
                          <a:ea typeface="Calibri" pitchFamily="34" charset="-122"/>
                          <a:cs typeface="Calibri" pitchFamily="34" charset="-120"/>
                        </a:rPr>
                        <a:t>Classe</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600" dirty="0">
                          <a:solidFill>
                            <a:srgbClr val="16181D"/>
                          </a:solidFill>
                          <a:latin typeface="Calibri" pitchFamily="34" charset="0"/>
                          <a:ea typeface="Calibri" pitchFamily="34" charset="-122"/>
                          <a:cs typeface="Calibri" pitchFamily="34" charset="-120"/>
                        </a:rPr>
                        <a:t>nom commun, singulier, PascalCase</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600" dirty="0">
                          <a:solidFill>
                            <a:srgbClr val="16181D"/>
                          </a:solidFill>
                          <a:latin typeface="Calibri" pitchFamily="34" charset="0"/>
                          <a:ea typeface="Calibri" pitchFamily="34" charset="-122"/>
                          <a:cs typeface="Calibri" pitchFamily="34" charset="-120"/>
                        </a:rPr>
                        <a:t>Incident</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600" dirty="0">
                          <a:solidFill>
                            <a:srgbClr val="16181D"/>
                          </a:solidFill>
                          <a:latin typeface="Calibri" pitchFamily="34" charset="0"/>
                          <a:ea typeface="Calibri" pitchFamily="34" charset="-122"/>
                          <a:cs typeface="Calibri" pitchFamily="34" charset="-120"/>
                        </a:rPr>
                        <a:t>Incidents, incident_mgr</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600" dirty="0">
                          <a:solidFill>
                            <a:srgbClr val="16181D"/>
                          </a:solidFill>
                          <a:latin typeface="Calibri" pitchFamily="34" charset="0"/>
                          <a:ea typeface="Calibri" pitchFamily="34" charset="-122"/>
                          <a:cs typeface="Calibri" pitchFamily="34" charset="-120"/>
                        </a:rPr>
                        <a:t>Attribut</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marL="0" indent="0">
                        <a:buNone/>
                      </a:pPr>
                      <a:r>
                        <a:rPr lang="en-US" sz="1600" dirty="0">
                          <a:solidFill>
                            <a:srgbClr val="16181D"/>
                          </a:solidFill>
                          <a:latin typeface="Calibri" pitchFamily="34" charset="0"/>
                          <a:ea typeface="Calibri" pitchFamily="34" charset="-122"/>
                          <a:cs typeface="Calibri" pitchFamily="34" charset="-120"/>
                        </a:rPr>
                        <a:t>nom qui décrit la donnée</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marL="0" indent="0">
                        <a:buNone/>
                      </a:pPr>
                      <a:r>
                        <a:rPr lang="en-US" sz="1600" dirty="0">
                          <a:solidFill>
                            <a:srgbClr val="16181D"/>
                          </a:solidFill>
                          <a:latin typeface="Calibri" pitchFamily="34" charset="0"/>
                          <a:ea typeface="Calibri" pitchFamily="34" charset="-122"/>
                          <a:cs typeface="Calibri" pitchFamily="34" charset="-120"/>
                        </a:rPr>
                        <a:t>createdAt</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marL="0" indent="0">
                        <a:buNone/>
                      </a:pPr>
                      <a:r>
                        <a:rPr lang="en-US" sz="1600" dirty="0">
                          <a:solidFill>
                            <a:srgbClr val="16181D"/>
                          </a:solidFill>
                          <a:latin typeface="Calibri" pitchFamily="34" charset="0"/>
                          <a:ea typeface="Calibri" pitchFamily="34" charset="-122"/>
                          <a:cs typeface="Calibri" pitchFamily="34" charset="-120"/>
                        </a:rPr>
                        <a:t>date2, d</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extLst>
                  <a:ext uri="{0D108BD9-81ED-4DB2-BD59-A6C34878D82A}">
                    <a16:rowId xmlns:a16="http://schemas.microsoft.com/office/drawing/2014/main" val="10002"/>
                  </a:ext>
                </a:extLst>
              </a:tr>
              <a:tr h="566928">
                <a:tc>
                  <a:txBody>
                    <a:bodyPr/>
                    <a:lstStyle/>
                    <a:p>
                      <a:pPr marL="0" indent="0">
                        <a:buNone/>
                      </a:pPr>
                      <a:r>
                        <a:rPr lang="en-US" sz="1600" dirty="0">
                          <a:solidFill>
                            <a:srgbClr val="16181D"/>
                          </a:solidFill>
                          <a:latin typeface="Calibri" pitchFamily="34" charset="0"/>
                          <a:ea typeface="Calibri" pitchFamily="34" charset="-122"/>
                          <a:cs typeface="Calibri" pitchFamily="34" charset="-120"/>
                        </a:rPr>
                        <a:t>Opération</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600" dirty="0">
                          <a:solidFill>
                            <a:srgbClr val="16181D"/>
                          </a:solidFill>
                          <a:latin typeface="Calibri" pitchFamily="34" charset="0"/>
                          <a:ea typeface="Calibri" pitchFamily="34" charset="-122"/>
                          <a:cs typeface="Calibri" pitchFamily="34" charset="-120"/>
                        </a:rPr>
                        <a:t>verbe à l'infinitif</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600" dirty="0">
                          <a:solidFill>
                            <a:srgbClr val="16181D"/>
                          </a:solidFill>
                          <a:latin typeface="Calibri" pitchFamily="34" charset="0"/>
                          <a:ea typeface="Calibri" pitchFamily="34" charset="-122"/>
                          <a:cs typeface="Calibri" pitchFamily="34" charset="-120"/>
                        </a:rPr>
                        <a:t>close(), startWork()</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600" dirty="0">
                          <a:solidFill>
                            <a:srgbClr val="16181D"/>
                          </a:solidFill>
                          <a:latin typeface="Calibri" pitchFamily="34" charset="0"/>
                          <a:ea typeface="Calibri" pitchFamily="34" charset="-122"/>
                          <a:cs typeface="Calibri" pitchFamily="34" charset="-120"/>
                        </a:rPr>
                        <a:t>incidentClosing()</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600" dirty="0">
                          <a:solidFill>
                            <a:srgbClr val="16181D"/>
                          </a:solidFill>
                          <a:latin typeface="Calibri" pitchFamily="34" charset="0"/>
                          <a:ea typeface="Calibri" pitchFamily="34" charset="-122"/>
                          <a:cs typeface="Calibri" pitchFamily="34" charset="-120"/>
                        </a:rPr>
                        <a:t>Booléen</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marL="0" indent="0">
                        <a:buNone/>
                      </a:pPr>
                      <a:r>
                        <a:rPr lang="en-US" sz="1600" dirty="0">
                          <a:solidFill>
                            <a:srgbClr val="16181D"/>
                          </a:solidFill>
                          <a:latin typeface="Calibri" pitchFamily="34" charset="0"/>
                          <a:ea typeface="Calibri" pitchFamily="34" charset="-122"/>
                          <a:cs typeface="Calibri" pitchFamily="34" charset="-120"/>
                        </a:rPr>
                        <a:t>question fermée : is / has</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marL="0" indent="0">
                        <a:buNone/>
                      </a:pPr>
                      <a:r>
                        <a:rPr lang="en-US" sz="1600" dirty="0">
                          <a:solidFill>
                            <a:srgbClr val="16181D"/>
                          </a:solidFill>
                          <a:latin typeface="Calibri" pitchFamily="34" charset="0"/>
                          <a:ea typeface="Calibri" pitchFamily="34" charset="-122"/>
                          <a:cs typeface="Calibri" pitchFamily="34" charset="-120"/>
                        </a:rPr>
                        <a:t>isCritical</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marL="0" indent="0">
                        <a:buNone/>
                      </a:pPr>
                      <a:r>
                        <a:rPr lang="en-US" sz="1600" dirty="0">
                          <a:solidFill>
                            <a:srgbClr val="16181D"/>
                          </a:solidFill>
                          <a:latin typeface="Calibri" pitchFamily="34" charset="0"/>
                          <a:ea typeface="Calibri" pitchFamily="34" charset="-122"/>
                          <a:cs typeface="Calibri" pitchFamily="34" charset="-120"/>
                        </a:rPr>
                        <a:t>critical, flag</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extLst>
                  <a:ext uri="{0D108BD9-81ED-4DB2-BD59-A6C34878D82A}">
                    <a16:rowId xmlns:a16="http://schemas.microsoft.com/office/drawing/2014/main" val="10004"/>
                  </a:ext>
                </a:extLst>
              </a:tr>
              <a:tr h="566928">
                <a:tc>
                  <a:txBody>
                    <a:bodyPr/>
                    <a:lstStyle/>
                    <a:p>
                      <a:pPr marL="0" indent="0">
                        <a:buNone/>
                      </a:pPr>
                      <a:r>
                        <a:rPr lang="en-US" sz="1600" dirty="0">
                          <a:solidFill>
                            <a:srgbClr val="16181D"/>
                          </a:solidFill>
                          <a:latin typeface="Calibri" pitchFamily="34" charset="0"/>
                          <a:ea typeface="Calibri" pitchFamily="34" charset="-122"/>
                          <a:cs typeface="Calibri" pitchFamily="34" charset="-120"/>
                        </a:rPr>
                        <a:t>Enum</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600" dirty="0">
                          <a:solidFill>
                            <a:srgbClr val="16181D"/>
                          </a:solidFill>
                          <a:latin typeface="Calibri" pitchFamily="34" charset="0"/>
                          <a:ea typeface="Calibri" pitchFamily="34" charset="-122"/>
                          <a:cs typeface="Calibri" pitchFamily="34" charset="-120"/>
                        </a:rPr>
                        <a:t>singulier, valeurs explicites</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600" dirty="0">
                          <a:solidFill>
                            <a:srgbClr val="16181D"/>
                          </a:solidFill>
                          <a:latin typeface="Calibri" pitchFamily="34" charset="0"/>
                          <a:ea typeface="Calibri" pitchFamily="34" charset="-122"/>
                          <a:cs typeface="Calibri" pitchFamily="34" charset="-120"/>
                        </a:rPr>
                        <a:t>Severity.High</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600" dirty="0">
                          <a:solidFill>
                            <a:srgbClr val="16181D"/>
                          </a:solidFill>
                          <a:latin typeface="Calibri" pitchFamily="34" charset="0"/>
                          <a:ea typeface="Calibri" pitchFamily="34" charset="-122"/>
                          <a:cs typeface="Calibri" pitchFamily="34" charset="-120"/>
                        </a:rPr>
                        <a:t>Severities, 3</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9" name="Text 5"/>
          <p:cNvSpPr txBox="1"/>
          <p:nvPr/>
        </p:nvSpPr>
        <p:spPr>
          <a:xfrm>
            <a:off x="640080" y="5989320"/>
            <a:ext cx="10911535" cy="320040"/>
          </a:xfrm>
          <a:prstGeom prst="rect">
            <a:avLst/>
          </a:prstGeom>
          <a:noFill/>
          <a:ln/>
        </p:spPr>
        <p:txBody>
          <a:bodyPr wrap="square" lIns="0" tIns="0" rIns="0" bIns="0" rtlCol="0" anchor="ctr"/>
          <a:lstStyle/>
          <a:p>
            <a:pPr marL="0" indent="0">
              <a:buNone/>
            </a:pPr>
            <a:r>
              <a:rPr lang="en-US" sz="1000" i="1" dirty="0">
                <a:solidFill>
                  <a:srgbClr val="5F6670"/>
                </a:solidFill>
                <a:latin typeface="Calibri" pitchFamily="34" charset="0"/>
                <a:ea typeface="Calibri" pitchFamily="34" charset="-122"/>
                <a:cs typeface="Calibri" pitchFamily="34" charset="-120"/>
              </a:rPr>
              <a:t>Source : Microsoft Learn, « Naming Guidelines » (Framework Design Guidelines).</a:t>
            </a:r>
            <a:endParaRPr lang="en-US" sz="1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UML · INCIDENTHUB</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Le modèle d'IncidentHub pour cette séance</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60</a:t>
            </a:r>
            <a:endParaRPr lang="en-US" sz="1000" dirty="0"/>
          </a:p>
        </p:txBody>
      </p:sp>
      <p:pic>
        <p:nvPicPr>
          <p:cNvPr id="8" name="Image 0" descr="diag/incidenthub-s1.png"/>
          <p:cNvPicPr>
            <a:picLocks noChangeAspect="1"/>
          </p:cNvPicPr>
          <p:nvPr/>
        </p:nvPicPr>
        <p:blipFill>
          <a:blip r:embed="rId3"/>
          <a:stretch>
            <a:fillRect/>
          </a:stretch>
        </p:blipFill>
        <p:spPr>
          <a:xfrm>
            <a:off x="1659060" y="1645920"/>
            <a:ext cx="5643000" cy="4343400"/>
          </a:xfrm>
          <a:prstGeom prst="rect">
            <a:avLst/>
          </a:prstGeom>
        </p:spPr>
      </p:pic>
      <p:sp>
        <p:nvSpPr>
          <p:cNvPr id="9" name="Shape 5"/>
          <p:cNvSpPr/>
          <p:nvPr/>
        </p:nvSpPr>
        <p:spPr>
          <a:xfrm>
            <a:off x="8595360" y="1783080"/>
            <a:ext cx="2926080" cy="4023360"/>
          </a:xfrm>
          <a:prstGeom prst="roundRect">
            <a:avLst>
              <a:gd name="adj" fmla="val 2500"/>
            </a:avLst>
          </a:prstGeom>
          <a:solidFill>
            <a:srgbClr val="F2F3F5"/>
          </a:solidFill>
          <a:ln w="12700">
            <a:solidFill>
              <a:srgbClr val="F2F3F5"/>
            </a:solidFill>
            <a:prstDash val="solid"/>
          </a:ln>
        </p:spPr>
        <p:txBody>
          <a:bodyPr/>
          <a:lstStyle/>
          <a:p>
            <a:endParaRPr lang="fr-BE"/>
          </a:p>
        </p:txBody>
      </p:sp>
      <p:sp>
        <p:nvSpPr>
          <p:cNvPr id="10" name="Text 6"/>
          <p:cNvSpPr txBox="1"/>
          <p:nvPr/>
        </p:nvSpPr>
        <p:spPr>
          <a:xfrm>
            <a:off x="8778240" y="1965960"/>
            <a:ext cx="2606040" cy="3657600"/>
          </a:xfrm>
          <a:prstGeom prst="rect">
            <a:avLst/>
          </a:prstGeom>
          <a:noFill/>
          <a:ln/>
        </p:spPr>
        <p:txBody>
          <a:bodyPr wrap="square" lIns="0" tIns="0" rIns="0" bIns="0" rtlCol="0" anchor="t"/>
          <a:lstStyle/>
          <a:p>
            <a:pPr marL="0" indent="0">
              <a:buNone/>
            </a:pPr>
            <a:r>
              <a:rPr lang="en-US" sz="1700" b="1" dirty="0">
                <a:solidFill>
                  <a:srgbClr val="E8590C"/>
                </a:solidFill>
                <a:latin typeface="Calibri" pitchFamily="34" charset="0"/>
                <a:ea typeface="Calibri" pitchFamily="34" charset="-122"/>
                <a:cs typeface="Calibri" pitchFamily="34" charset="-120"/>
              </a:rPr>
              <a:t>Ce qu'on lit</a:t>
            </a:r>
            <a:endParaRPr lang="en-US" sz="1700" dirty="0"/>
          </a:p>
          <a:p>
            <a:pPr marL="0" indent="0">
              <a:buNone/>
            </a:pPr>
            <a:r>
              <a:rPr lang="en-US" sz="1500" dirty="0">
                <a:solidFill>
                  <a:srgbClr val="16181D"/>
                </a:solidFill>
                <a:latin typeface="Calibri" pitchFamily="34" charset="0"/>
                <a:ea typeface="Calibri" pitchFamily="34" charset="-122"/>
                <a:cs typeface="Calibri" pitchFamily="34" charset="-120"/>
              </a:rPr>
              <a:t>2 listes fermées (enum)
Des attributs privés (-)
3 opérations publiques (+)
1 contrainte {non vide}
1 association 0..* → 1
</a:t>
            </a:r>
            <a:endParaRPr lang="en-US" sz="1700" dirty="0"/>
          </a:p>
          <a:p>
            <a:pPr marL="0" indent="0">
              <a:buNone/>
            </a:pPr>
            <a:endParaRPr lang="en-US" sz="1700" dirty="0"/>
          </a:p>
          <a:p>
            <a:pPr marL="0" indent="0">
              <a:buNone/>
            </a:pPr>
            <a:r>
              <a:rPr lang="en-US" sz="1700" b="1" dirty="0">
                <a:solidFill>
                  <a:srgbClr val="16181D"/>
                </a:solidFill>
                <a:latin typeface="Calibri" pitchFamily="34" charset="0"/>
                <a:ea typeface="Calibri" pitchFamily="34" charset="-122"/>
                <a:cs typeface="Calibri" pitchFamily="34" charset="-120"/>
              </a:rPr>
              <a:t>Séance 2</a:t>
            </a:r>
            <a:endParaRPr lang="en-US" sz="1700" dirty="0"/>
          </a:p>
          <a:p>
            <a:pPr marL="0" indent="0">
              <a:buNone/>
            </a:pPr>
            <a:r>
              <a:rPr lang="en-US" sz="1500" dirty="0">
                <a:solidFill>
                  <a:srgbClr val="5F6670"/>
                </a:solidFill>
                <a:latin typeface="Calibri" pitchFamily="34" charset="0"/>
                <a:ea typeface="Calibri" pitchFamily="34" charset="-122"/>
                <a:cs typeface="Calibri" pitchFamily="34" charset="-120"/>
              </a:rPr>
              <a:t>Analystes, commentaires, héritage</a:t>
            </a:r>
            <a:endParaRPr lang="en-US" sz="17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UML EN 2026</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Pourquoi on dessine encore, en 2026 ?</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61</a:t>
            </a:r>
            <a:endParaRPr lang="en-US" sz="1000" dirty="0"/>
          </a:p>
        </p:txBody>
      </p:sp>
      <p:sp>
        <p:nvSpPr>
          <p:cNvPr id="8" name="Shape 5"/>
          <p:cNvSpPr/>
          <p:nvPr/>
        </p:nvSpPr>
        <p:spPr>
          <a:xfrm>
            <a:off x="640080" y="1783080"/>
            <a:ext cx="5303520" cy="1554480"/>
          </a:xfrm>
          <a:prstGeom prst="roundRect">
            <a:avLst>
              <a:gd name="adj" fmla="val 4706"/>
            </a:avLst>
          </a:prstGeom>
          <a:solidFill>
            <a:srgbClr val="F2F3F5"/>
          </a:solidFill>
          <a:ln w="12700">
            <a:solidFill>
              <a:srgbClr val="F2F3F5"/>
            </a:solidFill>
            <a:prstDash val="solid"/>
          </a:ln>
        </p:spPr>
        <p:txBody>
          <a:bodyPr/>
          <a:lstStyle/>
          <a:p>
            <a:endParaRPr lang="fr-BE"/>
          </a:p>
        </p:txBody>
      </p:sp>
      <p:sp>
        <p:nvSpPr>
          <p:cNvPr id="9" name="Text 6"/>
          <p:cNvSpPr txBox="1"/>
          <p:nvPr/>
        </p:nvSpPr>
        <p:spPr>
          <a:xfrm>
            <a:off x="960120" y="1965960"/>
            <a:ext cx="4663440" cy="457200"/>
          </a:xfrm>
          <a:prstGeom prst="rect">
            <a:avLst/>
          </a:prstGeom>
          <a:noFill/>
          <a:ln/>
        </p:spPr>
        <p:txBody>
          <a:bodyPr wrap="square" lIns="0" tIns="0" rIns="0" bIns="0" rtlCol="0" anchor="ctr"/>
          <a:lstStyle/>
          <a:p>
            <a:pPr marL="0" indent="0">
              <a:buNone/>
            </a:pPr>
            <a:r>
              <a:rPr lang="en-US" sz="2000" b="1" dirty="0">
                <a:solidFill>
                  <a:srgbClr val="16181D"/>
                </a:solidFill>
                <a:latin typeface="Arial" pitchFamily="34" charset="0"/>
                <a:ea typeface="Arial" pitchFamily="34" charset="-122"/>
                <a:cs typeface="Arial" pitchFamily="34" charset="-120"/>
              </a:rPr>
              <a:t>Se comprendre</a:t>
            </a:r>
            <a:endParaRPr lang="en-US" sz="2000" dirty="0"/>
          </a:p>
        </p:txBody>
      </p:sp>
      <p:sp>
        <p:nvSpPr>
          <p:cNvPr id="10" name="Text 7"/>
          <p:cNvSpPr txBox="1"/>
          <p:nvPr/>
        </p:nvSpPr>
        <p:spPr>
          <a:xfrm>
            <a:off x="960120" y="2468880"/>
            <a:ext cx="4663440" cy="777240"/>
          </a:xfrm>
          <a:prstGeom prst="rect">
            <a:avLst/>
          </a:prstGeom>
          <a:noFill/>
          <a:ln/>
        </p:spPr>
        <p:txBody>
          <a:bodyPr wrap="square" lIns="0" tIns="0" rIns="0" bIns="0" rtlCol="0" anchor="t"/>
          <a:lstStyle/>
          <a:p>
            <a:pPr marL="0" indent="0">
              <a:buNone/>
            </a:pPr>
            <a:r>
              <a:rPr lang="en-US" sz="1600" dirty="0">
                <a:solidFill>
                  <a:srgbClr val="5F6670"/>
                </a:solidFill>
                <a:latin typeface="Calibri" pitchFamily="34" charset="0"/>
                <a:ea typeface="Calibri" pitchFamily="34" charset="-122"/>
                <a:cs typeface="Calibri" pitchFamily="34" charset="-120"/>
              </a:rPr>
              <a:t>Client, analyste, développeur et testeur regardent le même dessin.</a:t>
            </a:r>
            <a:endParaRPr lang="en-US" sz="1600" dirty="0"/>
          </a:p>
        </p:txBody>
      </p:sp>
      <p:sp>
        <p:nvSpPr>
          <p:cNvPr id="11" name="Shape 8"/>
          <p:cNvSpPr/>
          <p:nvPr/>
        </p:nvSpPr>
        <p:spPr>
          <a:xfrm>
            <a:off x="6217920" y="1783080"/>
            <a:ext cx="5303520" cy="1554480"/>
          </a:xfrm>
          <a:prstGeom prst="roundRect">
            <a:avLst>
              <a:gd name="adj" fmla="val 4706"/>
            </a:avLst>
          </a:prstGeom>
          <a:solidFill>
            <a:srgbClr val="F2F3F5"/>
          </a:solidFill>
          <a:ln w="12700">
            <a:solidFill>
              <a:srgbClr val="F2F3F5"/>
            </a:solidFill>
            <a:prstDash val="solid"/>
          </a:ln>
        </p:spPr>
        <p:txBody>
          <a:bodyPr/>
          <a:lstStyle/>
          <a:p>
            <a:endParaRPr lang="fr-BE"/>
          </a:p>
        </p:txBody>
      </p:sp>
      <p:sp>
        <p:nvSpPr>
          <p:cNvPr id="12" name="Text 9"/>
          <p:cNvSpPr txBox="1"/>
          <p:nvPr/>
        </p:nvSpPr>
        <p:spPr>
          <a:xfrm>
            <a:off x="6537960" y="1965960"/>
            <a:ext cx="4663440" cy="457200"/>
          </a:xfrm>
          <a:prstGeom prst="rect">
            <a:avLst/>
          </a:prstGeom>
          <a:noFill/>
          <a:ln/>
        </p:spPr>
        <p:txBody>
          <a:bodyPr wrap="square" lIns="0" tIns="0" rIns="0" bIns="0" rtlCol="0" anchor="ctr"/>
          <a:lstStyle/>
          <a:p>
            <a:pPr marL="0" indent="0">
              <a:buNone/>
            </a:pPr>
            <a:r>
              <a:rPr lang="en-US" sz="2000" b="1" dirty="0">
                <a:solidFill>
                  <a:srgbClr val="16181D"/>
                </a:solidFill>
                <a:latin typeface="Arial" pitchFamily="34" charset="0"/>
                <a:ea typeface="Arial" pitchFamily="34" charset="-122"/>
                <a:cs typeface="Arial" pitchFamily="34" charset="-120"/>
              </a:rPr>
              <a:t>Réfléchir avant de coder</a:t>
            </a:r>
            <a:endParaRPr lang="en-US" sz="2000" dirty="0"/>
          </a:p>
        </p:txBody>
      </p:sp>
      <p:sp>
        <p:nvSpPr>
          <p:cNvPr id="13" name="Text 10"/>
          <p:cNvSpPr txBox="1"/>
          <p:nvPr/>
        </p:nvSpPr>
        <p:spPr>
          <a:xfrm>
            <a:off x="6537960" y="2468880"/>
            <a:ext cx="4663440" cy="777240"/>
          </a:xfrm>
          <a:prstGeom prst="rect">
            <a:avLst/>
          </a:prstGeom>
          <a:noFill/>
          <a:ln/>
        </p:spPr>
        <p:txBody>
          <a:bodyPr wrap="square" lIns="0" tIns="0" rIns="0" bIns="0" rtlCol="0" anchor="t"/>
          <a:lstStyle/>
          <a:p>
            <a:pPr marL="0" indent="0">
              <a:buNone/>
            </a:pPr>
            <a:r>
              <a:rPr lang="en-US" sz="1600" dirty="0">
                <a:solidFill>
                  <a:srgbClr val="5F6670"/>
                </a:solidFill>
                <a:latin typeface="Calibri" pitchFamily="34" charset="0"/>
                <a:ea typeface="Calibri" pitchFamily="34" charset="-122"/>
                <a:cs typeface="Calibri" pitchFamily="34" charset="-120"/>
              </a:rPr>
              <a:t>Corriger un schéma prend 5 minutes. Corriger du code en production prend des jours.</a:t>
            </a:r>
            <a:endParaRPr lang="en-US" sz="1600" dirty="0"/>
          </a:p>
        </p:txBody>
      </p:sp>
      <p:sp>
        <p:nvSpPr>
          <p:cNvPr id="14" name="Shape 11"/>
          <p:cNvSpPr/>
          <p:nvPr/>
        </p:nvSpPr>
        <p:spPr>
          <a:xfrm>
            <a:off x="640080" y="3520440"/>
            <a:ext cx="5303520" cy="1554480"/>
          </a:xfrm>
          <a:prstGeom prst="roundRect">
            <a:avLst>
              <a:gd name="adj" fmla="val 4706"/>
            </a:avLst>
          </a:prstGeom>
          <a:solidFill>
            <a:srgbClr val="F2F3F5"/>
          </a:solidFill>
          <a:ln w="12700">
            <a:solidFill>
              <a:srgbClr val="F2F3F5"/>
            </a:solidFill>
            <a:prstDash val="solid"/>
          </a:ln>
        </p:spPr>
        <p:txBody>
          <a:bodyPr/>
          <a:lstStyle/>
          <a:p>
            <a:endParaRPr lang="fr-BE"/>
          </a:p>
        </p:txBody>
      </p:sp>
      <p:sp>
        <p:nvSpPr>
          <p:cNvPr id="15" name="Text 12"/>
          <p:cNvSpPr txBox="1"/>
          <p:nvPr/>
        </p:nvSpPr>
        <p:spPr>
          <a:xfrm>
            <a:off x="960120" y="3703320"/>
            <a:ext cx="4663440" cy="457200"/>
          </a:xfrm>
          <a:prstGeom prst="rect">
            <a:avLst/>
          </a:prstGeom>
          <a:noFill/>
          <a:ln/>
        </p:spPr>
        <p:txBody>
          <a:bodyPr wrap="square" lIns="0" tIns="0" rIns="0" bIns="0" rtlCol="0" anchor="ctr"/>
          <a:lstStyle/>
          <a:p>
            <a:pPr marL="0" indent="0">
              <a:buNone/>
            </a:pPr>
            <a:r>
              <a:rPr lang="en-US" sz="2000" b="1" dirty="0">
                <a:solidFill>
                  <a:srgbClr val="16181D"/>
                </a:solidFill>
                <a:latin typeface="Arial" pitchFamily="34" charset="0"/>
                <a:ea typeface="Arial" pitchFamily="34" charset="-122"/>
                <a:cs typeface="Arial" pitchFamily="34" charset="-120"/>
              </a:rPr>
              <a:t>Documenter</a:t>
            </a:r>
            <a:endParaRPr lang="en-US" sz="2000" dirty="0"/>
          </a:p>
        </p:txBody>
      </p:sp>
      <p:sp>
        <p:nvSpPr>
          <p:cNvPr id="16" name="Text 13"/>
          <p:cNvSpPr txBox="1"/>
          <p:nvPr/>
        </p:nvSpPr>
        <p:spPr>
          <a:xfrm>
            <a:off x="960120" y="4206240"/>
            <a:ext cx="4663440" cy="777240"/>
          </a:xfrm>
          <a:prstGeom prst="rect">
            <a:avLst/>
          </a:prstGeom>
          <a:noFill/>
          <a:ln/>
        </p:spPr>
        <p:txBody>
          <a:bodyPr wrap="square" lIns="0" tIns="0" rIns="0" bIns="0" rtlCol="0" anchor="t"/>
          <a:lstStyle/>
          <a:p>
            <a:pPr marL="0" indent="0">
              <a:buNone/>
            </a:pPr>
            <a:r>
              <a:rPr lang="en-US" sz="1600" dirty="0">
                <a:solidFill>
                  <a:srgbClr val="5F6670"/>
                </a:solidFill>
                <a:latin typeface="Calibri" pitchFamily="34" charset="0"/>
                <a:ea typeface="Calibri" pitchFamily="34" charset="-122"/>
                <a:cs typeface="Calibri" pitchFamily="34" charset="-120"/>
              </a:rPr>
              <a:t>Le nouveau venu comprend l'application en 10 minutes.</a:t>
            </a:r>
            <a:endParaRPr lang="en-US" sz="1600" dirty="0"/>
          </a:p>
        </p:txBody>
      </p:sp>
      <p:sp>
        <p:nvSpPr>
          <p:cNvPr id="17" name="Shape 14"/>
          <p:cNvSpPr/>
          <p:nvPr/>
        </p:nvSpPr>
        <p:spPr>
          <a:xfrm>
            <a:off x="6217920" y="3520440"/>
            <a:ext cx="5303520" cy="1554480"/>
          </a:xfrm>
          <a:prstGeom prst="roundRect">
            <a:avLst>
              <a:gd name="adj" fmla="val 4706"/>
            </a:avLst>
          </a:prstGeom>
          <a:solidFill>
            <a:srgbClr val="16181D"/>
          </a:solidFill>
          <a:ln w="12700">
            <a:solidFill>
              <a:srgbClr val="16181D"/>
            </a:solidFill>
            <a:prstDash val="solid"/>
          </a:ln>
        </p:spPr>
        <p:txBody>
          <a:bodyPr/>
          <a:lstStyle/>
          <a:p>
            <a:endParaRPr lang="fr-BE"/>
          </a:p>
        </p:txBody>
      </p:sp>
      <p:sp>
        <p:nvSpPr>
          <p:cNvPr id="18" name="Text 15"/>
          <p:cNvSpPr txBox="1"/>
          <p:nvPr/>
        </p:nvSpPr>
        <p:spPr>
          <a:xfrm>
            <a:off x="6537960" y="3703320"/>
            <a:ext cx="4663440" cy="457200"/>
          </a:xfrm>
          <a:prstGeom prst="rect">
            <a:avLst/>
          </a:prstGeom>
          <a:noFill/>
          <a:ln/>
        </p:spPr>
        <p:txBody>
          <a:bodyPr wrap="square" lIns="0" tIns="0" rIns="0" bIns="0" rtlCol="0" anchor="ctr"/>
          <a:lstStyle/>
          <a:p>
            <a:pPr marL="0" indent="0">
              <a:buNone/>
            </a:pPr>
            <a:r>
              <a:rPr lang="en-US" sz="2000" b="1" dirty="0">
                <a:solidFill>
                  <a:srgbClr val="E8590C"/>
                </a:solidFill>
                <a:latin typeface="Arial" pitchFamily="34" charset="0"/>
                <a:ea typeface="Arial" pitchFamily="34" charset="-122"/>
                <a:cs typeface="Arial" pitchFamily="34" charset="-120"/>
              </a:rPr>
              <a:t>Guider l'IA</a:t>
            </a:r>
            <a:endParaRPr lang="en-US" sz="2000" dirty="0"/>
          </a:p>
        </p:txBody>
      </p:sp>
      <p:sp>
        <p:nvSpPr>
          <p:cNvPr id="19" name="Text 16"/>
          <p:cNvSpPr txBox="1"/>
          <p:nvPr/>
        </p:nvSpPr>
        <p:spPr>
          <a:xfrm>
            <a:off x="6537960" y="4206240"/>
            <a:ext cx="4663440" cy="777240"/>
          </a:xfrm>
          <a:prstGeom prst="rect">
            <a:avLst/>
          </a:prstGeom>
          <a:noFill/>
          <a:ln/>
        </p:spPr>
        <p:txBody>
          <a:bodyPr wrap="square" lIns="0" tIns="0" rIns="0" bIns="0" rtlCol="0" anchor="t"/>
          <a:lstStyle/>
          <a:p>
            <a:pPr marL="0" indent="0">
              <a:buNone/>
            </a:pPr>
            <a:r>
              <a:rPr lang="en-US" sz="1600" dirty="0">
                <a:solidFill>
                  <a:srgbClr val="FFFFFF"/>
                </a:solidFill>
                <a:latin typeface="Calibri" pitchFamily="34" charset="0"/>
                <a:ea typeface="Calibri" pitchFamily="34" charset="-122"/>
                <a:cs typeface="Calibri" pitchFamily="34" charset="-120"/>
              </a:rPr>
              <a:t>Un diagramme est un prompt précis : les classes, les liens, les règles.</a:t>
            </a:r>
            <a:endParaRPr lang="en-US" sz="1600" dirty="0"/>
          </a:p>
        </p:txBody>
      </p:sp>
      <p:sp>
        <p:nvSpPr>
          <p:cNvPr id="20" name="Text 17"/>
          <p:cNvSpPr txBox="1"/>
          <p:nvPr/>
        </p:nvSpPr>
        <p:spPr>
          <a:xfrm>
            <a:off x="640080" y="5349240"/>
            <a:ext cx="10911535" cy="411480"/>
          </a:xfrm>
          <a:prstGeom prst="rect">
            <a:avLst/>
          </a:prstGeom>
          <a:noFill/>
          <a:ln/>
        </p:spPr>
        <p:txBody>
          <a:bodyPr wrap="square" lIns="0" tIns="0" rIns="0" bIns="0" rtlCol="0" anchor="ctr"/>
          <a:lstStyle/>
          <a:p>
            <a:pPr marL="0" indent="0">
              <a:buNone/>
            </a:pPr>
            <a:r>
              <a:rPr lang="en-US" sz="1600" i="1" dirty="0">
                <a:solidFill>
                  <a:srgbClr val="5F6670"/>
                </a:solidFill>
                <a:latin typeface="Calibri" pitchFamily="34" charset="0"/>
                <a:ea typeface="Calibri" pitchFamily="34" charset="-122"/>
                <a:cs typeface="Calibri" pitchFamily="34" charset="-120"/>
              </a:rPr>
              <a:t>Ce qui a disparu : les 200 pages de diagrammes avant la première ligne de code.</a:t>
            </a:r>
            <a:endParaRPr lang="en-US" sz="1600" dirty="0"/>
          </a:p>
        </p:txBody>
      </p:sp>
      <p:sp>
        <p:nvSpPr>
          <p:cNvPr id="21" name="Text 18"/>
          <p:cNvSpPr txBox="1"/>
          <p:nvPr/>
        </p:nvSpPr>
        <p:spPr>
          <a:xfrm>
            <a:off x="640080" y="5989320"/>
            <a:ext cx="10911535" cy="320040"/>
          </a:xfrm>
          <a:prstGeom prst="rect">
            <a:avLst/>
          </a:prstGeom>
          <a:noFill/>
          <a:ln/>
        </p:spPr>
        <p:txBody>
          <a:bodyPr wrap="square" lIns="0" tIns="0" rIns="0" bIns="0" rtlCol="0" anchor="ctr"/>
          <a:lstStyle/>
          <a:p>
            <a:pPr marL="0" indent="0">
              <a:buNone/>
            </a:pPr>
            <a:r>
              <a:rPr lang="en-US" sz="1000" i="1" dirty="0">
                <a:solidFill>
                  <a:srgbClr val="5F6670"/>
                </a:solidFill>
                <a:latin typeface="Calibri" pitchFamily="34" charset="0"/>
                <a:ea typeface="Calibri" pitchFamily="34" charset="-122"/>
                <a:cs typeface="Calibri" pitchFamily="34" charset="-120"/>
              </a:rPr>
              <a:t>Source : Manifeste pour le développement agile de logiciels, 2001 (agilemanifesto.org).</a:t>
            </a:r>
            <a:endParaRPr lang="en-US" sz="1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ET LES ALTERNATIVES ?</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UML n'est pas le seul outil</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62</a:t>
            </a:r>
            <a:endParaRPr lang="en-US" sz="10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10908792" cy="3621024"/>
        </p:xfrm>
        <a:graphic>
          <a:graphicData uri="http://schemas.openxmlformats.org/drawingml/2006/table">
            <a:tbl>
              <a:tblPr/>
              <a:tblGrid>
                <a:gridCol w="219456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gridCol w="2587752">
                  <a:extLst>
                    <a:ext uri="{9D8B030D-6E8A-4147-A177-3AD203B41FA5}">
                      <a16:colId xmlns:a16="http://schemas.microsoft.com/office/drawing/2014/main" val="20003"/>
                    </a:ext>
                  </a:extLst>
                </a:gridCol>
              </a:tblGrid>
              <a:tr h="603504">
                <a:tc>
                  <a:txBody>
                    <a:bodyPr/>
                    <a:lstStyle/>
                    <a:p>
                      <a:pPr marL="0" indent="0">
                        <a:buNone/>
                      </a:pPr>
                      <a:r>
                        <a:rPr lang="en-US" sz="1700" b="1" dirty="0">
                          <a:solidFill>
                            <a:srgbClr val="FFFFFF"/>
                          </a:solidFill>
                          <a:latin typeface="Calibri" pitchFamily="34" charset="0"/>
                          <a:ea typeface="Calibri" pitchFamily="34" charset="-122"/>
                          <a:cs typeface="Calibri" pitchFamily="34" charset="-120"/>
                        </a:rPr>
                        <a:t>Modèle</a:t>
                      </a:r>
                      <a:endParaRPr lang="en-US" sz="17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marL="0" indent="0">
                        <a:buNone/>
                      </a:pPr>
                      <a:r>
                        <a:rPr lang="en-US" sz="1700" b="1" dirty="0">
                          <a:solidFill>
                            <a:srgbClr val="FFFFFF"/>
                          </a:solidFill>
                          <a:latin typeface="Calibri" pitchFamily="34" charset="0"/>
                          <a:ea typeface="Calibri" pitchFamily="34" charset="-122"/>
                          <a:cs typeface="Calibri" pitchFamily="34" charset="-120"/>
                        </a:rPr>
                        <a:t>Né en</a:t>
                      </a:r>
                      <a:endParaRPr lang="en-US" sz="17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marL="0" indent="0">
                        <a:buNone/>
                      </a:pPr>
                      <a:r>
                        <a:rPr lang="en-US" sz="1700" b="1" dirty="0">
                          <a:solidFill>
                            <a:srgbClr val="FFFFFF"/>
                          </a:solidFill>
                          <a:latin typeface="Calibri" pitchFamily="34" charset="0"/>
                          <a:ea typeface="Calibri" pitchFamily="34" charset="-122"/>
                          <a:cs typeface="Calibri" pitchFamily="34" charset="-120"/>
                        </a:rPr>
                        <a:t>Répond à la question</a:t>
                      </a:r>
                      <a:endParaRPr lang="en-US" sz="17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marL="0" indent="0">
                        <a:buNone/>
                      </a:pPr>
                      <a:r>
                        <a:rPr lang="en-US" sz="1700" b="1" dirty="0">
                          <a:solidFill>
                            <a:srgbClr val="FFFFFF"/>
                          </a:solidFill>
                          <a:latin typeface="Calibri" pitchFamily="34" charset="0"/>
                          <a:ea typeface="Calibri" pitchFamily="34" charset="-122"/>
                          <a:cs typeface="Calibri" pitchFamily="34" charset="-120"/>
                        </a:rPr>
                        <a:t>Pour qui</a:t>
                      </a:r>
                      <a:endParaRPr lang="en-US" sz="17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extLst>
                  <a:ext uri="{0D108BD9-81ED-4DB2-BD59-A6C34878D82A}">
                    <a16:rowId xmlns:a16="http://schemas.microsoft.com/office/drawing/2014/main" val="10000"/>
                  </a:ext>
                </a:extLst>
              </a:tr>
              <a:tr h="603504">
                <a:tc>
                  <a:txBody>
                    <a:bodyPr/>
                    <a:lstStyle/>
                    <a:p>
                      <a:pPr marL="0" indent="0">
                        <a:buNone/>
                      </a:pPr>
                      <a:r>
                        <a:rPr lang="en-US" sz="1700" dirty="0">
                          <a:solidFill>
                            <a:srgbClr val="16181D"/>
                          </a:solidFill>
                          <a:latin typeface="Calibri" pitchFamily="34" charset="0"/>
                          <a:ea typeface="Calibri" pitchFamily="34" charset="-122"/>
                          <a:cs typeface="Calibri" pitchFamily="34" charset="-120"/>
                        </a:rPr>
                        <a:t>UML</a:t>
                      </a:r>
                      <a:endParaRPr lang="en-US" sz="17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700" dirty="0">
                          <a:solidFill>
                            <a:srgbClr val="16181D"/>
                          </a:solidFill>
                          <a:latin typeface="Calibri" pitchFamily="34" charset="0"/>
                          <a:ea typeface="Calibri" pitchFamily="34" charset="-122"/>
                          <a:cs typeface="Calibri" pitchFamily="34" charset="-120"/>
                        </a:rPr>
                        <a:t>1997</a:t>
                      </a:r>
                      <a:endParaRPr lang="en-US" sz="17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700" dirty="0">
                          <a:solidFill>
                            <a:srgbClr val="16181D"/>
                          </a:solidFill>
                          <a:latin typeface="Calibri" pitchFamily="34" charset="0"/>
                          <a:ea typeface="Calibri" pitchFamily="34" charset="-122"/>
                          <a:cs typeface="Calibri" pitchFamily="34" charset="-120"/>
                        </a:rPr>
                        <a:t>Quels objets, quelles règles ?</a:t>
                      </a:r>
                      <a:endParaRPr lang="en-US" sz="17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700" dirty="0">
                          <a:solidFill>
                            <a:srgbClr val="16181D"/>
                          </a:solidFill>
                          <a:latin typeface="Calibri" pitchFamily="34" charset="0"/>
                          <a:ea typeface="Calibri" pitchFamily="34" charset="-122"/>
                          <a:cs typeface="Calibri" pitchFamily="34" charset="-120"/>
                        </a:rPr>
                        <a:t>Analystes, développeurs</a:t>
                      </a:r>
                      <a:endParaRPr lang="en-US" sz="17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03504">
                <a:tc>
                  <a:txBody>
                    <a:bodyPr/>
                    <a:lstStyle/>
                    <a:p>
                      <a:pPr marL="0" indent="0">
                        <a:buNone/>
                      </a:pPr>
                      <a:r>
                        <a:rPr lang="en-US" sz="1700" dirty="0">
                          <a:solidFill>
                            <a:srgbClr val="16181D"/>
                          </a:solidFill>
                          <a:latin typeface="Calibri" pitchFamily="34" charset="0"/>
                          <a:ea typeface="Calibri" pitchFamily="34" charset="-122"/>
                          <a:cs typeface="Calibri" pitchFamily="34" charset="-120"/>
                        </a:rPr>
                        <a:t>C4 model</a:t>
                      </a:r>
                      <a:endParaRPr lang="en-US" sz="17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marL="0" indent="0">
                        <a:buNone/>
                      </a:pPr>
                      <a:r>
                        <a:rPr lang="en-US" sz="1700" dirty="0">
                          <a:solidFill>
                            <a:srgbClr val="16181D"/>
                          </a:solidFill>
                          <a:latin typeface="Calibri" pitchFamily="34" charset="0"/>
                          <a:ea typeface="Calibri" pitchFamily="34" charset="-122"/>
                          <a:cs typeface="Calibri" pitchFamily="34" charset="-120"/>
                        </a:rPr>
                        <a:t>2006-2011</a:t>
                      </a:r>
                      <a:endParaRPr lang="en-US" sz="17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marL="0" indent="0">
                        <a:buNone/>
                      </a:pPr>
                      <a:r>
                        <a:rPr lang="en-US" sz="1700" dirty="0">
                          <a:solidFill>
                            <a:srgbClr val="16181D"/>
                          </a:solidFill>
                          <a:latin typeface="Calibri" pitchFamily="34" charset="0"/>
                          <a:ea typeface="Calibri" pitchFamily="34" charset="-122"/>
                          <a:cs typeface="Calibri" pitchFamily="34" charset="-120"/>
                        </a:rPr>
                        <a:t>Comment l'application est découpée ?</a:t>
                      </a:r>
                      <a:endParaRPr lang="en-US" sz="17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marL="0" indent="0">
                        <a:buNone/>
                      </a:pPr>
                      <a:r>
                        <a:rPr lang="en-US" sz="1700" dirty="0">
                          <a:solidFill>
                            <a:srgbClr val="16181D"/>
                          </a:solidFill>
                          <a:latin typeface="Calibri" pitchFamily="34" charset="0"/>
                          <a:ea typeface="Calibri" pitchFamily="34" charset="-122"/>
                          <a:cs typeface="Calibri" pitchFamily="34" charset="-120"/>
                        </a:rPr>
                        <a:t>Architectes, équipes</a:t>
                      </a:r>
                      <a:endParaRPr lang="en-US" sz="17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extLst>
                  <a:ext uri="{0D108BD9-81ED-4DB2-BD59-A6C34878D82A}">
                    <a16:rowId xmlns:a16="http://schemas.microsoft.com/office/drawing/2014/main" val="10002"/>
                  </a:ext>
                </a:extLst>
              </a:tr>
              <a:tr h="603504">
                <a:tc>
                  <a:txBody>
                    <a:bodyPr/>
                    <a:lstStyle/>
                    <a:p>
                      <a:pPr marL="0" indent="0">
                        <a:buNone/>
                      </a:pPr>
                      <a:r>
                        <a:rPr lang="en-US" sz="1700" dirty="0">
                          <a:solidFill>
                            <a:srgbClr val="16181D"/>
                          </a:solidFill>
                          <a:latin typeface="Calibri" pitchFamily="34" charset="0"/>
                          <a:ea typeface="Calibri" pitchFamily="34" charset="-122"/>
                          <a:cs typeface="Calibri" pitchFamily="34" charset="-120"/>
                        </a:rPr>
                        <a:t>Event Storming</a:t>
                      </a:r>
                      <a:endParaRPr lang="en-US" sz="17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700" dirty="0">
                          <a:solidFill>
                            <a:srgbClr val="16181D"/>
                          </a:solidFill>
                          <a:latin typeface="Calibri" pitchFamily="34" charset="0"/>
                          <a:ea typeface="Calibri" pitchFamily="34" charset="-122"/>
                          <a:cs typeface="Calibri" pitchFamily="34" charset="-120"/>
                        </a:rPr>
                        <a:t>2013</a:t>
                      </a:r>
                      <a:endParaRPr lang="en-US" sz="17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700" dirty="0">
                          <a:solidFill>
                            <a:srgbClr val="16181D"/>
                          </a:solidFill>
                          <a:latin typeface="Calibri" pitchFamily="34" charset="0"/>
                          <a:ea typeface="Calibri" pitchFamily="34" charset="-122"/>
                          <a:cs typeface="Calibri" pitchFamily="34" charset="-120"/>
                        </a:rPr>
                        <a:t>Que se passe-t-il dans le métier ?</a:t>
                      </a:r>
                      <a:endParaRPr lang="en-US" sz="17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700" dirty="0">
                          <a:solidFill>
                            <a:srgbClr val="16181D"/>
                          </a:solidFill>
                          <a:latin typeface="Calibri" pitchFamily="34" charset="0"/>
                          <a:ea typeface="Calibri" pitchFamily="34" charset="-122"/>
                          <a:cs typeface="Calibri" pitchFamily="34" charset="-120"/>
                        </a:rPr>
                        <a:t>Métier + équipe</a:t>
                      </a:r>
                      <a:endParaRPr lang="en-US" sz="17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03504">
                <a:tc>
                  <a:txBody>
                    <a:bodyPr/>
                    <a:lstStyle/>
                    <a:p>
                      <a:pPr marL="0" indent="0">
                        <a:buNone/>
                      </a:pPr>
                      <a:r>
                        <a:rPr lang="en-US" sz="1700" dirty="0">
                          <a:solidFill>
                            <a:srgbClr val="16181D"/>
                          </a:solidFill>
                          <a:latin typeface="Calibri" pitchFamily="34" charset="0"/>
                          <a:ea typeface="Calibri" pitchFamily="34" charset="-122"/>
                          <a:cs typeface="Calibri" pitchFamily="34" charset="-120"/>
                        </a:rPr>
                        <a:t>Merise (MCD)</a:t>
                      </a:r>
                      <a:endParaRPr lang="en-US" sz="17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marL="0" indent="0">
                        <a:buNone/>
                      </a:pPr>
                      <a:r>
                        <a:rPr lang="en-US" sz="1700" dirty="0">
                          <a:solidFill>
                            <a:srgbClr val="16181D"/>
                          </a:solidFill>
                          <a:latin typeface="Calibri" pitchFamily="34" charset="0"/>
                          <a:ea typeface="Calibri" pitchFamily="34" charset="-122"/>
                          <a:cs typeface="Calibri" pitchFamily="34" charset="-120"/>
                        </a:rPr>
                        <a:t>fin des années 1970</a:t>
                      </a:r>
                      <a:endParaRPr lang="en-US" sz="17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marL="0" indent="0">
                        <a:buNone/>
                      </a:pPr>
                      <a:r>
                        <a:rPr lang="en-US" sz="1700" dirty="0">
                          <a:solidFill>
                            <a:srgbClr val="16181D"/>
                          </a:solidFill>
                          <a:latin typeface="Calibri" pitchFamily="34" charset="0"/>
                          <a:ea typeface="Calibri" pitchFamily="34" charset="-122"/>
                          <a:cs typeface="Calibri" pitchFamily="34" charset="-120"/>
                        </a:rPr>
                        <a:t>Comment ranger les données ?</a:t>
                      </a:r>
                      <a:endParaRPr lang="en-US" sz="17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marL="0" indent="0">
                        <a:buNone/>
                      </a:pPr>
                      <a:r>
                        <a:rPr lang="en-US" sz="1700" dirty="0">
                          <a:solidFill>
                            <a:srgbClr val="16181D"/>
                          </a:solidFill>
                          <a:latin typeface="Calibri" pitchFamily="34" charset="0"/>
                          <a:ea typeface="Calibri" pitchFamily="34" charset="-122"/>
                          <a:cs typeface="Calibri" pitchFamily="34" charset="-120"/>
                        </a:rPr>
                        <a:t>Concepteurs de bases</a:t>
                      </a:r>
                      <a:endParaRPr lang="en-US" sz="17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extLst>
                  <a:ext uri="{0D108BD9-81ED-4DB2-BD59-A6C34878D82A}">
                    <a16:rowId xmlns:a16="http://schemas.microsoft.com/office/drawing/2014/main" val="10004"/>
                  </a:ext>
                </a:extLst>
              </a:tr>
              <a:tr h="603504">
                <a:tc>
                  <a:txBody>
                    <a:bodyPr/>
                    <a:lstStyle/>
                    <a:p>
                      <a:pPr marL="0" indent="0">
                        <a:buNone/>
                      </a:pPr>
                      <a:r>
                        <a:rPr lang="en-US" sz="1700" dirty="0">
                          <a:solidFill>
                            <a:srgbClr val="16181D"/>
                          </a:solidFill>
                          <a:latin typeface="Calibri" pitchFamily="34" charset="0"/>
                          <a:ea typeface="Calibri" pitchFamily="34" charset="-122"/>
                          <a:cs typeface="Calibri" pitchFamily="34" charset="-120"/>
                        </a:rPr>
                        <a:t>BPMN</a:t>
                      </a:r>
                      <a:endParaRPr lang="en-US" sz="17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700" dirty="0">
                          <a:solidFill>
                            <a:srgbClr val="16181D"/>
                          </a:solidFill>
                          <a:latin typeface="Calibri" pitchFamily="34" charset="0"/>
                          <a:ea typeface="Calibri" pitchFamily="34" charset="-122"/>
                          <a:cs typeface="Calibri" pitchFamily="34" charset="-120"/>
                        </a:rPr>
                        <a:t>2004</a:t>
                      </a:r>
                      <a:endParaRPr lang="en-US" sz="17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700" dirty="0">
                          <a:solidFill>
                            <a:srgbClr val="16181D"/>
                          </a:solidFill>
                          <a:latin typeface="Calibri" pitchFamily="34" charset="0"/>
                          <a:ea typeface="Calibri" pitchFamily="34" charset="-122"/>
                          <a:cs typeface="Calibri" pitchFamily="34" charset="-120"/>
                        </a:rPr>
                        <a:t>Quel est le processus, étape par étape ?</a:t>
                      </a:r>
                      <a:endParaRPr lang="en-US" sz="17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700" dirty="0">
                          <a:solidFill>
                            <a:srgbClr val="16181D"/>
                          </a:solidFill>
                          <a:latin typeface="Calibri" pitchFamily="34" charset="0"/>
                          <a:ea typeface="Calibri" pitchFamily="34" charset="-122"/>
                          <a:cs typeface="Calibri" pitchFamily="34" charset="-120"/>
                        </a:rPr>
                        <a:t>Métier, organisation</a:t>
                      </a:r>
                      <a:endParaRPr lang="en-US" sz="17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9" name="Text 5"/>
          <p:cNvSpPr txBox="1"/>
          <p:nvPr/>
        </p:nvSpPr>
        <p:spPr>
          <a:xfrm>
            <a:off x="640080" y="5577840"/>
            <a:ext cx="10911535" cy="411480"/>
          </a:xfrm>
          <a:prstGeom prst="rect">
            <a:avLst/>
          </a:prstGeom>
          <a:noFill/>
          <a:ln/>
        </p:spPr>
        <p:txBody>
          <a:bodyPr wrap="square" lIns="0" tIns="0" rIns="0" bIns="0" rtlCol="0" anchor="ctr"/>
          <a:lstStyle/>
          <a:p>
            <a:pPr marL="0" indent="0">
              <a:buNone/>
            </a:pPr>
            <a:r>
              <a:rPr lang="en-US" sz="1800" b="1" dirty="0">
                <a:solidFill>
                  <a:srgbClr val="16181D"/>
                </a:solidFill>
                <a:latin typeface="Calibri" pitchFamily="34" charset="0"/>
                <a:ea typeface="Calibri" pitchFamily="34" charset="-122"/>
                <a:cs typeface="Calibri" pitchFamily="34" charset="-120"/>
              </a:rPr>
              <a:t>On choisit le schéma selon la question qu'on se pose, et selon qui va le lire.</a:t>
            </a:r>
            <a:endParaRPr lang="en-US" sz="1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ALTERNATIVE · C4 MODEL</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C4 : zoomer comme dans Google Maps</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63</a:t>
            </a:r>
            <a:endParaRPr lang="en-US" sz="1000" dirty="0"/>
          </a:p>
        </p:txBody>
      </p:sp>
      <p:pic>
        <p:nvPicPr>
          <p:cNvPr id="8" name="Image 0" descr="diag/c4.png"/>
          <p:cNvPicPr>
            <a:picLocks noChangeAspect="1"/>
          </p:cNvPicPr>
          <p:nvPr/>
        </p:nvPicPr>
        <p:blipFill>
          <a:blip r:embed="rId3"/>
          <a:stretch>
            <a:fillRect/>
          </a:stretch>
        </p:blipFill>
        <p:spPr>
          <a:xfrm>
            <a:off x="640080" y="1742991"/>
            <a:ext cx="8046720" cy="3417738"/>
          </a:xfrm>
          <a:prstGeom prst="rect">
            <a:avLst/>
          </a:prstGeom>
        </p:spPr>
      </p:pic>
      <p:sp>
        <p:nvSpPr>
          <p:cNvPr id="9" name="Shape 5"/>
          <p:cNvSpPr/>
          <p:nvPr/>
        </p:nvSpPr>
        <p:spPr>
          <a:xfrm>
            <a:off x="8961120" y="1783080"/>
            <a:ext cx="2560320" cy="640080"/>
          </a:xfrm>
          <a:prstGeom prst="roundRect">
            <a:avLst>
              <a:gd name="adj" fmla="val 11429"/>
            </a:avLst>
          </a:prstGeom>
          <a:solidFill>
            <a:srgbClr val="E8590C"/>
          </a:solidFill>
          <a:ln w="12700">
            <a:solidFill>
              <a:srgbClr val="E8590C"/>
            </a:solidFill>
            <a:prstDash val="solid"/>
          </a:ln>
        </p:spPr>
        <p:txBody>
          <a:bodyPr/>
          <a:lstStyle/>
          <a:p>
            <a:endParaRPr lang="fr-BE"/>
          </a:p>
        </p:txBody>
      </p:sp>
      <p:sp>
        <p:nvSpPr>
          <p:cNvPr id="10" name="Text 6"/>
          <p:cNvSpPr txBox="1"/>
          <p:nvPr/>
        </p:nvSpPr>
        <p:spPr>
          <a:xfrm>
            <a:off x="9144000" y="1783080"/>
            <a:ext cx="2286000" cy="64008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1. Contexte</a:t>
            </a:r>
            <a:endParaRPr lang="en-US" sz="1600" dirty="0"/>
          </a:p>
        </p:txBody>
      </p:sp>
      <p:sp>
        <p:nvSpPr>
          <p:cNvPr id="11" name="Shape 7"/>
          <p:cNvSpPr/>
          <p:nvPr/>
        </p:nvSpPr>
        <p:spPr>
          <a:xfrm>
            <a:off x="8961120" y="2560320"/>
            <a:ext cx="2560320" cy="640080"/>
          </a:xfrm>
          <a:prstGeom prst="roundRect">
            <a:avLst>
              <a:gd name="adj" fmla="val 11429"/>
            </a:avLst>
          </a:prstGeom>
          <a:solidFill>
            <a:srgbClr val="F2F3F5"/>
          </a:solidFill>
          <a:ln w="12700">
            <a:solidFill>
              <a:srgbClr val="F2F3F5"/>
            </a:solidFill>
            <a:prstDash val="solid"/>
          </a:ln>
        </p:spPr>
        <p:txBody>
          <a:bodyPr/>
          <a:lstStyle/>
          <a:p>
            <a:endParaRPr lang="fr-BE"/>
          </a:p>
        </p:txBody>
      </p:sp>
      <p:sp>
        <p:nvSpPr>
          <p:cNvPr id="12" name="Text 8"/>
          <p:cNvSpPr txBox="1"/>
          <p:nvPr/>
        </p:nvSpPr>
        <p:spPr>
          <a:xfrm>
            <a:off x="9144000" y="2560320"/>
            <a:ext cx="2286000" cy="640080"/>
          </a:xfrm>
          <a:prstGeom prst="rect">
            <a:avLst/>
          </a:prstGeom>
          <a:noFill/>
          <a:ln/>
        </p:spPr>
        <p:txBody>
          <a:bodyPr wrap="square" lIns="0" tIns="0" rIns="0" bIns="0" rtlCol="0" anchor="ctr"/>
          <a:lstStyle/>
          <a:p>
            <a:pPr marL="0" indent="0">
              <a:buNone/>
            </a:pPr>
            <a:r>
              <a:rPr lang="en-US" sz="1600" b="1" dirty="0">
                <a:solidFill>
                  <a:srgbClr val="16181D"/>
                </a:solidFill>
                <a:latin typeface="Calibri" pitchFamily="34" charset="0"/>
                <a:ea typeface="Calibri" pitchFamily="34" charset="-122"/>
                <a:cs typeface="Calibri" pitchFamily="34" charset="-120"/>
              </a:rPr>
              <a:t>2. Conteneurs</a:t>
            </a:r>
            <a:endParaRPr lang="en-US" sz="1600" dirty="0"/>
          </a:p>
        </p:txBody>
      </p:sp>
      <p:sp>
        <p:nvSpPr>
          <p:cNvPr id="13" name="Shape 9"/>
          <p:cNvSpPr/>
          <p:nvPr/>
        </p:nvSpPr>
        <p:spPr>
          <a:xfrm>
            <a:off x="8961120" y="3337560"/>
            <a:ext cx="2560320" cy="640080"/>
          </a:xfrm>
          <a:prstGeom prst="roundRect">
            <a:avLst>
              <a:gd name="adj" fmla="val 11429"/>
            </a:avLst>
          </a:prstGeom>
          <a:solidFill>
            <a:srgbClr val="F2F3F5"/>
          </a:solidFill>
          <a:ln w="12700">
            <a:solidFill>
              <a:srgbClr val="F2F3F5"/>
            </a:solidFill>
            <a:prstDash val="solid"/>
          </a:ln>
        </p:spPr>
        <p:txBody>
          <a:bodyPr/>
          <a:lstStyle/>
          <a:p>
            <a:endParaRPr lang="fr-BE"/>
          </a:p>
        </p:txBody>
      </p:sp>
      <p:sp>
        <p:nvSpPr>
          <p:cNvPr id="14" name="Text 10"/>
          <p:cNvSpPr txBox="1"/>
          <p:nvPr/>
        </p:nvSpPr>
        <p:spPr>
          <a:xfrm>
            <a:off x="9144000" y="3337560"/>
            <a:ext cx="2286000" cy="640080"/>
          </a:xfrm>
          <a:prstGeom prst="rect">
            <a:avLst/>
          </a:prstGeom>
          <a:noFill/>
          <a:ln/>
        </p:spPr>
        <p:txBody>
          <a:bodyPr wrap="square" lIns="0" tIns="0" rIns="0" bIns="0" rtlCol="0" anchor="ctr"/>
          <a:lstStyle/>
          <a:p>
            <a:pPr marL="0" indent="0">
              <a:buNone/>
            </a:pPr>
            <a:r>
              <a:rPr lang="en-US" sz="1600" b="1" dirty="0">
                <a:solidFill>
                  <a:srgbClr val="16181D"/>
                </a:solidFill>
                <a:latin typeface="Calibri" pitchFamily="34" charset="0"/>
                <a:ea typeface="Calibri" pitchFamily="34" charset="-122"/>
                <a:cs typeface="Calibri" pitchFamily="34" charset="-120"/>
              </a:rPr>
              <a:t>3. Composants</a:t>
            </a:r>
            <a:endParaRPr lang="en-US" sz="1600" dirty="0"/>
          </a:p>
        </p:txBody>
      </p:sp>
      <p:sp>
        <p:nvSpPr>
          <p:cNvPr id="15" name="Shape 11"/>
          <p:cNvSpPr/>
          <p:nvPr/>
        </p:nvSpPr>
        <p:spPr>
          <a:xfrm>
            <a:off x="8961120" y="4114800"/>
            <a:ext cx="2560320" cy="640080"/>
          </a:xfrm>
          <a:prstGeom prst="roundRect">
            <a:avLst>
              <a:gd name="adj" fmla="val 11429"/>
            </a:avLst>
          </a:prstGeom>
          <a:solidFill>
            <a:srgbClr val="F2F3F5"/>
          </a:solidFill>
          <a:ln w="12700">
            <a:solidFill>
              <a:srgbClr val="F2F3F5"/>
            </a:solidFill>
            <a:prstDash val="solid"/>
          </a:ln>
        </p:spPr>
        <p:txBody>
          <a:bodyPr/>
          <a:lstStyle/>
          <a:p>
            <a:endParaRPr lang="fr-BE"/>
          </a:p>
        </p:txBody>
      </p:sp>
      <p:sp>
        <p:nvSpPr>
          <p:cNvPr id="16" name="Text 12"/>
          <p:cNvSpPr txBox="1"/>
          <p:nvPr/>
        </p:nvSpPr>
        <p:spPr>
          <a:xfrm>
            <a:off x="9144000" y="4114800"/>
            <a:ext cx="2286000" cy="640080"/>
          </a:xfrm>
          <a:prstGeom prst="rect">
            <a:avLst/>
          </a:prstGeom>
          <a:noFill/>
          <a:ln/>
        </p:spPr>
        <p:txBody>
          <a:bodyPr wrap="square" lIns="0" tIns="0" rIns="0" bIns="0" rtlCol="0" anchor="ctr"/>
          <a:lstStyle/>
          <a:p>
            <a:pPr marL="0" indent="0">
              <a:buNone/>
            </a:pPr>
            <a:r>
              <a:rPr lang="en-US" sz="1600" b="1" dirty="0">
                <a:solidFill>
                  <a:srgbClr val="16181D"/>
                </a:solidFill>
                <a:latin typeface="Calibri" pitchFamily="34" charset="0"/>
                <a:ea typeface="Calibri" pitchFamily="34" charset="-122"/>
                <a:cs typeface="Calibri" pitchFamily="34" charset="-120"/>
              </a:rPr>
              <a:t>4. Code</a:t>
            </a:r>
            <a:endParaRPr lang="en-US" sz="1600" dirty="0"/>
          </a:p>
        </p:txBody>
      </p:sp>
      <p:sp>
        <p:nvSpPr>
          <p:cNvPr id="17" name="Text 13"/>
          <p:cNvSpPr txBox="1"/>
          <p:nvPr/>
        </p:nvSpPr>
        <p:spPr>
          <a:xfrm>
            <a:off x="8961120" y="4892040"/>
            <a:ext cx="2560320" cy="365760"/>
          </a:xfrm>
          <a:prstGeom prst="rect">
            <a:avLst/>
          </a:prstGeom>
          <a:noFill/>
          <a:ln/>
        </p:spPr>
        <p:txBody>
          <a:bodyPr wrap="square" lIns="0" tIns="0" rIns="0" bIns="0" rtlCol="0" anchor="ctr"/>
          <a:lstStyle/>
          <a:p>
            <a:pPr marL="0" indent="0">
              <a:buNone/>
            </a:pPr>
            <a:r>
              <a:rPr lang="en-US" sz="1300" i="1" dirty="0">
                <a:solidFill>
                  <a:srgbClr val="5F6670"/>
                </a:solidFill>
                <a:latin typeface="Calibri" pitchFamily="34" charset="0"/>
                <a:ea typeface="Calibri" pitchFamily="34" charset="-122"/>
                <a:cs typeface="Calibri" pitchFamily="34" charset="-120"/>
              </a:rPr>
              <a:t>Ci-contre : niveau 1</a:t>
            </a:r>
            <a:endParaRPr lang="en-US" sz="1300" dirty="0"/>
          </a:p>
        </p:txBody>
      </p:sp>
      <p:sp>
        <p:nvSpPr>
          <p:cNvPr id="18" name="Shape 14"/>
          <p:cNvSpPr/>
          <p:nvPr/>
        </p:nvSpPr>
        <p:spPr>
          <a:xfrm>
            <a:off x="640080" y="5321808"/>
            <a:ext cx="10911535" cy="566928"/>
          </a:xfrm>
          <a:prstGeom prst="roundRect">
            <a:avLst>
              <a:gd name="adj" fmla="val 12903"/>
            </a:avLst>
          </a:prstGeom>
          <a:solidFill>
            <a:srgbClr val="16181D"/>
          </a:solidFill>
          <a:ln w="12700">
            <a:solidFill>
              <a:srgbClr val="16181D"/>
            </a:solidFill>
            <a:prstDash val="solid"/>
          </a:ln>
        </p:spPr>
        <p:txBody>
          <a:bodyPr/>
          <a:lstStyle/>
          <a:p>
            <a:endParaRPr lang="fr-BE"/>
          </a:p>
        </p:txBody>
      </p:sp>
      <p:sp>
        <p:nvSpPr>
          <p:cNvPr id="19" name="Text 15"/>
          <p:cNvSpPr txBox="1"/>
          <p:nvPr/>
        </p:nvSpPr>
        <p:spPr>
          <a:xfrm>
            <a:off x="914400" y="5321808"/>
            <a:ext cx="10362895" cy="566928"/>
          </a:xfrm>
          <a:prstGeom prst="rect">
            <a:avLst/>
          </a:prstGeom>
          <a:noFill/>
          <a:ln/>
        </p:spPr>
        <p:txBody>
          <a:bodyPr wrap="square" lIns="0" tIns="0" rIns="0" bIns="0" rtlCol="0" anchor="ctr"/>
          <a:lstStyle/>
          <a:p>
            <a:pPr marL="0" indent="0">
              <a:buNone/>
            </a:pPr>
            <a:r>
              <a:rPr lang="en-US" sz="1500" b="1" dirty="0">
                <a:solidFill>
                  <a:srgbClr val="E8590C"/>
                </a:solidFill>
                <a:latin typeface="Calibri" pitchFamily="34" charset="0"/>
                <a:ea typeface="Calibri" pitchFamily="34" charset="-122"/>
                <a:cs typeface="Calibri" pitchFamily="34" charset="-120"/>
              </a:rPr>
              <a:t>La philosophie  </a:t>
            </a:r>
            <a:r>
              <a:rPr lang="en-US" sz="1500" dirty="0">
                <a:solidFill>
                  <a:srgbClr val="FFFFFF"/>
                </a:solidFill>
                <a:latin typeface="Calibri" pitchFamily="34" charset="0"/>
                <a:ea typeface="Calibri" pitchFamily="34" charset="-122"/>
                <a:cs typeface="Calibri" pitchFamily="34" charset="-120"/>
              </a:rPr>
              <a:t>les abstractions d'abord, la notation ensuite. Peu importe la forme des boîtes : chaque public a le niveau de zoom qui l'intéresse.</a:t>
            </a:r>
            <a:endParaRPr lang="en-US" sz="1500" dirty="0"/>
          </a:p>
        </p:txBody>
      </p:sp>
      <p:sp>
        <p:nvSpPr>
          <p:cNvPr id="20" name="Text 16"/>
          <p:cNvSpPr txBox="1"/>
          <p:nvPr/>
        </p:nvSpPr>
        <p:spPr>
          <a:xfrm>
            <a:off x="640080" y="5989320"/>
            <a:ext cx="10911535" cy="320040"/>
          </a:xfrm>
          <a:prstGeom prst="rect">
            <a:avLst/>
          </a:prstGeom>
          <a:noFill/>
          <a:ln/>
        </p:spPr>
        <p:txBody>
          <a:bodyPr wrap="square" lIns="0" tIns="0" rIns="0" bIns="0" rtlCol="0" anchor="ctr"/>
          <a:lstStyle/>
          <a:p>
            <a:pPr marL="0" indent="0">
              <a:buNone/>
            </a:pPr>
            <a:r>
              <a:rPr lang="en-US" sz="1000" i="1" dirty="0">
                <a:solidFill>
                  <a:srgbClr val="5F6670"/>
                </a:solidFill>
                <a:latin typeface="Calibri" pitchFamily="34" charset="0"/>
                <a:ea typeface="Calibri" pitchFamily="34" charset="-122"/>
                <a:cs typeface="Calibri" pitchFamily="34" charset="-120"/>
              </a:rPr>
              <a:t>Source : Simon Brown, c4model.com. Diagramme généré avec C4-PlantUML.</a:t>
            </a:r>
            <a:endParaRPr lang="en-US" sz="10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ALTERNATIVE · EVENT STORMING</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Event Storming : le métier sur un mur de post-its</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64</a:t>
            </a:r>
            <a:endParaRPr lang="en-US" sz="1000" dirty="0"/>
          </a:p>
        </p:txBody>
      </p:sp>
      <p:sp>
        <p:nvSpPr>
          <p:cNvPr id="8" name="Shape 5"/>
          <p:cNvSpPr/>
          <p:nvPr/>
        </p:nvSpPr>
        <p:spPr>
          <a:xfrm>
            <a:off x="640080" y="1783080"/>
            <a:ext cx="1188720" cy="640080"/>
          </a:xfrm>
          <a:prstGeom prst="rect">
            <a:avLst/>
          </a:prstGeom>
          <a:solidFill>
            <a:srgbClr val="F7DC6F"/>
          </a:solidFill>
          <a:ln w="12700">
            <a:solidFill>
              <a:srgbClr val="F7DC6F"/>
            </a:solidFill>
            <a:prstDash val="solid"/>
          </a:ln>
          <a:effectLst>
            <a:outerShdw blurRad="38100" dist="25400" dir="2700000" algn="bl" rotWithShape="0">
              <a:srgbClr val="000000">
                <a:alpha val="20000"/>
              </a:srgbClr>
            </a:outerShdw>
          </a:effectLst>
        </p:spPr>
        <p:txBody>
          <a:bodyPr/>
          <a:lstStyle/>
          <a:p>
            <a:endParaRPr lang="fr-BE"/>
          </a:p>
        </p:txBody>
      </p:sp>
      <p:sp>
        <p:nvSpPr>
          <p:cNvPr id="9" name="Text 6"/>
          <p:cNvSpPr txBox="1"/>
          <p:nvPr/>
        </p:nvSpPr>
        <p:spPr>
          <a:xfrm>
            <a:off x="713232" y="1828800"/>
            <a:ext cx="1042416" cy="548640"/>
          </a:xfrm>
          <a:prstGeom prst="rect">
            <a:avLst/>
          </a:prstGeom>
          <a:noFill/>
          <a:ln/>
        </p:spPr>
        <p:txBody>
          <a:bodyPr wrap="square" lIns="0" tIns="0" rIns="0" bIns="0" rtlCol="0" anchor="ctr"/>
          <a:lstStyle/>
          <a:p>
            <a:pPr marL="0" indent="0" algn="ctr">
              <a:buNone/>
            </a:pPr>
            <a:r>
              <a:rPr lang="en-US" sz="1300" b="1" dirty="0">
                <a:solidFill>
                  <a:srgbClr val="16181D"/>
                </a:solidFill>
                <a:latin typeface="Calibri" pitchFamily="34" charset="0"/>
                <a:ea typeface="Calibri" pitchFamily="34" charset="-122"/>
                <a:cs typeface="Calibri" pitchFamily="34" charset="-120"/>
              </a:rPr>
              <a:t>Déclarant</a:t>
            </a:r>
            <a:endParaRPr lang="en-US" sz="1300" dirty="0"/>
          </a:p>
        </p:txBody>
      </p:sp>
      <p:sp>
        <p:nvSpPr>
          <p:cNvPr id="10" name="Shape 7"/>
          <p:cNvSpPr/>
          <p:nvPr/>
        </p:nvSpPr>
        <p:spPr>
          <a:xfrm>
            <a:off x="731520" y="2514600"/>
            <a:ext cx="1463040" cy="1005840"/>
          </a:xfrm>
          <a:prstGeom prst="rect">
            <a:avLst/>
          </a:prstGeom>
          <a:solidFill>
            <a:srgbClr val="5DADE2"/>
          </a:solidFill>
          <a:ln w="12700">
            <a:solidFill>
              <a:srgbClr val="5DADE2"/>
            </a:solidFill>
            <a:prstDash val="solid"/>
          </a:ln>
          <a:effectLst>
            <a:outerShdw blurRad="38100" dist="25400" dir="2700000" algn="bl" rotWithShape="0">
              <a:srgbClr val="000000">
                <a:alpha val="20000"/>
              </a:srgbClr>
            </a:outerShdw>
          </a:effectLst>
        </p:spPr>
        <p:txBody>
          <a:bodyPr/>
          <a:lstStyle/>
          <a:p>
            <a:endParaRPr lang="fr-BE"/>
          </a:p>
        </p:txBody>
      </p:sp>
      <p:sp>
        <p:nvSpPr>
          <p:cNvPr id="11" name="Text 8"/>
          <p:cNvSpPr txBox="1"/>
          <p:nvPr/>
        </p:nvSpPr>
        <p:spPr>
          <a:xfrm>
            <a:off x="804672" y="2560320"/>
            <a:ext cx="1316736" cy="914400"/>
          </a:xfrm>
          <a:prstGeom prst="rect">
            <a:avLst/>
          </a:prstGeom>
          <a:noFill/>
          <a:ln/>
        </p:spPr>
        <p:txBody>
          <a:bodyPr wrap="square" lIns="0" tIns="0" rIns="0" bIns="0" rtlCol="0" anchor="ctr"/>
          <a:lstStyle/>
          <a:p>
            <a:pPr marL="0" indent="0" algn="ctr">
              <a:buNone/>
            </a:pPr>
            <a:r>
              <a:rPr lang="en-US" sz="1300" b="1" dirty="0">
                <a:solidFill>
                  <a:srgbClr val="16181D"/>
                </a:solidFill>
                <a:latin typeface="Calibri" pitchFamily="34" charset="0"/>
                <a:ea typeface="Calibri" pitchFamily="34" charset="-122"/>
                <a:cs typeface="Calibri" pitchFamily="34" charset="-120"/>
              </a:rPr>
              <a:t>Signaler un incident</a:t>
            </a:r>
            <a:endParaRPr lang="en-US" sz="1300" dirty="0"/>
          </a:p>
        </p:txBody>
      </p:sp>
      <p:sp>
        <p:nvSpPr>
          <p:cNvPr id="12" name="Shape 9"/>
          <p:cNvSpPr/>
          <p:nvPr/>
        </p:nvSpPr>
        <p:spPr>
          <a:xfrm>
            <a:off x="2377440" y="2514600"/>
            <a:ext cx="1463040" cy="1005840"/>
          </a:xfrm>
          <a:prstGeom prst="rect">
            <a:avLst/>
          </a:prstGeom>
          <a:solidFill>
            <a:srgbClr val="FF9F43"/>
          </a:solidFill>
          <a:ln w="12700">
            <a:solidFill>
              <a:srgbClr val="FF9F43"/>
            </a:solidFill>
            <a:prstDash val="solid"/>
          </a:ln>
          <a:effectLst>
            <a:outerShdw blurRad="38100" dist="25400" dir="2700000" algn="bl" rotWithShape="0">
              <a:srgbClr val="000000">
                <a:alpha val="20000"/>
              </a:srgbClr>
            </a:outerShdw>
          </a:effectLst>
        </p:spPr>
        <p:txBody>
          <a:bodyPr/>
          <a:lstStyle/>
          <a:p>
            <a:endParaRPr lang="fr-BE"/>
          </a:p>
        </p:txBody>
      </p:sp>
      <p:sp>
        <p:nvSpPr>
          <p:cNvPr id="13" name="Text 10"/>
          <p:cNvSpPr txBox="1"/>
          <p:nvPr/>
        </p:nvSpPr>
        <p:spPr>
          <a:xfrm>
            <a:off x="2450592" y="2560320"/>
            <a:ext cx="1316736" cy="914400"/>
          </a:xfrm>
          <a:prstGeom prst="rect">
            <a:avLst/>
          </a:prstGeom>
          <a:noFill/>
          <a:ln/>
        </p:spPr>
        <p:txBody>
          <a:bodyPr wrap="square" lIns="0" tIns="0" rIns="0" bIns="0" rtlCol="0" anchor="ctr"/>
          <a:lstStyle/>
          <a:p>
            <a:pPr marL="0" indent="0" algn="ctr">
              <a:buNone/>
            </a:pPr>
            <a:r>
              <a:rPr lang="en-US" sz="1300" b="1" dirty="0">
                <a:solidFill>
                  <a:srgbClr val="16181D"/>
                </a:solidFill>
                <a:latin typeface="Calibri" pitchFamily="34" charset="0"/>
                <a:ea typeface="Calibri" pitchFamily="34" charset="-122"/>
                <a:cs typeface="Calibri" pitchFamily="34" charset="-120"/>
              </a:rPr>
              <a:t>Incident signalé</a:t>
            </a:r>
            <a:endParaRPr lang="en-US" sz="1300" dirty="0"/>
          </a:p>
        </p:txBody>
      </p:sp>
      <p:sp>
        <p:nvSpPr>
          <p:cNvPr id="14" name="Shape 11"/>
          <p:cNvSpPr/>
          <p:nvPr/>
        </p:nvSpPr>
        <p:spPr>
          <a:xfrm>
            <a:off x="4023360" y="2514600"/>
            <a:ext cx="1463040" cy="1005840"/>
          </a:xfrm>
          <a:prstGeom prst="rect">
            <a:avLst/>
          </a:prstGeom>
          <a:solidFill>
            <a:srgbClr val="C39BD3"/>
          </a:solidFill>
          <a:ln w="12700">
            <a:solidFill>
              <a:srgbClr val="C39BD3"/>
            </a:solidFill>
            <a:prstDash val="solid"/>
          </a:ln>
          <a:effectLst>
            <a:outerShdw blurRad="38100" dist="25400" dir="2700000" algn="bl" rotWithShape="0">
              <a:srgbClr val="000000">
                <a:alpha val="20000"/>
              </a:srgbClr>
            </a:outerShdw>
          </a:effectLst>
        </p:spPr>
        <p:txBody>
          <a:bodyPr/>
          <a:lstStyle/>
          <a:p>
            <a:endParaRPr lang="fr-BE"/>
          </a:p>
        </p:txBody>
      </p:sp>
      <p:sp>
        <p:nvSpPr>
          <p:cNvPr id="15" name="Text 12"/>
          <p:cNvSpPr txBox="1"/>
          <p:nvPr/>
        </p:nvSpPr>
        <p:spPr>
          <a:xfrm>
            <a:off x="4096512" y="2560320"/>
            <a:ext cx="1316736" cy="914400"/>
          </a:xfrm>
          <a:prstGeom prst="rect">
            <a:avLst/>
          </a:prstGeom>
          <a:noFill/>
          <a:ln/>
        </p:spPr>
        <p:txBody>
          <a:bodyPr wrap="square" lIns="0" tIns="0" rIns="0" bIns="0" rtlCol="0" anchor="ctr"/>
          <a:lstStyle/>
          <a:p>
            <a:pPr marL="0" indent="0" algn="ctr">
              <a:buNone/>
            </a:pPr>
            <a:r>
              <a:rPr lang="en-US" sz="1300" b="1" dirty="0">
                <a:solidFill>
                  <a:srgbClr val="16181D"/>
                </a:solidFill>
                <a:latin typeface="Calibri" pitchFamily="34" charset="0"/>
                <a:ea typeface="Calibri" pitchFamily="34" charset="-122"/>
                <a:cs typeface="Calibri" pitchFamily="34" charset="-120"/>
              </a:rPr>
              <a:t>Si Critical : prévenir le responsable</a:t>
            </a:r>
            <a:endParaRPr lang="en-US" sz="1300" dirty="0"/>
          </a:p>
        </p:txBody>
      </p:sp>
      <p:sp>
        <p:nvSpPr>
          <p:cNvPr id="16" name="Shape 13"/>
          <p:cNvSpPr/>
          <p:nvPr/>
        </p:nvSpPr>
        <p:spPr>
          <a:xfrm>
            <a:off x="5669280" y="1783080"/>
            <a:ext cx="1188720" cy="640080"/>
          </a:xfrm>
          <a:prstGeom prst="rect">
            <a:avLst/>
          </a:prstGeom>
          <a:solidFill>
            <a:srgbClr val="F7DC6F"/>
          </a:solidFill>
          <a:ln w="12700">
            <a:solidFill>
              <a:srgbClr val="F7DC6F"/>
            </a:solidFill>
            <a:prstDash val="solid"/>
          </a:ln>
          <a:effectLst>
            <a:outerShdw blurRad="38100" dist="25400" dir="2700000" algn="bl" rotWithShape="0">
              <a:srgbClr val="000000">
                <a:alpha val="20000"/>
              </a:srgbClr>
            </a:outerShdw>
          </a:effectLst>
        </p:spPr>
        <p:txBody>
          <a:bodyPr/>
          <a:lstStyle/>
          <a:p>
            <a:endParaRPr lang="fr-BE"/>
          </a:p>
        </p:txBody>
      </p:sp>
      <p:sp>
        <p:nvSpPr>
          <p:cNvPr id="17" name="Text 14"/>
          <p:cNvSpPr txBox="1"/>
          <p:nvPr/>
        </p:nvSpPr>
        <p:spPr>
          <a:xfrm>
            <a:off x="5742432" y="1828800"/>
            <a:ext cx="1042416" cy="548640"/>
          </a:xfrm>
          <a:prstGeom prst="rect">
            <a:avLst/>
          </a:prstGeom>
          <a:noFill/>
          <a:ln/>
        </p:spPr>
        <p:txBody>
          <a:bodyPr wrap="square" lIns="0" tIns="0" rIns="0" bIns="0" rtlCol="0" anchor="ctr"/>
          <a:lstStyle/>
          <a:p>
            <a:pPr marL="0" indent="0" algn="ctr">
              <a:buNone/>
            </a:pPr>
            <a:r>
              <a:rPr lang="en-US" sz="1300" b="1" dirty="0">
                <a:solidFill>
                  <a:srgbClr val="16181D"/>
                </a:solidFill>
                <a:latin typeface="Calibri" pitchFamily="34" charset="0"/>
                <a:ea typeface="Calibri" pitchFamily="34" charset="-122"/>
                <a:cs typeface="Calibri" pitchFamily="34" charset="-120"/>
              </a:rPr>
              <a:t>Analyste</a:t>
            </a:r>
            <a:endParaRPr lang="en-US" sz="1300" dirty="0"/>
          </a:p>
        </p:txBody>
      </p:sp>
      <p:sp>
        <p:nvSpPr>
          <p:cNvPr id="18" name="Shape 15"/>
          <p:cNvSpPr/>
          <p:nvPr/>
        </p:nvSpPr>
        <p:spPr>
          <a:xfrm>
            <a:off x="5669280" y="2514600"/>
            <a:ext cx="1463040" cy="1005840"/>
          </a:xfrm>
          <a:prstGeom prst="rect">
            <a:avLst/>
          </a:prstGeom>
          <a:solidFill>
            <a:srgbClr val="5DADE2"/>
          </a:solidFill>
          <a:ln w="12700">
            <a:solidFill>
              <a:srgbClr val="5DADE2"/>
            </a:solidFill>
            <a:prstDash val="solid"/>
          </a:ln>
          <a:effectLst>
            <a:outerShdw blurRad="38100" dist="25400" dir="2700000" algn="bl" rotWithShape="0">
              <a:srgbClr val="000000">
                <a:alpha val="20000"/>
              </a:srgbClr>
            </a:outerShdw>
          </a:effectLst>
        </p:spPr>
        <p:txBody>
          <a:bodyPr/>
          <a:lstStyle/>
          <a:p>
            <a:endParaRPr lang="fr-BE"/>
          </a:p>
        </p:txBody>
      </p:sp>
      <p:sp>
        <p:nvSpPr>
          <p:cNvPr id="19" name="Text 16"/>
          <p:cNvSpPr txBox="1"/>
          <p:nvPr/>
        </p:nvSpPr>
        <p:spPr>
          <a:xfrm>
            <a:off x="5742432" y="2560320"/>
            <a:ext cx="1316736" cy="914400"/>
          </a:xfrm>
          <a:prstGeom prst="rect">
            <a:avLst/>
          </a:prstGeom>
          <a:noFill/>
          <a:ln/>
        </p:spPr>
        <p:txBody>
          <a:bodyPr wrap="square" lIns="0" tIns="0" rIns="0" bIns="0" rtlCol="0" anchor="ctr"/>
          <a:lstStyle/>
          <a:p>
            <a:pPr marL="0" indent="0" algn="ctr">
              <a:buNone/>
            </a:pPr>
            <a:r>
              <a:rPr lang="en-US" sz="1300" b="1" dirty="0">
                <a:solidFill>
                  <a:srgbClr val="16181D"/>
                </a:solidFill>
                <a:latin typeface="Calibri" pitchFamily="34" charset="0"/>
                <a:ea typeface="Calibri" pitchFamily="34" charset="-122"/>
                <a:cs typeface="Calibri" pitchFamily="34" charset="-120"/>
              </a:rPr>
              <a:t>Prendre en charge</a:t>
            </a:r>
            <a:endParaRPr lang="en-US" sz="1300" dirty="0"/>
          </a:p>
        </p:txBody>
      </p:sp>
      <p:sp>
        <p:nvSpPr>
          <p:cNvPr id="20" name="Shape 17"/>
          <p:cNvSpPr/>
          <p:nvPr/>
        </p:nvSpPr>
        <p:spPr>
          <a:xfrm>
            <a:off x="7315200" y="2514600"/>
            <a:ext cx="1463040" cy="1005840"/>
          </a:xfrm>
          <a:prstGeom prst="rect">
            <a:avLst/>
          </a:prstGeom>
          <a:solidFill>
            <a:srgbClr val="FF9F43"/>
          </a:solidFill>
          <a:ln w="12700">
            <a:solidFill>
              <a:srgbClr val="FF9F43"/>
            </a:solidFill>
            <a:prstDash val="solid"/>
          </a:ln>
          <a:effectLst>
            <a:outerShdw blurRad="38100" dist="25400" dir="2700000" algn="bl" rotWithShape="0">
              <a:srgbClr val="000000">
                <a:alpha val="20000"/>
              </a:srgbClr>
            </a:outerShdw>
          </a:effectLst>
        </p:spPr>
        <p:txBody>
          <a:bodyPr/>
          <a:lstStyle/>
          <a:p>
            <a:endParaRPr lang="fr-BE"/>
          </a:p>
        </p:txBody>
      </p:sp>
      <p:sp>
        <p:nvSpPr>
          <p:cNvPr id="21" name="Text 18"/>
          <p:cNvSpPr txBox="1"/>
          <p:nvPr/>
        </p:nvSpPr>
        <p:spPr>
          <a:xfrm>
            <a:off x="7388352" y="2560320"/>
            <a:ext cx="1316736" cy="914400"/>
          </a:xfrm>
          <a:prstGeom prst="rect">
            <a:avLst/>
          </a:prstGeom>
          <a:noFill/>
          <a:ln/>
        </p:spPr>
        <p:txBody>
          <a:bodyPr wrap="square" lIns="0" tIns="0" rIns="0" bIns="0" rtlCol="0" anchor="ctr"/>
          <a:lstStyle/>
          <a:p>
            <a:pPr marL="0" indent="0" algn="ctr">
              <a:buNone/>
            </a:pPr>
            <a:r>
              <a:rPr lang="en-US" sz="1300" b="1" dirty="0">
                <a:solidFill>
                  <a:srgbClr val="16181D"/>
                </a:solidFill>
                <a:latin typeface="Calibri" pitchFamily="34" charset="0"/>
                <a:ea typeface="Calibri" pitchFamily="34" charset="-122"/>
                <a:cs typeface="Calibri" pitchFamily="34" charset="-120"/>
              </a:rPr>
              <a:t>Incident pris en charge</a:t>
            </a:r>
            <a:endParaRPr lang="en-US" sz="1300" dirty="0"/>
          </a:p>
        </p:txBody>
      </p:sp>
      <p:sp>
        <p:nvSpPr>
          <p:cNvPr id="22" name="Shape 19"/>
          <p:cNvSpPr/>
          <p:nvPr/>
        </p:nvSpPr>
        <p:spPr>
          <a:xfrm>
            <a:off x="8961120" y="2514600"/>
            <a:ext cx="1463040" cy="1005840"/>
          </a:xfrm>
          <a:prstGeom prst="rect">
            <a:avLst/>
          </a:prstGeom>
          <a:solidFill>
            <a:srgbClr val="FF9F43"/>
          </a:solidFill>
          <a:ln w="12700">
            <a:solidFill>
              <a:srgbClr val="FF9F43"/>
            </a:solidFill>
            <a:prstDash val="solid"/>
          </a:ln>
          <a:effectLst>
            <a:outerShdw blurRad="38100" dist="25400" dir="2700000" algn="bl" rotWithShape="0">
              <a:srgbClr val="000000">
                <a:alpha val="20000"/>
              </a:srgbClr>
            </a:outerShdw>
          </a:effectLst>
        </p:spPr>
        <p:txBody>
          <a:bodyPr/>
          <a:lstStyle/>
          <a:p>
            <a:endParaRPr lang="fr-BE"/>
          </a:p>
        </p:txBody>
      </p:sp>
      <p:sp>
        <p:nvSpPr>
          <p:cNvPr id="23" name="Text 20"/>
          <p:cNvSpPr txBox="1"/>
          <p:nvPr/>
        </p:nvSpPr>
        <p:spPr>
          <a:xfrm>
            <a:off x="9034272" y="2560320"/>
            <a:ext cx="1316736" cy="914400"/>
          </a:xfrm>
          <a:prstGeom prst="rect">
            <a:avLst/>
          </a:prstGeom>
          <a:noFill/>
          <a:ln/>
        </p:spPr>
        <p:txBody>
          <a:bodyPr wrap="square" lIns="0" tIns="0" rIns="0" bIns="0" rtlCol="0" anchor="ctr"/>
          <a:lstStyle/>
          <a:p>
            <a:pPr marL="0" indent="0" algn="ctr">
              <a:buNone/>
            </a:pPr>
            <a:r>
              <a:rPr lang="en-US" sz="1300" b="1" dirty="0">
                <a:solidFill>
                  <a:srgbClr val="16181D"/>
                </a:solidFill>
                <a:latin typeface="Calibri" pitchFamily="34" charset="0"/>
                <a:ea typeface="Calibri" pitchFamily="34" charset="-122"/>
                <a:cs typeface="Calibri" pitchFamily="34" charset="-120"/>
              </a:rPr>
              <a:t>Incident résolu</a:t>
            </a:r>
            <a:endParaRPr lang="en-US" sz="1300" dirty="0"/>
          </a:p>
        </p:txBody>
      </p:sp>
      <p:sp>
        <p:nvSpPr>
          <p:cNvPr id="24" name="Shape 21"/>
          <p:cNvSpPr/>
          <p:nvPr/>
        </p:nvSpPr>
        <p:spPr>
          <a:xfrm>
            <a:off x="8961120" y="3657600"/>
            <a:ext cx="1463040" cy="868680"/>
          </a:xfrm>
          <a:prstGeom prst="rect">
            <a:avLst/>
          </a:prstGeom>
          <a:solidFill>
            <a:srgbClr val="F1948A"/>
          </a:solidFill>
          <a:ln w="12700">
            <a:solidFill>
              <a:srgbClr val="F1948A"/>
            </a:solidFill>
            <a:prstDash val="solid"/>
          </a:ln>
          <a:effectLst>
            <a:outerShdw blurRad="38100" dist="25400" dir="2700000" algn="bl" rotWithShape="0">
              <a:srgbClr val="000000">
                <a:alpha val="20000"/>
              </a:srgbClr>
            </a:outerShdw>
          </a:effectLst>
        </p:spPr>
        <p:txBody>
          <a:bodyPr/>
          <a:lstStyle/>
          <a:p>
            <a:endParaRPr lang="fr-BE"/>
          </a:p>
        </p:txBody>
      </p:sp>
      <p:sp>
        <p:nvSpPr>
          <p:cNvPr id="25" name="Text 22"/>
          <p:cNvSpPr txBox="1"/>
          <p:nvPr/>
        </p:nvSpPr>
        <p:spPr>
          <a:xfrm>
            <a:off x="9034272" y="3703320"/>
            <a:ext cx="1316736" cy="777240"/>
          </a:xfrm>
          <a:prstGeom prst="rect">
            <a:avLst/>
          </a:prstGeom>
          <a:noFill/>
          <a:ln/>
        </p:spPr>
        <p:txBody>
          <a:bodyPr wrap="square" lIns="0" tIns="0" rIns="0" bIns="0" rtlCol="0" anchor="ctr"/>
          <a:lstStyle/>
          <a:p>
            <a:pPr marL="0" indent="0" algn="ctr">
              <a:buNone/>
            </a:pPr>
            <a:r>
              <a:rPr lang="en-US" sz="1300" b="1" dirty="0">
                <a:solidFill>
                  <a:srgbClr val="16181D"/>
                </a:solidFill>
                <a:latin typeface="Calibri" pitchFamily="34" charset="0"/>
                <a:ea typeface="Calibri" pitchFamily="34" charset="-122"/>
                <a:cs typeface="Calibri" pitchFamily="34" charset="-120"/>
              </a:rPr>
              <a:t>Notifier le CCB : qui ? quand ?</a:t>
            </a:r>
            <a:endParaRPr lang="en-US" sz="1300" dirty="0"/>
          </a:p>
        </p:txBody>
      </p:sp>
      <p:sp>
        <p:nvSpPr>
          <p:cNvPr id="26" name="Shape 23"/>
          <p:cNvSpPr/>
          <p:nvPr/>
        </p:nvSpPr>
        <p:spPr>
          <a:xfrm>
            <a:off x="640080" y="4663440"/>
            <a:ext cx="9966960" cy="0"/>
          </a:xfrm>
          <a:prstGeom prst="line">
            <a:avLst/>
          </a:prstGeom>
          <a:noFill/>
          <a:ln w="19050">
            <a:solidFill>
              <a:srgbClr val="5F6670"/>
            </a:solidFill>
            <a:prstDash val="solid"/>
            <a:tailEnd type="triangle"/>
          </a:ln>
        </p:spPr>
        <p:txBody>
          <a:bodyPr/>
          <a:lstStyle/>
          <a:p>
            <a:endParaRPr lang="fr-BE"/>
          </a:p>
        </p:txBody>
      </p:sp>
      <p:sp>
        <p:nvSpPr>
          <p:cNvPr id="27" name="Text 24"/>
          <p:cNvSpPr txBox="1"/>
          <p:nvPr/>
        </p:nvSpPr>
        <p:spPr>
          <a:xfrm>
            <a:off x="10698480" y="4480560"/>
            <a:ext cx="914400" cy="365760"/>
          </a:xfrm>
          <a:prstGeom prst="rect">
            <a:avLst/>
          </a:prstGeom>
          <a:noFill/>
          <a:ln/>
        </p:spPr>
        <p:txBody>
          <a:bodyPr wrap="square" lIns="0" tIns="0" rIns="0" bIns="0" rtlCol="0" anchor="ctr"/>
          <a:lstStyle/>
          <a:p>
            <a:pPr marL="0" indent="0">
              <a:buNone/>
            </a:pPr>
            <a:r>
              <a:rPr lang="en-US" sz="1200" i="1" dirty="0">
                <a:solidFill>
                  <a:srgbClr val="5F6670"/>
                </a:solidFill>
                <a:latin typeface="Calibri" pitchFamily="34" charset="0"/>
                <a:ea typeface="Calibri" pitchFamily="34" charset="-122"/>
                <a:cs typeface="Calibri" pitchFamily="34" charset="-120"/>
              </a:rPr>
              <a:t>temps</a:t>
            </a:r>
            <a:endParaRPr lang="en-US" sz="1200" dirty="0"/>
          </a:p>
        </p:txBody>
      </p:sp>
      <p:sp>
        <p:nvSpPr>
          <p:cNvPr id="28" name="Shape 25"/>
          <p:cNvSpPr/>
          <p:nvPr/>
        </p:nvSpPr>
        <p:spPr>
          <a:xfrm>
            <a:off x="640080" y="4873752"/>
            <a:ext cx="274320" cy="274320"/>
          </a:xfrm>
          <a:prstGeom prst="rect">
            <a:avLst/>
          </a:prstGeom>
          <a:solidFill>
            <a:srgbClr val="FF9F43"/>
          </a:solidFill>
          <a:ln w="12700">
            <a:solidFill>
              <a:srgbClr val="FF9F43"/>
            </a:solidFill>
            <a:prstDash val="solid"/>
          </a:ln>
        </p:spPr>
        <p:txBody>
          <a:bodyPr/>
          <a:lstStyle/>
          <a:p>
            <a:endParaRPr lang="fr-BE"/>
          </a:p>
        </p:txBody>
      </p:sp>
      <p:sp>
        <p:nvSpPr>
          <p:cNvPr id="29" name="Text 26"/>
          <p:cNvSpPr txBox="1"/>
          <p:nvPr/>
        </p:nvSpPr>
        <p:spPr>
          <a:xfrm>
            <a:off x="1005840" y="4828032"/>
            <a:ext cx="1828800" cy="365760"/>
          </a:xfrm>
          <a:prstGeom prst="rect">
            <a:avLst/>
          </a:prstGeom>
          <a:noFill/>
          <a:ln/>
        </p:spPr>
        <p:txBody>
          <a:bodyPr wrap="square" lIns="0" tIns="0" rIns="0" bIns="0" rtlCol="0" anchor="ctr"/>
          <a:lstStyle/>
          <a:p>
            <a:pPr marL="0" indent="0">
              <a:buNone/>
            </a:pPr>
            <a:r>
              <a:rPr lang="en-US" sz="1200" dirty="0">
                <a:solidFill>
                  <a:srgbClr val="16181D"/>
                </a:solidFill>
                <a:latin typeface="Calibri" pitchFamily="34" charset="0"/>
                <a:ea typeface="Calibri" pitchFamily="34" charset="-122"/>
                <a:cs typeface="Calibri" pitchFamily="34" charset="-120"/>
              </a:rPr>
              <a:t>Événement (au passé)</a:t>
            </a:r>
            <a:endParaRPr lang="en-US" sz="1200" dirty="0"/>
          </a:p>
        </p:txBody>
      </p:sp>
      <p:sp>
        <p:nvSpPr>
          <p:cNvPr id="30" name="Shape 27"/>
          <p:cNvSpPr/>
          <p:nvPr/>
        </p:nvSpPr>
        <p:spPr>
          <a:xfrm>
            <a:off x="2834640" y="4873752"/>
            <a:ext cx="274320" cy="274320"/>
          </a:xfrm>
          <a:prstGeom prst="rect">
            <a:avLst/>
          </a:prstGeom>
          <a:solidFill>
            <a:srgbClr val="5DADE2"/>
          </a:solidFill>
          <a:ln w="12700">
            <a:solidFill>
              <a:srgbClr val="5DADE2"/>
            </a:solidFill>
            <a:prstDash val="solid"/>
          </a:ln>
        </p:spPr>
        <p:txBody>
          <a:bodyPr/>
          <a:lstStyle/>
          <a:p>
            <a:endParaRPr lang="fr-BE"/>
          </a:p>
        </p:txBody>
      </p:sp>
      <p:sp>
        <p:nvSpPr>
          <p:cNvPr id="31" name="Text 28"/>
          <p:cNvSpPr txBox="1"/>
          <p:nvPr/>
        </p:nvSpPr>
        <p:spPr>
          <a:xfrm>
            <a:off x="3200400" y="4828032"/>
            <a:ext cx="1828800" cy="365760"/>
          </a:xfrm>
          <a:prstGeom prst="rect">
            <a:avLst/>
          </a:prstGeom>
          <a:noFill/>
          <a:ln/>
        </p:spPr>
        <p:txBody>
          <a:bodyPr wrap="square" lIns="0" tIns="0" rIns="0" bIns="0" rtlCol="0" anchor="ctr"/>
          <a:lstStyle/>
          <a:p>
            <a:pPr marL="0" indent="0">
              <a:buNone/>
            </a:pPr>
            <a:r>
              <a:rPr lang="en-US" sz="1200" dirty="0">
                <a:solidFill>
                  <a:srgbClr val="16181D"/>
                </a:solidFill>
                <a:latin typeface="Calibri" pitchFamily="34" charset="0"/>
                <a:ea typeface="Calibri" pitchFamily="34" charset="-122"/>
                <a:cs typeface="Calibri" pitchFamily="34" charset="-120"/>
              </a:rPr>
              <a:t>Commande</a:t>
            </a:r>
            <a:endParaRPr lang="en-US" sz="1200" dirty="0"/>
          </a:p>
        </p:txBody>
      </p:sp>
      <p:sp>
        <p:nvSpPr>
          <p:cNvPr id="32" name="Shape 29"/>
          <p:cNvSpPr/>
          <p:nvPr/>
        </p:nvSpPr>
        <p:spPr>
          <a:xfrm>
            <a:off x="5029200" y="4873752"/>
            <a:ext cx="274320" cy="274320"/>
          </a:xfrm>
          <a:prstGeom prst="rect">
            <a:avLst/>
          </a:prstGeom>
          <a:solidFill>
            <a:srgbClr val="F7DC6F"/>
          </a:solidFill>
          <a:ln w="12700">
            <a:solidFill>
              <a:srgbClr val="F7DC6F"/>
            </a:solidFill>
            <a:prstDash val="solid"/>
          </a:ln>
        </p:spPr>
        <p:txBody>
          <a:bodyPr/>
          <a:lstStyle/>
          <a:p>
            <a:endParaRPr lang="fr-BE"/>
          </a:p>
        </p:txBody>
      </p:sp>
      <p:sp>
        <p:nvSpPr>
          <p:cNvPr id="33" name="Text 30"/>
          <p:cNvSpPr txBox="1"/>
          <p:nvPr/>
        </p:nvSpPr>
        <p:spPr>
          <a:xfrm>
            <a:off x="5394960" y="4828032"/>
            <a:ext cx="1828800" cy="365760"/>
          </a:xfrm>
          <a:prstGeom prst="rect">
            <a:avLst/>
          </a:prstGeom>
          <a:noFill/>
          <a:ln/>
        </p:spPr>
        <p:txBody>
          <a:bodyPr wrap="square" lIns="0" tIns="0" rIns="0" bIns="0" rtlCol="0" anchor="ctr"/>
          <a:lstStyle/>
          <a:p>
            <a:pPr marL="0" indent="0">
              <a:buNone/>
            </a:pPr>
            <a:r>
              <a:rPr lang="en-US" sz="1200" dirty="0">
                <a:solidFill>
                  <a:srgbClr val="16181D"/>
                </a:solidFill>
                <a:latin typeface="Calibri" pitchFamily="34" charset="0"/>
                <a:ea typeface="Calibri" pitchFamily="34" charset="-122"/>
                <a:cs typeface="Calibri" pitchFamily="34" charset="-120"/>
              </a:rPr>
              <a:t>Acteur</a:t>
            </a:r>
            <a:endParaRPr lang="en-US" sz="1200" dirty="0"/>
          </a:p>
        </p:txBody>
      </p:sp>
      <p:sp>
        <p:nvSpPr>
          <p:cNvPr id="34" name="Shape 31"/>
          <p:cNvSpPr/>
          <p:nvPr/>
        </p:nvSpPr>
        <p:spPr>
          <a:xfrm>
            <a:off x="7223760" y="4873752"/>
            <a:ext cx="274320" cy="274320"/>
          </a:xfrm>
          <a:prstGeom prst="rect">
            <a:avLst/>
          </a:prstGeom>
          <a:solidFill>
            <a:srgbClr val="C39BD3"/>
          </a:solidFill>
          <a:ln w="12700">
            <a:solidFill>
              <a:srgbClr val="C39BD3"/>
            </a:solidFill>
            <a:prstDash val="solid"/>
          </a:ln>
        </p:spPr>
        <p:txBody>
          <a:bodyPr/>
          <a:lstStyle/>
          <a:p>
            <a:endParaRPr lang="fr-BE"/>
          </a:p>
        </p:txBody>
      </p:sp>
      <p:sp>
        <p:nvSpPr>
          <p:cNvPr id="35" name="Text 32"/>
          <p:cNvSpPr txBox="1"/>
          <p:nvPr/>
        </p:nvSpPr>
        <p:spPr>
          <a:xfrm>
            <a:off x="7589520" y="4828032"/>
            <a:ext cx="1828800" cy="365760"/>
          </a:xfrm>
          <a:prstGeom prst="rect">
            <a:avLst/>
          </a:prstGeom>
          <a:noFill/>
          <a:ln/>
        </p:spPr>
        <p:txBody>
          <a:bodyPr wrap="square" lIns="0" tIns="0" rIns="0" bIns="0" rtlCol="0" anchor="ctr"/>
          <a:lstStyle/>
          <a:p>
            <a:pPr marL="0" indent="0">
              <a:buNone/>
            </a:pPr>
            <a:r>
              <a:rPr lang="en-US" sz="1200" dirty="0">
                <a:solidFill>
                  <a:srgbClr val="16181D"/>
                </a:solidFill>
                <a:latin typeface="Calibri" pitchFamily="34" charset="0"/>
                <a:ea typeface="Calibri" pitchFamily="34" charset="-122"/>
                <a:cs typeface="Calibri" pitchFamily="34" charset="-120"/>
              </a:rPr>
              <a:t>Règle automatique</a:t>
            </a:r>
            <a:endParaRPr lang="en-US" sz="1200" dirty="0"/>
          </a:p>
        </p:txBody>
      </p:sp>
      <p:sp>
        <p:nvSpPr>
          <p:cNvPr id="36" name="Shape 33"/>
          <p:cNvSpPr/>
          <p:nvPr/>
        </p:nvSpPr>
        <p:spPr>
          <a:xfrm>
            <a:off x="9418320" y="4873752"/>
            <a:ext cx="274320" cy="274320"/>
          </a:xfrm>
          <a:prstGeom prst="rect">
            <a:avLst/>
          </a:prstGeom>
          <a:solidFill>
            <a:srgbClr val="F1948A"/>
          </a:solidFill>
          <a:ln w="12700">
            <a:solidFill>
              <a:srgbClr val="F1948A"/>
            </a:solidFill>
            <a:prstDash val="solid"/>
          </a:ln>
        </p:spPr>
        <p:txBody>
          <a:bodyPr/>
          <a:lstStyle/>
          <a:p>
            <a:endParaRPr lang="fr-BE"/>
          </a:p>
        </p:txBody>
      </p:sp>
      <p:sp>
        <p:nvSpPr>
          <p:cNvPr id="37" name="Text 34"/>
          <p:cNvSpPr txBox="1"/>
          <p:nvPr/>
        </p:nvSpPr>
        <p:spPr>
          <a:xfrm>
            <a:off x="9784080" y="4828032"/>
            <a:ext cx="1828800" cy="365760"/>
          </a:xfrm>
          <a:prstGeom prst="rect">
            <a:avLst/>
          </a:prstGeom>
          <a:noFill/>
          <a:ln/>
        </p:spPr>
        <p:txBody>
          <a:bodyPr wrap="square" lIns="0" tIns="0" rIns="0" bIns="0" rtlCol="0" anchor="ctr"/>
          <a:lstStyle/>
          <a:p>
            <a:pPr marL="0" indent="0">
              <a:buNone/>
            </a:pPr>
            <a:r>
              <a:rPr lang="en-US" sz="1200" dirty="0">
                <a:solidFill>
                  <a:srgbClr val="16181D"/>
                </a:solidFill>
                <a:latin typeface="Calibri" pitchFamily="34" charset="0"/>
                <a:ea typeface="Calibri" pitchFamily="34" charset="-122"/>
                <a:cs typeface="Calibri" pitchFamily="34" charset="-120"/>
              </a:rPr>
              <a:t>Question ouverte</a:t>
            </a:r>
            <a:endParaRPr lang="en-US" sz="1200" dirty="0"/>
          </a:p>
        </p:txBody>
      </p:sp>
      <p:sp>
        <p:nvSpPr>
          <p:cNvPr id="38" name="Shape 35"/>
          <p:cNvSpPr/>
          <p:nvPr/>
        </p:nvSpPr>
        <p:spPr>
          <a:xfrm>
            <a:off x="640080" y="5321808"/>
            <a:ext cx="10911535" cy="566928"/>
          </a:xfrm>
          <a:prstGeom prst="roundRect">
            <a:avLst>
              <a:gd name="adj" fmla="val 12903"/>
            </a:avLst>
          </a:prstGeom>
          <a:solidFill>
            <a:srgbClr val="16181D"/>
          </a:solidFill>
          <a:ln w="12700">
            <a:solidFill>
              <a:srgbClr val="16181D"/>
            </a:solidFill>
            <a:prstDash val="solid"/>
          </a:ln>
        </p:spPr>
        <p:txBody>
          <a:bodyPr/>
          <a:lstStyle/>
          <a:p>
            <a:endParaRPr lang="fr-BE"/>
          </a:p>
        </p:txBody>
      </p:sp>
      <p:sp>
        <p:nvSpPr>
          <p:cNvPr id="39" name="Text 36"/>
          <p:cNvSpPr txBox="1"/>
          <p:nvPr/>
        </p:nvSpPr>
        <p:spPr>
          <a:xfrm>
            <a:off x="914400" y="5321808"/>
            <a:ext cx="10362895" cy="566928"/>
          </a:xfrm>
          <a:prstGeom prst="rect">
            <a:avLst/>
          </a:prstGeom>
          <a:noFill/>
          <a:ln/>
        </p:spPr>
        <p:txBody>
          <a:bodyPr wrap="square" lIns="0" tIns="0" rIns="0" bIns="0" rtlCol="0" anchor="ctr"/>
          <a:lstStyle/>
          <a:p>
            <a:pPr marL="0" indent="0">
              <a:buNone/>
            </a:pPr>
            <a:r>
              <a:rPr lang="en-US" sz="1500" b="1" dirty="0">
                <a:solidFill>
                  <a:srgbClr val="E8590C"/>
                </a:solidFill>
                <a:latin typeface="Calibri" pitchFamily="34" charset="0"/>
                <a:ea typeface="Calibri" pitchFamily="34" charset="-122"/>
                <a:cs typeface="Calibri" pitchFamily="34" charset="-120"/>
              </a:rPr>
              <a:t>La philosophie  </a:t>
            </a:r>
            <a:r>
              <a:rPr lang="en-US" sz="1500" dirty="0">
                <a:solidFill>
                  <a:srgbClr val="FFFFFF"/>
                </a:solidFill>
                <a:latin typeface="Calibri" pitchFamily="34" charset="0"/>
                <a:ea typeface="Calibri" pitchFamily="34" charset="-122"/>
                <a:cs typeface="Calibri" pitchFamily="34" charset="-120"/>
              </a:rPr>
              <a:t>« c'est la compréhension des développeurs, pas la connaissance des experts, qui part en production ». Alors on les met devant le même mur.</a:t>
            </a:r>
            <a:endParaRPr lang="en-US" sz="1500" dirty="0"/>
          </a:p>
        </p:txBody>
      </p:sp>
      <p:sp>
        <p:nvSpPr>
          <p:cNvPr id="40" name="Text 37"/>
          <p:cNvSpPr txBox="1"/>
          <p:nvPr/>
        </p:nvSpPr>
        <p:spPr>
          <a:xfrm>
            <a:off x="640080" y="5989320"/>
            <a:ext cx="10911535" cy="320040"/>
          </a:xfrm>
          <a:prstGeom prst="rect">
            <a:avLst/>
          </a:prstGeom>
          <a:noFill/>
          <a:ln/>
        </p:spPr>
        <p:txBody>
          <a:bodyPr wrap="square" lIns="0" tIns="0" rIns="0" bIns="0" rtlCol="0" anchor="ctr"/>
          <a:lstStyle/>
          <a:p>
            <a:pPr marL="0" indent="0">
              <a:buNone/>
            </a:pPr>
            <a:r>
              <a:rPr lang="en-US" sz="1000" i="1" dirty="0">
                <a:solidFill>
                  <a:srgbClr val="5F6670"/>
                </a:solidFill>
                <a:latin typeface="Calibri" pitchFamily="34" charset="0"/>
                <a:ea typeface="Calibri" pitchFamily="34" charset="-122"/>
                <a:cs typeface="Calibri" pitchFamily="34" charset="-120"/>
              </a:rPr>
              <a:t>Source : Alberto Brandolini, Introducing EventStorming (Leanpub) ; eventstorming.com.</a:t>
            </a:r>
            <a:endParaRPr lang="en-US" sz="10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ALTERNATIVE · MERISE</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Merise : la méthode française des bases de données</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65</a:t>
            </a:r>
            <a:endParaRPr lang="en-US" sz="1000" dirty="0"/>
          </a:p>
        </p:txBody>
      </p:sp>
      <p:sp>
        <p:nvSpPr>
          <p:cNvPr id="8" name="Shape 5"/>
          <p:cNvSpPr/>
          <p:nvPr/>
        </p:nvSpPr>
        <p:spPr>
          <a:xfrm>
            <a:off x="640080" y="1828800"/>
            <a:ext cx="2743200" cy="548640"/>
          </a:xfrm>
          <a:prstGeom prst="rect">
            <a:avLst/>
          </a:prstGeom>
          <a:solidFill>
            <a:srgbClr val="16181D"/>
          </a:solidFill>
          <a:ln w="12700">
            <a:solidFill>
              <a:srgbClr val="16181D"/>
            </a:solidFill>
            <a:prstDash val="solid"/>
          </a:ln>
        </p:spPr>
        <p:txBody>
          <a:bodyPr/>
          <a:lstStyle/>
          <a:p>
            <a:endParaRPr lang="fr-BE"/>
          </a:p>
        </p:txBody>
      </p:sp>
      <p:sp>
        <p:nvSpPr>
          <p:cNvPr id="9" name="Text 6"/>
          <p:cNvSpPr txBox="1"/>
          <p:nvPr/>
        </p:nvSpPr>
        <p:spPr>
          <a:xfrm>
            <a:off x="640080" y="1828800"/>
            <a:ext cx="274320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UTILISATEUR</a:t>
            </a:r>
            <a:endParaRPr lang="en-US" sz="1600" dirty="0"/>
          </a:p>
        </p:txBody>
      </p:sp>
      <p:sp>
        <p:nvSpPr>
          <p:cNvPr id="10" name="Shape 7"/>
          <p:cNvSpPr/>
          <p:nvPr/>
        </p:nvSpPr>
        <p:spPr>
          <a:xfrm>
            <a:off x="640080" y="2377440"/>
            <a:ext cx="2743200" cy="1371600"/>
          </a:xfrm>
          <a:prstGeom prst="rect">
            <a:avLst/>
          </a:prstGeom>
          <a:solidFill>
            <a:srgbClr val="FFFFFF"/>
          </a:solidFill>
          <a:ln w="19050">
            <a:solidFill>
              <a:srgbClr val="16181D"/>
            </a:solidFill>
            <a:prstDash val="solid"/>
          </a:ln>
        </p:spPr>
        <p:txBody>
          <a:bodyPr/>
          <a:lstStyle/>
          <a:p>
            <a:endParaRPr lang="fr-BE"/>
          </a:p>
        </p:txBody>
      </p:sp>
      <p:sp>
        <p:nvSpPr>
          <p:cNvPr id="11" name="Text 8"/>
          <p:cNvSpPr txBox="1"/>
          <p:nvPr/>
        </p:nvSpPr>
        <p:spPr>
          <a:xfrm>
            <a:off x="822960" y="2487168"/>
            <a:ext cx="2377440" cy="1097280"/>
          </a:xfrm>
          <a:prstGeom prst="rect">
            <a:avLst/>
          </a:prstGeom>
          <a:noFill/>
          <a:ln/>
        </p:spPr>
        <p:txBody>
          <a:bodyPr wrap="square" lIns="0" tIns="0" rIns="0" bIns="0" rtlCol="0" anchor="t"/>
          <a:lstStyle/>
          <a:p>
            <a:pPr marL="0" indent="0">
              <a:buNone/>
            </a:pPr>
            <a:r>
              <a:rPr lang="en-US" sz="1400" b="1" u="sng" dirty="0">
                <a:solidFill>
                  <a:srgbClr val="16181D"/>
                </a:solidFill>
                <a:latin typeface="Consolas" pitchFamily="34" charset="0"/>
                <a:ea typeface="Consolas" pitchFamily="34" charset="-122"/>
                <a:cs typeface="Consolas" pitchFamily="34" charset="-120"/>
              </a:rPr>
              <a:t>id_utilisateur</a:t>
            </a:r>
            <a:endParaRPr lang="en-US" sz="1400" dirty="0"/>
          </a:p>
          <a:p>
            <a:pPr marL="0" indent="0">
              <a:buNone/>
            </a:pPr>
            <a:r>
              <a:rPr lang="en-US" sz="1400" dirty="0">
                <a:solidFill>
                  <a:srgbClr val="16181D"/>
                </a:solidFill>
                <a:latin typeface="Consolas" pitchFamily="34" charset="0"/>
                <a:ea typeface="Consolas" pitchFamily="34" charset="-122"/>
                <a:cs typeface="Consolas" pitchFamily="34" charset="-120"/>
              </a:rPr>
              <a:t>nom</a:t>
            </a:r>
            <a:endParaRPr lang="en-US" sz="1400" dirty="0"/>
          </a:p>
          <a:p>
            <a:pPr marL="0" indent="0">
              <a:buNone/>
            </a:pPr>
            <a:r>
              <a:rPr lang="en-US" sz="1400" dirty="0">
                <a:solidFill>
                  <a:srgbClr val="16181D"/>
                </a:solidFill>
                <a:latin typeface="Consolas" pitchFamily="34" charset="0"/>
                <a:ea typeface="Consolas" pitchFamily="34" charset="-122"/>
                <a:cs typeface="Consolas" pitchFamily="34" charset="-120"/>
              </a:rPr>
              <a:t>email</a:t>
            </a:r>
            <a:endParaRPr lang="en-US" sz="1400" dirty="0"/>
          </a:p>
        </p:txBody>
      </p:sp>
      <p:sp>
        <p:nvSpPr>
          <p:cNvPr id="12" name="Shape 9"/>
          <p:cNvSpPr/>
          <p:nvPr/>
        </p:nvSpPr>
        <p:spPr>
          <a:xfrm>
            <a:off x="7040880" y="1828800"/>
            <a:ext cx="2743200" cy="548640"/>
          </a:xfrm>
          <a:prstGeom prst="rect">
            <a:avLst/>
          </a:prstGeom>
          <a:solidFill>
            <a:srgbClr val="16181D"/>
          </a:solidFill>
          <a:ln w="12700">
            <a:solidFill>
              <a:srgbClr val="16181D"/>
            </a:solidFill>
            <a:prstDash val="solid"/>
          </a:ln>
        </p:spPr>
        <p:txBody>
          <a:bodyPr/>
          <a:lstStyle/>
          <a:p>
            <a:endParaRPr lang="fr-BE"/>
          </a:p>
        </p:txBody>
      </p:sp>
      <p:sp>
        <p:nvSpPr>
          <p:cNvPr id="13" name="Text 10"/>
          <p:cNvSpPr txBox="1"/>
          <p:nvPr/>
        </p:nvSpPr>
        <p:spPr>
          <a:xfrm>
            <a:off x="7040880" y="1828800"/>
            <a:ext cx="274320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INCIDENT</a:t>
            </a:r>
            <a:endParaRPr lang="en-US" sz="1600" dirty="0"/>
          </a:p>
        </p:txBody>
      </p:sp>
      <p:sp>
        <p:nvSpPr>
          <p:cNvPr id="14" name="Shape 11"/>
          <p:cNvSpPr/>
          <p:nvPr/>
        </p:nvSpPr>
        <p:spPr>
          <a:xfrm>
            <a:off x="7040880" y="2377440"/>
            <a:ext cx="2743200" cy="2103120"/>
          </a:xfrm>
          <a:prstGeom prst="rect">
            <a:avLst/>
          </a:prstGeom>
          <a:solidFill>
            <a:srgbClr val="FFFFFF"/>
          </a:solidFill>
          <a:ln w="19050">
            <a:solidFill>
              <a:srgbClr val="16181D"/>
            </a:solidFill>
            <a:prstDash val="solid"/>
          </a:ln>
        </p:spPr>
        <p:txBody>
          <a:bodyPr/>
          <a:lstStyle/>
          <a:p>
            <a:endParaRPr lang="fr-BE"/>
          </a:p>
        </p:txBody>
      </p:sp>
      <p:sp>
        <p:nvSpPr>
          <p:cNvPr id="15" name="Text 12"/>
          <p:cNvSpPr txBox="1"/>
          <p:nvPr/>
        </p:nvSpPr>
        <p:spPr>
          <a:xfrm>
            <a:off x="7223760" y="2487168"/>
            <a:ext cx="2377440" cy="1828800"/>
          </a:xfrm>
          <a:prstGeom prst="rect">
            <a:avLst/>
          </a:prstGeom>
          <a:noFill/>
          <a:ln/>
        </p:spPr>
        <p:txBody>
          <a:bodyPr wrap="square" lIns="0" tIns="0" rIns="0" bIns="0" rtlCol="0" anchor="t"/>
          <a:lstStyle/>
          <a:p>
            <a:pPr marL="0" indent="0">
              <a:buNone/>
            </a:pPr>
            <a:r>
              <a:rPr lang="en-US" sz="1400" b="1" u="sng" dirty="0">
                <a:solidFill>
                  <a:srgbClr val="16181D"/>
                </a:solidFill>
                <a:latin typeface="Consolas" pitchFamily="34" charset="0"/>
                <a:ea typeface="Consolas" pitchFamily="34" charset="-122"/>
                <a:cs typeface="Consolas" pitchFamily="34" charset="-120"/>
              </a:rPr>
              <a:t>id_incident</a:t>
            </a:r>
            <a:endParaRPr lang="en-US" sz="1400" dirty="0"/>
          </a:p>
          <a:p>
            <a:pPr marL="0" indent="0">
              <a:buNone/>
            </a:pPr>
            <a:r>
              <a:rPr lang="en-US" sz="1400" dirty="0">
                <a:solidFill>
                  <a:srgbClr val="16181D"/>
                </a:solidFill>
                <a:latin typeface="Consolas" pitchFamily="34" charset="0"/>
                <a:ea typeface="Consolas" pitchFamily="34" charset="-122"/>
                <a:cs typeface="Consolas" pitchFamily="34" charset="-120"/>
              </a:rPr>
              <a:t>titre</a:t>
            </a:r>
            <a:endParaRPr lang="en-US" sz="1400" dirty="0"/>
          </a:p>
          <a:p>
            <a:pPr marL="0" indent="0">
              <a:buNone/>
            </a:pPr>
            <a:r>
              <a:rPr lang="en-US" sz="1400" dirty="0">
                <a:solidFill>
                  <a:srgbClr val="16181D"/>
                </a:solidFill>
                <a:latin typeface="Consolas" pitchFamily="34" charset="0"/>
                <a:ea typeface="Consolas" pitchFamily="34" charset="-122"/>
                <a:cs typeface="Consolas" pitchFamily="34" charset="-120"/>
              </a:rPr>
              <a:t>gravité</a:t>
            </a:r>
            <a:endParaRPr lang="en-US" sz="1400" dirty="0"/>
          </a:p>
          <a:p>
            <a:pPr marL="0" indent="0">
              <a:buNone/>
            </a:pPr>
            <a:r>
              <a:rPr lang="en-US" sz="1400" dirty="0">
                <a:solidFill>
                  <a:srgbClr val="16181D"/>
                </a:solidFill>
                <a:latin typeface="Consolas" pitchFamily="34" charset="0"/>
                <a:ea typeface="Consolas" pitchFamily="34" charset="-122"/>
                <a:cs typeface="Consolas" pitchFamily="34" charset="-120"/>
              </a:rPr>
              <a:t>statut</a:t>
            </a:r>
            <a:endParaRPr lang="en-US" sz="1400" dirty="0"/>
          </a:p>
          <a:p>
            <a:pPr marL="0" indent="0">
              <a:buNone/>
            </a:pPr>
            <a:r>
              <a:rPr lang="en-US" sz="1400" dirty="0">
                <a:solidFill>
                  <a:srgbClr val="16181D"/>
                </a:solidFill>
                <a:latin typeface="Consolas" pitchFamily="34" charset="0"/>
                <a:ea typeface="Consolas" pitchFamily="34" charset="-122"/>
                <a:cs typeface="Consolas" pitchFamily="34" charset="-120"/>
              </a:rPr>
              <a:t>date_création</a:t>
            </a:r>
            <a:endParaRPr lang="en-US" sz="1400" dirty="0"/>
          </a:p>
        </p:txBody>
      </p:sp>
      <p:sp>
        <p:nvSpPr>
          <p:cNvPr id="16" name="Shape 13"/>
          <p:cNvSpPr/>
          <p:nvPr/>
        </p:nvSpPr>
        <p:spPr>
          <a:xfrm>
            <a:off x="4297680" y="1965960"/>
            <a:ext cx="1828800" cy="914400"/>
          </a:xfrm>
          <a:prstGeom prst="ellipse">
            <a:avLst/>
          </a:prstGeom>
          <a:solidFill>
            <a:srgbClr val="F2F3F5"/>
          </a:solidFill>
          <a:ln w="19050">
            <a:solidFill>
              <a:srgbClr val="16181D"/>
            </a:solidFill>
            <a:prstDash val="solid"/>
          </a:ln>
        </p:spPr>
        <p:txBody>
          <a:bodyPr/>
          <a:lstStyle/>
          <a:p>
            <a:endParaRPr lang="fr-BE"/>
          </a:p>
        </p:txBody>
      </p:sp>
      <p:sp>
        <p:nvSpPr>
          <p:cNvPr id="17" name="Text 14"/>
          <p:cNvSpPr txBox="1"/>
          <p:nvPr/>
        </p:nvSpPr>
        <p:spPr>
          <a:xfrm>
            <a:off x="4297680" y="1965960"/>
            <a:ext cx="1828800" cy="914400"/>
          </a:xfrm>
          <a:prstGeom prst="rect">
            <a:avLst/>
          </a:prstGeom>
          <a:noFill/>
          <a:ln/>
        </p:spPr>
        <p:txBody>
          <a:bodyPr wrap="square" lIns="0" tIns="0" rIns="0" bIns="0" rtlCol="0" anchor="ctr"/>
          <a:lstStyle/>
          <a:p>
            <a:pPr marL="0" indent="0" algn="ctr">
              <a:buNone/>
            </a:pPr>
            <a:r>
              <a:rPr lang="en-US" sz="1400" b="1" dirty="0">
                <a:solidFill>
                  <a:srgbClr val="16181D"/>
                </a:solidFill>
                <a:latin typeface="Arial" pitchFamily="34" charset="0"/>
                <a:ea typeface="Arial" pitchFamily="34" charset="-122"/>
                <a:cs typeface="Arial" pitchFamily="34" charset="-120"/>
              </a:rPr>
              <a:t>DÉCLARER</a:t>
            </a:r>
            <a:endParaRPr lang="en-US" sz="1400" dirty="0"/>
          </a:p>
        </p:txBody>
      </p:sp>
      <p:sp>
        <p:nvSpPr>
          <p:cNvPr id="18" name="Shape 15"/>
          <p:cNvSpPr/>
          <p:nvPr/>
        </p:nvSpPr>
        <p:spPr>
          <a:xfrm>
            <a:off x="3383280" y="2423160"/>
            <a:ext cx="914400" cy="0"/>
          </a:xfrm>
          <a:prstGeom prst="line">
            <a:avLst/>
          </a:prstGeom>
          <a:noFill/>
          <a:ln w="19050">
            <a:solidFill>
              <a:srgbClr val="16181D"/>
            </a:solidFill>
            <a:prstDash val="solid"/>
          </a:ln>
        </p:spPr>
        <p:txBody>
          <a:bodyPr/>
          <a:lstStyle/>
          <a:p>
            <a:endParaRPr lang="fr-BE"/>
          </a:p>
        </p:txBody>
      </p:sp>
      <p:sp>
        <p:nvSpPr>
          <p:cNvPr id="19" name="Shape 16"/>
          <p:cNvSpPr/>
          <p:nvPr/>
        </p:nvSpPr>
        <p:spPr>
          <a:xfrm>
            <a:off x="6126480" y="2423160"/>
            <a:ext cx="914400" cy="0"/>
          </a:xfrm>
          <a:prstGeom prst="line">
            <a:avLst/>
          </a:prstGeom>
          <a:noFill/>
          <a:ln w="19050">
            <a:solidFill>
              <a:srgbClr val="16181D"/>
            </a:solidFill>
            <a:prstDash val="solid"/>
          </a:ln>
        </p:spPr>
        <p:txBody>
          <a:bodyPr/>
          <a:lstStyle/>
          <a:p>
            <a:endParaRPr lang="fr-BE"/>
          </a:p>
        </p:txBody>
      </p:sp>
      <p:sp>
        <p:nvSpPr>
          <p:cNvPr id="20" name="Text 17"/>
          <p:cNvSpPr txBox="1"/>
          <p:nvPr/>
        </p:nvSpPr>
        <p:spPr>
          <a:xfrm>
            <a:off x="3429000" y="2011680"/>
            <a:ext cx="822960" cy="365760"/>
          </a:xfrm>
          <a:prstGeom prst="rect">
            <a:avLst/>
          </a:prstGeom>
          <a:noFill/>
          <a:ln/>
        </p:spPr>
        <p:txBody>
          <a:bodyPr wrap="square" lIns="0" tIns="0" rIns="0" bIns="0" rtlCol="0" anchor="ctr"/>
          <a:lstStyle/>
          <a:p>
            <a:pPr marL="0" indent="0" algn="ctr">
              <a:buNone/>
            </a:pPr>
            <a:r>
              <a:rPr lang="en-US" sz="1600" b="1" dirty="0">
                <a:solidFill>
                  <a:srgbClr val="E8590C"/>
                </a:solidFill>
                <a:latin typeface="Consolas" pitchFamily="34" charset="0"/>
                <a:ea typeface="Consolas" pitchFamily="34" charset="-122"/>
                <a:cs typeface="Consolas" pitchFamily="34" charset="-120"/>
              </a:rPr>
              <a:t>0,n</a:t>
            </a:r>
            <a:endParaRPr lang="en-US" sz="1600" dirty="0"/>
          </a:p>
        </p:txBody>
      </p:sp>
      <p:sp>
        <p:nvSpPr>
          <p:cNvPr id="21" name="Text 18"/>
          <p:cNvSpPr txBox="1"/>
          <p:nvPr/>
        </p:nvSpPr>
        <p:spPr>
          <a:xfrm>
            <a:off x="6172200" y="2011680"/>
            <a:ext cx="822960" cy="365760"/>
          </a:xfrm>
          <a:prstGeom prst="rect">
            <a:avLst/>
          </a:prstGeom>
          <a:noFill/>
          <a:ln/>
        </p:spPr>
        <p:txBody>
          <a:bodyPr wrap="square" lIns="0" tIns="0" rIns="0" bIns="0" rtlCol="0" anchor="ctr"/>
          <a:lstStyle/>
          <a:p>
            <a:pPr marL="0" indent="0" algn="ctr">
              <a:buNone/>
            </a:pPr>
            <a:r>
              <a:rPr lang="en-US" sz="1600" b="1" dirty="0">
                <a:solidFill>
                  <a:srgbClr val="E8590C"/>
                </a:solidFill>
                <a:latin typeface="Consolas" pitchFamily="34" charset="0"/>
                <a:ea typeface="Consolas" pitchFamily="34" charset="-122"/>
                <a:cs typeface="Consolas" pitchFamily="34" charset="-120"/>
              </a:rPr>
              <a:t>1,1</a:t>
            </a:r>
            <a:endParaRPr lang="en-US" sz="1600" dirty="0"/>
          </a:p>
        </p:txBody>
      </p:sp>
      <p:sp>
        <p:nvSpPr>
          <p:cNvPr id="22" name="Shape 19"/>
          <p:cNvSpPr/>
          <p:nvPr/>
        </p:nvSpPr>
        <p:spPr>
          <a:xfrm>
            <a:off x="3520440" y="3154680"/>
            <a:ext cx="3383280" cy="1234440"/>
          </a:xfrm>
          <a:prstGeom prst="roundRect">
            <a:avLst>
              <a:gd name="adj" fmla="val 5926"/>
            </a:avLst>
          </a:prstGeom>
          <a:solidFill>
            <a:srgbClr val="F2F3F5"/>
          </a:solidFill>
          <a:ln w="12700">
            <a:solidFill>
              <a:srgbClr val="F2F3F5"/>
            </a:solidFill>
            <a:prstDash val="solid"/>
          </a:ln>
        </p:spPr>
        <p:txBody>
          <a:bodyPr/>
          <a:lstStyle/>
          <a:p>
            <a:endParaRPr lang="fr-BE"/>
          </a:p>
        </p:txBody>
      </p:sp>
      <p:sp>
        <p:nvSpPr>
          <p:cNvPr id="23" name="Text 20"/>
          <p:cNvSpPr txBox="1"/>
          <p:nvPr/>
        </p:nvSpPr>
        <p:spPr>
          <a:xfrm>
            <a:off x="3657600" y="3200400"/>
            <a:ext cx="3108960" cy="1143000"/>
          </a:xfrm>
          <a:prstGeom prst="rect">
            <a:avLst/>
          </a:prstGeom>
          <a:noFill/>
          <a:ln/>
        </p:spPr>
        <p:txBody>
          <a:bodyPr wrap="square" lIns="0" tIns="0" rIns="0" bIns="0" rtlCol="0" anchor="ctr"/>
          <a:lstStyle/>
          <a:p>
            <a:pPr marL="0" indent="0">
              <a:buNone/>
            </a:pPr>
            <a:r>
              <a:rPr lang="en-US" sz="1350" b="1" dirty="0">
                <a:solidFill>
                  <a:srgbClr val="E8590C"/>
                </a:solidFill>
                <a:latin typeface="Calibri" pitchFamily="34" charset="0"/>
                <a:ea typeface="Calibri" pitchFamily="34" charset="-122"/>
                <a:cs typeface="Calibri" pitchFamily="34" charset="-120"/>
              </a:rPr>
              <a:t>La philosophie</a:t>
            </a:r>
            <a:endParaRPr lang="en-US" sz="1350" dirty="0"/>
          </a:p>
          <a:p>
            <a:pPr marL="0" indent="0">
              <a:buNone/>
            </a:pPr>
            <a:r>
              <a:rPr lang="en-US" sz="1350" dirty="0">
                <a:solidFill>
                  <a:srgbClr val="16181D"/>
                </a:solidFill>
                <a:latin typeface="Calibri" pitchFamily="34" charset="0"/>
                <a:ea typeface="Calibri" pitchFamily="34" charset="-122"/>
                <a:cs typeface="Calibri" pitchFamily="34" charset="-120"/>
              </a:rPr>
              <a:t>D'abord les données du métier, ensuite la technique. Et les données séparées des traitements.</a:t>
            </a:r>
            <a:endParaRPr lang="en-US" sz="1350" dirty="0"/>
          </a:p>
        </p:txBody>
      </p:sp>
      <p:sp>
        <p:nvSpPr>
          <p:cNvPr id="24" name="Text 21"/>
          <p:cNvSpPr txBox="1"/>
          <p:nvPr/>
        </p:nvSpPr>
        <p:spPr>
          <a:xfrm>
            <a:off x="640080" y="4572000"/>
            <a:ext cx="10881360" cy="411480"/>
          </a:xfrm>
          <a:prstGeom prst="rect">
            <a:avLst/>
          </a:prstGeom>
          <a:noFill/>
          <a:ln/>
        </p:spPr>
        <p:txBody>
          <a:bodyPr wrap="square" lIns="0" tIns="0" rIns="0" bIns="0" rtlCol="0" anchor="ctr"/>
          <a:lstStyle/>
          <a:p>
            <a:pPr marL="0" indent="0">
              <a:buNone/>
            </a:pPr>
            <a:r>
              <a:rPr lang="en-US" sz="1600" b="1" dirty="0">
                <a:solidFill>
                  <a:srgbClr val="16181D"/>
                </a:solidFill>
                <a:latin typeface="Calibri" pitchFamily="34" charset="0"/>
                <a:ea typeface="Calibri" pitchFamily="34" charset="-122"/>
                <a:cs typeface="Calibri" pitchFamily="34" charset="-120"/>
              </a:rPr>
              <a:t>Se lit : </a:t>
            </a:r>
            <a:r>
              <a:rPr lang="en-US" sz="1600" dirty="0">
                <a:solidFill>
                  <a:srgbClr val="16181D"/>
                </a:solidFill>
                <a:latin typeface="Calibri" pitchFamily="34" charset="0"/>
                <a:ea typeface="Calibri" pitchFamily="34" charset="-122"/>
                <a:cs typeface="Calibri" pitchFamily="34" charset="-120"/>
              </a:rPr>
              <a:t>un utilisateur déclare 0 à n incidents ; un incident est déclaré par un et un seul utilisateur. L'identifiant est souligné.</a:t>
            </a:r>
            <a:endParaRPr lang="en-US" sz="1600" dirty="0"/>
          </a:p>
        </p:txBody>
      </p:sp>
      <p:sp>
        <p:nvSpPr>
          <p:cNvPr id="25" name="Text 22"/>
          <p:cNvSpPr txBox="1"/>
          <p:nvPr/>
        </p:nvSpPr>
        <p:spPr>
          <a:xfrm>
            <a:off x="640080" y="5029200"/>
            <a:ext cx="5486400" cy="320040"/>
          </a:xfrm>
          <a:prstGeom prst="rect">
            <a:avLst/>
          </a:prstGeom>
          <a:noFill/>
          <a:ln/>
        </p:spPr>
        <p:txBody>
          <a:bodyPr wrap="square" lIns="0" tIns="0" rIns="0" bIns="0" rtlCol="0" anchor="ctr"/>
          <a:lstStyle/>
          <a:p>
            <a:pPr marL="0" indent="0">
              <a:buNone/>
            </a:pPr>
            <a:r>
              <a:rPr lang="en-US" sz="1300" b="1" dirty="0">
                <a:solidFill>
                  <a:srgbClr val="5F6670"/>
                </a:solidFill>
                <a:latin typeface="Calibri" pitchFamily="34" charset="0"/>
                <a:ea typeface="Calibri" pitchFamily="34" charset="-122"/>
                <a:cs typeface="Calibri" pitchFamily="34" charset="-120"/>
              </a:rPr>
              <a:t>Traduit en table (MLD) :</a:t>
            </a:r>
            <a:endParaRPr lang="en-US" sz="1300" dirty="0"/>
          </a:p>
        </p:txBody>
      </p:sp>
      <p:sp>
        <p:nvSpPr>
          <p:cNvPr id="26" name="Shape 23"/>
          <p:cNvSpPr/>
          <p:nvPr/>
        </p:nvSpPr>
        <p:spPr>
          <a:xfrm>
            <a:off x="640080" y="5349240"/>
            <a:ext cx="9601200" cy="566928"/>
          </a:xfrm>
          <a:prstGeom prst="roundRect">
            <a:avLst>
              <a:gd name="adj" fmla="val 12903"/>
            </a:avLst>
          </a:prstGeom>
          <a:solidFill>
            <a:srgbClr val="1E2127"/>
          </a:solidFill>
          <a:ln w="12700">
            <a:solidFill>
              <a:srgbClr val="1E2127"/>
            </a:solidFill>
            <a:prstDash val="solid"/>
          </a:ln>
        </p:spPr>
        <p:txBody>
          <a:bodyPr/>
          <a:lstStyle/>
          <a:p>
            <a:endParaRPr lang="fr-BE"/>
          </a:p>
        </p:txBody>
      </p:sp>
      <p:sp>
        <p:nvSpPr>
          <p:cNvPr id="27" name="Text 24"/>
          <p:cNvSpPr txBox="1"/>
          <p:nvPr/>
        </p:nvSpPr>
        <p:spPr>
          <a:xfrm>
            <a:off x="914400" y="5577840"/>
            <a:ext cx="9052560" cy="109728"/>
          </a:xfrm>
          <a:prstGeom prst="rect">
            <a:avLst/>
          </a:prstGeom>
          <a:noFill/>
          <a:ln/>
        </p:spPr>
        <p:txBody>
          <a:bodyPr wrap="square" lIns="0" tIns="0" rIns="0" bIns="0" rtlCol="0" anchor="t"/>
          <a:lstStyle/>
          <a:p>
            <a:pPr marL="0" indent="0">
              <a:buNone/>
            </a:pPr>
            <a:r>
              <a:rPr lang="en-US" sz="1400" dirty="0">
                <a:solidFill>
                  <a:srgbClr val="E6E6E6"/>
                </a:solidFill>
                <a:latin typeface="Consolas" pitchFamily="34" charset="0"/>
                <a:ea typeface="Consolas" pitchFamily="34" charset="-122"/>
                <a:cs typeface="Consolas" pitchFamily="34" charset="-120"/>
              </a:rPr>
              <a:t>INCIDENT (id_incident, titre, gravité, statut, date_création, #id_utilisateur)</a:t>
            </a:r>
            <a:endParaRPr lang="en-US" sz="1400" dirty="0"/>
          </a:p>
        </p:txBody>
      </p:sp>
      <p:sp>
        <p:nvSpPr>
          <p:cNvPr id="28" name="Text 25"/>
          <p:cNvSpPr txBox="1"/>
          <p:nvPr/>
        </p:nvSpPr>
        <p:spPr>
          <a:xfrm>
            <a:off x="10424160" y="5394960"/>
            <a:ext cx="1188720" cy="457200"/>
          </a:xfrm>
          <a:prstGeom prst="rect">
            <a:avLst/>
          </a:prstGeom>
          <a:noFill/>
          <a:ln/>
        </p:spPr>
        <p:txBody>
          <a:bodyPr wrap="square" lIns="0" tIns="0" rIns="0" bIns="0" rtlCol="0" anchor="ctr"/>
          <a:lstStyle/>
          <a:p>
            <a:pPr marL="0" indent="0">
              <a:buNone/>
            </a:pPr>
            <a:r>
              <a:rPr lang="en-US" sz="1400" b="1" dirty="0">
                <a:solidFill>
                  <a:srgbClr val="E8590C"/>
                </a:solidFill>
                <a:latin typeface="Calibri" pitchFamily="34" charset="0"/>
                <a:ea typeface="Calibri" pitchFamily="34" charset="-122"/>
                <a:cs typeface="Calibri" pitchFamily="34" charset="-120"/>
              </a:rPr>
              <a:t>→ séance 4</a:t>
            </a:r>
            <a:endParaRPr lang="en-US" sz="1400" dirty="0"/>
          </a:p>
        </p:txBody>
      </p:sp>
      <p:sp>
        <p:nvSpPr>
          <p:cNvPr id="29" name="Text 26"/>
          <p:cNvSpPr txBox="1"/>
          <p:nvPr/>
        </p:nvSpPr>
        <p:spPr>
          <a:xfrm>
            <a:off x="640080" y="5989320"/>
            <a:ext cx="10911535" cy="320040"/>
          </a:xfrm>
          <a:prstGeom prst="rect">
            <a:avLst/>
          </a:prstGeom>
          <a:noFill/>
          <a:ln/>
        </p:spPr>
        <p:txBody>
          <a:bodyPr wrap="square" lIns="0" tIns="0" rIns="0" bIns="0" rtlCol="0" anchor="ctr"/>
          <a:lstStyle/>
          <a:p>
            <a:pPr marL="0" indent="0">
              <a:buNone/>
            </a:pPr>
            <a:r>
              <a:rPr lang="en-US" sz="1000" i="1" dirty="0">
                <a:solidFill>
                  <a:srgbClr val="5F6670"/>
                </a:solidFill>
                <a:latin typeface="Calibri" pitchFamily="34" charset="0"/>
                <a:ea typeface="Calibri" pitchFamily="34" charset="-122"/>
                <a:cs typeface="Calibri" pitchFamily="34" charset="-120"/>
              </a:rPr>
              <a:t>Source : H. Tardieu, A. Rochfeld, R. Colletti, La méthode Merise, Éditions d'Organisation, 1983.</a:t>
            </a:r>
            <a:endParaRPr lang="en-US" sz="10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ALTERNATIVE · BPMN</a:t>
            </a:r>
            <a:endParaRPr lang="en-US" sz="1200" dirty="0"/>
          </a:p>
        </p:txBody>
      </p:sp>
      <p:sp>
        <p:nvSpPr>
          <p:cNvPr id="4" name="Text 2"/>
          <p:cNvSpPr txBox="1"/>
          <p:nvPr/>
        </p:nvSpPr>
        <p:spPr>
          <a:xfrm>
            <a:off x="653840" y="758952"/>
            <a:ext cx="10911535" cy="822960"/>
          </a:xfrm>
          <a:prstGeom prst="rect">
            <a:avLst/>
          </a:prstGeom>
          <a:noFill/>
          <a:ln/>
        </p:spPr>
        <p:txBody>
          <a:bodyPr wrap="square" lIns="0" tIns="0" rIns="0" bIns="0" rtlCol="0" anchor="t"/>
          <a:lstStyle/>
          <a:p>
            <a:r>
              <a:rPr lang="en-US" sz="3200" b="1" dirty="0">
                <a:solidFill>
                  <a:srgbClr val="16181D"/>
                </a:solidFill>
                <a:latin typeface="Arial" pitchFamily="34" charset="0"/>
                <a:ea typeface="Arial" pitchFamily="34" charset="-122"/>
                <a:cs typeface="Arial" pitchFamily="34" charset="-120"/>
              </a:rPr>
              <a:t>BPMN : le processus, lisible par le métier</a:t>
            </a:r>
            <a:br>
              <a:rPr lang="en-BE" sz="3200" b="1" dirty="0">
                <a:solidFill>
                  <a:srgbClr val="16181D"/>
                </a:solidFill>
                <a:latin typeface="Arial" pitchFamily="34" charset="0"/>
                <a:ea typeface="Arial" pitchFamily="34" charset="-122"/>
                <a:cs typeface="Arial" pitchFamily="34" charset="-120"/>
              </a:rPr>
            </a:br>
            <a:r>
              <a:rPr lang="en-US" sz="3200" b="1" dirty="0">
                <a:solidFill>
                  <a:srgbClr val="16181D"/>
                </a:solidFill>
                <a:highlight>
                  <a:srgbClr val="FFFF00"/>
                </a:highlight>
                <a:latin typeface="Arial" pitchFamily="34" charset="0"/>
                <a:ea typeface="Arial" pitchFamily="34" charset="-122"/>
                <a:cs typeface="Arial" pitchFamily="34" charset="-120"/>
              </a:rPr>
              <a:t>drawio.com</a:t>
            </a:r>
            <a:r>
              <a:rPr lang="en-BE" sz="3200" b="1" dirty="0">
                <a:solidFill>
                  <a:srgbClr val="16181D"/>
                </a:solidFill>
                <a:highlight>
                  <a:srgbClr val="FFFF00"/>
                </a:highlight>
                <a:latin typeface="Arial" pitchFamily="34" charset="0"/>
                <a:ea typeface="Arial" pitchFamily="34" charset="-122"/>
                <a:cs typeface="Arial" pitchFamily="34" charset="-120"/>
              </a:rPr>
              <a:t> / </a:t>
            </a:r>
            <a:r>
              <a:rPr lang="en-US" sz="3200" b="1" dirty="0">
                <a:solidFill>
                  <a:srgbClr val="16181D"/>
                </a:solidFill>
                <a:highlight>
                  <a:srgbClr val="FFFF00"/>
                </a:highlight>
                <a:latin typeface="Arial" pitchFamily="34" charset="0"/>
                <a:ea typeface="Arial" pitchFamily="34" charset="-122"/>
                <a:cs typeface="Arial" pitchFamily="34" charset="-120"/>
              </a:rPr>
              <a:t>bpmn.io</a:t>
            </a:r>
            <a:r>
              <a:rPr lang="en-BE" sz="3200" b="1" dirty="0">
                <a:solidFill>
                  <a:srgbClr val="16181D"/>
                </a:solidFill>
                <a:highlight>
                  <a:srgbClr val="FFFF00"/>
                </a:highlight>
                <a:latin typeface="Arial" pitchFamily="34" charset="0"/>
                <a:ea typeface="Arial" pitchFamily="34" charset="-122"/>
                <a:cs typeface="Arial" pitchFamily="34" charset="-120"/>
              </a:rPr>
              <a:t> / </a:t>
            </a:r>
            <a:r>
              <a:rPr lang="en-US" sz="3200" b="1" dirty="0" err="1">
                <a:solidFill>
                  <a:srgbClr val="16181D"/>
                </a:solidFill>
                <a:highlight>
                  <a:srgbClr val="FFFF00"/>
                </a:highlight>
                <a:latin typeface="Arial" pitchFamily="34" charset="0"/>
                <a:ea typeface="Arial" pitchFamily="34" charset="-122"/>
                <a:cs typeface="Arial" pitchFamily="34" charset="-120"/>
              </a:rPr>
              <a:t>swimlane</a:t>
            </a:r>
            <a:r>
              <a:rPr lang="en-BE" sz="3200" b="1" dirty="0">
                <a:solidFill>
                  <a:srgbClr val="16181D"/>
                </a:solidFill>
                <a:highlight>
                  <a:srgbClr val="FFFF00"/>
                </a:highlight>
                <a:latin typeface="Arial" pitchFamily="34" charset="0"/>
                <a:ea typeface="Arial" pitchFamily="34" charset="-122"/>
                <a:cs typeface="Arial" pitchFamily="34" charset="-120"/>
              </a:rPr>
              <a:t>s</a:t>
            </a:r>
            <a:r>
              <a:rPr lang="en-US" sz="3200" b="1" dirty="0">
                <a:solidFill>
                  <a:srgbClr val="16181D"/>
                </a:solidFill>
                <a:highlight>
                  <a:srgbClr val="FFFF00"/>
                </a:highlight>
                <a:latin typeface="Arial" pitchFamily="34" charset="0"/>
                <a:ea typeface="Arial" pitchFamily="34" charset="-122"/>
                <a:cs typeface="Arial" pitchFamily="34" charset="-120"/>
              </a:rPr>
              <a:t>.io</a:t>
            </a:r>
            <a:endParaRPr lang="en-US" sz="3200" dirty="0">
              <a:highlight>
                <a:srgbClr val="FFFF00"/>
              </a:highlight>
            </a:endParaRPr>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66</a:t>
            </a:r>
            <a:endParaRPr lang="en-US" sz="1000" dirty="0"/>
          </a:p>
        </p:txBody>
      </p:sp>
      <p:sp>
        <p:nvSpPr>
          <p:cNvPr id="8" name="Shape 5"/>
          <p:cNvSpPr/>
          <p:nvPr/>
        </p:nvSpPr>
        <p:spPr>
          <a:xfrm>
            <a:off x="640080" y="1783080"/>
            <a:ext cx="10911535" cy="1371600"/>
          </a:xfrm>
          <a:prstGeom prst="rect">
            <a:avLst/>
          </a:prstGeom>
          <a:solidFill>
            <a:srgbClr val="FFFFFF"/>
          </a:solidFill>
          <a:ln w="12700">
            <a:solidFill>
              <a:srgbClr val="16181D"/>
            </a:solidFill>
            <a:prstDash val="solid"/>
          </a:ln>
        </p:spPr>
        <p:txBody>
          <a:bodyPr/>
          <a:lstStyle/>
          <a:p>
            <a:endParaRPr lang="fr-BE"/>
          </a:p>
        </p:txBody>
      </p:sp>
      <p:sp>
        <p:nvSpPr>
          <p:cNvPr id="9" name="Shape 6"/>
          <p:cNvSpPr/>
          <p:nvPr/>
        </p:nvSpPr>
        <p:spPr>
          <a:xfrm>
            <a:off x="640080" y="1783080"/>
            <a:ext cx="1188720" cy="1371600"/>
          </a:xfrm>
          <a:prstGeom prst="rect">
            <a:avLst/>
          </a:prstGeom>
          <a:solidFill>
            <a:srgbClr val="F2F3F5"/>
          </a:solidFill>
          <a:ln w="12700">
            <a:solidFill>
              <a:srgbClr val="16181D"/>
            </a:solidFill>
            <a:prstDash val="solid"/>
          </a:ln>
        </p:spPr>
        <p:txBody>
          <a:bodyPr/>
          <a:lstStyle/>
          <a:p>
            <a:endParaRPr lang="fr-BE"/>
          </a:p>
        </p:txBody>
      </p:sp>
      <p:sp>
        <p:nvSpPr>
          <p:cNvPr id="10" name="Text 7"/>
          <p:cNvSpPr txBox="1"/>
          <p:nvPr/>
        </p:nvSpPr>
        <p:spPr>
          <a:xfrm>
            <a:off x="640080" y="1783080"/>
            <a:ext cx="1188720" cy="1371600"/>
          </a:xfrm>
          <a:prstGeom prst="rect">
            <a:avLst/>
          </a:prstGeom>
          <a:noFill/>
          <a:ln/>
        </p:spPr>
        <p:txBody>
          <a:bodyPr wrap="square" lIns="0" tIns="0" rIns="0" bIns="0" rtlCol="0" anchor="ctr"/>
          <a:lstStyle/>
          <a:p>
            <a:pPr marL="0" indent="0" algn="ctr">
              <a:buNone/>
            </a:pPr>
            <a:r>
              <a:rPr lang="en-US" sz="1400" b="1" dirty="0">
                <a:solidFill>
                  <a:srgbClr val="16181D"/>
                </a:solidFill>
                <a:latin typeface="Calibri" pitchFamily="34" charset="0"/>
                <a:ea typeface="Calibri" pitchFamily="34" charset="-122"/>
                <a:cs typeface="Calibri" pitchFamily="34" charset="-120"/>
              </a:rPr>
              <a:t>Déclarant</a:t>
            </a:r>
            <a:endParaRPr lang="en-US" sz="1400" dirty="0"/>
          </a:p>
        </p:txBody>
      </p:sp>
      <p:sp>
        <p:nvSpPr>
          <p:cNvPr id="11" name="Shape 8"/>
          <p:cNvSpPr/>
          <p:nvPr/>
        </p:nvSpPr>
        <p:spPr>
          <a:xfrm>
            <a:off x="640080" y="3154680"/>
            <a:ext cx="10911535" cy="1371600"/>
          </a:xfrm>
          <a:prstGeom prst="rect">
            <a:avLst/>
          </a:prstGeom>
          <a:solidFill>
            <a:srgbClr val="FFFFFF"/>
          </a:solidFill>
          <a:ln w="12700">
            <a:solidFill>
              <a:srgbClr val="16181D"/>
            </a:solidFill>
            <a:prstDash val="solid"/>
          </a:ln>
        </p:spPr>
        <p:txBody>
          <a:bodyPr/>
          <a:lstStyle/>
          <a:p>
            <a:endParaRPr lang="fr-BE"/>
          </a:p>
        </p:txBody>
      </p:sp>
      <p:sp>
        <p:nvSpPr>
          <p:cNvPr id="12" name="Shape 9"/>
          <p:cNvSpPr/>
          <p:nvPr/>
        </p:nvSpPr>
        <p:spPr>
          <a:xfrm>
            <a:off x="640080" y="3154680"/>
            <a:ext cx="1188720" cy="1371600"/>
          </a:xfrm>
          <a:prstGeom prst="rect">
            <a:avLst/>
          </a:prstGeom>
          <a:solidFill>
            <a:srgbClr val="F2F3F5"/>
          </a:solidFill>
          <a:ln w="12700">
            <a:solidFill>
              <a:srgbClr val="16181D"/>
            </a:solidFill>
            <a:prstDash val="solid"/>
          </a:ln>
        </p:spPr>
        <p:txBody>
          <a:bodyPr/>
          <a:lstStyle/>
          <a:p>
            <a:endParaRPr lang="fr-BE"/>
          </a:p>
        </p:txBody>
      </p:sp>
      <p:sp>
        <p:nvSpPr>
          <p:cNvPr id="13" name="Text 10"/>
          <p:cNvSpPr txBox="1"/>
          <p:nvPr/>
        </p:nvSpPr>
        <p:spPr>
          <a:xfrm>
            <a:off x="640080" y="3154680"/>
            <a:ext cx="1188720" cy="1371600"/>
          </a:xfrm>
          <a:prstGeom prst="rect">
            <a:avLst/>
          </a:prstGeom>
          <a:noFill/>
          <a:ln/>
        </p:spPr>
        <p:txBody>
          <a:bodyPr wrap="square" lIns="0" tIns="0" rIns="0" bIns="0" rtlCol="0" anchor="ctr"/>
          <a:lstStyle/>
          <a:p>
            <a:pPr marL="0" indent="0" algn="ctr">
              <a:buNone/>
            </a:pPr>
            <a:r>
              <a:rPr lang="en-US" sz="1400" b="1" dirty="0">
                <a:solidFill>
                  <a:srgbClr val="16181D"/>
                </a:solidFill>
                <a:latin typeface="Calibri" pitchFamily="34" charset="0"/>
                <a:ea typeface="Calibri" pitchFamily="34" charset="-122"/>
                <a:cs typeface="Calibri" pitchFamily="34" charset="-120"/>
              </a:rPr>
              <a:t>Analyste</a:t>
            </a:r>
            <a:endParaRPr lang="en-US" sz="1400" dirty="0"/>
          </a:p>
        </p:txBody>
      </p:sp>
      <p:sp>
        <p:nvSpPr>
          <p:cNvPr id="14" name="Shape 11"/>
          <p:cNvSpPr/>
          <p:nvPr/>
        </p:nvSpPr>
        <p:spPr>
          <a:xfrm>
            <a:off x="2103120" y="2240280"/>
            <a:ext cx="457200" cy="457200"/>
          </a:xfrm>
          <a:prstGeom prst="ellipse">
            <a:avLst/>
          </a:prstGeom>
          <a:solidFill>
            <a:srgbClr val="FFFFFF"/>
          </a:solidFill>
          <a:ln w="19050">
            <a:solidFill>
              <a:srgbClr val="16181D"/>
            </a:solidFill>
            <a:prstDash val="solid"/>
          </a:ln>
        </p:spPr>
        <p:txBody>
          <a:bodyPr/>
          <a:lstStyle/>
          <a:p>
            <a:endParaRPr lang="fr-BE"/>
          </a:p>
        </p:txBody>
      </p:sp>
      <p:sp>
        <p:nvSpPr>
          <p:cNvPr id="15" name="Shape 12"/>
          <p:cNvSpPr/>
          <p:nvPr/>
        </p:nvSpPr>
        <p:spPr>
          <a:xfrm>
            <a:off x="2560320" y="2468880"/>
            <a:ext cx="457200" cy="0"/>
          </a:xfrm>
          <a:prstGeom prst="line">
            <a:avLst/>
          </a:prstGeom>
          <a:noFill/>
          <a:ln w="15875">
            <a:solidFill>
              <a:srgbClr val="16181D"/>
            </a:solidFill>
            <a:prstDash val="solid"/>
            <a:tailEnd type="triangle"/>
          </a:ln>
        </p:spPr>
        <p:txBody>
          <a:bodyPr/>
          <a:lstStyle/>
          <a:p>
            <a:endParaRPr lang="fr-BE"/>
          </a:p>
        </p:txBody>
      </p:sp>
      <p:sp>
        <p:nvSpPr>
          <p:cNvPr id="16" name="Shape 13"/>
          <p:cNvSpPr/>
          <p:nvPr/>
        </p:nvSpPr>
        <p:spPr>
          <a:xfrm>
            <a:off x="3017520" y="2103120"/>
            <a:ext cx="1554480" cy="731520"/>
          </a:xfrm>
          <a:prstGeom prst="roundRect">
            <a:avLst>
              <a:gd name="adj" fmla="val 15000"/>
            </a:avLst>
          </a:prstGeom>
          <a:solidFill>
            <a:srgbClr val="F2F3F5"/>
          </a:solidFill>
          <a:ln w="19050">
            <a:solidFill>
              <a:srgbClr val="16181D"/>
            </a:solidFill>
            <a:prstDash val="solid"/>
          </a:ln>
        </p:spPr>
        <p:txBody>
          <a:bodyPr/>
          <a:lstStyle/>
          <a:p>
            <a:endParaRPr lang="fr-BE"/>
          </a:p>
        </p:txBody>
      </p:sp>
      <p:sp>
        <p:nvSpPr>
          <p:cNvPr id="17" name="Text 14"/>
          <p:cNvSpPr txBox="1"/>
          <p:nvPr/>
        </p:nvSpPr>
        <p:spPr>
          <a:xfrm>
            <a:off x="3063240" y="2103120"/>
            <a:ext cx="1463040" cy="731520"/>
          </a:xfrm>
          <a:prstGeom prst="rect">
            <a:avLst/>
          </a:prstGeom>
          <a:noFill/>
          <a:ln/>
        </p:spPr>
        <p:txBody>
          <a:bodyPr wrap="square" lIns="0" tIns="0" rIns="0" bIns="0" rtlCol="0" anchor="ctr"/>
          <a:lstStyle/>
          <a:p>
            <a:pPr marL="0" indent="0" algn="ctr">
              <a:buNone/>
            </a:pPr>
            <a:r>
              <a:rPr lang="en-US" sz="1200" dirty="0">
                <a:solidFill>
                  <a:srgbClr val="16181D"/>
                </a:solidFill>
                <a:latin typeface="Calibri" pitchFamily="34" charset="0"/>
                <a:ea typeface="Calibri" pitchFamily="34" charset="-122"/>
                <a:cs typeface="Calibri" pitchFamily="34" charset="-120"/>
              </a:rPr>
              <a:t>Signaler l'incident</a:t>
            </a:r>
            <a:endParaRPr lang="en-US" sz="1200" dirty="0"/>
          </a:p>
        </p:txBody>
      </p:sp>
      <p:sp>
        <p:nvSpPr>
          <p:cNvPr id="18" name="Shape 15"/>
          <p:cNvSpPr/>
          <p:nvPr/>
        </p:nvSpPr>
        <p:spPr>
          <a:xfrm>
            <a:off x="3794760" y="2834640"/>
            <a:ext cx="0" cy="685800"/>
          </a:xfrm>
          <a:prstGeom prst="line">
            <a:avLst/>
          </a:prstGeom>
          <a:noFill/>
          <a:ln w="15875">
            <a:solidFill>
              <a:srgbClr val="16181D"/>
            </a:solidFill>
            <a:prstDash val="solid"/>
            <a:tailEnd type="triangle"/>
          </a:ln>
        </p:spPr>
        <p:txBody>
          <a:bodyPr/>
          <a:lstStyle/>
          <a:p>
            <a:endParaRPr lang="fr-BE"/>
          </a:p>
        </p:txBody>
      </p:sp>
      <p:sp>
        <p:nvSpPr>
          <p:cNvPr id="19" name="Shape 16"/>
          <p:cNvSpPr/>
          <p:nvPr/>
        </p:nvSpPr>
        <p:spPr>
          <a:xfrm>
            <a:off x="3017520" y="3520440"/>
            <a:ext cx="1554480" cy="731520"/>
          </a:xfrm>
          <a:prstGeom prst="roundRect">
            <a:avLst>
              <a:gd name="adj" fmla="val 15000"/>
            </a:avLst>
          </a:prstGeom>
          <a:solidFill>
            <a:srgbClr val="F2F3F5"/>
          </a:solidFill>
          <a:ln w="19050">
            <a:solidFill>
              <a:srgbClr val="16181D"/>
            </a:solidFill>
            <a:prstDash val="solid"/>
          </a:ln>
        </p:spPr>
        <p:txBody>
          <a:bodyPr/>
          <a:lstStyle/>
          <a:p>
            <a:endParaRPr lang="fr-BE"/>
          </a:p>
        </p:txBody>
      </p:sp>
      <p:sp>
        <p:nvSpPr>
          <p:cNvPr id="20" name="Text 17"/>
          <p:cNvSpPr txBox="1"/>
          <p:nvPr/>
        </p:nvSpPr>
        <p:spPr>
          <a:xfrm>
            <a:off x="3063240" y="3520440"/>
            <a:ext cx="1463040" cy="731520"/>
          </a:xfrm>
          <a:prstGeom prst="rect">
            <a:avLst/>
          </a:prstGeom>
          <a:noFill/>
          <a:ln/>
        </p:spPr>
        <p:txBody>
          <a:bodyPr wrap="square" lIns="0" tIns="0" rIns="0" bIns="0" rtlCol="0" anchor="ctr"/>
          <a:lstStyle/>
          <a:p>
            <a:pPr marL="0" indent="0" algn="ctr">
              <a:buNone/>
            </a:pPr>
            <a:r>
              <a:rPr lang="en-US" sz="1200" dirty="0">
                <a:solidFill>
                  <a:srgbClr val="16181D"/>
                </a:solidFill>
                <a:latin typeface="Calibri" pitchFamily="34" charset="0"/>
                <a:ea typeface="Calibri" pitchFamily="34" charset="-122"/>
                <a:cs typeface="Calibri" pitchFamily="34" charset="-120"/>
              </a:rPr>
              <a:t>Qualifier la gravité</a:t>
            </a:r>
            <a:endParaRPr lang="en-US" sz="1200" dirty="0"/>
          </a:p>
        </p:txBody>
      </p:sp>
      <p:sp>
        <p:nvSpPr>
          <p:cNvPr id="21" name="Shape 18"/>
          <p:cNvSpPr/>
          <p:nvPr/>
        </p:nvSpPr>
        <p:spPr>
          <a:xfrm>
            <a:off x="4572000" y="3886200"/>
            <a:ext cx="457200" cy="0"/>
          </a:xfrm>
          <a:prstGeom prst="line">
            <a:avLst/>
          </a:prstGeom>
          <a:noFill/>
          <a:ln w="15875">
            <a:solidFill>
              <a:srgbClr val="16181D"/>
            </a:solidFill>
            <a:prstDash val="solid"/>
            <a:tailEnd type="triangle"/>
          </a:ln>
        </p:spPr>
        <p:txBody>
          <a:bodyPr/>
          <a:lstStyle/>
          <a:p>
            <a:endParaRPr lang="fr-BE"/>
          </a:p>
        </p:txBody>
      </p:sp>
      <p:sp>
        <p:nvSpPr>
          <p:cNvPr id="22" name="Shape 19"/>
          <p:cNvSpPr/>
          <p:nvPr/>
        </p:nvSpPr>
        <p:spPr>
          <a:xfrm>
            <a:off x="5029200" y="3520440"/>
            <a:ext cx="731520" cy="731520"/>
          </a:xfrm>
          <a:prstGeom prst="diamond">
            <a:avLst/>
          </a:prstGeom>
          <a:solidFill>
            <a:srgbClr val="FFFFFF"/>
          </a:solidFill>
          <a:ln w="19050">
            <a:solidFill>
              <a:srgbClr val="16181D"/>
            </a:solidFill>
            <a:prstDash val="solid"/>
          </a:ln>
        </p:spPr>
        <p:txBody>
          <a:bodyPr/>
          <a:lstStyle/>
          <a:p>
            <a:endParaRPr lang="fr-BE"/>
          </a:p>
        </p:txBody>
      </p:sp>
      <p:sp>
        <p:nvSpPr>
          <p:cNvPr id="23" name="Text 20"/>
          <p:cNvSpPr txBox="1"/>
          <p:nvPr/>
        </p:nvSpPr>
        <p:spPr>
          <a:xfrm>
            <a:off x="5029200" y="3520440"/>
            <a:ext cx="731520" cy="731520"/>
          </a:xfrm>
          <a:prstGeom prst="rect">
            <a:avLst/>
          </a:prstGeom>
          <a:noFill/>
          <a:ln/>
        </p:spPr>
        <p:txBody>
          <a:bodyPr wrap="square" lIns="0" tIns="0" rIns="0" bIns="0" rtlCol="0" anchor="ctr"/>
          <a:lstStyle/>
          <a:p>
            <a:pPr marL="0" indent="0" algn="ctr">
              <a:buNone/>
            </a:pPr>
            <a:r>
              <a:rPr lang="en-US" sz="2000" b="1" dirty="0">
                <a:solidFill>
                  <a:srgbClr val="16181D"/>
                </a:solidFill>
                <a:latin typeface="Arial" pitchFamily="34" charset="0"/>
                <a:ea typeface="Arial" pitchFamily="34" charset="-122"/>
                <a:cs typeface="Arial" pitchFamily="34" charset="-120"/>
              </a:rPr>
              <a:t>×</a:t>
            </a:r>
            <a:endParaRPr lang="en-US" sz="2000" dirty="0"/>
          </a:p>
        </p:txBody>
      </p:sp>
      <p:sp>
        <p:nvSpPr>
          <p:cNvPr id="24" name="Text 21"/>
          <p:cNvSpPr txBox="1"/>
          <p:nvPr/>
        </p:nvSpPr>
        <p:spPr>
          <a:xfrm>
            <a:off x="4572000" y="4251960"/>
            <a:ext cx="1645920" cy="320040"/>
          </a:xfrm>
          <a:prstGeom prst="rect">
            <a:avLst/>
          </a:prstGeom>
          <a:noFill/>
          <a:ln/>
        </p:spPr>
        <p:txBody>
          <a:bodyPr wrap="square" lIns="0" tIns="0" rIns="0" bIns="0" rtlCol="0" anchor="ctr"/>
          <a:lstStyle/>
          <a:p>
            <a:pPr marL="0" indent="0" algn="ctr">
              <a:buNone/>
            </a:pPr>
            <a:r>
              <a:rPr lang="en-US" sz="1100" i="1" dirty="0">
                <a:solidFill>
                  <a:srgbClr val="5F6670"/>
                </a:solidFill>
                <a:latin typeface="Calibri" pitchFamily="34" charset="0"/>
                <a:ea typeface="Calibri" pitchFamily="34" charset="-122"/>
                <a:cs typeface="Calibri" pitchFamily="34" charset="-120"/>
              </a:rPr>
              <a:t>Significatif (NIS2) ?</a:t>
            </a:r>
            <a:endParaRPr lang="en-US" sz="1100" dirty="0"/>
          </a:p>
        </p:txBody>
      </p:sp>
      <p:sp>
        <p:nvSpPr>
          <p:cNvPr id="25" name="Shape 22"/>
          <p:cNvSpPr/>
          <p:nvPr/>
        </p:nvSpPr>
        <p:spPr>
          <a:xfrm>
            <a:off x="5760720" y="3886200"/>
            <a:ext cx="548640" cy="0"/>
          </a:xfrm>
          <a:prstGeom prst="line">
            <a:avLst/>
          </a:prstGeom>
          <a:noFill/>
          <a:ln w="15875">
            <a:solidFill>
              <a:srgbClr val="16181D"/>
            </a:solidFill>
            <a:prstDash val="solid"/>
            <a:tailEnd type="triangle"/>
          </a:ln>
        </p:spPr>
        <p:txBody>
          <a:bodyPr/>
          <a:lstStyle/>
          <a:p>
            <a:endParaRPr lang="fr-BE"/>
          </a:p>
        </p:txBody>
      </p:sp>
      <p:sp>
        <p:nvSpPr>
          <p:cNvPr id="26" name="Text 23"/>
          <p:cNvSpPr txBox="1"/>
          <p:nvPr/>
        </p:nvSpPr>
        <p:spPr>
          <a:xfrm>
            <a:off x="5760720" y="3611880"/>
            <a:ext cx="548640" cy="274320"/>
          </a:xfrm>
          <a:prstGeom prst="rect">
            <a:avLst/>
          </a:prstGeom>
          <a:noFill/>
          <a:ln/>
        </p:spPr>
        <p:txBody>
          <a:bodyPr wrap="square" lIns="0" tIns="0" rIns="0" bIns="0" rtlCol="0" anchor="ctr"/>
          <a:lstStyle/>
          <a:p>
            <a:pPr marL="0" indent="0" algn="ctr">
              <a:buNone/>
            </a:pPr>
            <a:r>
              <a:rPr lang="en-US" sz="1100" dirty="0">
                <a:solidFill>
                  <a:srgbClr val="5F6670"/>
                </a:solidFill>
                <a:latin typeface="Calibri" pitchFamily="34" charset="0"/>
                <a:ea typeface="Calibri" pitchFamily="34" charset="-122"/>
                <a:cs typeface="Calibri" pitchFamily="34" charset="-120"/>
              </a:rPr>
              <a:t>oui</a:t>
            </a:r>
            <a:endParaRPr lang="en-US" sz="1100" dirty="0"/>
          </a:p>
        </p:txBody>
      </p:sp>
      <p:sp>
        <p:nvSpPr>
          <p:cNvPr id="27" name="Shape 24"/>
          <p:cNvSpPr/>
          <p:nvPr/>
        </p:nvSpPr>
        <p:spPr>
          <a:xfrm>
            <a:off x="6309360" y="3520440"/>
            <a:ext cx="1554480" cy="731520"/>
          </a:xfrm>
          <a:prstGeom prst="roundRect">
            <a:avLst>
              <a:gd name="adj" fmla="val 15000"/>
            </a:avLst>
          </a:prstGeom>
          <a:solidFill>
            <a:srgbClr val="F2F3F5"/>
          </a:solidFill>
          <a:ln w="19050">
            <a:solidFill>
              <a:srgbClr val="16181D"/>
            </a:solidFill>
            <a:prstDash val="solid"/>
          </a:ln>
        </p:spPr>
        <p:txBody>
          <a:bodyPr/>
          <a:lstStyle/>
          <a:p>
            <a:endParaRPr lang="fr-BE"/>
          </a:p>
        </p:txBody>
      </p:sp>
      <p:sp>
        <p:nvSpPr>
          <p:cNvPr id="28" name="Text 25"/>
          <p:cNvSpPr txBox="1"/>
          <p:nvPr/>
        </p:nvSpPr>
        <p:spPr>
          <a:xfrm>
            <a:off x="6355080" y="3520440"/>
            <a:ext cx="1463040" cy="731520"/>
          </a:xfrm>
          <a:prstGeom prst="rect">
            <a:avLst/>
          </a:prstGeom>
          <a:noFill/>
          <a:ln/>
        </p:spPr>
        <p:txBody>
          <a:bodyPr wrap="square" lIns="0" tIns="0" rIns="0" bIns="0" rtlCol="0" anchor="ctr"/>
          <a:lstStyle/>
          <a:p>
            <a:pPr marL="0" indent="0" algn="ctr">
              <a:buNone/>
            </a:pPr>
            <a:r>
              <a:rPr lang="en-US" sz="1200" dirty="0">
                <a:solidFill>
                  <a:srgbClr val="16181D"/>
                </a:solidFill>
                <a:latin typeface="Calibri" pitchFamily="34" charset="0"/>
                <a:ea typeface="Calibri" pitchFamily="34" charset="-122"/>
                <a:cs typeface="Calibri" pitchFamily="34" charset="-120"/>
              </a:rPr>
              <a:t>Alerte au CCB (24 h)</a:t>
            </a:r>
            <a:endParaRPr lang="en-US" sz="1200" dirty="0"/>
          </a:p>
        </p:txBody>
      </p:sp>
      <p:sp>
        <p:nvSpPr>
          <p:cNvPr id="29" name="Shape 26"/>
          <p:cNvSpPr/>
          <p:nvPr/>
        </p:nvSpPr>
        <p:spPr>
          <a:xfrm>
            <a:off x="7863840" y="3886200"/>
            <a:ext cx="457200" cy="0"/>
          </a:xfrm>
          <a:prstGeom prst="line">
            <a:avLst/>
          </a:prstGeom>
          <a:noFill/>
          <a:ln w="15875">
            <a:solidFill>
              <a:srgbClr val="16181D"/>
            </a:solidFill>
            <a:prstDash val="solid"/>
            <a:tailEnd type="triangle"/>
          </a:ln>
        </p:spPr>
        <p:txBody>
          <a:bodyPr/>
          <a:lstStyle/>
          <a:p>
            <a:endParaRPr lang="fr-BE"/>
          </a:p>
        </p:txBody>
      </p:sp>
      <p:sp>
        <p:nvSpPr>
          <p:cNvPr id="30" name="Shape 27"/>
          <p:cNvSpPr/>
          <p:nvPr/>
        </p:nvSpPr>
        <p:spPr>
          <a:xfrm>
            <a:off x="8321040" y="3520440"/>
            <a:ext cx="1554480" cy="731520"/>
          </a:xfrm>
          <a:prstGeom prst="roundRect">
            <a:avLst>
              <a:gd name="adj" fmla="val 15000"/>
            </a:avLst>
          </a:prstGeom>
          <a:solidFill>
            <a:srgbClr val="F2F3F5"/>
          </a:solidFill>
          <a:ln w="19050">
            <a:solidFill>
              <a:srgbClr val="16181D"/>
            </a:solidFill>
            <a:prstDash val="solid"/>
          </a:ln>
        </p:spPr>
        <p:txBody>
          <a:bodyPr/>
          <a:lstStyle/>
          <a:p>
            <a:endParaRPr lang="fr-BE"/>
          </a:p>
        </p:txBody>
      </p:sp>
      <p:sp>
        <p:nvSpPr>
          <p:cNvPr id="31" name="Text 28"/>
          <p:cNvSpPr txBox="1"/>
          <p:nvPr/>
        </p:nvSpPr>
        <p:spPr>
          <a:xfrm>
            <a:off x="8366760" y="3520440"/>
            <a:ext cx="1463040" cy="731520"/>
          </a:xfrm>
          <a:prstGeom prst="rect">
            <a:avLst/>
          </a:prstGeom>
          <a:noFill/>
          <a:ln/>
        </p:spPr>
        <p:txBody>
          <a:bodyPr wrap="square" lIns="0" tIns="0" rIns="0" bIns="0" rtlCol="0" anchor="ctr"/>
          <a:lstStyle/>
          <a:p>
            <a:pPr marL="0" indent="0" algn="ctr">
              <a:buNone/>
            </a:pPr>
            <a:r>
              <a:rPr lang="en-US" sz="1200" dirty="0">
                <a:solidFill>
                  <a:srgbClr val="16181D"/>
                </a:solidFill>
                <a:latin typeface="Calibri" pitchFamily="34" charset="0"/>
                <a:ea typeface="Calibri" pitchFamily="34" charset="-122"/>
                <a:cs typeface="Calibri" pitchFamily="34" charset="-120"/>
              </a:rPr>
              <a:t>Traiter et résoudre</a:t>
            </a:r>
            <a:endParaRPr lang="en-US" sz="1200" dirty="0"/>
          </a:p>
        </p:txBody>
      </p:sp>
      <p:sp>
        <p:nvSpPr>
          <p:cNvPr id="32" name="Shape 29"/>
          <p:cNvSpPr/>
          <p:nvPr/>
        </p:nvSpPr>
        <p:spPr>
          <a:xfrm>
            <a:off x="5394960" y="3291840"/>
            <a:ext cx="0" cy="228600"/>
          </a:xfrm>
          <a:prstGeom prst="line">
            <a:avLst/>
          </a:prstGeom>
          <a:noFill/>
          <a:ln w="15875">
            <a:solidFill>
              <a:srgbClr val="16181D"/>
            </a:solidFill>
            <a:prstDash val="solid"/>
          </a:ln>
        </p:spPr>
        <p:txBody>
          <a:bodyPr/>
          <a:lstStyle/>
          <a:p>
            <a:endParaRPr lang="fr-BE"/>
          </a:p>
        </p:txBody>
      </p:sp>
      <p:sp>
        <p:nvSpPr>
          <p:cNvPr id="33" name="Shape 30"/>
          <p:cNvSpPr/>
          <p:nvPr/>
        </p:nvSpPr>
        <p:spPr>
          <a:xfrm>
            <a:off x="5394960" y="3291840"/>
            <a:ext cx="3703320" cy="0"/>
          </a:xfrm>
          <a:prstGeom prst="line">
            <a:avLst/>
          </a:prstGeom>
          <a:noFill/>
          <a:ln w="15875">
            <a:solidFill>
              <a:srgbClr val="16181D"/>
            </a:solidFill>
            <a:prstDash val="solid"/>
          </a:ln>
        </p:spPr>
        <p:txBody>
          <a:bodyPr/>
          <a:lstStyle/>
          <a:p>
            <a:endParaRPr lang="fr-BE"/>
          </a:p>
        </p:txBody>
      </p:sp>
      <p:sp>
        <p:nvSpPr>
          <p:cNvPr id="34" name="Shape 31"/>
          <p:cNvSpPr/>
          <p:nvPr/>
        </p:nvSpPr>
        <p:spPr>
          <a:xfrm>
            <a:off x="9098280" y="3291840"/>
            <a:ext cx="0" cy="228600"/>
          </a:xfrm>
          <a:prstGeom prst="line">
            <a:avLst/>
          </a:prstGeom>
          <a:noFill/>
          <a:ln w="15875">
            <a:solidFill>
              <a:srgbClr val="16181D"/>
            </a:solidFill>
            <a:prstDash val="solid"/>
            <a:tailEnd type="triangle"/>
          </a:ln>
        </p:spPr>
        <p:txBody>
          <a:bodyPr/>
          <a:lstStyle/>
          <a:p>
            <a:endParaRPr lang="fr-BE"/>
          </a:p>
        </p:txBody>
      </p:sp>
      <p:sp>
        <p:nvSpPr>
          <p:cNvPr id="35" name="Text 32"/>
          <p:cNvSpPr txBox="1"/>
          <p:nvPr/>
        </p:nvSpPr>
        <p:spPr>
          <a:xfrm>
            <a:off x="5486400" y="3319272"/>
            <a:ext cx="548640" cy="274320"/>
          </a:xfrm>
          <a:prstGeom prst="rect">
            <a:avLst/>
          </a:prstGeom>
          <a:noFill/>
          <a:ln/>
        </p:spPr>
        <p:txBody>
          <a:bodyPr wrap="square" lIns="0" tIns="0" rIns="0" bIns="0" rtlCol="0" anchor="ctr"/>
          <a:lstStyle/>
          <a:p>
            <a:pPr marL="0" indent="0">
              <a:buNone/>
            </a:pPr>
            <a:r>
              <a:rPr lang="en-US" sz="1100" dirty="0">
                <a:solidFill>
                  <a:srgbClr val="5F6670"/>
                </a:solidFill>
                <a:latin typeface="Calibri" pitchFamily="34" charset="0"/>
                <a:ea typeface="Calibri" pitchFamily="34" charset="-122"/>
                <a:cs typeface="Calibri" pitchFamily="34" charset="-120"/>
              </a:rPr>
              <a:t>non</a:t>
            </a:r>
            <a:endParaRPr lang="en-US" sz="1100" dirty="0"/>
          </a:p>
        </p:txBody>
      </p:sp>
      <p:sp>
        <p:nvSpPr>
          <p:cNvPr id="36" name="Shape 33"/>
          <p:cNvSpPr/>
          <p:nvPr/>
        </p:nvSpPr>
        <p:spPr>
          <a:xfrm>
            <a:off x="9875520" y="3886200"/>
            <a:ext cx="457200" cy="0"/>
          </a:xfrm>
          <a:prstGeom prst="line">
            <a:avLst/>
          </a:prstGeom>
          <a:noFill/>
          <a:ln w="15875">
            <a:solidFill>
              <a:srgbClr val="16181D"/>
            </a:solidFill>
            <a:prstDash val="solid"/>
            <a:tailEnd type="triangle"/>
          </a:ln>
        </p:spPr>
        <p:txBody>
          <a:bodyPr/>
          <a:lstStyle/>
          <a:p>
            <a:endParaRPr lang="fr-BE"/>
          </a:p>
        </p:txBody>
      </p:sp>
      <p:sp>
        <p:nvSpPr>
          <p:cNvPr id="37" name="Shape 34"/>
          <p:cNvSpPr/>
          <p:nvPr/>
        </p:nvSpPr>
        <p:spPr>
          <a:xfrm>
            <a:off x="10332720" y="3657600"/>
            <a:ext cx="457200" cy="457200"/>
          </a:xfrm>
          <a:prstGeom prst="ellipse">
            <a:avLst/>
          </a:prstGeom>
          <a:solidFill>
            <a:srgbClr val="FFFFFF"/>
          </a:solidFill>
          <a:ln w="50800">
            <a:solidFill>
              <a:srgbClr val="16181D"/>
            </a:solidFill>
            <a:prstDash val="solid"/>
          </a:ln>
        </p:spPr>
        <p:txBody>
          <a:bodyPr/>
          <a:lstStyle/>
          <a:p>
            <a:endParaRPr lang="fr-BE"/>
          </a:p>
        </p:txBody>
      </p:sp>
      <p:sp>
        <p:nvSpPr>
          <p:cNvPr id="38" name="Text 35"/>
          <p:cNvSpPr txBox="1"/>
          <p:nvPr/>
        </p:nvSpPr>
        <p:spPr>
          <a:xfrm>
            <a:off x="640080" y="4754880"/>
            <a:ext cx="10911535" cy="365760"/>
          </a:xfrm>
          <a:prstGeom prst="rect">
            <a:avLst/>
          </a:prstGeom>
          <a:noFill/>
          <a:ln/>
        </p:spPr>
        <p:txBody>
          <a:bodyPr wrap="square" lIns="0" tIns="0" rIns="0" bIns="0" rtlCol="0" anchor="ctr"/>
          <a:lstStyle/>
          <a:p>
            <a:pPr marL="0" indent="0">
              <a:buNone/>
            </a:pPr>
            <a:r>
              <a:rPr lang="en-US" sz="1400" dirty="0">
                <a:solidFill>
                  <a:srgbClr val="16181D"/>
                </a:solidFill>
                <a:latin typeface="Calibri" pitchFamily="34" charset="0"/>
                <a:ea typeface="Calibri" pitchFamily="34" charset="-122"/>
                <a:cs typeface="Calibri" pitchFamily="34" charset="-120"/>
              </a:rPr>
              <a:t>Légende : cercle fin = début  ·  rectangle arrondi = tâche  ·  losange = décision  ·  cercle épais = fin  ·  couloir = qui fait quoi</a:t>
            </a:r>
            <a:endParaRPr lang="en-US" sz="1400" dirty="0"/>
          </a:p>
        </p:txBody>
      </p:sp>
      <p:sp>
        <p:nvSpPr>
          <p:cNvPr id="39" name="Shape 36"/>
          <p:cNvSpPr/>
          <p:nvPr/>
        </p:nvSpPr>
        <p:spPr>
          <a:xfrm>
            <a:off x="640080" y="5257800"/>
            <a:ext cx="10911535" cy="566928"/>
          </a:xfrm>
          <a:prstGeom prst="roundRect">
            <a:avLst>
              <a:gd name="adj" fmla="val 12903"/>
            </a:avLst>
          </a:prstGeom>
          <a:solidFill>
            <a:srgbClr val="16181D"/>
          </a:solidFill>
          <a:ln w="12700">
            <a:solidFill>
              <a:srgbClr val="16181D"/>
            </a:solidFill>
            <a:prstDash val="solid"/>
          </a:ln>
        </p:spPr>
        <p:txBody>
          <a:bodyPr/>
          <a:lstStyle/>
          <a:p>
            <a:endParaRPr lang="fr-BE"/>
          </a:p>
        </p:txBody>
      </p:sp>
      <p:sp>
        <p:nvSpPr>
          <p:cNvPr id="40" name="Text 37"/>
          <p:cNvSpPr txBox="1"/>
          <p:nvPr/>
        </p:nvSpPr>
        <p:spPr>
          <a:xfrm>
            <a:off x="914400" y="5257800"/>
            <a:ext cx="10362895" cy="566928"/>
          </a:xfrm>
          <a:prstGeom prst="rect">
            <a:avLst/>
          </a:prstGeom>
          <a:noFill/>
          <a:ln/>
        </p:spPr>
        <p:txBody>
          <a:bodyPr wrap="square" lIns="0" tIns="0" rIns="0" bIns="0" rtlCol="0" anchor="ctr"/>
          <a:lstStyle/>
          <a:p>
            <a:pPr marL="0" indent="0">
              <a:buNone/>
            </a:pPr>
            <a:r>
              <a:rPr lang="en-US" sz="1500" b="1" dirty="0">
                <a:solidFill>
                  <a:srgbClr val="E8590C"/>
                </a:solidFill>
                <a:latin typeface="Calibri" pitchFamily="34" charset="0"/>
                <a:ea typeface="Calibri" pitchFamily="34" charset="-122"/>
                <a:cs typeface="Calibri" pitchFamily="34" charset="-120"/>
              </a:rPr>
              <a:t>La philosophie  </a:t>
            </a:r>
            <a:r>
              <a:rPr lang="en-US" sz="1500" dirty="0">
                <a:solidFill>
                  <a:srgbClr val="FFFFFF"/>
                </a:solidFill>
                <a:latin typeface="Calibri" pitchFamily="34" charset="0"/>
                <a:ea typeface="Calibri" pitchFamily="34" charset="-122"/>
                <a:cs typeface="Calibri" pitchFamily="34" charset="-120"/>
              </a:rPr>
              <a:t>un seul dessin, lu par le métier sans formation, et assez précis pour être exécuté par un moteur de workflow.</a:t>
            </a:r>
            <a:endParaRPr lang="en-US" sz="1500" dirty="0"/>
          </a:p>
        </p:txBody>
      </p:sp>
      <p:sp>
        <p:nvSpPr>
          <p:cNvPr id="41" name="Text 38"/>
          <p:cNvSpPr txBox="1"/>
          <p:nvPr/>
        </p:nvSpPr>
        <p:spPr>
          <a:xfrm>
            <a:off x="640080" y="5989320"/>
            <a:ext cx="10911535" cy="320040"/>
          </a:xfrm>
          <a:prstGeom prst="rect">
            <a:avLst/>
          </a:prstGeom>
          <a:noFill/>
          <a:ln/>
        </p:spPr>
        <p:txBody>
          <a:bodyPr wrap="square" lIns="0" tIns="0" rIns="0" bIns="0" rtlCol="0" anchor="ctr"/>
          <a:lstStyle/>
          <a:p>
            <a:pPr marL="0" indent="0">
              <a:buNone/>
            </a:pPr>
            <a:r>
              <a:rPr lang="en-US" sz="1000" i="1" dirty="0">
                <a:solidFill>
                  <a:srgbClr val="5F6670"/>
                </a:solidFill>
                <a:latin typeface="Calibri" pitchFamily="34" charset="0"/>
                <a:ea typeface="Calibri" pitchFamily="34" charset="-122"/>
                <a:cs typeface="Calibri" pitchFamily="34" charset="-120"/>
              </a:rPr>
              <a:t>Source : OMG, Business Process Model and Notation (BPMN) 2.0, 2011 ; ISO/IEC 19510:2013.</a:t>
            </a:r>
            <a:endParaRPr lang="en-US" sz="10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DIAGRAMME AS CODE</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En 2026, un diagramme s'écrit aussi en texte</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67</a:t>
            </a:r>
            <a:endParaRPr lang="en-US" sz="1000" dirty="0"/>
          </a:p>
        </p:txBody>
      </p:sp>
      <p:sp>
        <p:nvSpPr>
          <p:cNvPr id="8" name="Shape 5"/>
          <p:cNvSpPr/>
          <p:nvPr/>
        </p:nvSpPr>
        <p:spPr>
          <a:xfrm>
            <a:off x="640080" y="1737360"/>
            <a:ext cx="4754880" cy="4160520"/>
          </a:xfrm>
          <a:prstGeom prst="roundRect">
            <a:avLst>
              <a:gd name="adj" fmla="val 1758"/>
            </a:avLst>
          </a:prstGeom>
          <a:solidFill>
            <a:srgbClr val="1E2127"/>
          </a:solidFill>
          <a:ln w="12700">
            <a:solidFill>
              <a:srgbClr val="1E2127"/>
            </a:solidFill>
            <a:prstDash val="solid"/>
          </a:ln>
        </p:spPr>
        <p:txBody>
          <a:bodyPr/>
          <a:lstStyle/>
          <a:p>
            <a:endParaRPr lang="fr-BE"/>
          </a:p>
        </p:txBody>
      </p:sp>
      <p:sp>
        <p:nvSpPr>
          <p:cNvPr id="9" name="Text 6"/>
          <p:cNvSpPr txBox="1"/>
          <p:nvPr/>
        </p:nvSpPr>
        <p:spPr>
          <a:xfrm>
            <a:off x="914400" y="1965960"/>
            <a:ext cx="4206240" cy="3703320"/>
          </a:xfrm>
          <a:prstGeom prst="rect">
            <a:avLst/>
          </a:prstGeom>
          <a:noFill/>
          <a:ln/>
        </p:spPr>
        <p:txBody>
          <a:bodyPr wrap="square" lIns="0" tIns="0" rIns="0" bIns="0" rtlCol="0" anchor="t"/>
          <a:lstStyle/>
          <a:p>
            <a:pPr marL="0" indent="0">
              <a:buNone/>
            </a:pPr>
            <a:r>
              <a:rPr lang="en-US" sz="1300" dirty="0">
                <a:solidFill>
                  <a:srgbClr val="E6E6E6"/>
                </a:solidFill>
                <a:latin typeface="Consolas" pitchFamily="34" charset="0"/>
                <a:ea typeface="Consolas" pitchFamily="34" charset="-122"/>
                <a:cs typeface="Consolas" pitchFamily="34" charset="-120"/>
              </a:rPr>
              <a:t>classDiagram</a:t>
            </a:r>
            <a:endParaRPr lang="en-US" sz="1300" dirty="0"/>
          </a:p>
          <a:p>
            <a:pPr marL="0" indent="0">
              <a:buNone/>
            </a:pPr>
            <a:r>
              <a:rPr lang="en-US" sz="1300" dirty="0">
                <a:solidFill>
                  <a:srgbClr val="E6E6E6"/>
                </a:solidFill>
                <a:latin typeface="Consolas" pitchFamily="34" charset="0"/>
                <a:ea typeface="Consolas" pitchFamily="34" charset="-122"/>
                <a:cs typeface="Consolas" pitchFamily="34" charset="-120"/>
              </a:rPr>
              <a:t>  class Incident {</a:t>
            </a:r>
            <a:endParaRPr lang="en-US" sz="1300" dirty="0"/>
          </a:p>
          <a:p>
            <a:pPr marL="0" indent="0">
              <a:buNone/>
            </a:pPr>
            <a:r>
              <a:rPr lang="en-US" sz="1300" dirty="0">
                <a:solidFill>
                  <a:srgbClr val="E6E6E6"/>
                </a:solidFill>
                <a:latin typeface="Consolas" pitchFamily="34" charset="0"/>
                <a:ea typeface="Consolas" pitchFamily="34" charset="-122"/>
                <a:cs typeface="Consolas" pitchFamily="34" charset="-120"/>
              </a:rPr>
              <a:t>    -Guid Id</a:t>
            </a:r>
            <a:endParaRPr lang="en-US" sz="1300" dirty="0"/>
          </a:p>
          <a:p>
            <a:pPr marL="0" indent="0">
              <a:buNone/>
            </a:pPr>
            <a:r>
              <a:rPr lang="en-US" sz="1300" dirty="0">
                <a:solidFill>
                  <a:srgbClr val="E6E6E6"/>
                </a:solidFill>
                <a:latin typeface="Consolas" pitchFamily="34" charset="0"/>
                <a:ea typeface="Consolas" pitchFamily="34" charset="-122"/>
                <a:cs typeface="Consolas" pitchFamily="34" charset="-120"/>
              </a:rPr>
              <a:t>    -string Title</a:t>
            </a:r>
            <a:endParaRPr lang="en-US" sz="1300" dirty="0"/>
          </a:p>
          <a:p>
            <a:pPr marL="0" indent="0">
              <a:buNone/>
            </a:pPr>
            <a:r>
              <a:rPr lang="en-US" sz="1300" dirty="0">
                <a:solidFill>
                  <a:srgbClr val="E6E6E6"/>
                </a:solidFill>
                <a:latin typeface="Consolas" pitchFamily="34" charset="0"/>
                <a:ea typeface="Consolas" pitchFamily="34" charset="-122"/>
                <a:cs typeface="Consolas" pitchFamily="34" charset="-120"/>
              </a:rPr>
              <a:t>    -Severity Severity</a:t>
            </a:r>
            <a:endParaRPr lang="en-US" sz="1300" dirty="0"/>
          </a:p>
          <a:p>
            <a:pPr marL="0" indent="0">
              <a:buNone/>
            </a:pPr>
            <a:r>
              <a:rPr lang="en-US" sz="1300" dirty="0">
                <a:solidFill>
                  <a:srgbClr val="E6E6E6"/>
                </a:solidFill>
                <a:latin typeface="Consolas" pitchFamily="34" charset="0"/>
                <a:ea typeface="Consolas" pitchFamily="34" charset="-122"/>
                <a:cs typeface="Consolas" pitchFamily="34" charset="-120"/>
              </a:rPr>
              <a:t>    -IncidentStatus Status</a:t>
            </a:r>
            <a:endParaRPr lang="en-US" sz="1300" dirty="0"/>
          </a:p>
          <a:p>
            <a:pPr marL="0" indent="0">
              <a:buNone/>
            </a:pPr>
            <a:r>
              <a:rPr lang="en-US" sz="1300" dirty="0">
                <a:solidFill>
                  <a:srgbClr val="E6E6E6"/>
                </a:solidFill>
                <a:latin typeface="Consolas" pitchFamily="34" charset="0"/>
                <a:ea typeface="Consolas" pitchFamily="34" charset="-122"/>
                <a:cs typeface="Consolas" pitchFamily="34" charset="-120"/>
              </a:rPr>
              <a:t>    +StartWork()</a:t>
            </a:r>
            <a:endParaRPr lang="en-US" sz="1300" dirty="0"/>
          </a:p>
          <a:p>
            <a:pPr marL="0" indent="0">
              <a:buNone/>
            </a:pPr>
            <a:r>
              <a:rPr lang="en-US" sz="1300" dirty="0">
                <a:solidFill>
                  <a:srgbClr val="E6E6E6"/>
                </a:solidFill>
                <a:latin typeface="Consolas" pitchFamily="34" charset="0"/>
                <a:ea typeface="Consolas" pitchFamily="34" charset="-122"/>
                <a:cs typeface="Consolas" pitchFamily="34" charset="-120"/>
              </a:rPr>
              <a:t>    +Resolve()</a:t>
            </a:r>
            <a:endParaRPr lang="en-US" sz="1300" dirty="0"/>
          </a:p>
          <a:p>
            <a:pPr marL="0" indent="0">
              <a:buNone/>
            </a:pPr>
            <a:r>
              <a:rPr lang="en-US" sz="1300" dirty="0">
                <a:solidFill>
                  <a:srgbClr val="E6E6E6"/>
                </a:solidFill>
                <a:latin typeface="Consolas" pitchFamily="34" charset="0"/>
                <a:ea typeface="Consolas" pitchFamily="34" charset="-122"/>
                <a:cs typeface="Consolas" pitchFamily="34" charset="-120"/>
              </a:rPr>
              <a:t>    +Close()</a:t>
            </a:r>
            <a:endParaRPr lang="en-US" sz="1300" dirty="0"/>
          </a:p>
          <a:p>
            <a:pPr marL="0" indent="0">
              <a:buNone/>
            </a:pPr>
            <a:r>
              <a:rPr lang="en-US" sz="1300" dirty="0">
                <a:solidFill>
                  <a:srgbClr val="E6E6E6"/>
                </a:solidFill>
                <a:latin typeface="Consolas" pitchFamily="34" charset="0"/>
                <a:ea typeface="Consolas" pitchFamily="34" charset="-122"/>
                <a:cs typeface="Consolas" pitchFamily="34" charset="-120"/>
              </a:rPr>
              <a:t>  }</a:t>
            </a:r>
            <a:endParaRPr lang="en-US" sz="1300" dirty="0"/>
          </a:p>
          <a:p>
            <a:pPr marL="0" indent="0">
              <a:buNone/>
            </a:pPr>
            <a:r>
              <a:rPr lang="en-US" sz="1300" dirty="0">
                <a:solidFill>
                  <a:srgbClr val="E6E6E6"/>
                </a:solidFill>
                <a:latin typeface="Consolas" pitchFamily="34" charset="0"/>
                <a:ea typeface="Consolas" pitchFamily="34" charset="-122"/>
                <a:cs typeface="Consolas" pitchFamily="34" charset="-120"/>
              </a:rPr>
              <a:t>  class User {</a:t>
            </a:r>
            <a:endParaRPr lang="en-US" sz="1300" dirty="0"/>
          </a:p>
          <a:p>
            <a:pPr marL="0" indent="0">
              <a:buNone/>
            </a:pPr>
            <a:r>
              <a:rPr lang="en-US" sz="1300" dirty="0">
                <a:solidFill>
                  <a:srgbClr val="E6E6E6"/>
                </a:solidFill>
                <a:latin typeface="Consolas" pitchFamily="34" charset="0"/>
                <a:ea typeface="Consolas" pitchFamily="34" charset="-122"/>
                <a:cs typeface="Consolas" pitchFamily="34" charset="-120"/>
              </a:rPr>
              <a:t>    -string Name</a:t>
            </a:r>
            <a:endParaRPr lang="en-US" sz="1300" dirty="0"/>
          </a:p>
          <a:p>
            <a:pPr marL="0" indent="0">
              <a:buNone/>
            </a:pPr>
            <a:r>
              <a:rPr lang="en-US" sz="1300" dirty="0">
                <a:solidFill>
                  <a:srgbClr val="E6E6E6"/>
                </a:solidFill>
                <a:latin typeface="Consolas" pitchFamily="34" charset="0"/>
                <a:ea typeface="Consolas" pitchFamily="34" charset="-122"/>
                <a:cs typeface="Consolas" pitchFamily="34" charset="-120"/>
              </a:rPr>
              <a:t>    -string Email</a:t>
            </a:r>
            <a:endParaRPr lang="en-US" sz="1300" dirty="0"/>
          </a:p>
          <a:p>
            <a:pPr marL="0" indent="0">
              <a:buNone/>
            </a:pPr>
            <a:r>
              <a:rPr lang="en-US" sz="1300" dirty="0">
                <a:solidFill>
                  <a:srgbClr val="E6E6E6"/>
                </a:solidFill>
                <a:latin typeface="Consolas" pitchFamily="34" charset="0"/>
                <a:ea typeface="Consolas" pitchFamily="34" charset="-122"/>
                <a:cs typeface="Consolas" pitchFamily="34" charset="-120"/>
              </a:rPr>
              <a:t>  }</a:t>
            </a:r>
            <a:endParaRPr lang="en-US" sz="1300" dirty="0"/>
          </a:p>
          <a:p>
            <a:pPr marL="0" indent="0">
              <a:buNone/>
            </a:pPr>
            <a:r>
              <a:rPr lang="en-US" sz="1300" dirty="0">
                <a:solidFill>
                  <a:srgbClr val="E6E6E6"/>
                </a:solidFill>
                <a:latin typeface="Consolas" pitchFamily="34" charset="0"/>
                <a:ea typeface="Consolas" pitchFamily="34" charset="-122"/>
                <a:cs typeface="Consolas" pitchFamily="34" charset="-120"/>
              </a:rPr>
              <a:t>  Incident --&gt; User : déclaré par</a:t>
            </a:r>
            <a:endParaRPr lang="en-US" sz="1300" dirty="0"/>
          </a:p>
        </p:txBody>
      </p:sp>
      <p:sp>
        <p:nvSpPr>
          <p:cNvPr id="10" name="Text 7"/>
          <p:cNvSpPr txBox="1"/>
          <p:nvPr/>
        </p:nvSpPr>
        <p:spPr>
          <a:xfrm>
            <a:off x="5440680" y="3383280"/>
            <a:ext cx="548640" cy="731520"/>
          </a:xfrm>
          <a:prstGeom prst="rect">
            <a:avLst/>
          </a:prstGeom>
          <a:noFill/>
          <a:ln/>
        </p:spPr>
        <p:txBody>
          <a:bodyPr wrap="square" lIns="0" tIns="0" rIns="0" bIns="0" rtlCol="0" anchor="ctr"/>
          <a:lstStyle/>
          <a:p>
            <a:pPr marL="0" indent="0" algn="ctr">
              <a:buNone/>
            </a:pPr>
            <a:r>
              <a:rPr lang="en-US" sz="3600" dirty="0">
                <a:solidFill>
                  <a:srgbClr val="E8590C"/>
                </a:solidFill>
                <a:latin typeface="Arial" pitchFamily="34" charset="0"/>
                <a:ea typeface="Arial" pitchFamily="34" charset="-122"/>
                <a:cs typeface="Arial" pitchFamily="34" charset="-120"/>
              </a:rPr>
              <a:t>→</a:t>
            </a:r>
            <a:endParaRPr lang="en-US" sz="3600" dirty="0"/>
          </a:p>
        </p:txBody>
      </p:sp>
      <p:pic>
        <p:nvPicPr>
          <p:cNvPr id="11" name="Image 0" descr="diag/mermaid.png"/>
          <p:cNvPicPr>
            <a:picLocks noChangeAspect="1"/>
          </p:cNvPicPr>
          <p:nvPr/>
        </p:nvPicPr>
        <p:blipFill>
          <a:blip r:embed="rId3"/>
          <a:stretch>
            <a:fillRect/>
          </a:stretch>
        </p:blipFill>
        <p:spPr>
          <a:xfrm>
            <a:off x="6179912" y="1737360"/>
            <a:ext cx="1904816" cy="4160520"/>
          </a:xfrm>
          <a:prstGeom prst="rect">
            <a:avLst/>
          </a:prstGeom>
        </p:spPr>
      </p:pic>
      <p:sp>
        <p:nvSpPr>
          <p:cNvPr id="12" name="Text 8"/>
          <p:cNvSpPr txBox="1"/>
          <p:nvPr/>
        </p:nvSpPr>
        <p:spPr>
          <a:xfrm>
            <a:off x="8321040" y="1920240"/>
            <a:ext cx="3291840" cy="32918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rgbClr val="16181D"/>
                </a:solidFill>
                <a:latin typeface="Calibri" pitchFamily="34" charset="0"/>
                <a:ea typeface="Calibri" pitchFamily="34" charset="-122"/>
                <a:cs typeface="Calibri" pitchFamily="34" charset="-120"/>
              </a:rPr>
              <a:t>Versionné dans Git, avec le code</a:t>
            </a:r>
            <a:endParaRPr lang="en-US" sz="1700" dirty="0"/>
          </a:p>
          <a:p>
            <a:pPr marL="228600" indent="-228600">
              <a:spcAft>
                <a:spcPts val="800"/>
              </a:spcAft>
              <a:buSzPct val="100000"/>
              <a:buChar char="•"/>
            </a:pPr>
            <a:r>
              <a:rPr lang="en-US" sz="1700" dirty="0">
                <a:solidFill>
                  <a:srgbClr val="16181D"/>
                </a:solidFill>
                <a:latin typeface="Calibri" pitchFamily="34" charset="0"/>
                <a:ea typeface="Calibri" pitchFamily="34" charset="-122"/>
                <a:cs typeface="Calibri" pitchFamily="34" charset="-120"/>
              </a:rPr>
              <a:t>Affiché directement dans la forge</a:t>
            </a:r>
            <a:endParaRPr lang="en-US" sz="1700" dirty="0"/>
          </a:p>
          <a:p>
            <a:pPr marL="228600" indent="-228600">
              <a:spcAft>
                <a:spcPts val="800"/>
              </a:spcAft>
              <a:buSzPct val="100000"/>
              <a:buChar char="•"/>
            </a:pPr>
            <a:r>
              <a:rPr lang="en-US" sz="1700" dirty="0">
                <a:solidFill>
                  <a:srgbClr val="16181D"/>
                </a:solidFill>
                <a:latin typeface="Calibri" pitchFamily="34" charset="0"/>
                <a:ea typeface="Calibri" pitchFamily="34" charset="-122"/>
                <a:cs typeface="Calibri" pitchFamily="34" charset="-120"/>
              </a:rPr>
              <a:t>L'IA le lit et l'écrit</a:t>
            </a:r>
            <a:endParaRPr lang="en-US" sz="1700" dirty="0"/>
          </a:p>
          <a:p>
            <a:pPr marL="228600" indent="-228600">
              <a:spcAft>
                <a:spcPts val="800"/>
              </a:spcAft>
              <a:buSzPct val="100000"/>
              <a:buChar char="•"/>
            </a:pPr>
            <a:r>
              <a:rPr lang="en-US" sz="1700" dirty="0">
                <a:solidFill>
                  <a:srgbClr val="16181D"/>
                </a:solidFill>
                <a:latin typeface="Calibri" pitchFamily="34" charset="0"/>
                <a:ea typeface="Calibri" pitchFamily="34" charset="-122"/>
                <a:cs typeface="Calibri" pitchFamily="34" charset="-120"/>
              </a:rPr>
              <a:t>Dans vos livrables : docs/modele.md</a:t>
            </a:r>
            <a:endParaRPr lang="en-US" sz="1700" dirty="0"/>
          </a:p>
        </p:txBody>
      </p:sp>
      <p:sp>
        <p:nvSpPr>
          <p:cNvPr id="13" name="Text 9"/>
          <p:cNvSpPr txBox="1"/>
          <p:nvPr/>
        </p:nvSpPr>
        <p:spPr>
          <a:xfrm>
            <a:off x="640080" y="5989320"/>
            <a:ext cx="10911535" cy="320040"/>
          </a:xfrm>
          <a:prstGeom prst="rect">
            <a:avLst/>
          </a:prstGeom>
          <a:noFill/>
          <a:ln/>
        </p:spPr>
        <p:txBody>
          <a:bodyPr wrap="square" lIns="0" tIns="0" rIns="0" bIns="0" rtlCol="0" anchor="ctr"/>
          <a:lstStyle/>
          <a:p>
            <a:pPr marL="0" indent="0">
              <a:buNone/>
            </a:pPr>
            <a:r>
              <a:rPr lang="en-US" sz="1000" i="1" dirty="0">
                <a:solidFill>
                  <a:srgbClr val="5F6670"/>
                </a:solidFill>
                <a:latin typeface="Calibri" pitchFamily="34" charset="0"/>
                <a:ea typeface="Calibri" pitchFamily="34" charset="-122"/>
                <a:cs typeface="Calibri" pitchFamily="34" charset="-120"/>
              </a:rPr>
              <a:t>Source : mermaid.js.org ; plantuml.com. Rendu ci-contre produit par Mermaid.</a:t>
            </a:r>
            <a:endParaRPr lang="en-US" sz="10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16181D"/>
        </a:solidFill>
        <a:effectLst/>
      </p:bgPr>
    </p:bg>
    <p:spTree>
      <p:nvGrpSpPr>
        <p:cNvPr id="1" name=""/>
        <p:cNvGrpSpPr/>
        <p:nvPr/>
      </p:nvGrpSpPr>
      <p:grpSpPr>
        <a:xfrm>
          <a:off x="0" y="0"/>
          <a:ext cx="0" cy="0"/>
          <a:chOff x="0" y="0"/>
          <a:chExt cx="0" cy="0"/>
        </a:xfrm>
      </p:grpSpPr>
      <p:sp>
        <p:nvSpPr>
          <p:cNvPr id="2" name="Text 0"/>
          <p:cNvSpPr txBox="1"/>
          <p:nvPr/>
        </p:nvSpPr>
        <p:spPr>
          <a:xfrm>
            <a:off x="640080" y="1463040"/>
            <a:ext cx="2743200" cy="1280160"/>
          </a:xfrm>
          <a:prstGeom prst="rect">
            <a:avLst/>
          </a:prstGeom>
          <a:noFill/>
          <a:ln/>
        </p:spPr>
        <p:txBody>
          <a:bodyPr wrap="square" lIns="0" tIns="0" rIns="0" bIns="0" rtlCol="0" anchor="ctr"/>
          <a:lstStyle/>
          <a:p>
            <a:pPr marL="0" indent="0">
              <a:buNone/>
            </a:pPr>
            <a:r>
              <a:rPr lang="en-US" sz="9600" b="1" dirty="0">
                <a:solidFill>
                  <a:srgbClr val="E8590C"/>
                </a:solidFill>
                <a:latin typeface="Arial" pitchFamily="34" charset="0"/>
                <a:ea typeface="Arial" pitchFamily="34" charset="-122"/>
                <a:cs typeface="Arial" pitchFamily="34" charset="-120"/>
              </a:rPr>
              <a:t>05</a:t>
            </a:r>
            <a:endParaRPr lang="en-US" sz="9600" dirty="0"/>
          </a:p>
        </p:txBody>
      </p:sp>
      <p:sp>
        <p:nvSpPr>
          <p:cNvPr id="3" name="Text 1"/>
          <p:cNvSpPr txBox="1"/>
          <p:nvPr/>
        </p:nvSpPr>
        <p:spPr>
          <a:xfrm>
            <a:off x="640080" y="2834640"/>
            <a:ext cx="10911535" cy="1005840"/>
          </a:xfrm>
          <a:prstGeom prst="rect">
            <a:avLst/>
          </a:prstGeom>
          <a:noFill/>
          <a:ln/>
        </p:spPr>
        <p:txBody>
          <a:bodyPr wrap="square" lIns="0" tIns="0" rIns="0" bIns="0" rtlCol="0" anchor="ctr"/>
          <a:lstStyle/>
          <a:p>
            <a:pPr marL="0" indent="0">
              <a:buNone/>
            </a:pPr>
            <a:r>
              <a:rPr lang="en-US" sz="4400" b="1" dirty="0">
                <a:solidFill>
                  <a:srgbClr val="FFFFFF"/>
                </a:solidFill>
                <a:latin typeface="Arial" pitchFamily="34" charset="0"/>
                <a:ea typeface="Arial" pitchFamily="34" charset="-122"/>
                <a:cs typeface="Arial" pitchFamily="34" charset="-120"/>
              </a:rPr>
              <a:t>Du schéma au code</a:t>
            </a:r>
            <a:endParaRPr lang="en-US" sz="4400" dirty="0"/>
          </a:p>
        </p:txBody>
      </p:sp>
      <p:sp>
        <p:nvSpPr>
          <p:cNvPr id="4" name="Text 2"/>
          <p:cNvSpPr txBox="1"/>
          <p:nvPr/>
        </p:nvSpPr>
        <p:spPr>
          <a:xfrm>
            <a:off x="640080" y="3840480"/>
            <a:ext cx="10911535" cy="731520"/>
          </a:xfrm>
          <a:prstGeom prst="rect">
            <a:avLst/>
          </a:prstGeom>
          <a:noFill/>
          <a:ln/>
        </p:spPr>
        <p:txBody>
          <a:bodyPr wrap="square" lIns="0" tIns="0" rIns="0" bIns="0" rtlCol="0" anchor="ctr"/>
          <a:lstStyle/>
          <a:p>
            <a:pPr marL="0" indent="0">
              <a:buNone/>
            </a:pPr>
            <a:r>
              <a:rPr lang="en-US" sz="2000" dirty="0">
                <a:solidFill>
                  <a:srgbClr val="C9CDD3"/>
                </a:solidFill>
                <a:latin typeface="Calibri" pitchFamily="34" charset="0"/>
                <a:ea typeface="Calibri" pitchFamily="34" charset="-122"/>
                <a:cs typeface="Calibri" pitchFamily="34" charset="-120"/>
              </a:rPr>
              <a:t>On lit. On n'écrit pas encore.</a:t>
            </a:r>
            <a:endParaRPr lang="en-US" sz="20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9AA0A8"/>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9AA0A8"/>
                </a:solidFill>
                <a:latin typeface="Calibri" pitchFamily="34" charset="0"/>
                <a:ea typeface="Calibri" pitchFamily="34" charset="-122"/>
                <a:cs typeface="Calibri" pitchFamily="34" charset="-120"/>
              </a:rPr>
              <a:t>68</a:t>
            </a:r>
            <a:endParaRPr lang="en-US" sz="10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2F3F5"/>
        </a:solidFill>
        <a:effectLst/>
      </p:bgPr>
    </p:bg>
    <p:spTree>
      <p:nvGrpSpPr>
        <p:cNvPr id="1" name=""/>
        <p:cNvGrpSpPr/>
        <p:nvPr/>
      </p:nvGrpSpPr>
      <p:grpSpPr>
        <a:xfrm>
          <a:off x="0" y="0"/>
          <a:ext cx="0" cy="0"/>
          <a:chOff x="0" y="0"/>
          <a:chExt cx="0" cy="0"/>
        </a:xfrm>
      </p:grpSpPr>
      <p:sp>
        <p:nvSpPr>
          <p:cNvPr id="2" name="Text 0"/>
          <p:cNvSpPr txBox="1"/>
          <p:nvPr/>
        </p:nvSpPr>
        <p:spPr>
          <a:xfrm>
            <a:off x="640080" y="1463040"/>
            <a:ext cx="3657600" cy="457200"/>
          </a:xfrm>
          <a:prstGeom prst="rect">
            <a:avLst/>
          </a:prstGeom>
          <a:noFill/>
          <a:ln/>
        </p:spPr>
        <p:txBody>
          <a:bodyPr wrap="square" lIns="0" tIns="0" rIns="0" bIns="0" rtlCol="0" anchor="ctr"/>
          <a:lstStyle/>
          <a:p>
            <a:pPr marL="0" indent="0">
              <a:buNone/>
            </a:pPr>
            <a:r>
              <a:rPr lang="en-US" sz="1600" b="1" kern="0" spc="400" dirty="0">
                <a:solidFill>
                  <a:srgbClr val="E8590C"/>
                </a:solidFill>
                <a:latin typeface="Calibri" pitchFamily="34" charset="0"/>
                <a:ea typeface="Calibri" pitchFamily="34" charset="-122"/>
                <a:cs typeface="Calibri" pitchFamily="34" charset="-120"/>
              </a:rPr>
              <a:t>RIDER</a:t>
            </a:r>
            <a:endParaRPr lang="en-US" sz="1600" dirty="0"/>
          </a:p>
        </p:txBody>
      </p:sp>
      <p:sp>
        <p:nvSpPr>
          <p:cNvPr id="3" name="Shape 1"/>
          <p:cNvSpPr/>
          <p:nvPr/>
        </p:nvSpPr>
        <p:spPr>
          <a:xfrm>
            <a:off x="640080" y="2011680"/>
            <a:ext cx="10911535" cy="1005840"/>
          </a:xfrm>
          <a:prstGeom prst="roundRect">
            <a:avLst>
              <a:gd name="adj" fmla="val 7273"/>
            </a:avLst>
          </a:prstGeom>
          <a:solidFill>
            <a:srgbClr val="1E2127"/>
          </a:solidFill>
          <a:ln w="12700">
            <a:solidFill>
              <a:srgbClr val="1E2127"/>
            </a:solidFill>
            <a:prstDash val="solid"/>
          </a:ln>
        </p:spPr>
        <p:txBody>
          <a:bodyPr/>
          <a:lstStyle/>
          <a:p>
            <a:endParaRPr lang="fr-BE"/>
          </a:p>
        </p:txBody>
      </p:sp>
      <p:sp>
        <p:nvSpPr>
          <p:cNvPr id="4" name="Text 2"/>
          <p:cNvSpPr txBox="1"/>
          <p:nvPr/>
        </p:nvSpPr>
        <p:spPr>
          <a:xfrm>
            <a:off x="1005840" y="2011680"/>
            <a:ext cx="10180015" cy="1005840"/>
          </a:xfrm>
          <a:prstGeom prst="rect">
            <a:avLst/>
          </a:prstGeom>
          <a:noFill/>
          <a:ln/>
        </p:spPr>
        <p:txBody>
          <a:bodyPr wrap="square" lIns="0" tIns="0" rIns="0" bIns="0" rtlCol="0" anchor="ctr"/>
          <a:lstStyle/>
          <a:p>
            <a:pPr marL="0" indent="0">
              <a:buNone/>
            </a:pPr>
            <a:r>
              <a:rPr lang="en-US" sz="2800" dirty="0">
                <a:solidFill>
                  <a:srgbClr val="E6E6E6"/>
                </a:solidFill>
                <a:latin typeface="Consolas" pitchFamily="34" charset="0"/>
                <a:ea typeface="Consolas" pitchFamily="34" charset="-122"/>
                <a:cs typeface="Consolas" pitchFamily="34" charset="-120"/>
              </a:rPr>
              <a:t>git checkout s01-etape1-classe-incident</a:t>
            </a:r>
            <a:endParaRPr lang="en-US" sz="2800" dirty="0"/>
          </a:p>
        </p:txBody>
      </p:sp>
      <p:sp>
        <p:nvSpPr>
          <p:cNvPr id="5" name="Text 3"/>
          <p:cNvSpPr txBox="1"/>
          <p:nvPr/>
        </p:nvSpPr>
        <p:spPr>
          <a:xfrm>
            <a:off x="640080" y="3291840"/>
            <a:ext cx="10911535" cy="731520"/>
          </a:xfrm>
          <a:prstGeom prst="rect">
            <a:avLst/>
          </a:prstGeom>
          <a:noFill/>
          <a:ln/>
        </p:spPr>
        <p:txBody>
          <a:bodyPr wrap="square" lIns="0" tIns="0" rIns="0" bIns="0" rtlCol="0" anchor="t"/>
          <a:lstStyle/>
          <a:p>
            <a:pPr marL="0" indent="0">
              <a:buNone/>
            </a:pPr>
            <a:r>
              <a:rPr lang="en-US" sz="2400" b="1" dirty="0">
                <a:solidFill>
                  <a:srgbClr val="16181D"/>
                </a:solidFill>
                <a:latin typeface="Arial" pitchFamily="34" charset="0"/>
                <a:ea typeface="Arial" pitchFamily="34" charset="-122"/>
                <a:cs typeface="Arial" pitchFamily="34" charset="-120"/>
              </a:rPr>
              <a:t>Une première classe Incident, « naïve »</a:t>
            </a:r>
            <a:endParaRPr lang="en-US" sz="2400" dirty="0"/>
          </a:p>
        </p:txBody>
      </p:sp>
      <p:sp>
        <p:nvSpPr>
          <p:cNvPr id="6" name="Text 4"/>
          <p:cNvSpPr txBox="1"/>
          <p:nvPr/>
        </p:nvSpPr>
        <p:spPr>
          <a:xfrm>
            <a:off x="640080" y="4114800"/>
            <a:ext cx="4572000" cy="365760"/>
          </a:xfrm>
          <a:prstGeom prst="rect">
            <a:avLst/>
          </a:prstGeom>
          <a:noFill/>
          <a:ln/>
        </p:spPr>
        <p:txBody>
          <a:bodyPr wrap="square" lIns="0" tIns="0" rIns="0" bIns="0" rtlCol="0" anchor="ctr"/>
          <a:lstStyle/>
          <a:p>
            <a:pPr marL="0" indent="0">
              <a:buNone/>
            </a:pPr>
            <a:r>
              <a:rPr lang="en-US" sz="1300" b="1" kern="0" spc="200" dirty="0">
                <a:solidFill>
                  <a:srgbClr val="5F6670"/>
                </a:solidFill>
                <a:latin typeface="Calibri" pitchFamily="34" charset="0"/>
                <a:ea typeface="Calibri" pitchFamily="34" charset="-122"/>
                <a:cs typeface="Calibri" pitchFamily="34" charset="-120"/>
              </a:rPr>
              <a:t>CE QU'ON REGARDE</a:t>
            </a:r>
            <a:endParaRPr lang="en-US" sz="1300" dirty="0"/>
          </a:p>
        </p:txBody>
      </p:sp>
      <p:sp>
        <p:nvSpPr>
          <p:cNvPr id="7" name="Text 5"/>
          <p:cNvSpPr txBox="1"/>
          <p:nvPr/>
        </p:nvSpPr>
        <p:spPr>
          <a:xfrm>
            <a:off x="640080" y="4526280"/>
            <a:ext cx="10911535" cy="164592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class Incident : le formulaire vierge</a:t>
            </a:r>
            <a:endParaRPr lang="en-US" sz="1800" dirty="0"/>
          </a:p>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Les propriétés : les cases du formulaire (get; set;)</a:t>
            </a:r>
            <a:endParaRPr lang="en-US" sz="1800" dirty="0"/>
          </a:p>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new Incident() dans Program.cs : on remplit un formulaire</a:t>
            </a:r>
            <a:endParaRPr lang="en-US" sz="1800" dirty="0"/>
          </a:p>
        </p:txBody>
      </p:sp>
      <p:sp>
        <p:nvSpPr>
          <p:cNvPr id="8" name="Text 6"/>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69</a:t>
            </a:r>
            <a:endParaRPr lang="en-US" sz="10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LE PROBLÈME</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Ça compile. Et pourtant…</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70</a:t>
            </a:r>
            <a:endParaRPr lang="en-US" sz="1000" dirty="0"/>
          </a:p>
        </p:txBody>
      </p:sp>
      <p:sp>
        <p:nvSpPr>
          <p:cNvPr id="8" name="Shape 5"/>
          <p:cNvSpPr/>
          <p:nvPr/>
        </p:nvSpPr>
        <p:spPr>
          <a:xfrm>
            <a:off x="640080" y="1828800"/>
            <a:ext cx="7315200" cy="3108960"/>
          </a:xfrm>
          <a:prstGeom prst="roundRect">
            <a:avLst>
              <a:gd name="adj" fmla="val 2353"/>
            </a:avLst>
          </a:prstGeom>
          <a:solidFill>
            <a:srgbClr val="1E2127"/>
          </a:solidFill>
          <a:ln w="12700">
            <a:solidFill>
              <a:srgbClr val="1E2127"/>
            </a:solidFill>
            <a:prstDash val="solid"/>
          </a:ln>
        </p:spPr>
        <p:txBody>
          <a:bodyPr/>
          <a:lstStyle/>
          <a:p>
            <a:endParaRPr lang="fr-BE"/>
          </a:p>
        </p:txBody>
      </p:sp>
      <p:sp>
        <p:nvSpPr>
          <p:cNvPr id="9" name="Text 6"/>
          <p:cNvSpPr txBox="1"/>
          <p:nvPr/>
        </p:nvSpPr>
        <p:spPr>
          <a:xfrm>
            <a:off x="914400" y="2057400"/>
            <a:ext cx="6766560" cy="2651760"/>
          </a:xfrm>
          <a:prstGeom prst="rect">
            <a:avLst/>
          </a:prstGeom>
          <a:noFill/>
          <a:ln/>
        </p:spPr>
        <p:txBody>
          <a:bodyPr wrap="square" lIns="0" tIns="0" rIns="0" bIns="0" rtlCol="0" anchor="t"/>
          <a:lstStyle/>
          <a:p>
            <a:pPr marL="0" indent="0">
              <a:buNone/>
            </a:pPr>
            <a:r>
              <a:rPr lang="en-US" sz="2000" dirty="0">
                <a:solidFill>
                  <a:srgbClr val="E6E6E6"/>
                </a:solidFill>
                <a:latin typeface="Consolas" pitchFamily="34" charset="0"/>
                <a:ea typeface="Consolas" pitchFamily="34" charset="-122"/>
                <a:cs typeface="Consolas" pitchFamily="34" charset="-120"/>
              </a:rPr>
              <a:t>var incident = new Incident();</a:t>
            </a:r>
            <a:endParaRPr lang="en-US" sz="2000" dirty="0"/>
          </a:p>
          <a:p>
            <a:pPr marL="0" indent="0">
              <a:buNone/>
            </a:pPr>
            <a:r>
              <a:rPr lang="en-US" sz="2000" dirty="0">
                <a:solidFill>
                  <a:srgbClr val="E6E6E6"/>
                </a:solidFill>
                <a:latin typeface="Consolas" pitchFamily="34" charset="0"/>
                <a:ea typeface="Consolas" pitchFamily="34" charset="-122"/>
                <a:cs typeface="Consolas" pitchFamily="34" charset="-120"/>
              </a:rPr>
              <a:t>incident.Title = "";</a:t>
            </a:r>
            <a:endParaRPr lang="en-US" sz="2000" dirty="0"/>
          </a:p>
          <a:p>
            <a:pPr marL="0" indent="0">
              <a:buNone/>
            </a:pPr>
            <a:r>
              <a:rPr lang="en-US" sz="2000" b="1" dirty="0">
                <a:solidFill>
                  <a:srgbClr val="FFA94D"/>
                </a:solidFill>
                <a:latin typeface="Consolas" pitchFamily="34" charset="0"/>
                <a:ea typeface="Consolas" pitchFamily="34" charset="-122"/>
                <a:cs typeface="Consolas" pitchFamily="34" charset="-120"/>
              </a:rPr>
              <a:t>incident.Severity = "très très grave";</a:t>
            </a:r>
            <a:endParaRPr lang="en-US" sz="2000" dirty="0"/>
          </a:p>
          <a:p>
            <a:pPr marL="0" indent="0">
              <a:buNone/>
            </a:pPr>
            <a:r>
              <a:rPr lang="en-US" sz="2000" b="1" dirty="0">
                <a:solidFill>
                  <a:srgbClr val="FFA94D"/>
                </a:solidFill>
                <a:latin typeface="Consolas" pitchFamily="34" charset="0"/>
                <a:ea typeface="Consolas" pitchFamily="34" charset="-122"/>
                <a:cs typeface="Consolas" pitchFamily="34" charset="-120"/>
              </a:rPr>
              <a:t>incident.Status = "banane";</a:t>
            </a:r>
            <a:endParaRPr lang="en-US" sz="2000" dirty="0"/>
          </a:p>
          <a:p>
            <a:pPr marL="0" indent="0">
              <a:buNone/>
            </a:pPr>
            <a:r>
              <a:rPr lang="en-US" sz="2000" dirty="0">
                <a:solidFill>
                  <a:srgbClr val="E6E6E6"/>
                </a:solidFill>
                <a:latin typeface="Consolas" pitchFamily="34" charset="0"/>
                <a:ea typeface="Consolas" pitchFamily="34" charset="-122"/>
                <a:cs typeface="Consolas" pitchFamily="34" charset="-120"/>
              </a:rPr>
              <a:t> </a:t>
            </a:r>
            <a:endParaRPr lang="en-US" sz="2000" dirty="0"/>
          </a:p>
          <a:p>
            <a:pPr marL="0" indent="0">
              <a:buNone/>
            </a:pPr>
            <a:r>
              <a:rPr lang="en-US" sz="2000" dirty="0">
                <a:solidFill>
                  <a:srgbClr val="8B929C"/>
                </a:solidFill>
                <a:latin typeface="Consolas" pitchFamily="34" charset="0"/>
                <a:ea typeface="Consolas" pitchFamily="34" charset="-122"/>
                <a:cs typeface="Consolas" pitchFamily="34" charset="-120"/>
              </a:rPr>
              <a:t>// Aucune erreur. Le programme accepte tout.</a:t>
            </a:r>
            <a:endParaRPr lang="en-US" sz="2000" dirty="0"/>
          </a:p>
        </p:txBody>
      </p:sp>
      <p:sp>
        <p:nvSpPr>
          <p:cNvPr id="10" name="Text 7"/>
          <p:cNvSpPr txBox="1"/>
          <p:nvPr/>
        </p:nvSpPr>
        <p:spPr>
          <a:xfrm>
            <a:off x="8321040" y="1828800"/>
            <a:ext cx="3291840" cy="731520"/>
          </a:xfrm>
          <a:prstGeom prst="rect">
            <a:avLst/>
          </a:prstGeom>
          <a:noFill/>
          <a:ln/>
        </p:spPr>
        <p:txBody>
          <a:bodyPr wrap="square" lIns="0" tIns="0" rIns="0" bIns="0" rtlCol="0" anchor="t"/>
          <a:lstStyle/>
          <a:p>
            <a:pPr marL="0" indent="0">
              <a:buNone/>
            </a:pPr>
            <a:r>
              <a:rPr lang="en-US" sz="1600" b="1" dirty="0">
                <a:solidFill>
                  <a:srgbClr val="16181D"/>
                </a:solidFill>
                <a:latin typeface="Calibri" pitchFamily="34" charset="0"/>
                <a:ea typeface="Calibri" pitchFamily="34" charset="-122"/>
                <a:cs typeface="Calibri" pitchFamily="34" charset="-120"/>
              </a:rPr>
              <a:t>Titre vide accepté</a:t>
            </a:r>
            <a:endParaRPr lang="en-US" sz="1600" dirty="0"/>
          </a:p>
          <a:p>
            <a:pPr marL="0" indent="0">
              <a:buNone/>
            </a:pPr>
            <a:r>
              <a:rPr lang="en-US" sz="1600" dirty="0">
                <a:solidFill>
                  <a:srgbClr val="E8590C"/>
                </a:solidFill>
                <a:latin typeface="Calibri" pitchFamily="34" charset="0"/>
                <a:ea typeface="Calibri" pitchFamily="34" charset="-122"/>
                <a:cs typeface="Calibri" pitchFamily="34" charset="-120"/>
              </a:rPr>
              <a:t>→ constructeur</a:t>
            </a:r>
            <a:endParaRPr lang="en-US" sz="1600" dirty="0"/>
          </a:p>
        </p:txBody>
      </p:sp>
      <p:sp>
        <p:nvSpPr>
          <p:cNvPr id="11" name="Text 8"/>
          <p:cNvSpPr txBox="1"/>
          <p:nvPr/>
        </p:nvSpPr>
        <p:spPr>
          <a:xfrm>
            <a:off x="8321040" y="2651760"/>
            <a:ext cx="3291840" cy="731520"/>
          </a:xfrm>
          <a:prstGeom prst="rect">
            <a:avLst/>
          </a:prstGeom>
          <a:noFill/>
          <a:ln/>
        </p:spPr>
        <p:txBody>
          <a:bodyPr wrap="square" lIns="0" tIns="0" rIns="0" bIns="0" rtlCol="0" anchor="t"/>
          <a:lstStyle/>
          <a:p>
            <a:pPr marL="0" indent="0">
              <a:buNone/>
            </a:pPr>
            <a:r>
              <a:rPr lang="en-US" sz="1600" b="1" dirty="0">
                <a:solidFill>
                  <a:srgbClr val="16181D"/>
                </a:solidFill>
                <a:latin typeface="Calibri" pitchFamily="34" charset="0"/>
                <a:ea typeface="Calibri" pitchFamily="34" charset="-122"/>
                <a:cs typeface="Calibri" pitchFamily="34" charset="-120"/>
              </a:rPr>
              <a:t>Gravité en texte libre</a:t>
            </a:r>
            <a:endParaRPr lang="en-US" sz="1600" dirty="0"/>
          </a:p>
          <a:p>
            <a:pPr marL="0" indent="0">
              <a:buNone/>
            </a:pPr>
            <a:r>
              <a:rPr lang="en-US" sz="1600" dirty="0">
                <a:solidFill>
                  <a:srgbClr val="E8590C"/>
                </a:solidFill>
                <a:latin typeface="Calibri" pitchFamily="34" charset="0"/>
                <a:ea typeface="Calibri" pitchFamily="34" charset="-122"/>
                <a:cs typeface="Calibri" pitchFamily="34" charset="-120"/>
              </a:rPr>
              <a:t>→ enum</a:t>
            </a:r>
            <a:endParaRPr lang="en-US" sz="1600" dirty="0"/>
          </a:p>
        </p:txBody>
      </p:sp>
      <p:sp>
        <p:nvSpPr>
          <p:cNvPr id="12" name="Text 9"/>
          <p:cNvSpPr txBox="1"/>
          <p:nvPr/>
        </p:nvSpPr>
        <p:spPr>
          <a:xfrm>
            <a:off x="8321040" y="3474720"/>
            <a:ext cx="3291840" cy="731520"/>
          </a:xfrm>
          <a:prstGeom prst="rect">
            <a:avLst/>
          </a:prstGeom>
          <a:noFill/>
          <a:ln/>
        </p:spPr>
        <p:txBody>
          <a:bodyPr wrap="square" lIns="0" tIns="0" rIns="0" bIns="0" rtlCol="0" anchor="t"/>
          <a:lstStyle/>
          <a:p>
            <a:pPr marL="0" indent="0">
              <a:buNone/>
            </a:pPr>
            <a:r>
              <a:rPr lang="en-US" sz="1600" b="1" dirty="0">
                <a:solidFill>
                  <a:srgbClr val="16181D"/>
                </a:solidFill>
                <a:latin typeface="Calibri" pitchFamily="34" charset="0"/>
                <a:ea typeface="Calibri" pitchFamily="34" charset="-122"/>
                <a:cs typeface="Calibri" pitchFamily="34" charset="-120"/>
              </a:rPr>
              <a:t>Statut : n'importe quoi</a:t>
            </a:r>
            <a:endParaRPr lang="en-US" sz="1600" dirty="0"/>
          </a:p>
          <a:p>
            <a:pPr marL="0" indent="0">
              <a:buNone/>
            </a:pPr>
            <a:r>
              <a:rPr lang="en-US" sz="1600" dirty="0">
                <a:solidFill>
                  <a:srgbClr val="E8590C"/>
                </a:solidFill>
                <a:latin typeface="Calibri" pitchFamily="34" charset="0"/>
                <a:ea typeface="Calibri" pitchFamily="34" charset="-122"/>
                <a:cs typeface="Calibri" pitchFamily="34" charset="-120"/>
              </a:rPr>
              <a:t>→ enum + règles</a:t>
            </a:r>
            <a:endParaRPr lang="en-US" sz="1600" dirty="0"/>
          </a:p>
        </p:txBody>
      </p:sp>
      <p:sp>
        <p:nvSpPr>
          <p:cNvPr id="13" name="Text 10"/>
          <p:cNvSpPr txBox="1"/>
          <p:nvPr/>
        </p:nvSpPr>
        <p:spPr>
          <a:xfrm>
            <a:off x="8321040" y="4297680"/>
            <a:ext cx="3291840" cy="731520"/>
          </a:xfrm>
          <a:prstGeom prst="rect">
            <a:avLst/>
          </a:prstGeom>
          <a:noFill/>
          <a:ln/>
        </p:spPr>
        <p:txBody>
          <a:bodyPr wrap="square" lIns="0" tIns="0" rIns="0" bIns="0" rtlCol="0" anchor="t"/>
          <a:lstStyle/>
          <a:p>
            <a:pPr marL="0" indent="0">
              <a:buNone/>
            </a:pPr>
            <a:r>
              <a:rPr lang="en-US" sz="1600" b="1" dirty="0">
                <a:solidFill>
                  <a:srgbClr val="16181D"/>
                </a:solidFill>
                <a:latin typeface="Calibri" pitchFamily="34" charset="0"/>
                <a:ea typeface="Calibri" pitchFamily="34" charset="-122"/>
                <a:cs typeface="Calibri" pitchFamily="34" charset="-120"/>
              </a:rPr>
              <a:t>Tout le monde modifie tout</a:t>
            </a:r>
            <a:endParaRPr lang="en-US" sz="1600" dirty="0"/>
          </a:p>
          <a:p>
            <a:pPr marL="0" indent="0">
              <a:buNone/>
            </a:pPr>
            <a:r>
              <a:rPr lang="en-US" sz="1600" dirty="0">
                <a:solidFill>
                  <a:srgbClr val="E8590C"/>
                </a:solidFill>
                <a:latin typeface="Calibri" pitchFamily="34" charset="0"/>
                <a:ea typeface="Calibri" pitchFamily="34" charset="-122"/>
                <a:cs typeface="Calibri" pitchFamily="34" charset="-120"/>
              </a:rPr>
              <a:t>→ encapsulation</a:t>
            </a:r>
            <a:endParaRPr lang="en-US" sz="16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2F3F5"/>
        </a:solidFill>
        <a:effectLst/>
      </p:bgPr>
    </p:bg>
    <p:spTree>
      <p:nvGrpSpPr>
        <p:cNvPr id="1" name=""/>
        <p:cNvGrpSpPr/>
        <p:nvPr/>
      </p:nvGrpSpPr>
      <p:grpSpPr>
        <a:xfrm>
          <a:off x="0" y="0"/>
          <a:ext cx="0" cy="0"/>
          <a:chOff x="0" y="0"/>
          <a:chExt cx="0" cy="0"/>
        </a:xfrm>
      </p:grpSpPr>
      <p:sp>
        <p:nvSpPr>
          <p:cNvPr id="2" name="Text 0"/>
          <p:cNvSpPr txBox="1"/>
          <p:nvPr/>
        </p:nvSpPr>
        <p:spPr>
          <a:xfrm>
            <a:off x="640080" y="1463040"/>
            <a:ext cx="3657600" cy="457200"/>
          </a:xfrm>
          <a:prstGeom prst="rect">
            <a:avLst/>
          </a:prstGeom>
          <a:noFill/>
          <a:ln/>
        </p:spPr>
        <p:txBody>
          <a:bodyPr wrap="square" lIns="0" tIns="0" rIns="0" bIns="0" rtlCol="0" anchor="ctr"/>
          <a:lstStyle/>
          <a:p>
            <a:pPr marL="0" indent="0">
              <a:buNone/>
            </a:pPr>
            <a:r>
              <a:rPr lang="en-US" sz="1600" b="1" kern="0" spc="400" dirty="0">
                <a:solidFill>
                  <a:srgbClr val="E8590C"/>
                </a:solidFill>
                <a:latin typeface="Calibri" pitchFamily="34" charset="0"/>
                <a:ea typeface="Calibri" pitchFamily="34" charset="-122"/>
                <a:cs typeface="Calibri" pitchFamily="34" charset="-120"/>
              </a:rPr>
              <a:t>RIDER</a:t>
            </a:r>
            <a:endParaRPr lang="en-US" sz="1600" dirty="0"/>
          </a:p>
        </p:txBody>
      </p:sp>
      <p:sp>
        <p:nvSpPr>
          <p:cNvPr id="3" name="Shape 1"/>
          <p:cNvSpPr/>
          <p:nvPr/>
        </p:nvSpPr>
        <p:spPr>
          <a:xfrm>
            <a:off x="640080" y="2011680"/>
            <a:ext cx="10911535" cy="1005840"/>
          </a:xfrm>
          <a:prstGeom prst="roundRect">
            <a:avLst>
              <a:gd name="adj" fmla="val 7273"/>
            </a:avLst>
          </a:prstGeom>
          <a:solidFill>
            <a:srgbClr val="1E2127"/>
          </a:solidFill>
          <a:ln w="12700">
            <a:solidFill>
              <a:srgbClr val="1E2127"/>
            </a:solidFill>
            <a:prstDash val="solid"/>
          </a:ln>
        </p:spPr>
        <p:txBody>
          <a:bodyPr/>
          <a:lstStyle/>
          <a:p>
            <a:endParaRPr lang="fr-BE"/>
          </a:p>
        </p:txBody>
      </p:sp>
      <p:sp>
        <p:nvSpPr>
          <p:cNvPr id="4" name="Text 2"/>
          <p:cNvSpPr txBox="1"/>
          <p:nvPr/>
        </p:nvSpPr>
        <p:spPr>
          <a:xfrm>
            <a:off x="1005840" y="2011680"/>
            <a:ext cx="10180015" cy="1005840"/>
          </a:xfrm>
          <a:prstGeom prst="rect">
            <a:avLst/>
          </a:prstGeom>
          <a:noFill/>
          <a:ln/>
        </p:spPr>
        <p:txBody>
          <a:bodyPr wrap="square" lIns="0" tIns="0" rIns="0" bIns="0" rtlCol="0" anchor="ctr"/>
          <a:lstStyle/>
          <a:p>
            <a:pPr marL="0" indent="0">
              <a:buNone/>
            </a:pPr>
            <a:r>
              <a:rPr lang="en-US" sz="2800" dirty="0">
                <a:solidFill>
                  <a:srgbClr val="E6E6E6"/>
                </a:solidFill>
                <a:latin typeface="Consolas" pitchFamily="34" charset="0"/>
                <a:ea typeface="Consolas" pitchFamily="34" charset="-122"/>
                <a:cs typeface="Consolas" pitchFamily="34" charset="-120"/>
              </a:rPr>
              <a:t>git checkout s01-etape2-enum-severity</a:t>
            </a:r>
            <a:endParaRPr lang="en-US" sz="2800" dirty="0"/>
          </a:p>
        </p:txBody>
      </p:sp>
      <p:sp>
        <p:nvSpPr>
          <p:cNvPr id="5" name="Text 3"/>
          <p:cNvSpPr txBox="1"/>
          <p:nvPr/>
        </p:nvSpPr>
        <p:spPr>
          <a:xfrm>
            <a:off x="640080" y="3291840"/>
            <a:ext cx="10911535" cy="731520"/>
          </a:xfrm>
          <a:prstGeom prst="rect">
            <a:avLst/>
          </a:prstGeom>
          <a:noFill/>
          <a:ln/>
        </p:spPr>
        <p:txBody>
          <a:bodyPr wrap="square" lIns="0" tIns="0" rIns="0" bIns="0" rtlCol="0" anchor="t"/>
          <a:lstStyle/>
          <a:p>
            <a:pPr marL="0" indent="0">
              <a:buNone/>
            </a:pPr>
            <a:r>
              <a:rPr lang="en-US" sz="2400" b="1" dirty="0">
                <a:solidFill>
                  <a:srgbClr val="16181D"/>
                </a:solidFill>
                <a:latin typeface="Arial" pitchFamily="34" charset="0"/>
                <a:ea typeface="Arial" pitchFamily="34" charset="-122"/>
                <a:cs typeface="Arial" pitchFamily="34" charset="-120"/>
              </a:rPr>
              <a:t>Des choix fermés : les enum</a:t>
            </a:r>
            <a:endParaRPr lang="en-US" sz="2400" dirty="0"/>
          </a:p>
        </p:txBody>
      </p:sp>
      <p:sp>
        <p:nvSpPr>
          <p:cNvPr id="6" name="Text 4"/>
          <p:cNvSpPr txBox="1"/>
          <p:nvPr/>
        </p:nvSpPr>
        <p:spPr>
          <a:xfrm>
            <a:off x="640080" y="4114800"/>
            <a:ext cx="4572000" cy="365760"/>
          </a:xfrm>
          <a:prstGeom prst="rect">
            <a:avLst/>
          </a:prstGeom>
          <a:noFill/>
          <a:ln/>
        </p:spPr>
        <p:txBody>
          <a:bodyPr wrap="square" lIns="0" tIns="0" rIns="0" bIns="0" rtlCol="0" anchor="ctr"/>
          <a:lstStyle/>
          <a:p>
            <a:pPr marL="0" indent="0">
              <a:buNone/>
            </a:pPr>
            <a:r>
              <a:rPr lang="en-US" sz="1300" b="1" kern="0" spc="200" dirty="0">
                <a:solidFill>
                  <a:srgbClr val="5F6670"/>
                </a:solidFill>
                <a:latin typeface="Calibri" pitchFamily="34" charset="0"/>
                <a:ea typeface="Calibri" pitchFamily="34" charset="-122"/>
                <a:cs typeface="Calibri" pitchFamily="34" charset="-120"/>
              </a:rPr>
              <a:t>CE QU'ON REGARDE</a:t>
            </a:r>
            <a:endParaRPr lang="en-US" sz="1300" dirty="0"/>
          </a:p>
        </p:txBody>
      </p:sp>
      <p:sp>
        <p:nvSpPr>
          <p:cNvPr id="7" name="Text 5"/>
          <p:cNvSpPr txBox="1"/>
          <p:nvPr/>
        </p:nvSpPr>
        <p:spPr>
          <a:xfrm>
            <a:off x="640080" y="4526280"/>
            <a:ext cx="10911535" cy="164592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enum Severity { Low, Medium, High, Critical }</a:t>
            </a:r>
            <a:endParaRPr lang="en-US" sz="1800" dirty="0"/>
          </a:p>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incident.Status = "banane" ne compile plus</a:t>
            </a:r>
            <a:endParaRPr lang="en-US" sz="1800" dirty="0"/>
          </a:p>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L'erreur de compilation arrive avant la production : c'est une amie</a:t>
            </a:r>
            <a:endParaRPr lang="en-US" sz="1800" dirty="0"/>
          </a:p>
        </p:txBody>
      </p:sp>
      <p:sp>
        <p:nvSpPr>
          <p:cNvPr id="8" name="Text 6"/>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71</a:t>
            </a:r>
            <a:endParaRPr lang="en-US" sz="10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2F3F5"/>
        </a:solidFill>
        <a:effectLst/>
      </p:bgPr>
    </p:bg>
    <p:spTree>
      <p:nvGrpSpPr>
        <p:cNvPr id="1" name=""/>
        <p:cNvGrpSpPr/>
        <p:nvPr/>
      </p:nvGrpSpPr>
      <p:grpSpPr>
        <a:xfrm>
          <a:off x="0" y="0"/>
          <a:ext cx="0" cy="0"/>
          <a:chOff x="0" y="0"/>
          <a:chExt cx="0" cy="0"/>
        </a:xfrm>
      </p:grpSpPr>
      <p:sp>
        <p:nvSpPr>
          <p:cNvPr id="2" name="Text 0"/>
          <p:cNvSpPr txBox="1"/>
          <p:nvPr/>
        </p:nvSpPr>
        <p:spPr>
          <a:xfrm>
            <a:off x="640080" y="1463040"/>
            <a:ext cx="3657600" cy="457200"/>
          </a:xfrm>
          <a:prstGeom prst="rect">
            <a:avLst/>
          </a:prstGeom>
          <a:noFill/>
          <a:ln/>
        </p:spPr>
        <p:txBody>
          <a:bodyPr wrap="square" lIns="0" tIns="0" rIns="0" bIns="0" rtlCol="0" anchor="ctr"/>
          <a:lstStyle/>
          <a:p>
            <a:pPr marL="0" indent="0">
              <a:buNone/>
            </a:pPr>
            <a:r>
              <a:rPr lang="en-US" sz="1600" b="1" kern="0" spc="400" dirty="0">
                <a:solidFill>
                  <a:srgbClr val="E8590C"/>
                </a:solidFill>
                <a:latin typeface="Calibri" pitchFamily="34" charset="0"/>
                <a:ea typeface="Calibri" pitchFamily="34" charset="-122"/>
                <a:cs typeface="Calibri" pitchFamily="34" charset="-120"/>
              </a:rPr>
              <a:t>RIDER</a:t>
            </a:r>
            <a:endParaRPr lang="en-US" sz="1600" dirty="0"/>
          </a:p>
        </p:txBody>
      </p:sp>
      <p:sp>
        <p:nvSpPr>
          <p:cNvPr id="3" name="Shape 1"/>
          <p:cNvSpPr/>
          <p:nvPr/>
        </p:nvSpPr>
        <p:spPr>
          <a:xfrm>
            <a:off x="640080" y="2011680"/>
            <a:ext cx="10911535" cy="1005840"/>
          </a:xfrm>
          <a:prstGeom prst="roundRect">
            <a:avLst>
              <a:gd name="adj" fmla="val 7273"/>
            </a:avLst>
          </a:prstGeom>
          <a:solidFill>
            <a:srgbClr val="1E2127"/>
          </a:solidFill>
          <a:ln w="12700">
            <a:solidFill>
              <a:srgbClr val="1E2127"/>
            </a:solidFill>
            <a:prstDash val="solid"/>
          </a:ln>
        </p:spPr>
        <p:txBody>
          <a:bodyPr/>
          <a:lstStyle/>
          <a:p>
            <a:endParaRPr lang="fr-BE"/>
          </a:p>
        </p:txBody>
      </p:sp>
      <p:sp>
        <p:nvSpPr>
          <p:cNvPr id="4" name="Text 2"/>
          <p:cNvSpPr txBox="1"/>
          <p:nvPr/>
        </p:nvSpPr>
        <p:spPr>
          <a:xfrm>
            <a:off x="1005840" y="2011680"/>
            <a:ext cx="10180015" cy="1005840"/>
          </a:xfrm>
          <a:prstGeom prst="rect">
            <a:avLst/>
          </a:prstGeom>
          <a:noFill/>
          <a:ln/>
        </p:spPr>
        <p:txBody>
          <a:bodyPr wrap="square" lIns="0" tIns="0" rIns="0" bIns="0" rtlCol="0" anchor="ctr"/>
          <a:lstStyle/>
          <a:p>
            <a:pPr marL="0" indent="0">
              <a:buNone/>
            </a:pPr>
            <a:r>
              <a:rPr lang="en-US" sz="2800" dirty="0">
                <a:solidFill>
                  <a:srgbClr val="E6E6E6"/>
                </a:solidFill>
                <a:latin typeface="Consolas" pitchFamily="34" charset="0"/>
                <a:ea typeface="Consolas" pitchFamily="34" charset="-122"/>
                <a:cs typeface="Consolas" pitchFamily="34" charset="-120"/>
              </a:rPr>
              <a:t>git checkout s01-etape3-encapsulation</a:t>
            </a:r>
            <a:endParaRPr lang="en-US" sz="2800" dirty="0"/>
          </a:p>
        </p:txBody>
      </p:sp>
      <p:sp>
        <p:nvSpPr>
          <p:cNvPr id="5" name="Text 3"/>
          <p:cNvSpPr txBox="1"/>
          <p:nvPr/>
        </p:nvSpPr>
        <p:spPr>
          <a:xfrm>
            <a:off x="640080" y="3291840"/>
            <a:ext cx="10911535" cy="731520"/>
          </a:xfrm>
          <a:prstGeom prst="rect">
            <a:avLst/>
          </a:prstGeom>
          <a:noFill/>
          <a:ln/>
        </p:spPr>
        <p:txBody>
          <a:bodyPr wrap="square" lIns="0" tIns="0" rIns="0" bIns="0" rtlCol="0" anchor="t"/>
          <a:lstStyle/>
          <a:p>
            <a:pPr marL="0" indent="0">
              <a:buNone/>
            </a:pPr>
            <a:r>
              <a:rPr lang="en-US" sz="2400" b="1" dirty="0">
                <a:solidFill>
                  <a:srgbClr val="16181D"/>
                </a:solidFill>
                <a:latin typeface="Arial" pitchFamily="34" charset="0"/>
                <a:ea typeface="Arial" pitchFamily="34" charset="-122"/>
                <a:cs typeface="Arial" pitchFamily="34" charset="-120"/>
              </a:rPr>
              <a:t>L'encapsulation : le guichet</a:t>
            </a:r>
            <a:endParaRPr lang="en-US" sz="2400" dirty="0"/>
          </a:p>
        </p:txBody>
      </p:sp>
      <p:sp>
        <p:nvSpPr>
          <p:cNvPr id="6" name="Text 4"/>
          <p:cNvSpPr txBox="1"/>
          <p:nvPr/>
        </p:nvSpPr>
        <p:spPr>
          <a:xfrm>
            <a:off x="640080" y="4114800"/>
            <a:ext cx="4572000" cy="365760"/>
          </a:xfrm>
          <a:prstGeom prst="rect">
            <a:avLst/>
          </a:prstGeom>
          <a:noFill/>
          <a:ln/>
        </p:spPr>
        <p:txBody>
          <a:bodyPr wrap="square" lIns="0" tIns="0" rIns="0" bIns="0" rtlCol="0" anchor="ctr"/>
          <a:lstStyle/>
          <a:p>
            <a:pPr marL="0" indent="0">
              <a:buNone/>
            </a:pPr>
            <a:r>
              <a:rPr lang="en-US" sz="1300" b="1" kern="0" spc="200" dirty="0">
                <a:solidFill>
                  <a:srgbClr val="5F6670"/>
                </a:solidFill>
                <a:latin typeface="Calibri" pitchFamily="34" charset="0"/>
                <a:ea typeface="Calibri" pitchFamily="34" charset="-122"/>
                <a:cs typeface="Calibri" pitchFamily="34" charset="-120"/>
              </a:rPr>
              <a:t>CE QU'ON REGARDE</a:t>
            </a:r>
            <a:endParaRPr lang="en-US" sz="1300" dirty="0"/>
          </a:p>
        </p:txBody>
      </p:sp>
      <p:sp>
        <p:nvSpPr>
          <p:cNvPr id="7" name="Text 5"/>
          <p:cNvSpPr txBox="1"/>
          <p:nvPr/>
        </p:nvSpPr>
        <p:spPr>
          <a:xfrm>
            <a:off x="640080" y="4526280"/>
            <a:ext cx="10911535" cy="164592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private set : le comptoir, personne ne passe derrière</a:t>
            </a:r>
            <a:endParaRPr lang="en-US" sz="1800" dirty="0"/>
          </a:p>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Le constructeur exige un titre : le guichet d'entrée</a:t>
            </a:r>
            <a:endParaRPr lang="en-US" sz="1800" dirty="0"/>
          </a:p>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Titre vide → exception avec un message clair</a:t>
            </a:r>
            <a:endParaRPr lang="en-US" sz="1800" dirty="0"/>
          </a:p>
        </p:txBody>
      </p:sp>
      <p:sp>
        <p:nvSpPr>
          <p:cNvPr id="8" name="Text 6"/>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72</a:t>
            </a:r>
            <a:endParaRPr lang="en-US" sz="1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2F3F5"/>
        </a:solidFill>
        <a:effectLst/>
      </p:bgPr>
    </p:bg>
    <p:spTree>
      <p:nvGrpSpPr>
        <p:cNvPr id="1" name=""/>
        <p:cNvGrpSpPr/>
        <p:nvPr/>
      </p:nvGrpSpPr>
      <p:grpSpPr>
        <a:xfrm>
          <a:off x="0" y="0"/>
          <a:ext cx="0" cy="0"/>
          <a:chOff x="0" y="0"/>
          <a:chExt cx="0" cy="0"/>
        </a:xfrm>
      </p:grpSpPr>
      <p:sp>
        <p:nvSpPr>
          <p:cNvPr id="2" name="Text 0"/>
          <p:cNvSpPr txBox="1"/>
          <p:nvPr/>
        </p:nvSpPr>
        <p:spPr>
          <a:xfrm>
            <a:off x="640080" y="1463040"/>
            <a:ext cx="3657600" cy="457200"/>
          </a:xfrm>
          <a:prstGeom prst="rect">
            <a:avLst/>
          </a:prstGeom>
          <a:noFill/>
          <a:ln/>
        </p:spPr>
        <p:txBody>
          <a:bodyPr wrap="square" lIns="0" tIns="0" rIns="0" bIns="0" rtlCol="0" anchor="ctr"/>
          <a:lstStyle/>
          <a:p>
            <a:pPr marL="0" indent="0">
              <a:buNone/>
            </a:pPr>
            <a:r>
              <a:rPr lang="en-US" sz="1600" b="1" kern="0" spc="400" dirty="0">
                <a:solidFill>
                  <a:srgbClr val="E8590C"/>
                </a:solidFill>
                <a:latin typeface="Calibri" pitchFamily="34" charset="0"/>
                <a:ea typeface="Calibri" pitchFamily="34" charset="-122"/>
                <a:cs typeface="Calibri" pitchFamily="34" charset="-120"/>
              </a:rPr>
              <a:t>RIDER</a:t>
            </a:r>
            <a:endParaRPr lang="en-US" sz="1600" dirty="0"/>
          </a:p>
        </p:txBody>
      </p:sp>
      <p:sp>
        <p:nvSpPr>
          <p:cNvPr id="3" name="Shape 1"/>
          <p:cNvSpPr/>
          <p:nvPr/>
        </p:nvSpPr>
        <p:spPr>
          <a:xfrm>
            <a:off x="640080" y="2011680"/>
            <a:ext cx="10911535" cy="1005840"/>
          </a:xfrm>
          <a:prstGeom prst="roundRect">
            <a:avLst>
              <a:gd name="adj" fmla="val 7273"/>
            </a:avLst>
          </a:prstGeom>
          <a:solidFill>
            <a:srgbClr val="1E2127"/>
          </a:solidFill>
          <a:ln w="12700">
            <a:solidFill>
              <a:srgbClr val="1E2127"/>
            </a:solidFill>
            <a:prstDash val="solid"/>
          </a:ln>
        </p:spPr>
        <p:txBody>
          <a:bodyPr/>
          <a:lstStyle/>
          <a:p>
            <a:endParaRPr lang="fr-BE"/>
          </a:p>
        </p:txBody>
      </p:sp>
      <p:sp>
        <p:nvSpPr>
          <p:cNvPr id="4" name="Text 2"/>
          <p:cNvSpPr txBox="1"/>
          <p:nvPr/>
        </p:nvSpPr>
        <p:spPr>
          <a:xfrm>
            <a:off x="1005840" y="2011680"/>
            <a:ext cx="10180015" cy="1005840"/>
          </a:xfrm>
          <a:prstGeom prst="rect">
            <a:avLst/>
          </a:prstGeom>
          <a:noFill/>
          <a:ln/>
        </p:spPr>
        <p:txBody>
          <a:bodyPr wrap="square" lIns="0" tIns="0" rIns="0" bIns="0" rtlCol="0" anchor="ctr"/>
          <a:lstStyle/>
          <a:p>
            <a:pPr marL="0" indent="0">
              <a:buNone/>
            </a:pPr>
            <a:r>
              <a:rPr lang="en-US" sz="2800" dirty="0">
                <a:solidFill>
                  <a:srgbClr val="E6E6E6"/>
                </a:solidFill>
                <a:latin typeface="Consolas" pitchFamily="34" charset="0"/>
                <a:ea typeface="Consolas" pitchFamily="34" charset="-122"/>
                <a:cs typeface="Consolas" pitchFamily="34" charset="-120"/>
              </a:rPr>
              <a:t>git checkout s01-etape4-regles-metier</a:t>
            </a:r>
            <a:endParaRPr lang="en-US" sz="2800" dirty="0"/>
          </a:p>
        </p:txBody>
      </p:sp>
      <p:sp>
        <p:nvSpPr>
          <p:cNvPr id="5" name="Text 3"/>
          <p:cNvSpPr txBox="1"/>
          <p:nvPr/>
        </p:nvSpPr>
        <p:spPr>
          <a:xfrm>
            <a:off x="640080" y="3291840"/>
            <a:ext cx="10911535" cy="731520"/>
          </a:xfrm>
          <a:prstGeom prst="rect">
            <a:avLst/>
          </a:prstGeom>
          <a:noFill/>
          <a:ln/>
        </p:spPr>
        <p:txBody>
          <a:bodyPr wrap="square" lIns="0" tIns="0" rIns="0" bIns="0" rtlCol="0" anchor="t"/>
          <a:lstStyle/>
          <a:p>
            <a:pPr marL="0" indent="0">
              <a:buNone/>
            </a:pPr>
            <a:r>
              <a:rPr lang="en-US" sz="2400" b="1" dirty="0">
                <a:solidFill>
                  <a:srgbClr val="16181D"/>
                </a:solidFill>
                <a:latin typeface="Arial" pitchFamily="34" charset="0"/>
                <a:ea typeface="Arial" pitchFamily="34" charset="-122"/>
                <a:cs typeface="Arial" pitchFamily="34" charset="-120"/>
              </a:rPr>
              <a:t>Les règles métier dans l'objet</a:t>
            </a:r>
            <a:endParaRPr lang="en-US" sz="2400" dirty="0"/>
          </a:p>
        </p:txBody>
      </p:sp>
      <p:sp>
        <p:nvSpPr>
          <p:cNvPr id="6" name="Text 4"/>
          <p:cNvSpPr txBox="1"/>
          <p:nvPr/>
        </p:nvSpPr>
        <p:spPr>
          <a:xfrm>
            <a:off x="640080" y="4114800"/>
            <a:ext cx="4572000" cy="365760"/>
          </a:xfrm>
          <a:prstGeom prst="rect">
            <a:avLst/>
          </a:prstGeom>
          <a:noFill/>
          <a:ln/>
        </p:spPr>
        <p:txBody>
          <a:bodyPr wrap="square" lIns="0" tIns="0" rIns="0" bIns="0" rtlCol="0" anchor="ctr"/>
          <a:lstStyle/>
          <a:p>
            <a:pPr marL="0" indent="0">
              <a:buNone/>
            </a:pPr>
            <a:r>
              <a:rPr lang="en-US" sz="1300" b="1" kern="0" spc="200" dirty="0">
                <a:solidFill>
                  <a:srgbClr val="5F6670"/>
                </a:solidFill>
                <a:latin typeface="Calibri" pitchFamily="34" charset="0"/>
                <a:ea typeface="Calibri" pitchFamily="34" charset="-122"/>
                <a:cs typeface="Calibri" pitchFamily="34" charset="-120"/>
              </a:rPr>
              <a:t>CE QU'ON REGARDE</a:t>
            </a:r>
            <a:endParaRPr lang="en-US" sz="1300" dirty="0"/>
          </a:p>
        </p:txBody>
      </p:sp>
      <p:sp>
        <p:nvSpPr>
          <p:cNvPr id="7" name="Text 5"/>
          <p:cNvSpPr txBox="1"/>
          <p:nvPr/>
        </p:nvSpPr>
        <p:spPr>
          <a:xfrm>
            <a:off x="640080" y="4526280"/>
            <a:ext cx="10911535" cy="164592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StartWork(), Resolve(), Close() : les seules portes pour changer de statut</a:t>
            </a:r>
            <a:endParaRPr lang="en-US" sz="1800" dirty="0"/>
          </a:p>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ChangeStatus() vérifie l'état de départ</a:t>
            </a:r>
            <a:endParaRPr lang="en-US" sz="1800" dirty="0"/>
          </a:p>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Close() sur un incident ouvert → refusé</a:t>
            </a:r>
            <a:endParaRPr lang="en-US" sz="1800" dirty="0"/>
          </a:p>
        </p:txBody>
      </p:sp>
      <p:sp>
        <p:nvSpPr>
          <p:cNvPr id="8" name="Text 6"/>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73</a:t>
            </a:r>
            <a:endParaRPr lang="en-US" sz="10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À RETENIR</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Les 4 piliers de la POO</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74</a:t>
            </a:r>
            <a:endParaRPr lang="en-US" sz="1000" dirty="0"/>
          </a:p>
        </p:txBody>
      </p:sp>
      <p:sp>
        <p:nvSpPr>
          <p:cNvPr id="8" name="Shape 5"/>
          <p:cNvSpPr/>
          <p:nvPr/>
        </p:nvSpPr>
        <p:spPr>
          <a:xfrm>
            <a:off x="640080" y="1920240"/>
            <a:ext cx="2560320" cy="3108960"/>
          </a:xfrm>
          <a:prstGeom prst="roundRect">
            <a:avLst>
              <a:gd name="adj" fmla="val 2857"/>
            </a:avLst>
          </a:prstGeom>
          <a:solidFill>
            <a:srgbClr val="16181D"/>
          </a:solidFill>
          <a:ln w="12700">
            <a:solidFill>
              <a:srgbClr val="16181D"/>
            </a:solidFill>
            <a:prstDash val="solid"/>
          </a:ln>
        </p:spPr>
        <p:txBody>
          <a:bodyPr/>
          <a:lstStyle/>
          <a:p>
            <a:endParaRPr lang="fr-BE"/>
          </a:p>
        </p:txBody>
      </p:sp>
      <p:sp>
        <p:nvSpPr>
          <p:cNvPr id="9" name="Text 6"/>
          <p:cNvSpPr txBox="1"/>
          <p:nvPr/>
        </p:nvSpPr>
        <p:spPr>
          <a:xfrm>
            <a:off x="868680" y="2148840"/>
            <a:ext cx="2194560" cy="548640"/>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Encapsulation</a:t>
            </a:r>
            <a:endParaRPr lang="en-US" sz="1900" dirty="0"/>
          </a:p>
        </p:txBody>
      </p:sp>
      <p:sp>
        <p:nvSpPr>
          <p:cNvPr id="10" name="Text 7"/>
          <p:cNvSpPr txBox="1"/>
          <p:nvPr/>
        </p:nvSpPr>
        <p:spPr>
          <a:xfrm>
            <a:off x="868680" y="2788920"/>
            <a:ext cx="2148840" cy="1463040"/>
          </a:xfrm>
          <a:prstGeom prst="rect">
            <a:avLst/>
          </a:prstGeom>
          <a:noFill/>
          <a:ln/>
        </p:spPr>
        <p:txBody>
          <a:bodyPr wrap="square" lIns="0" tIns="0" rIns="0" bIns="0" rtlCol="0" anchor="t"/>
          <a:lstStyle/>
          <a:p>
            <a:pPr marL="0" indent="0">
              <a:buNone/>
            </a:pPr>
            <a:r>
              <a:rPr lang="en-US" sz="1600" dirty="0">
                <a:solidFill>
                  <a:srgbClr val="C9CDD3"/>
                </a:solidFill>
                <a:latin typeface="Calibri" pitchFamily="34" charset="0"/>
                <a:ea typeface="Calibri" pitchFamily="34" charset="-122"/>
                <a:cs typeface="Calibri" pitchFamily="34" charset="-120"/>
              </a:rPr>
              <a:t>Le guichet : on ne touche aux données qu'en passant par lui.</a:t>
            </a:r>
            <a:endParaRPr lang="en-US" sz="1600" dirty="0"/>
          </a:p>
        </p:txBody>
      </p:sp>
      <p:sp>
        <p:nvSpPr>
          <p:cNvPr id="11" name="Text 8"/>
          <p:cNvSpPr txBox="1"/>
          <p:nvPr/>
        </p:nvSpPr>
        <p:spPr>
          <a:xfrm>
            <a:off x="868680" y="4434840"/>
            <a:ext cx="2194560" cy="365760"/>
          </a:xfrm>
          <a:prstGeom prst="rect">
            <a:avLst/>
          </a:prstGeom>
          <a:noFill/>
          <a:ln/>
        </p:spPr>
        <p:txBody>
          <a:bodyPr wrap="square" lIns="0" tIns="0" rIns="0" bIns="0" rtlCol="0" anchor="ctr"/>
          <a:lstStyle/>
          <a:p>
            <a:pPr marL="0" indent="0">
              <a:buNone/>
            </a:pPr>
            <a:r>
              <a:rPr lang="en-US" sz="1400" b="1" dirty="0">
                <a:solidFill>
                  <a:srgbClr val="E8590C"/>
                </a:solidFill>
                <a:latin typeface="Calibri" pitchFamily="34" charset="0"/>
                <a:ea typeface="Calibri" pitchFamily="34" charset="-122"/>
                <a:cs typeface="Calibri" pitchFamily="34" charset="-120"/>
              </a:rPr>
              <a:t>Aujourd'hui</a:t>
            </a:r>
            <a:endParaRPr lang="en-US" sz="1400" dirty="0"/>
          </a:p>
        </p:txBody>
      </p:sp>
      <p:sp>
        <p:nvSpPr>
          <p:cNvPr id="12" name="Shape 9"/>
          <p:cNvSpPr/>
          <p:nvPr/>
        </p:nvSpPr>
        <p:spPr>
          <a:xfrm>
            <a:off x="3383280" y="1920240"/>
            <a:ext cx="2560320" cy="3108960"/>
          </a:xfrm>
          <a:prstGeom prst="roundRect">
            <a:avLst>
              <a:gd name="adj" fmla="val 2857"/>
            </a:avLst>
          </a:prstGeom>
          <a:solidFill>
            <a:srgbClr val="F2F3F5"/>
          </a:solidFill>
          <a:ln w="12700">
            <a:solidFill>
              <a:srgbClr val="F2F3F5"/>
            </a:solidFill>
            <a:prstDash val="solid"/>
          </a:ln>
        </p:spPr>
        <p:txBody>
          <a:bodyPr/>
          <a:lstStyle/>
          <a:p>
            <a:endParaRPr lang="fr-BE"/>
          </a:p>
        </p:txBody>
      </p:sp>
      <p:sp>
        <p:nvSpPr>
          <p:cNvPr id="13" name="Text 10"/>
          <p:cNvSpPr txBox="1"/>
          <p:nvPr/>
        </p:nvSpPr>
        <p:spPr>
          <a:xfrm>
            <a:off x="3611880" y="2148840"/>
            <a:ext cx="2194560" cy="548640"/>
          </a:xfrm>
          <a:prstGeom prst="rect">
            <a:avLst/>
          </a:prstGeom>
          <a:noFill/>
          <a:ln/>
        </p:spPr>
        <p:txBody>
          <a:bodyPr wrap="square" lIns="0" tIns="0" rIns="0" bIns="0" rtlCol="0" anchor="ctr"/>
          <a:lstStyle/>
          <a:p>
            <a:pPr marL="0" indent="0">
              <a:buNone/>
            </a:pPr>
            <a:r>
              <a:rPr lang="en-US" sz="1900" b="1" dirty="0">
                <a:solidFill>
                  <a:srgbClr val="16181D"/>
                </a:solidFill>
                <a:latin typeface="Arial" pitchFamily="34" charset="0"/>
                <a:ea typeface="Arial" pitchFamily="34" charset="-122"/>
                <a:cs typeface="Arial" pitchFamily="34" charset="-120"/>
              </a:rPr>
              <a:t>Héritage</a:t>
            </a:r>
            <a:endParaRPr lang="en-US" sz="1900" dirty="0"/>
          </a:p>
        </p:txBody>
      </p:sp>
      <p:sp>
        <p:nvSpPr>
          <p:cNvPr id="14" name="Text 11"/>
          <p:cNvSpPr txBox="1"/>
          <p:nvPr/>
        </p:nvSpPr>
        <p:spPr>
          <a:xfrm>
            <a:off x="3611880" y="2788920"/>
            <a:ext cx="2148840" cy="1463040"/>
          </a:xfrm>
          <a:prstGeom prst="rect">
            <a:avLst/>
          </a:prstGeom>
          <a:noFill/>
          <a:ln/>
        </p:spPr>
        <p:txBody>
          <a:bodyPr wrap="square" lIns="0" tIns="0" rIns="0" bIns="0" rtlCol="0" anchor="t"/>
          <a:lstStyle/>
          <a:p>
            <a:pPr marL="0" indent="0">
              <a:buNone/>
            </a:pPr>
            <a:r>
              <a:rPr lang="en-US" sz="1600" dirty="0">
                <a:solidFill>
                  <a:srgbClr val="5F6670"/>
                </a:solidFill>
                <a:latin typeface="Calibri" pitchFamily="34" charset="0"/>
                <a:ea typeface="Calibri" pitchFamily="34" charset="-122"/>
                <a:cs typeface="Calibri" pitchFamily="34" charset="-120"/>
              </a:rPr>
              <a:t>Un analyste est un utilisateur, avec des droits en plus.</a:t>
            </a:r>
            <a:endParaRPr lang="en-US" sz="1600" dirty="0"/>
          </a:p>
        </p:txBody>
      </p:sp>
      <p:sp>
        <p:nvSpPr>
          <p:cNvPr id="15" name="Text 12"/>
          <p:cNvSpPr txBox="1"/>
          <p:nvPr/>
        </p:nvSpPr>
        <p:spPr>
          <a:xfrm>
            <a:off x="3611880" y="4434840"/>
            <a:ext cx="2194560" cy="365760"/>
          </a:xfrm>
          <a:prstGeom prst="rect">
            <a:avLst/>
          </a:prstGeom>
          <a:noFill/>
          <a:ln/>
        </p:spPr>
        <p:txBody>
          <a:bodyPr wrap="square" lIns="0" tIns="0" rIns="0" bIns="0" rtlCol="0" anchor="ctr"/>
          <a:lstStyle/>
          <a:p>
            <a:pPr marL="0" indent="0">
              <a:buNone/>
            </a:pPr>
            <a:r>
              <a:rPr lang="en-US" sz="1400" b="1" dirty="0">
                <a:solidFill>
                  <a:srgbClr val="E8590C"/>
                </a:solidFill>
                <a:latin typeface="Calibri" pitchFamily="34" charset="0"/>
                <a:ea typeface="Calibri" pitchFamily="34" charset="-122"/>
                <a:cs typeface="Calibri" pitchFamily="34" charset="-120"/>
              </a:rPr>
              <a:t>Séance 2</a:t>
            </a:r>
            <a:endParaRPr lang="en-US" sz="1400" dirty="0"/>
          </a:p>
        </p:txBody>
      </p:sp>
      <p:sp>
        <p:nvSpPr>
          <p:cNvPr id="16" name="Shape 13"/>
          <p:cNvSpPr/>
          <p:nvPr/>
        </p:nvSpPr>
        <p:spPr>
          <a:xfrm>
            <a:off x="6126480" y="1920240"/>
            <a:ext cx="2560320" cy="3108960"/>
          </a:xfrm>
          <a:prstGeom prst="roundRect">
            <a:avLst>
              <a:gd name="adj" fmla="val 2857"/>
            </a:avLst>
          </a:prstGeom>
          <a:solidFill>
            <a:srgbClr val="F2F3F5"/>
          </a:solidFill>
          <a:ln w="12700">
            <a:solidFill>
              <a:srgbClr val="F2F3F5"/>
            </a:solidFill>
            <a:prstDash val="solid"/>
          </a:ln>
        </p:spPr>
        <p:txBody>
          <a:bodyPr/>
          <a:lstStyle/>
          <a:p>
            <a:endParaRPr lang="fr-BE"/>
          </a:p>
        </p:txBody>
      </p:sp>
      <p:sp>
        <p:nvSpPr>
          <p:cNvPr id="17" name="Text 14"/>
          <p:cNvSpPr txBox="1"/>
          <p:nvPr/>
        </p:nvSpPr>
        <p:spPr>
          <a:xfrm>
            <a:off x="6355080" y="2148840"/>
            <a:ext cx="2194560" cy="548640"/>
          </a:xfrm>
          <a:prstGeom prst="rect">
            <a:avLst/>
          </a:prstGeom>
          <a:noFill/>
          <a:ln/>
        </p:spPr>
        <p:txBody>
          <a:bodyPr wrap="square" lIns="0" tIns="0" rIns="0" bIns="0" rtlCol="0" anchor="ctr"/>
          <a:lstStyle/>
          <a:p>
            <a:pPr marL="0" indent="0">
              <a:buNone/>
            </a:pPr>
            <a:r>
              <a:rPr lang="en-US" sz="1900" b="1" dirty="0">
                <a:solidFill>
                  <a:srgbClr val="16181D"/>
                </a:solidFill>
                <a:latin typeface="Arial" pitchFamily="34" charset="0"/>
                <a:ea typeface="Arial" pitchFamily="34" charset="-122"/>
                <a:cs typeface="Arial" pitchFamily="34" charset="-120"/>
              </a:rPr>
              <a:t>Polymorphisme</a:t>
            </a:r>
            <a:endParaRPr lang="en-US" sz="1900" dirty="0"/>
          </a:p>
        </p:txBody>
      </p:sp>
      <p:sp>
        <p:nvSpPr>
          <p:cNvPr id="18" name="Text 15"/>
          <p:cNvSpPr txBox="1"/>
          <p:nvPr/>
        </p:nvSpPr>
        <p:spPr>
          <a:xfrm>
            <a:off x="6355080" y="2788920"/>
            <a:ext cx="2148840" cy="1463040"/>
          </a:xfrm>
          <a:prstGeom prst="rect">
            <a:avLst/>
          </a:prstGeom>
          <a:noFill/>
          <a:ln/>
        </p:spPr>
        <p:txBody>
          <a:bodyPr wrap="square" lIns="0" tIns="0" rIns="0" bIns="0" rtlCol="0" anchor="t"/>
          <a:lstStyle/>
          <a:p>
            <a:pPr marL="0" indent="0">
              <a:buNone/>
            </a:pPr>
            <a:r>
              <a:rPr lang="en-US" sz="1600" dirty="0">
                <a:solidFill>
                  <a:srgbClr val="5F6670"/>
                </a:solidFill>
                <a:latin typeface="Calibri" pitchFamily="34" charset="0"/>
                <a:ea typeface="Calibri" pitchFamily="34" charset="-122"/>
                <a:cs typeface="Calibri" pitchFamily="34" charset="-120"/>
              </a:rPr>
              <a:t>Le bouton Imprimer : imprimante, PDF ou e-mail, même bouton.</a:t>
            </a:r>
            <a:endParaRPr lang="en-US" sz="1600" dirty="0"/>
          </a:p>
        </p:txBody>
      </p:sp>
      <p:sp>
        <p:nvSpPr>
          <p:cNvPr id="19" name="Text 16"/>
          <p:cNvSpPr txBox="1"/>
          <p:nvPr/>
        </p:nvSpPr>
        <p:spPr>
          <a:xfrm>
            <a:off x="6355080" y="4434840"/>
            <a:ext cx="2194560" cy="365760"/>
          </a:xfrm>
          <a:prstGeom prst="rect">
            <a:avLst/>
          </a:prstGeom>
          <a:noFill/>
          <a:ln/>
        </p:spPr>
        <p:txBody>
          <a:bodyPr wrap="square" lIns="0" tIns="0" rIns="0" bIns="0" rtlCol="0" anchor="ctr"/>
          <a:lstStyle/>
          <a:p>
            <a:pPr marL="0" indent="0">
              <a:buNone/>
            </a:pPr>
            <a:r>
              <a:rPr lang="en-US" sz="1400" b="1" dirty="0">
                <a:solidFill>
                  <a:srgbClr val="E8590C"/>
                </a:solidFill>
                <a:latin typeface="Calibri" pitchFamily="34" charset="0"/>
                <a:ea typeface="Calibri" pitchFamily="34" charset="-122"/>
                <a:cs typeface="Calibri" pitchFamily="34" charset="-120"/>
              </a:rPr>
              <a:t>Séance 2</a:t>
            </a:r>
            <a:endParaRPr lang="en-US" sz="1400" dirty="0"/>
          </a:p>
        </p:txBody>
      </p:sp>
      <p:sp>
        <p:nvSpPr>
          <p:cNvPr id="20" name="Shape 17"/>
          <p:cNvSpPr/>
          <p:nvPr/>
        </p:nvSpPr>
        <p:spPr>
          <a:xfrm>
            <a:off x="8869680" y="1920240"/>
            <a:ext cx="2560320" cy="3108960"/>
          </a:xfrm>
          <a:prstGeom prst="roundRect">
            <a:avLst>
              <a:gd name="adj" fmla="val 2857"/>
            </a:avLst>
          </a:prstGeom>
          <a:solidFill>
            <a:srgbClr val="F2F3F5"/>
          </a:solidFill>
          <a:ln w="12700">
            <a:solidFill>
              <a:srgbClr val="F2F3F5"/>
            </a:solidFill>
            <a:prstDash val="solid"/>
          </a:ln>
        </p:spPr>
        <p:txBody>
          <a:bodyPr/>
          <a:lstStyle/>
          <a:p>
            <a:endParaRPr lang="fr-BE"/>
          </a:p>
        </p:txBody>
      </p:sp>
      <p:sp>
        <p:nvSpPr>
          <p:cNvPr id="21" name="Text 18"/>
          <p:cNvSpPr txBox="1"/>
          <p:nvPr/>
        </p:nvSpPr>
        <p:spPr>
          <a:xfrm>
            <a:off x="9098280" y="2148840"/>
            <a:ext cx="2194560" cy="548640"/>
          </a:xfrm>
          <a:prstGeom prst="rect">
            <a:avLst/>
          </a:prstGeom>
          <a:noFill/>
          <a:ln/>
        </p:spPr>
        <p:txBody>
          <a:bodyPr wrap="square" lIns="0" tIns="0" rIns="0" bIns="0" rtlCol="0" anchor="ctr"/>
          <a:lstStyle/>
          <a:p>
            <a:pPr marL="0" indent="0">
              <a:buNone/>
            </a:pPr>
            <a:r>
              <a:rPr lang="en-US" sz="1900" b="1" dirty="0">
                <a:solidFill>
                  <a:srgbClr val="16181D"/>
                </a:solidFill>
                <a:latin typeface="Arial" pitchFamily="34" charset="0"/>
                <a:ea typeface="Arial" pitchFamily="34" charset="-122"/>
                <a:cs typeface="Arial" pitchFamily="34" charset="-120"/>
              </a:rPr>
              <a:t>Abstraction</a:t>
            </a:r>
            <a:endParaRPr lang="en-US" sz="1900" dirty="0"/>
          </a:p>
        </p:txBody>
      </p:sp>
      <p:sp>
        <p:nvSpPr>
          <p:cNvPr id="22" name="Text 19"/>
          <p:cNvSpPr txBox="1"/>
          <p:nvPr/>
        </p:nvSpPr>
        <p:spPr>
          <a:xfrm>
            <a:off x="9098280" y="2788920"/>
            <a:ext cx="2148840" cy="1463040"/>
          </a:xfrm>
          <a:prstGeom prst="rect">
            <a:avLst/>
          </a:prstGeom>
          <a:noFill/>
          <a:ln/>
        </p:spPr>
        <p:txBody>
          <a:bodyPr wrap="square" lIns="0" tIns="0" rIns="0" bIns="0" rtlCol="0" anchor="t"/>
          <a:lstStyle/>
          <a:p>
            <a:pPr marL="0" indent="0">
              <a:buNone/>
            </a:pPr>
            <a:r>
              <a:rPr lang="en-US" sz="1600" dirty="0">
                <a:solidFill>
                  <a:srgbClr val="5F6670"/>
                </a:solidFill>
                <a:latin typeface="Calibri" pitchFamily="34" charset="0"/>
                <a:ea typeface="Calibri" pitchFamily="34" charset="-122"/>
                <a:cs typeface="Calibri" pitchFamily="34" charset="-120"/>
              </a:rPr>
              <a:t>Le volant : vous conduisez sans connaître le moteur.</a:t>
            </a:r>
            <a:endParaRPr lang="en-US" sz="1600" dirty="0"/>
          </a:p>
        </p:txBody>
      </p:sp>
      <p:sp>
        <p:nvSpPr>
          <p:cNvPr id="23" name="Text 20"/>
          <p:cNvSpPr txBox="1"/>
          <p:nvPr/>
        </p:nvSpPr>
        <p:spPr>
          <a:xfrm>
            <a:off x="9098280" y="4434840"/>
            <a:ext cx="2194560" cy="365760"/>
          </a:xfrm>
          <a:prstGeom prst="rect">
            <a:avLst/>
          </a:prstGeom>
          <a:noFill/>
          <a:ln/>
        </p:spPr>
        <p:txBody>
          <a:bodyPr wrap="square" lIns="0" tIns="0" rIns="0" bIns="0" rtlCol="0" anchor="ctr"/>
          <a:lstStyle/>
          <a:p>
            <a:pPr marL="0" indent="0">
              <a:buNone/>
            </a:pPr>
            <a:r>
              <a:rPr lang="en-US" sz="1400" b="1" dirty="0">
                <a:solidFill>
                  <a:srgbClr val="E8590C"/>
                </a:solidFill>
                <a:latin typeface="Calibri" pitchFamily="34" charset="0"/>
                <a:ea typeface="Calibri" pitchFamily="34" charset="-122"/>
                <a:cs typeface="Calibri" pitchFamily="34" charset="-120"/>
              </a:rPr>
              <a:t>Séance 2</a:t>
            </a:r>
            <a:endParaRPr lang="en-US" sz="14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16181D"/>
        </a:solidFill>
        <a:effectLst/>
      </p:bgPr>
    </p:bg>
    <p:spTree>
      <p:nvGrpSpPr>
        <p:cNvPr id="1" name=""/>
        <p:cNvGrpSpPr/>
        <p:nvPr/>
      </p:nvGrpSpPr>
      <p:grpSpPr>
        <a:xfrm>
          <a:off x="0" y="0"/>
          <a:ext cx="0" cy="0"/>
          <a:chOff x="0" y="0"/>
          <a:chExt cx="0" cy="0"/>
        </a:xfrm>
      </p:grpSpPr>
      <p:sp>
        <p:nvSpPr>
          <p:cNvPr id="2" name="Text 0"/>
          <p:cNvSpPr txBox="1"/>
          <p:nvPr/>
        </p:nvSpPr>
        <p:spPr>
          <a:xfrm>
            <a:off x="640080" y="1463040"/>
            <a:ext cx="2743200" cy="1280160"/>
          </a:xfrm>
          <a:prstGeom prst="rect">
            <a:avLst/>
          </a:prstGeom>
          <a:noFill/>
          <a:ln/>
        </p:spPr>
        <p:txBody>
          <a:bodyPr wrap="square" lIns="0" tIns="0" rIns="0" bIns="0" rtlCol="0" anchor="ctr"/>
          <a:lstStyle/>
          <a:p>
            <a:pPr marL="0" indent="0">
              <a:buNone/>
            </a:pPr>
            <a:r>
              <a:rPr lang="en-US" sz="9600" b="1" dirty="0">
                <a:solidFill>
                  <a:srgbClr val="E8590C"/>
                </a:solidFill>
                <a:latin typeface="Arial" pitchFamily="34" charset="0"/>
                <a:ea typeface="Arial" pitchFamily="34" charset="-122"/>
                <a:cs typeface="Arial" pitchFamily="34" charset="-120"/>
              </a:rPr>
              <a:t>06</a:t>
            </a:r>
            <a:endParaRPr lang="en-US" sz="9600" dirty="0"/>
          </a:p>
        </p:txBody>
      </p:sp>
      <p:sp>
        <p:nvSpPr>
          <p:cNvPr id="3" name="Text 1"/>
          <p:cNvSpPr txBox="1"/>
          <p:nvPr/>
        </p:nvSpPr>
        <p:spPr>
          <a:xfrm>
            <a:off x="640080" y="2834640"/>
            <a:ext cx="10911535" cy="1005840"/>
          </a:xfrm>
          <a:prstGeom prst="rect">
            <a:avLst/>
          </a:prstGeom>
          <a:noFill/>
          <a:ln/>
        </p:spPr>
        <p:txBody>
          <a:bodyPr wrap="square" lIns="0" tIns="0" rIns="0" bIns="0" rtlCol="0" anchor="ctr"/>
          <a:lstStyle/>
          <a:p>
            <a:pPr marL="0" indent="0">
              <a:buNone/>
            </a:pPr>
            <a:r>
              <a:rPr lang="en-US" sz="4400" b="1" dirty="0">
                <a:solidFill>
                  <a:srgbClr val="FFFFFF"/>
                </a:solidFill>
                <a:latin typeface="Arial" pitchFamily="34" charset="0"/>
                <a:ea typeface="Arial" pitchFamily="34" charset="-122"/>
                <a:cs typeface="Arial" pitchFamily="34" charset="-120"/>
              </a:rPr>
              <a:t>Et si on demandait à l'IA ?</a:t>
            </a:r>
            <a:endParaRPr lang="en-US" sz="4400" dirty="0"/>
          </a:p>
        </p:txBody>
      </p:sp>
      <p:sp>
        <p:nvSpPr>
          <p:cNvPr id="4" name="Text 2"/>
          <p:cNvSpPr txBox="1"/>
          <p:nvPr/>
        </p:nvSpPr>
        <p:spPr>
          <a:xfrm>
            <a:off x="640080" y="3840480"/>
            <a:ext cx="10911535" cy="731520"/>
          </a:xfrm>
          <a:prstGeom prst="rect">
            <a:avLst/>
          </a:prstGeom>
          <a:noFill/>
          <a:ln/>
        </p:spPr>
        <p:txBody>
          <a:bodyPr wrap="square" lIns="0" tIns="0" rIns="0" bIns="0" rtlCol="0" anchor="ctr"/>
          <a:lstStyle/>
          <a:p>
            <a:pPr marL="0" indent="0">
              <a:buNone/>
            </a:pPr>
            <a:r>
              <a:rPr lang="en-US" sz="2000" dirty="0">
                <a:solidFill>
                  <a:srgbClr val="C9CDD3"/>
                </a:solidFill>
                <a:latin typeface="Calibri" pitchFamily="34" charset="0"/>
                <a:ea typeface="Calibri" pitchFamily="34" charset="-122"/>
                <a:cs typeface="Calibri" pitchFamily="34" charset="-120"/>
              </a:rPr>
              <a:t>Même classe. Deux façons de demander.</a:t>
            </a:r>
            <a:endParaRPr lang="en-US" sz="20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9AA0A8"/>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9AA0A8"/>
                </a:solidFill>
                <a:latin typeface="Calibri" pitchFamily="34" charset="0"/>
                <a:ea typeface="Calibri" pitchFamily="34" charset="-122"/>
                <a:cs typeface="Calibri" pitchFamily="34" charset="-120"/>
              </a:rPr>
              <a:t>75</a:t>
            </a:r>
            <a:endParaRPr lang="en-US" sz="10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PROMPT 1</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La demande naïve</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76</a:t>
            </a:r>
            <a:endParaRPr lang="en-US" sz="1000" dirty="0"/>
          </a:p>
        </p:txBody>
      </p:sp>
      <p:sp>
        <p:nvSpPr>
          <p:cNvPr id="8" name="Shape 5"/>
          <p:cNvSpPr/>
          <p:nvPr/>
        </p:nvSpPr>
        <p:spPr>
          <a:xfrm>
            <a:off x="640080" y="1920240"/>
            <a:ext cx="10911535" cy="1463040"/>
          </a:xfrm>
          <a:prstGeom prst="roundRect">
            <a:avLst>
              <a:gd name="adj" fmla="val 5000"/>
            </a:avLst>
          </a:prstGeom>
          <a:solidFill>
            <a:srgbClr val="16181D"/>
          </a:solidFill>
          <a:ln w="12700">
            <a:solidFill>
              <a:srgbClr val="16181D"/>
            </a:solidFill>
            <a:prstDash val="solid"/>
          </a:ln>
        </p:spPr>
        <p:txBody>
          <a:bodyPr/>
          <a:lstStyle/>
          <a:p>
            <a:endParaRPr lang="fr-BE"/>
          </a:p>
        </p:txBody>
      </p:sp>
      <p:sp>
        <p:nvSpPr>
          <p:cNvPr id="9" name="Text 6"/>
          <p:cNvSpPr txBox="1"/>
          <p:nvPr/>
        </p:nvSpPr>
        <p:spPr>
          <a:xfrm>
            <a:off x="1097280" y="1920240"/>
            <a:ext cx="9997135" cy="1463040"/>
          </a:xfrm>
          <a:prstGeom prst="rect">
            <a:avLst/>
          </a:prstGeom>
          <a:noFill/>
          <a:ln/>
        </p:spPr>
        <p:txBody>
          <a:bodyPr wrap="square" lIns="0" tIns="0" rIns="0" bIns="0" rtlCol="0" anchor="ctr"/>
          <a:lstStyle/>
          <a:p>
            <a:pPr marL="0" indent="0">
              <a:buNone/>
            </a:pPr>
            <a:r>
              <a:rPr lang="en-US" sz="2200" dirty="0">
                <a:solidFill>
                  <a:srgbClr val="FFFFFF"/>
                </a:solidFill>
                <a:latin typeface="Consolas" pitchFamily="34" charset="0"/>
                <a:ea typeface="Consolas" pitchFamily="34" charset="-122"/>
                <a:cs typeface="Consolas" pitchFamily="34" charset="-120"/>
              </a:rPr>
              <a:t>Crée une classe C# Incident pour une plateforme de signalement d'incidents cyber.</a:t>
            </a:r>
            <a:endParaRPr lang="en-US" sz="2200" dirty="0"/>
          </a:p>
        </p:txBody>
      </p:sp>
      <p:sp>
        <p:nvSpPr>
          <p:cNvPr id="10" name="Text 7"/>
          <p:cNvSpPr txBox="1"/>
          <p:nvPr/>
        </p:nvSpPr>
        <p:spPr>
          <a:xfrm>
            <a:off x="640080" y="3749040"/>
            <a:ext cx="10911535" cy="548640"/>
          </a:xfrm>
          <a:prstGeom prst="rect">
            <a:avLst/>
          </a:prstGeom>
          <a:noFill/>
          <a:ln/>
        </p:spPr>
        <p:txBody>
          <a:bodyPr wrap="square" lIns="0" tIns="0" rIns="0" bIns="0" rtlCol="0" anchor="ctr"/>
          <a:lstStyle/>
          <a:p>
            <a:pPr marL="0" indent="0">
              <a:buNone/>
            </a:pPr>
            <a:r>
              <a:rPr lang="en-US" sz="2000" dirty="0">
                <a:solidFill>
                  <a:srgbClr val="5F6670"/>
                </a:solidFill>
                <a:latin typeface="Calibri" pitchFamily="34" charset="0"/>
                <a:ea typeface="Calibri" pitchFamily="34" charset="-122"/>
                <a:cs typeface="Calibri" pitchFamily="34" charset="-120"/>
              </a:rPr>
              <a:t>Une phrase. Aucun contexte. Aucune contrainte.</a:t>
            </a:r>
            <a:endParaRPr lang="en-US" sz="2000" dirty="0"/>
          </a:p>
        </p:txBody>
      </p:sp>
      <p:sp>
        <p:nvSpPr>
          <p:cNvPr id="11" name="Text 8"/>
          <p:cNvSpPr txBox="1"/>
          <p:nvPr/>
        </p:nvSpPr>
        <p:spPr>
          <a:xfrm>
            <a:off x="640080" y="4754880"/>
            <a:ext cx="10911535" cy="457200"/>
          </a:xfrm>
          <a:prstGeom prst="rect">
            <a:avLst/>
          </a:prstGeom>
          <a:noFill/>
          <a:ln/>
        </p:spPr>
        <p:txBody>
          <a:bodyPr wrap="square" lIns="0" tIns="0" rIns="0" bIns="0" rtlCol="0" anchor="ctr"/>
          <a:lstStyle/>
          <a:p>
            <a:pPr marL="0" indent="0">
              <a:buNone/>
            </a:pPr>
            <a:r>
              <a:rPr lang="en-US" sz="1600" b="1" dirty="0">
                <a:solidFill>
                  <a:srgbClr val="E8590C"/>
                </a:solidFill>
                <a:latin typeface="Consolas" pitchFamily="34" charset="0"/>
                <a:ea typeface="Consolas" pitchFamily="34" charset="-122"/>
                <a:cs typeface="Consolas" pitchFamily="34" charset="-120"/>
              </a:rPr>
              <a:t>RIDER  ·  git checkout demo/s01-ia-naif</a:t>
            </a:r>
            <a:endParaRPr lang="en-US" sz="16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PARTICIPATION · 3 MINUTES</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Combien de problèmes voyez-vous ?</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77</a:t>
            </a:r>
            <a:endParaRPr lang="en-US" sz="1000" dirty="0"/>
          </a:p>
        </p:txBody>
      </p:sp>
      <p:sp>
        <p:nvSpPr>
          <p:cNvPr id="8" name="Shape 5"/>
          <p:cNvSpPr/>
          <p:nvPr/>
        </p:nvSpPr>
        <p:spPr>
          <a:xfrm>
            <a:off x="640080" y="2103120"/>
            <a:ext cx="3474720" cy="2194560"/>
          </a:xfrm>
          <a:prstGeom prst="roundRect">
            <a:avLst>
              <a:gd name="adj" fmla="val 3333"/>
            </a:avLst>
          </a:prstGeom>
          <a:solidFill>
            <a:srgbClr val="F2F3F5"/>
          </a:solidFill>
          <a:ln w="12700">
            <a:solidFill>
              <a:srgbClr val="F2F3F5"/>
            </a:solidFill>
            <a:prstDash val="solid"/>
          </a:ln>
        </p:spPr>
        <p:txBody>
          <a:bodyPr/>
          <a:lstStyle/>
          <a:p>
            <a:endParaRPr lang="fr-BE"/>
          </a:p>
        </p:txBody>
      </p:sp>
      <p:sp>
        <p:nvSpPr>
          <p:cNvPr id="9" name="Text 6"/>
          <p:cNvSpPr txBox="1"/>
          <p:nvPr/>
        </p:nvSpPr>
        <p:spPr>
          <a:xfrm>
            <a:off x="640080" y="2286000"/>
            <a:ext cx="3474720" cy="1005840"/>
          </a:xfrm>
          <a:prstGeom prst="rect">
            <a:avLst/>
          </a:prstGeom>
          <a:noFill/>
          <a:ln/>
        </p:spPr>
        <p:txBody>
          <a:bodyPr wrap="square" lIns="0" tIns="0" rIns="0" bIns="0" rtlCol="0" anchor="ctr"/>
          <a:lstStyle/>
          <a:p>
            <a:pPr marL="0" indent="0" algn="ctr">
              <a:buNone/>
            </a:pPr>
            <a:r>
              <a:rPr lang="en-US" sz="4800" dirty="0">
                <a:solidFill>
                  <a:srgbClr val="000000"/>
                </a:solidFill>
              </a:rPr>
              <a:t>👍</a:t>
            </a:r>
            <a:endParaRPr lang="en-US" sz="4800" dirty="0"/>
          </a:p>
        </p:txBody>
      </p:sp>
      <p:sp>
        <p:nvSpPr>
          <p:cNvPr id="10" name="Text 7"/>
          <p:cNvSpPr txBox="1"/>
          <p:nvPr/>
        </p:nvSpPr>
        <p:spPr>
          <a:xfrm>
            <a:off x="640080" y="3383280"/>
            <a:ext cx="3474720" cy="640080"/>
          </a:xfrm>
          <a:prstGeom prst="rect">
            <a:avLst/>
          </a:prstGeom>
          <a:noFill/>
          <a:ln/>
        </p:spPr>
        <p:txBody>
          <a:bodyPr wrap="square" lIns="0" tIns="0" rIns="0" bIns="0" rtlCol="0" anchor="ctr"/>
          <a:lstStyle/>
          <a:p>
            <a:pPr marL="0" indent="0" algn="ctr">
              <a:buNone/>
            </a:pPr>
            <a:r>
              <a:rPr lang="en-US" sz="2400" b="1" dirty="0">
                <a:solidFill>
                  <a:srgbClr val="16181D"/>
                </a:solidFill>
                <a:latin typeface="Arial" pitchFamily="34" charset="0"/>
                <a:ea typeface="Arial" pitchFamily="34" charset="-122"/>
                <a:cs typeface="Arial" pitchFamily="34" charset="-120"/>
              </a:rPr>
              <a:t>1 ou 2</a:t>
            </a:r>
            <a:endParaRPr lang="en-US" sz="2400" dirty="0"/>
          </a:p>
        </p:txBody>
      </p:sp>
      <p:sp>
        <p:nvSpPr>
          <p:cNvPr id="11" name="Shape 8"/>
          <p:cNvSpPr/>
          <p:nvPr/>
        </p:nvSpPr>
        <p:spPr>
          <a:xfrm>
            <a:off x="4343400" y="2103120"/>
            <a:ext cx="3474720" cy="2194560"/>
          </a:xfrm>
          <a:prstGeom prst="roundRect">
            <a:avLst>
              <a:gd name="adj" fmla="val 3333"/>
            </a:avLst>
          </a:prstGeom>
          <a:solidFill>
            <a:srgbClr val="F2F3F5"/>
          </a:solidFill>
          <a:ln w="12700">
            <a:solidFill>
              <a:srgbClr val="F2F3F5"/>
            </a:solidFill>
            <a:prstDash val="solid"/>
          </a:ln>
        </p:spPr>
        <p:txBody>
          <a:bodyPr/>
          <a:lstStyle/>
          <a:p>
            <a:endParaRPr lang="fr-BE"/>
          </a:p>
        </p:txBody>
      </p:sp>
      <p:sp>
        <p:nvSpPr>
          <p:cNvPr id="12" name="Text 9"/>
          <p:cNvSpPr txBox="1"/>
          <p:nvPr/>
        </p:nvSpPr>
        <p:spPr>
          <a:xfrm>
            <a:off x="4343400" y="2286000"/>
            <a:ext cx="3474720" cy="1005840"/>
          </a:xfrm>
          <a:prstGeom prst="rect">
            <a:avLst/>
          </a:prstGeom>
          <a:noFill/>
          <a:ln/>
        </p:spPr>
        <p:txBody>
          <a:bodyPr wrap="square" lIns="0" tIns="0" rIns="0" bIns="0" rtlCol="0" anchor="ctr"/>
          <a:lstStyle/>
          <a:p>
            <a:pPr marL="0" indent="0" algn="ctr">
              <a:buNone/>
            </a:pPr>
            <a:r>
              <a:rPr lang="en-US" sz="4800" dirty="0">
                <a:solidFill>
                  <a:srgbClr val="000000"/>
                </a:solidFill>
              </a:rPr>
              <a:t>❤️</a:t>
            </a:r>
            <a:endParaRPr lang="en-US" sz="4800" dirty="0"/>
          </a:p>
        </p:txBody>
      </p:sp>
      <p:sp>
        <p:nvSpPr>
          <p:cNvPr id="13" name="Text 10"/>
          <p:cNvSpPr txBox="1"/>
          <p:nvPr/>
        </p:nvSpPr>
        <p:spPr>
          <a:xfrm>
            <a:off x="4343400" y="3383280"/>
            <a:ext cx="3474720" cy="640080"/>
          </a:xfrm>
          <a:prstGeom prst="rect">
            <a:avLst/>
          </a:prstGeom>
          <a:noFill/>
          <a:ln/>
        </p:spPr>
        <p:txBody>
          <a:bodyPr wrap="square" lIns="0" tIns="0" rIns="0" bIns="0" rtlCol="0" anchor="ctr"/>
          <a:lstStyle/>
          <a:p>
            <a:pPr marL="0" indent="0" algn="ctr">
              <a:buNone/>
            </a:pPr>
            <a:r>
              <a:rPr lang="en-US" sz="2400" b="1" dirty="0">
                <a:solidFill>
                  <a:srgbClr val="16181D"/>
                </a:solidFill>
                <a:latin typeface="Arial" pitchFamily="34" charset="0"/>
                <a:ea typeface="Arial" pitchFamily="34" charset="-122"/>
                <a:cs typeface="Arial" pitchFamily="34" charset="-120"/>
              </a:rPr>
              <a:t>3 ou 4</a:t>
            </a:r>
            <a:endParaRPr lang="en-US" sz="2400" dirty="0"/>
          </a:p>
        </p:txBody>
      </p:sp>
      <p:sp>
        <p:nvSpPr>
          <p:cNvPr id="14" name="Shape 11"/>
          <p:cNvSpPr/>
          <p:nvPr/>
        </p:nvSpPr>
        <p:spPr>
          <a:xfrm>
            <a:off x="8046720" y="2103120"/>
            <a:ext cx="3474720" cy="2194560"/>
          </a:xfrm>
          <a:prstGeom prst="roundRect">
            <a:avLst>
              <a:gd name="adj" fmla="val 3333"/>
            </a:avLst>
          </a:prstGeom>
          <a:solidFill>
            <a:srgbClr val="F2F3F5"/>
          </a:solidFill>
          <a:ln w="12700">
            <a:solidFill>
              <a:srgbClr val="F2F3F5"/>
            </a:solidFill>
            <a:prstDash val="solid"/>
          </a:ln>
        </p:spPr>
        <p:txBody>
          <a:bodyPr/>
          <a:lstStyle/>
          <a:p>
            <a:endParaRPr lang="fr-BE"/>
          </a:p>
        </p:txBody>
      </p:sp>
      <p:sp>
        <p:nvSpPr>
          <p:cNvPr id="15" name="Text 12"/>
          <p:cNvSpPr txBox="1"/>
          <p:nvPr/>
        </p:nvSpPr>
        <p:spPr>
          <a:xfrm>
            <a:off x="8046720" y="2286000"/>
            <a:ext cx="3474720" cy="1005840"/>
          </a:xfrm>
          <a:prstGeom prst="rect">
            <a:avLst/>
          </a:prstGeom>
          <a:noFill/>
          <a:ln/>
        </p:spPr>
        <p:txBody>
          <a:bodyPr wrap="square" lIns="0" tIns="0" rIns="0" bIns="0" rtlCol="0" anchor="ctr"/>
          <a:lstStyle/>
          <a:p>
            <a:pPr marL="0" indent="0" algn="ctr">
              <a:buNone/>
            </a:pPr>
            <a:r>
              <a:rPr lang="en-US" sz="4800" dirty="0">
                <a:solidFill>
                  <a:srgbClr val="000000"/>
                </a:solidFill>
              </a:rPr>
              <a:t>😮</a:t>
            </a:r>
            <a:endParaRPr lang="en-US" sz="4800" dirty="0"/>
          </a:p>
        </p:txBody>
      </p:sp>
      <p:sp>
        <p:nvSpPr>
          <p:cNvPr id="16" name="Text 13"/>
          <p:cNvSpPr txBox="1"/>
          <p:nvPr/>
        </p:nvSpPr>
        <p:spPr>
          <a:xfrm>
            <a:off x="8046720" y="3383280"/>
            <a:ext cx="3474720" cy="640080"/>
          </a:xfrm>
          <a:prstGeom prst="rect">
            <a:avLst/>
          </a:prstGeom>
          <a:noFill/>
          <a:ln/>
        </p:spPr>
        <p:txBody>
          <a:bodyPr wrap="square" lIns="0" tIns="0" rIns="0" bIns="0" rtlCol="0" anchor="ctr"/>
          <a:lstStyle/>
          <a:p>
            <a:pPr marL="0" indent="0" algn="ctr">
              <a:buNone/>
            </a:pPr>
            <a:r>
              <a:rPr lang="en-US" sz="2400" b="1" dirty="0">
                <a:solidFill>
                  <a:srgbClr val="16181D"/>
                </a:solidFill>
                <a:latin typeface="Arial" pitchFamily="34" charset="0"/>
                <a:ea typeface="Arial" pitchFamily="34" charset="-122"/>
                <a:cs typeface="Arial" pitchFamily="34" charset="-120"/>
              </a:rPr>
              <a:t>5 et plus</a:t>
            </a:r>
            <a:endParaRPr lang="en-US" sz="2400" dirty="0"/>
          </a:p>
        </p:txBody>
      </p:sp>
      <p:sp>
        <p:nvSpPr>
          <p:cNvPr id="17" name="Text 14"/>
          <p:cNvSpPr txBox="1"/>
          <p:nvPr/>
        </p:nvSpPr>
        <p:spPr>
          <a:xfrm>
            <a:off x="640080" y="4754880"/>
            <a:ext cx="10911535" cy="457200"/>
          </a:xfrm>
          <a:prstGeom prst="rect">
            <a:avLst/>
          </a:prstGeom>
          <a:noFill/>
          <a:ln/>
        </p:spPr>
        <p:txBody>
          <a:bodyPr wrap="square" lIns="0" tIns="0" rIns="0" bIns="0" rtlCol="0" anchor="ctr"/>
          <a:lstStyle/>
          <a:p>
            <a:pPr marL="0" indent="0">
              <a:buNone/>
            </a:pPr>
            <a:r>
              <a:rPr lang="en-US" sz="1800" i="1" dirty="0">
                <a:solidFill>
                  <a:srgbClr val="5F6670"/>
                </a:solidFill>
                <a:latin typeface="Calibri" pitchFamily="34" charset="0"/>
                <a:ea typeface="Calibri" pitchFamily="34" charset="-122"/>
                <a:cs typeface="Calibri" pitchFamily="34" charset="-120"/>
              </a:rPr>
              <a:t>Indice : pensez au guichet, aux enum et aux règles d'état.</a:t>
            </a:r>
            <a:endParaRPr lang="en-US" sz="18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CORRECTION</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Ce que l'IA a oublié</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78</a:t>
            </a:r>
            <a:endParaRPr lang="en-US" sz="1000" dirty="0"/>
          </a:p>
        </p:txBody>
      </p:sp>
      <p:sp>
        <p:nvSpPr>
          <p:cNvPr id="8" name="Text 5"/>
          <p:cNvSpPr txBox="1"/>
          <p:nvPr/>
        </p:nvSpPr>
        <p:spPr>
          <a:xfrm>
            <a:off x="640080" y="1828800"/>
            <a:ext cx="548640" cy="640080"/>
          </a:xfrm>
          <a:prstGeom prst="rect">
            <a:avLst/>
          </a:prstGeom>
          <a:noFill/>
          <a:ln/>
        </p:spPr>
        <p:txBody>
          <a:bodyPr wrap="square" lIns="0" tIns="0" rIns="0" bIns="0" rtlCol="0" anchor="ctr"/>
          <a:lstStyle/>
          <a:p>
            <a:pPr marL="0" indent="0">
              <a:buNone/>
            </a:pPr>
            <a:r>
              <a:rPr lang="en-US" sz="2400" b="1" dirty="0">
                <a:solidFill>
                  <a:srgbClr val="E8590C"/>
                </a:solidFill>
                <a:latin typeface="Arial" pitchFamily="34" charset="0"/>
                <a:ea typeface="Arial" pitchFamily="34" charset="-122"/>
                <a:cs typeface="Arial" pitchFamily="34" charset="-120"/>
              </a:rPr>
              <a:t>1</a:t>
            </a:r>
            <a:endParaRPr lang="en-US" sz="2400" dirty="0"/>
          </a:p>
        </p:txBody>
      </p:sp>
      <p:sp>
        <p:nvSpPr>
          <p:cNvPr id="9" name="Text 6"/>
          <p:cNvSpPr txBox="1"/>
          <p:nvPr/>
        </p:nvSpPr>
        <p:spPr>
          <a:xfrm>
            <a:off x="1280160" y="1828800"/>
            <a:ext cx="5029200" cy="640080"/>
          </a:xfrm>
          <a:prstGeom prst="rect">
            <a:avLst/>
          </a:prstGeom>
          <a:noFill/>
          <a:ln/>
        </p:spPr>
        <p:txBody>
          <a:bodyPr wrap="square" lIns="0" tIns="0" rIns="0" bIns="0" rtlCol="0" anchor="ctr"/>
          <a:lstStyle/>
          <a:p>
            <a:pPr marL="0" indent="0">
              <a:buNone/>
            </a:pPr>
            <a:r>
              <a:rPr lang="en-US" sz="1800" dirty="0">
                <a:solidFill>
                  <a:srgbClr val="16181D"/>
                </a:solidFill>
                <a:latin typeface="Consolas" pitchFamily="34" charset="0"/>
                <a:ea typeface="Consolas" pitchFamily="34" charset="-122"/>
                <a:cs typeface="Consolas" pitchFamily="34" charset="-120"/>
              </a:rPr>
              <a:t>public set partout</a:t>
            </a:r>
            <a:endParaRPr lang="en-US" sz="1800" dirty="0"/>
          </a:p>
        </p:txBody>
      </p:sp>
      <p:sp>
        <p:nvSpPr>
          <p:cNvPr id="10" name="Text 7"/>
          <p:cNvSpPr txBox="1"/>
          <p:nvPr/>
        </p:nvSpPr>
        <p:spPr>
          <a:xfrm>
            <a:off x="6583680" y="1828800"/>
            <a:ext cx="4937760" cy="640080"/>
          </a:xfrm>
          <a:prstGeom prst="rect">
            <a:avLst/>
          </a:prstGeom>
          <a:noFill/>
          <a:ln/>
        </p:spPr>
        <p:txBody>
          <a:bodyPr wrap="square" lIns="0" tIns="0" rIns="0" bIns="0" rtlCol="0" anchor="ctr"/>
          <a:lstStyle/>
          <a:p>
            <a:pPr marL="0" indent="0">
              <a:buNone/>
            </a:pPr>
            <a:r>
              <a:rPr lang="en-US" sz="1700" b="1" dirty="0">
                <a:solidFill>
                  <a:srgbClr val="5F6670"/>
                </a:solidFill>
                <a:latin typeface="Calibri" pitchFamily="34" charset="0"/>
                <a:ea typeface="Calibri" pitchFamily="34" charset="-122"/>
                <a:cs typeface="Calibri" pitchFamily="34" charset="-120"/>
              </a:rPr>
              <a:t>Encapsulation</a:t>
            </a:r>
            <a:endParaRPr lang="en-US" sz="1700" dirty="0"/>
          </a:p>
        </p:txBody>
      </p:sp>
      <p:sp>
        <p:nvSpPr>
          <p:cNvPr id="11" name="Shape 8"/>
          <p:cNvSpPr/>
          <p:nvPr/>
        </p:nvSpPr>
        <p:spPr>
          <a:xfrm>
            <a:off x="640080" y="2542032"/>
            <a:ext cx="10911535" cy="0"/>
          </a:xfrm>
          <a:prstGeom prst="line">
            <a:avLst/>
          </a:prstGeom>
          <a:noFill/>
          <a:ln w="12700">
            <a:solidFill>
              <a:srgbClr val="D9DCE1"/>
            </a:solidFill>
            <a:prstDash val="solid"/>
          </a:ln>
        </p:spPr>
        <p:txBody>
          <a:bodyPr/>
          <a:lstStyle/>
          <a:p>
            <a:endParaRPr lang="fr-BE"/>
          </a:p>
        </p:txBody>
      </p:sp>
      <p:sp>
        <p:nvSpPr>
          <p:cNvPr id="12" name="Text 9"/>
          <p:cNvSpPr txBox="1"/>
          <p:nvPr/>
        </p:nvSpPr>
        <p:spPr>
          <a:xfrm>
            <a:off x="640080" y="2606040"/>
            <a:ext cx="548640" cy="640080"/>
          </a:xfrm>
          <a:prstGeom prst="rect">
            <a:avLst/>
          </a:prstGeom>
          <a:noFill/>
          <a:ln/>
        </p:spPr>
        <p:txBody>
          <a:bodyPr wrap="square" lIns="0" tIns="0" rIns="0" bIns="0" rtlCol="0" anchor="ctr"/>
          <a:lstStyle/>
          <a:p>
            <a:pPr marL="0" indent="0">
              <a:buNone/>
            </a:pPr>
            <a:r>
              <a:rPr lang="en-US" sz="2400" b="1" dirty="0">
                <a:solidFill>
                  <a:srgbClr val="E8590C"/>
                </a:solidFill>
                <a:latin typeface="Arial" pitchFamily="34" charset="0"/>
                <a:ea typeface="Arial" pitchFamily="34" charset="-122"/>
                <a:cs typeface="Arial" pitchFamily="34" charset="-120"/>
              </a:rPr>
              <a:t>2</a:t>
            </a:r>
            <a:endParaRPr lang="en-US" sz="2400" dirty="0"/>
          </a:p>
        </p:txBody>
      </p:sp>
      <p:sp>
        <p:nvSpPr>
          <p:cNvPr id="13" name="Text 10"/>
          <p:cNvSpPr txBox="1"/>
          <p:nvPr/>
        </p:nvSpPr>
        <p:spPr>
          <a:xfrm>
            <a:off x="1280160" y="2606040"/>
            <a:ext cx="5029200" cy="640080"/>
          </a:xfrm>
          <a:prstGeom prst="rect">
            <a:avLst/>
          </a:prstGeom>
          <a:noFill/>
          <a:ln/>
        </p:spPr>
        <p:txBody>
          <a:bodyPr wrap="square" lIns="0" tIns="0" rIns="0" bIns="0" rtlCol="0" anchor="ctr"/>
          <a:lstStyle/>
          <a:p>
            <a:pPr marL="0" indent="0">
              <a:buNone/>
            </a:pPr>
            <a:r>
              <a:rPr lang="en-US" sz="1800" dirty="0">
                <a:solidFill>
                  <a:srgbClr val="16181D"/>
                </a:solidFill>
                <a:latin typeface="Consolas" pitchFamily="34" charset="0"/>
                <a:ea typeface="Consolas" pitchFamily="34" charset="-122"/>
                <a:cs typeface="Consolas" pitchFamily="34" charset="-120"/>
              </a:rPr>
              <a:t>Statut modifiable sans règle</a:t>
            </a:r>
            <a:endParaRPr lang="en-US" sz="1800" dirty="0"/>
          </a:p>
        </p:txBody>
      </p:sp>
      <p:sp>
        <p:nvSpPr>
          <p:cNvPr id="14" name="Text 11"/>
          <p:cNvSpPr txBox="1"/>
          <p:nvPr/>
        </p:nvSpPr>
        <p:spPr>
          <a:xfrm>
            <a:off x="6583680" y="2606040"/>
            <a:ext cx="4937760" cy="640080"/>
          </a:xfrm>
          <a:prstGeom prst="rect">
            <a:avLst/>
          </a:prstGeom>
          <a:noFill/>
          <a:ln/>
        </p:spPr>
        <p:txBody>
          <a:bodyPr wrap="square" lIns="0" tIns="0" rIns="0" bIns="0" rtlCol="0" anchor="ctr"/>
          <a:lstStyle/>
          <a:p>
            <a:pPr marL="0" indent="0">
              <a:buNone/>
            </a:pPr>
            <a:r>
              <a:rPr lang="en-US" sz="1700" b="1" dirty="0">
                <a:solidFill>
                  <a:srgbClr val="5F6670"/>
                </a:solidFill>
                <a:latin typeface="Calibri" pitchFamily="34" charset="0"/>
                <a:ea typeface="Calibri" pitchFamily="34" charset="-122"/>
                <a:cs typeface="Calibri" pitchFamily="34" charset="-120"/>
              </a:rPr>
              <a:t>Règles métier, diagramme d'états</a:t>
            </a:r>
            <a:endParaRPr lang="en-US" sz="1700" dirty="0"/>
          </a:p>
        </p:txBody>
      </p:sp>
      <p:sp>
        <p:nvSpPr>
          <p:cNvPr id="15" name="Shape 12"/>
          <p:cNvSpPr/>
          <p:nvPr/>
        </p:nvSpPr>
        <p:spPr>
          <a:xfrm>
            <a:off x="640080" y="3319272"/>
            <a:ext cx="10911535" cy="0"/>
          </a:xfrm>
          <a:prstGeom prst="line">
            <a:avLst/>
          </a:prstGeom>
          <a:noFill/>
          <a:ln w="12700">
            <a:solidFill>
              <a:srgbClr val="D9DCE1"/>
            </a:solidFill>
            <a:prstDash val="solid"/>
          </a:ln>
        </p:spPr>
        <p:txBody>
          <a:bodyPr/>
          <a:lstStyle/>
          <a:p>
            <a:endParaRPr lang="fr-BE"/>
          </a:p>
        </p:txBody>
      </p:sp>
      <p:sp>
        <p:nvSpPr>
          <p:cNvPr id="16" name="Text 13"/>
          <p:cNvSpPr txBox="1"/>
          <p:nvPr/>
        </p:nvSpPr>
        <p:spPr>
          <a:xfrm>
            <a:off x="640080" y="3383280"/>
            <a:ext cx="548640" cy="640080"/>
          </a:xfrm>
          <a:prstGeom prst="rect">
            <a:avLst/>
          </a:prstGeom>
          <a:noFill/>
          <a:ln/>
        </p:spPr>
        <p:txBody>
          <a:bodyPr wrap="square" lIns="0" tIns="0" rIns="0" bIns="0" rtlCol="0" anchor="ctr"/>
          <a:lstStyle/>
          <a:p>
            <a:pPr marL="0" indent="0">
              <a:buNone/>
            </a:pPr>
            <a:r>
              <a:rPr lang="en-US" sz="2400" b="1" dirty="0">
                <a:solidFill>
                  <a:srgbClr val="E8590C"/>
                </a:solidFill>
                <a:latin typeface="Arial" pitchFamily="34" charset="0"/>
                <a:ea typeface="Arial" pitchFamily="34" charset="-122"/>
                <a:cs typeface="Arial" pitchFamily="34" charset="-120"/>
              </a:rPr>
              <a:t>3</a:t>
            </a:r>
            <a:endParaRPr lang="en-US" sz="2400" dirty="0"/>
          </a:p>
        </p:txBody>
      </p:sp>
      <p:sp>
        <p:nvSpPr>
          <p:cNvPr id="17" name="Text 14"/>
          <p:cNvSpPr txBox="1"/>
          <p:nvPr/>
        </p:nvSpPr>
        <p:spPr>
          <a:xfrm>
            <a:off x="1280160" y="3383280"/>
            <a:ext cx="5029200" cy="640080"/>
          </a:xfrm>
          <a:prstGeom prst="rect">
            <a:avLst/>
          </a:prstGeom>
          <a:noFill/>
          <a:ln/>
        </p:spPr>
        <p:txBody>
          <a:bodyPr wrap="square" lIns="0" tIns="0" rIns="0" bIns="0" rtlCol="0" anchor="ctr"/>
          <a:lstStyle/>
          <a:p>
            <a:pPr marL="0" indent="0">
              <a:buNone/>
            </a:pPr>
            <a:r>
              <a:rPr lang="en-US" sz="1800" dirty="0">
                <a:solidFill>
                  <a:srgbClr val="16181D"/>
                </a:solidFill>
                <a:latin typeface="Consolas" pitchFamily="34" charset="0"/>
                <a:ea typeface="Consolas" pitchFamily="34" charset="-122"/>
                <a:cs typeface="Consolas" pitchFamily="34" charset="-120"/>
              </a:rPr>
              <a:t>Gravité en string</a:t>
            </a:r>
            <a:endParaRPr lang="en-US" sz="1800" dirty="0"/>
          </a:p>
        </p:txBody>
      </p:sp>
      <p:sp>
        <p:nvSpPr>
          <p:cNvPr id="18" name="Text 15"/>
          <p:cNvSpPr txBox="1"/>
          <p:nvPr/>
        </p:nvSpPr>
        <p:spPr>
          <a:xfrm>
            <a:off x="6583680" y="3383280"/>
            <a:ext cx="4937760" cy="640080"/>
          </a:xfrm>
          <a:prstGeom prst="rect">
            <a:avLst/>
          </a:prstGeom>
          <a:noFill/>
          <a:ln/>
        </p:spPr>
        <p:txBody>
          <a:bodyPr wrap="square" lIns="0" tIns="0" rIns="0" bIns="0" rtlCol="0" anchor="ctr"/>
          <a:lstStyle/>
          <a:p>
            <a:pPr marL="0" indent="0">
              <a:buNone/>
            </a:pPr>
            <a:r>
              <a:rPr lang="en-US" sz="1700" b="1" dirty="0">
                <a:solidFill>
                  <a:srgbClr val="5F6670"/>
                </a:solidFill>
                <a:latin typeface="Calibri" pitchFamily="34" charset="0"/>
                <a:ea typeface="Calibri" pitchFamily="34" charset="-122"/>
                <a:cs typeface="Calibri" pitchFamily="34" charset="-120"/>
              </a:rPr>
              <a:t>Enum</a:t>
            </a:r>
            <a:endParaRPr lang="en-US" sz="1700" dirty="0"/>
          </a:p>
        </p:txBody>
      </p:sp>
      <p:sp>
        <p:nvSpPr>
          <p:cNvPr id="19" name="Shape 16"/>
          <p:cNvSpPr/>
          <p:nvPr/>
        </p:nvSpPr>
        <p:spPr>
          <a:xfrm>
            <a:off x="640080" y="4096512"/>
            <a:ext cx="10911535" cy="0"/>
          </a:xfrm>
          <a:prstGeom prst="line">
            <a:avLst/>
          </a:prstGeom>
          <a:noFill/>
          <a:ln w="12700">
            <a:solidFill>
              <a:srgbClr val="D9DCE1"/>
            </a:solidFill>
            <a:prstDash val="solid"/>
          </a:ln>
        </p:spPr>
        <p:txBody>
          <a:bodyPr/>
          <a:lstStyle/>
          <a:p>
            <a:endParaRPr lang="fr-BE"/>
          </a:p>
        </p:txBody>
      </p:sp>
      <p:sp>
        <p:nvSpPr>
          <p:cNvPr id="20" name="Text 17"/>
          <p:cNvSpPr txBox="1"/>
          <p:nvPr/>
        </p:nvSpPr>
        <p:spPr>
          <a:xfrm>
            <a:off x="640080" y="4160520"/>
            <a:ext cx="548640" cy="640080"/>
          </a:xfrm>
          <a:prstGeom prst="rect">
            <a:avLst/>
          </a:prstGeom>
          <a:noFill/>
          <a:ln/>
        </p:spPr>
        <p:txBody>
          <a:bodyPr wrap="square" lIns="0" tIns="0" rIns="0" bIns="0" rtlCol="0" anchor="ctr"/>
          <a:lstStyle/>
          <a:p>
            <a:pPr marL="0" indent="0">
              <a:buNone/>
            </a:pPr>
            <a:r>
              <a:rPr lang="en-US" sz="2400" b="1" dirty="0">
                <a:solidFill>
                  <a:srgbClr val="E8590C"/>
                </a:solidFill>
                <a:latin typeface="Arial" pitchFamily="34" charset="0"/>
                <a:ea typeface="Arial" pitchFamily="34" charset="-122"/>
                <a:cs typeface="Arial" pitchFamily="34" charset="-120"/>
              </a:rPr>
              <a:t>4</a:t>
            </a:r>
            <a:endParaRPr lang="en-US" sz="2400" dirty="0"/>
          </a:p>
        </p:txBody>
      </p:sp>
      <p:sp>
        <p:nvSpPr>
          <p:cNvPr id="21" name="Text 18"/>
          <p:cNvSpPr txBox="1"/>
          <p:nvPr/>
        </p:nvSpPr>
        <p:spPr>
          <a:xfrm>
            <a:off x="1280160" y="4160520"/>
            <a:ext cx="5029200" cy="640080"/>
          </a:xfrm>
          <a:prstGeom prst="rect">
            <a:avLst/>
          </a:prstGeom>
          <a:noFill/>
          <a:ln/>
        </p:spPr>
        <p:txBody>
          <a:bodyPr wrap="square" lIns="0" tIns="0" rIns="0" bIns="0" rtlCol="0" anchor="ctr"/>
          <a:lstStyle/>
          <a:p>
            <a:pPr marL="0" indent="0">
              <a:buNone/>
            </a:pPr>
            <a:r>
              <a:rPr lang="en-US" sz="1800" dirty="0">
                <a:solidFill>
                  <a:srgbClr val="16181D"/>
                </a:solidFill>
                <a:latin typeface="Consolas" pitchFamily="34" charset="0"/>
                <a:ea typeface="Consolas" pitchFamily="34" charset="-122"/>
                <a:cs typeface="Consolas" pitchFamily="34" charset="-120"/>
              </a:rPr>
              <a:t>Aucune validation du titre</a:t>
            </a:r>
            <a:endParaRPr lang="en-US" sz="1800" dirty="0"/>
          </a:p>
        </p:txBody>
      </p:sp>
      <p:sp>
        <p:nvSpPr>
          <p:cNvPr id="22" name="Text 19"/>
          <p:cNvSpPr txBox="1"/>
          <p:nvPr/>
        </p:nvSpPr>
        <p:spPr>
          <a:xfrm>
            <a:off x="6583680" y="4160520"/>
            <a:ext cx="4937760" cy="640080"/>
          </a:xfrm>
          <a:prstGeom prst="rect">
            <a:avLst/>
          </a:prstGeom>
          <a:noFill/>
          <a:ln/>
        </p:spPr>
        <p:txBody>
          <a:bodyPr wrap="square" lIns="0" tIns="0" rIns="0" bIns="0" rtlCol="0" anchor="ctr"/>
          <a:lstStyle/>
          <a:p>
            <a:pPr marL="0" indent="0">
              <a:buNone/>
            </a:pPr>
            <a:r>
              <a:rPr lang="en-US" sz="1700" b="1" dirty="0">
                <a:solidFill>
                  <a:srgbClr val="5F6670"/>
                </a:solidFill>
                <a:latin typeface="Calibri" pitchFamily="34" charset="0"/>
                <a:ea typeface="Calibri" pitchFamily="34" charset="-122"/>
                <a:cs typeface="Calibri" pitchFamily="34" charset="-120"/>
              </a:rPr>
              <a:t>Constructeur, contrainte {non vide}</a:t>
            </a:r>
            <a:endParaRPr lang="en-US" sz="1700" dirty="0"/>
          </a:p>
        </p:txBody>
      </p:sp>
      <p:sp>
        <p:nvSpPr>
          <p:cNvPr id="23" name="Shape 20"/>
          <p:cNvSpPr/>
          <p:nvPr/>
        </p:nvSpPr>
        <p:spPr>
          <a:xfrm>
            <a:off x="640080" y="4873752"/>
            <a:ext cx="10911535" cy="0"/>
          </a:xfrm>
          <a:prstGeom prst="line">
            <a:avLst/>
          </a:prstGeom>
          <a:noFill/>
          <a:ln w="12700">
            <a:solidFill>
              <a:srgbClr val="D9DCE1"/>
            </a:solidFill>
            <a:prstDash val="solid"/>
          </a:ln>
        </p:spPr>
        <p:txBody>
          <a:bodyPr/>
          <a:lstStyle/>
          <a:p>
            <a:endParaRPr lang="fr-BE"/>
          </a:p>
        </p:txBody>
      </p:sp>
      <p:sp>
        <p:nvSpPr>
          <p:cNvPr id="24" name="Text 21"/>
          <p:cNvSpPr txBox="1"/>
          <p:nvPr/>
        </p:nvSpPr>
        <p:spPr>
          <a:xfrm>
            <a:off x="640080" y="4937760"/>
            <a:ext cx="548640" cy="640080"/>
          </a:xfrm>
          <a:prstGeom prst="rect">
            <a:avLst/>
          </a:prstGeom>
          <a:noFill/>
          <a:ln/>
        </p:spPr>
        <p:txBody>
          <a:bodyPr wrap="square" lIns="0" tIns="0" rIns="0" bIns="0" rtlCol="0" anchor="ctr"/>
          <a:lstStyle/>
          <a:p>
            <a:pPr marL="0" indent="0">
              <a:buNone/>
            </a:pPr>
            <a:r>
              <a:rPr lang="en-US" sz="2400" b="1" dirty="0">
                <a:solidFill>
                  <a:srgbClr val="E8590C"/>
                </a:solidFill>
                <a:latin typeface="Arial" pitchFamily="34" charset="0"/>
                <a:ea typeface="Arial" pitchFamily="34" charset="-122"/>
                <a:cs typeface="Arial" pitchFamily="34" charset="-120"/>
              </a:rPr>
              <a:t>5</a:t>
            </a:r>
            <a:endParaRPr lang="en-US" sz="2400" dirty="0"/>
          </a:p>
        </p:txBody>
      </p:sp>
      <p:sp>
        <p:nvSpPr>
          <p:cNvPr id="25" name="Text 22"/>
          <p:cNvSpPr txBox="1"/>
          <p:nvPr/>
        </p:nvSpPr>
        <p:spPr>
          <a:xfrm>
            <a:off x="1280160" y="4937760"/>
            <a:ext cx="5029200" cy="640080"/>
          </a:xfrm>
          <a:prstGeom prst="rect">
            <a:avLst/>
          </a:prstGeom>
          <a:noFill/>
          <a:ln/>
        </p:spPr>
        <p:txBody>
          <a:bodyPr wrap="square" lIns="0" tIns="0" rIns="0" bIns="0" rtlCol="0" anchor="ctr"/>
          <a:lstStyle/>
          <a:p>
            <a:pPr marL="0" indent="0">
              <a:buNone/>
            </a:pPr>
            <a:r>
              <a:rPr lang="en-US" sz="1800" dirty="0">
                <a:solidFill>
                  <a:srgbClr val="16181D"/>
                </a:solidFill>
                <a:latin typeface="Consolas" pitchFamily="34" charset="0"/>
                <a:ea typeface="Consolas" pitchFamily="34" charset="-122"/>
                <a:cs typeface="Consolas" pitchFamily="34" charset="-120"/>
              </a:rPr>
              <a:t>DateTime.Now</a:t>
            </a:r>
            <a:endParaRPr lang="en-US" sz="1800" dirty="0"/>
          </a:p>
        </p:txBody>
      </p:sp>
      <p:sp>
        <p:nvSpPr>
          <p:cNvPr id="26" name="Text 23"/>
          <p:cNvSpPr txBox="1"/>
          <p:nvPr/>
        </p:nvSpPr>
        <p:spPr>
          <a:xfrm>
            <a:off x="6583680" y="4937760"/>
            <a:ext cx="4937760" cy="640080"/>
          </a:xfrm>
          <a:prstGeom prst="rect">
            <a:avLst/>
          </a:prstGeom>
          <a:noFill/>
          <a:ln/>
        </p:spPr>
        <p:txBody>
          <a:bodyPr wrap="square" lIns="0" tIns="0" rIns="0" bIns="0" rtlCol="0" anchor="ctr"/>
          <a:lstStyle/>
          <a:p>
            <a:pPr marL="0" indent="0">
              <a:buNone/>
            </a:pPr>
            <a:r>
              <a:rPr lang="en-US" sz="1700" b="1" dirty="0">
                <a:solidFill>
                  <a:srgbClr val="5F6670"/>
                </a:solidFill>
                <a:latin typeface="Calibri" pitchFamily="34" charset="0"/>
                <a:ea typeface="Calibri" pitchFamily="34" charset="-122"/>
                <a:cs typeface="Calibri" pitchFamily="34" charset="-120"/>
              </a:rPr>
              <a:t>Heure locale : ambiguë et difficile à tester</a:t>
            </a:r>
            <a:endParaRPr lang="en-US" sz="1700" dirty="0"/>
          </a:p>
        </p:txBody>
      </p:sp>
      <p:sp>
        <p:nvSpPr>
          <p:cNvPr id="27" name="Shape 24"/>
          <p:cNvSpPr/>
          <p:nvPr/>
        </p:nvSpPr>
        <p:spPr>
          <a:xfrm>
            <a:off x="640080" y="5650992"/>
            <a:ext cx="10911535" cy="0"/>
          </a:xfrm>
          <a:prstGeom prst="line">
            <a:avLst/>
          </a:prstGeom>
          <a:noFill/>
          <a:ln w="12700">
            <a:solidFill>
              <a:srgbClr val="D9DCE1"/>
            </a:solidFill>
            <a:prstDash val="solid"/>
          </a:ln>
        </p:spPr>
        <p:txBody>
          <a:bodyPr/>
          <a:lstStyle/>
          <a:p>
            <a:endParaRPr lang="fr-BE"/>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PROMPT 2</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La demande structurée</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79</a:t>
            </a:r>
            <a:endParaRPr lang="en-US" sz="1000" dirty="0"/>
          </a:p>
        </p:txBody>
      </p:sp>
      <p:sp>
        <p:nvSpPr>
          <p:cNvPr id="8" name="Shape 5"/>
          <p:cNvSpPr/>
          <p:nvPr/>
        </p:nvSpPr>
        <p:spPr>
          <a:xfrm>
            <a:off x="640080" y="1783080"/>
            <a:ext cx="7680960" cy="3566160"/>
          </a:xfrm>
          <a:prstGeom prst="roundRect">
            <a:avLst>
              <a:gd name="adj" fmla="val 2051"/>
            </a:avLst>
          </a:prstGeom>
          <a:solidFill>
            <a:srgbClr val="1E2127"/>
          </a:solidFill>
          <a:ln w="12700">
            <a:solidFill>
              <a:srgbClr val="1E2127"/>
            </a:solidFill>
            <a:prstDash val="solid"/>
          </a:ln>
        </p:spPr>
        <p:txBody>
          <a:bodyPr/>
          <a:lstStyle/>
          <a:p>
            <a:endParaRPr lang="fr-BE"/>
          </a:p>
        </p:txBody>
      </p:sp>
      <p:sp>
        <p:nvSpPr>
          <p:cNvPr id="9" name="Text 6"/>
          <p:cNvSpPr txBox="1"/>
          <p:nvPr/>
        </p:nvSpPr>
        <p:spPr>
          <a:xfrm>
            <a:off x="914400" y="2011680"/>
            <a:ext cx="7132320" cy="3108960"/>
          </a:xfrm>
          <a:prstGeom prst="rect">
            <a:avLst/>
          </a:prstGeom>
          <a:noFill/>
          <a:ln/>
        </p:spPr>
        <p:txBody>
          <a:bodyPr wrap="square" lIns="0" tIns="0" rIns="0" bIns="0" rtlCol="0" anchor="t"/>
          <a:lstStyle/>
          <a:p>
            <a:pPr marL="0" indent="0">
              <a:buNone/>
            </a:pPr>
            <a:r>
              <a:rPr lang="en-US" sz="1600" dirty="0">
                <a:solidFill>
                  <a:srgbClr val="E6E6E6"/>
                </a:solidFill>
                <a:latin typeface="Consolas" pitchFamily="34" charset="0"/>
                <a:ea typeface="Consolas" pitchFamily="34" charset="-122"/>
                <a:cs typeface="Consolas" pitchFamily="34" charset="-120"/>
              </a:rPr>
              <a:t>Tu es développeur C# senior.</a:t>
            </a:r>
            <a:endParaRPr lang="en-US" sz="1600" dirty="0"/>
          </a:p>
          <a:p>
            <a:pPr marL="0" indent="0">
              <a:buNone/>
            </a:pPr>
            <a:r>
              <a:rPr lang="en-US" sz="1600" dirty="0">
                <a:solidFill>
                  <a:srgbClr val="E6E6E6"/>
                </a:solidFill>
                <a:latin typeface="Consolas" pitchFamily="34" charset="0"/>
                <a:ea typeface="Consolas" pitchFamily="34" charset="-122"/>
                <a:cs typeface="Consolas" pitchFamily="34" charset="-120"/>
              </a:rPr>
              <a:t>Crée une classe Incident (.NET 10) :</a:t>
            </a:r>
            <a:endParaRPr lang="en-US" sz="1600" dirty="0"/>
          </a:p>
          <a:p>
            <a:pPr marL="0" indent="0">
              <a:buNone/>
            </a:pPr>
            <a:r>
              <a:rPr lang="en-US" sz="1600" dirty="0">
                <a:solidFill>
                  <a:srgbClr val="E6E6E6"/>
                </a:solidFill>
                <a:latin typeface="Consolas" pitchFamily="34" charset="0"/>
                <a:ea typeface="Consolas" pitchFamily="34" charset="-122"/>
                <a:cs typeface="Consolas" pitchFamily="34" charset="-120"/>
              </a:rPr>
              <a:t>- pas de setter public</a:t>
            </a:r>
            <a:endParaRPr lang="en-US" sz="1600" dirty="0"/>
          </a:p>
          <a:p>
            <a:pPr marL="0" indent="0">
              <a:buNone/>
            </a:pPr>
            <a:r>
              <a:rPr lang="en-US" sz="1600" dirty="0">
                <a:solidFill>
                  <a:srgbClr val="E6E6E6"/>
                </a:solidFill>
                <a:latin typeface="Consolas" pitchFamily="34" charset="0"/>
                <a:ea typeface="Consolas" pitchFamily="34" charset="-122"/>
                <a:cs typeface="Consolas" pitchFamily="34" charset="-120"/>
              </a:rPr>
              <a:t>- un enum Severity : Low, Medium, High, Critical</a:t>
            </a:r>
            <a:endParaRPr lang="en-US" sz="1600" dirty="0"/>
          </a:p>
          <a:p>
            <a:pPr marL="0" indent="0">
              <a:buNone/>
            </a:pPr>
            <a:r>
              <a:rPr lang="en-US" sz="1600" dirty="0">
                <a:solidFill>
                  <a:srgbClr val="E6E6E6"/>
                </a:solidFill>
                <a:latin typeface="Consolas" pitchFamily="34" charset="0"/>
                <a:ea typeface="Consolas" pitchFamily="34" charset="-122"/>
                <a:cs typeface="Consolas" pitchFamily="34" charset="-120"/>
              </a:rPr>
              <a:t>- transitions autorisées uniquement :</a:t>
            </a:r>
            <a:endParaRPr lang="en-US" sz="1600" dirty="0"/>
          </a:p>
          <a:p>
            <a:pPr marL="0" indent="0">
              <a:buNone/>
            </a:pPr>
            <a:r>
              <a:rPr lang="en-US" sz="1600" dirty="0">
                <a:solidFill>
                  <a:srgbClr val="E6E6E6"/>
                </a:solidFill>
                <a:latin typeface="Consolas" pitchFamily="34" charset="0"/>
                <a:ea typeface="Consolas" pitchFamily="34" charset="-122"/>
                <a:cs typeface="Consolas" pitchFamily="34" charset="-120"/>
              </a:rPr>
              <a:t>  Open -&gt; InProgress -&gt; Resolved -&gt; Closed</a:t>
            </a:r>
            <a:endParaRPr lang="en-US" sz="1600" dirty="0"/>
          </a:p>
          <a:p>
            <a:pPr marL="0" indent="0">
              <a:buNone/>
            </a:pPr>
            <a:r>
              <a:rPr lang="en-US" sz="1600" dirty="0">
                <a:solidFill>
                  <a:srgbClr val="E6E6E6"/>
                </a:solidFill>
                <a:latin typeface="Consolas" pitchFamily="34" charset="0"/>
                <a:ea typeface="Consolas" pitchFamily="34" charset="-122"/>
                <a:cs typeface="Consolas" pitchFamily="34" charset="-120"/>
              </a:rPr>
              <a:t>- un titre vide est refusé</a:t>
            </a:r>
            <a:endParaRPr lang="en-US" sz="1600" dirty="0"/>
          </a:p>
          <a:p>
            <a:pPr marL="0" indent="0">
              <a:buNone/>
            </a:pPr>
            <a:r>
              <a:rPr lang="en-US" sz="1600" dirty="0">
                <a:solidFill>
                  <a:srgbClr val="E6E6E6"/>
                </a:solidFill>
                <a:latin typeface="Consolas" pitchFamily="34" charset="0"/>
                <a:ea typeface="Consolas" pitchFamily="34" charset="-122"/>
                <a:cs typeface="Consolas" pitchFamily="34" charset="-120"/>
              </a:rPr>
              <a:t>Explique chaque choix en une ligne.</a:t>
            </a:r>
            <a:endParaRPr lang="en-US" sz="1600" dirty="0"/>
          </a:p>
        </p:txBody>
      </p:sp>
      <p:sp>
        <p:nvSpPr>
          <p:cNvPr id="10" name="Shape 7"/>
          <p:cNvSpPr/>
          <p:nvPr/>
        </p:nvSpPr>
        <p:spPr>
          <a:xfrm>
            <a:off x="8595360" y="1783080"/>
            <a:ext cx="2926080" cy="1005840"/>
          </a:xfrm>
          <a:prstGeom prst="roundRect">
            <a:avLst>
              <a:gd name="adj" fmla="val 7273"/>
            </a:avLst>
          </a:prstGeom>
          <a:solidFill>
            <a:srgbClr val="F2F3F5"/>
          </a:solidFill>
          <a:ln w="12700">
            <a:solidFill>
              <a:srgbClr val="F2F3F5"/>
            </a:solidFill>
            <a:prstDash val="solid"/>
          </a:ln>
        </p:spPr>
        <p:txBody>
          <a:bodyPr/>
          <a:lstStyle/>
          <a:p>
            <a:endParaRPr lang="fr-BE"/>
          </a:p>
        </p:txBody>
      </p:sp>
      <p:sp>
        <p:nvSpPr>
          <p:cNvPr id="11" name="Text 8"/>
          <p:cNvSpPr txBox="1"/>
          <p:nvPr/>
        </p:nvSpPr>
        <p:spPr>
          <a:xfrm>
            <a:off x="8778240" y="1874520"/>
            <a:ext cx="2651760" cy="411480"/>
          </a:xfrm>
          <a:prstGeom prst="rect">
            <a:avLst/>
          </a:prstGeom>
          <a:noFill/>
          <a:ln/>
        </p:spPr>
        <p:txBody>
          <a:bodyPr wrap="square" lIns="0" tIns="0" rIns="0" bIns="0" rtlCol="0" anchor="ctr"/>
          <a:lstStyle/>
          <a:p>
            <a:pPr marL="0" indent="0">
              <a:buNone/>
            </a:pPr>
            <a:r>
              <a:rPr lang="en-US" sz="1700" b="1" dirty="0">
                <a:solidFill>
                  <a:srgbClr val="16181D"/>
                </a:solidFill>
                <a:latin typeface="Arial" pitchFamily="34" charset="0"/>
                <a:ea typeface="Arial" pitchFamily="34" charset="-122"/>
                <a:cs typeface="Arial" pitchFamily="34" charset="-120"/>
              </a:rPr>
              <a:t>Contexte</a:t>
            </a:r>
            <a:endParaRPr lang="en-US" sz="1700" dirty="0"/>
          </a:p>
        </p:txBody>
      </p:sp>
      <p:sp>
        <p:nvSpPr>
          <p:cNvPr id="12" name="Text 9"/>
          <p:cNvSpPr txBox="1"/>
          <p:nvPr/>
        </p:nvSpPr>
        <p:spPr>
          <a:xfrm>
            <a:off x="8778240" y="2286000"/>
            <a:ext cx="2651760" cy="365760"/>
          </a:xfrm>
          <a:prstGeom prst="rect">
            <a:avLst/>
          </a:prstGeom>
          <a:noFill/>
          <a:ln/>
        </p:spPr>
        <p:txBody>
          <a:bodyPr wrap="square" lIns="0" tIns="0" rIns="0" bIns="0" rtlCol="0" anchor="ctr"/>
          <a:lstStyle/>
          <a:p>
            <a:pPr marL="0" indent="0">
              <a:buNone/>
            </a:pPr>
            <a:r>
              <a:rPr lang="en-US" sz="1400" dirty="0">
                <a:solidFill>
                  <a:srgbClr val="5F6670"/>
                </a:solidFill>
                <a:latin typeface="Calibri" pitchFamily="34" charset="0"/>
                <a:ea typeface="Calibri" pitchFamily="34" charset="-122"/>
                <a:cs typeface="Calibri" pitchFamily="34" charset="-120"/>
              </a:rPr>
              <a:t>Qui, quelle techno</a:t>
            </a:r>
            <a:endParaRPr lang="en-US" sz="1400" dirty="0"/>
          </a:p>
        </p:txBody>
      </p:sp>
      <p:sp>
        <p:nvSpPr>
          <p:cNvPr id="13" name="Shape 10"/>
          <p:cNvSpPr/>
          <p:nvPr/>
        </p:nvSpPr>
        <p:spPr>
          <a:xfrm>
            <a:off x="8595360" y="2971800"/>
            <a:ext cx="2926080" cy="1005840"/>
          </a:xfrm>
          <a:prstGeom prst="roundRect">
            <a:avLst>
              <a:gd name="adj" fmla="val 7273"/>
            </a:avLst>
          </a:prstGeom>
          <a:solidFill>
            <a:srgbClr val="F2F3F5"/>
          </a:solidFill>
          <a:ln w="12700">
            <a:solidFill>
              <a:srgbClr val="F2F3F5"/>
            </a:solidFill>
            <a:prstDash val="solid"/>
          </a:ln>
        </p:spPr>
        <p:txBody>
          <a:bodyPr/>
          <a:lstStyle/>
          <a:p>
            <a:endParaRPr lang="fr-BE"/>
          </a:p>
        </p:txBody>
      </p:sp>
      <p:sp>
        <p:nvSpPr>
          <p:cNvPr id="14" name="Text 11"/>
          <p:cNvSpPr txBox="1"/>
          <p:nvPr/>
        </p:nvSpPr>
        <p:spPr>
          <a:xfrm>
            <a:off x="8778240" y="3063240"/>
            <a:ext cx="2651760" cy="411480"/>
          </a:xfrm>
          <a:prstGeom prst="rect">
            <a:avLst/>
          </a:prstGeom>
          <a:noFill/>
          <a:ln/>
        </p:spPr>
        <p:txBody>
          <a:bodyPr wrap="square" lIns="0" tIns="0" rIns="0" bIns="0" rtlCol="0" anchor="ctr"/>
          <a:lstStyle/>
          <a:p>
            <a:pPr marL="0" indent="0">
              <a:buNone/>
            </a:pPr>
            <a:r>
              <a:rPr lang="en-US" sz="1700" b="1" dirty="0">
                <a:solidFill>
                  <a:srgbClr val="16181D"/>
                </a:solidFill>
                <a:latin typeface="Arial" pitchFamily="34" charset="0"/>
                <a:ea typeface="Arial" pitchFamily="34" charset="-122"/>
                <a:cs typeface="Arial" pitchFamily="34" charset="-120"/>
              </a:rPr>
              <a:t>Contraintes</a:t>
            </a:r>
            <a:endParaRPr lang="en-US" sz="1700" dirty="0"/>
          </a:p>
        </p:txBody>
      </p:sp>
      <p:sp>
        <p:nvSpPr>
          <p:cNvPr id="15" name="Text 12"/>
          <p:cNvSpPr txBox="1"/>
          <p:nvPr/>
        </p:nvSpPr>
        <p:spPr>
          <a:xfrm>
            <a:off x="8778240" y="3474720"/>
            <a:ext cx="2651760" cy="365760"/>
          </a:xfrm>
          <a:prstGeom prst="rect">
            <a:avLst/>
          </a:prstGeom>
          <a:noFill/>
          <a:ln/>
        </p:spPr>
        <p:txBody>
          <a:bodyPr wrap="square" lIns="0" tIns="0" rIns="0" bIns="0" rtlCol="0" anchor="ctr"/>
          <a:lstStyle/>
          <a:p>
            <a:pPr marL="0" indent="0">
              <a:buNone/>
            </a:pPr>
            <a:r>
              <a:rPr lang="en-US" sz="1400" dirty="0">
                <a:solidFill>
                  <a:srgbClr val="5F6670"/>
                </a:solidFill>
                <a:latin typeface="Calibri" pitchFamily="34" charset="0"/>
                <a:ea typeface="Calibri" pitchFamily="34" charset="-122"/>
                <a:cs typeface="Calibri" pitchFamily="34" charset="-120"/>
              </a:rPr>
              <a:t>Nos règles métier</a:t>
            </a:r>
            <a:endParaRPr lang="en-US" sz="1400" dirty="0"/>
          </a:p>
        </p:txBody>
      </p:sp>
      <p:sp>
        <p:nvSpPr>
          <p:cNvPr id="16" name="Shape 13"/>
          <p:cNvSpPr/>
          <p:nvPr/>
        </p:nvSpPr>
        <p:spPr>
          <a:xfrm>
            <a:off x="8595360" y="4160520"/>
            <a:ext cx="2926080" cy="1005840"/>
          </a:xfrm>
          <a:prstGeom prst="roundRect">
            <a:avLst>
              <a:gd name="adj" fmla="val 7273"/>
            </a:avLst>
          </a:prstGeom>
          <a:solidFill>
            <a:srgbClr val="F2F3F5"/>
          </a:solidFill>
          <a:ln w="12700">
            <a:solidFill>
              <a:srgbClr val="F2F3F5"/>
            </a:solidFill>
            <a:prstDash val="solid"/>
          </a:ln>
        </p:spPr>
        <p:txBody>
          <a:bodyPr/>
          <a:lstStyle/>
          <a:p>
            <a:endParaRPr lang="fr-BE"/>
          </a:p>
        </p:txBody>
      </p:sp>
      <p:sp>
        <p:nvSpPr>
          <p:cNvPr id="17" name="Text 14"/>
          <p:cNvSpPr txBox="1"/>
          <p:nvPr/>
        </p:nvSpPr>
        <p:spPr>
          <a:xfrm>
            <a:off x="8778240" y="4251960"/>
            <a:ext cx="2651760" cy="411480"/>
          </a:xfrm>
          <a:prstGeom prst="rect">
            <a:avLst/>
          </a:prstGeom>
          <a:noFill/>
          <a:ln/>
        </p:spPr>
        <p:txBody>
          <a:bodyPr wrap="square" lIns="0" tIns="0" rIns="0" bIns="0" rtlCol="0" anchor="ctr"/>
          <a:lstStyle/>
          <a:p>
            <a:pPr marL="0" indent="0">
              <a:buNone/>
            </a:pPr>
            <a:r>
              <a:rPr lang="en-US" sz="1700" b="1" dirty="0">
                <a:solidFill>
                  <a:srgbClr val="16181D"/>
                </a:solidFill>
                <a:latin typeface="Arial" pitchFamily="34" charset="0"/>
                <a:ea typeface="Arial" pitchFamily="34" charset="-122"/>
                <a:cs typeface="Arial" pitchFamily="34" charset="-120"/>
              </a:rPr>
              <a:t>Vérification</a:t>
            </a:r>
            <a:endParaRPr lang="en-US" sz="1700" dirty="0"/>
          </a:p>
        </p:txBody>
      </p:sp>
      <p:sp>
        <p:nvSpPr>
          <p:cNvPr id="18" name="Text 15"/>
          <p:cNvSpPr txBox="1"/>
          <p:nvPr/>
        </p:nvSpPr>
        <p:spPr>
          <a:xfrm>
            <a:off x="8778240" y="4663440"/>
            <a:ext cx="2651760" cy="365760"/>
          </a:xfrm>
          <a:prstGeom prst="rect">
            <a:avLst/>
          </a:prstGeom>
          <a:noFill/>
          <a:ln/>
        </p:spPr>
        <p:txBody>
          <a:bodyPr wrap="square" lIns="0" tIns="0" rIns="0" bIns="0" rtlCol="0" anchor="ctr"/>
          <a:lstStyle/>
          <a:p>
            <a:pPr marL="0" indent="0">
              <a:buNone/>
            </a:pPr>
            <a:r>
              <a:rPr lang="en-US" sz="1400" dirty="0">
                <a:solidFill>
                  <a:srgbClr val="5F6670"/>
                </a:solidFill>
                <a:latin typeface="Calibri" pitchFamily="34" charset="0"/>
                <a:ea typeface="Calibri" pitchFamily="34" charset="-122"/>
                <a:cs typeface="Calibri" pitchFamily="34" charset="-120"/>
              </a:rPr>
              <a:t>Explique tes choix</a:t>
            </a:r>
            <a:endParaRPr lang="en-US" sz="1400" dirty="0"/>
          </a:p>
        </p:txBody>
      </p:sp>
      <p:sp>
        <p:nvSpPr>
          <p:cNvPr id="19" name="Text 16"/>
          <p:cNvSpPr txBox="1"/>
          <p:nvPr/>
        </p:nvSpPr>
        <p:spPr>
          <a:xfrm>
            <a:off x="640080" y="5532120"/>
            <a:ext cx="10911535" cy="411480"/>
          </a:xfrm>
          <a:prstGeom prst="rect">
            <a:avLst/>
          </a:prstGeom>
          <a:noFill/>
          <a:ln/>
        </p:spPr>
        <p:txBody>
          <a:bodyPr wrap="square" lIns="0" tIns="0" rIns="0" bIns="0" rtlCol="0" anchor="ctr"/>
          <a:lstStyle/>
          <a:p>
            <a:pPr marL="0" indent="0">
              <a:buNone/>
            </a:pPr>
            <a:r>
              <a:rPr lang="en-US" sz="1600" b="1" dirty="0">
                <a:solidFill>
                  <a:srgbClr val="E8590C"/>
                </a:solidFill>
                <a:latin typeface="Consolas" pitchFamily="34" charset="0"/>
                <a:ea typeface="Consolas" pitchFamily="34" charset="-122"/>
                <a:cs typeface="Consolas" pitchFamily="34" charset="-120"/>
              </a:rPr>
              <a:t>RIDER  ·  git checkout demo/s01-ia-structure</a:t>
            </a:r>
            <a:endParaRPr lang="en-US" sz="16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16181D"/>
        </a:solidFill>
        <a:effectLst/>
      </p:bgPr>
    </p:bg>
    <p:spTree>
      <p:nvGrpSpPr>
        <p:cNvPr id="1" name=""/>
        <p:cNvGrpSpPr/>
        <p:nvPr/>
      </p:nvGrpSpPr>
      <p:grpSpPr>
        <a:xfrm>
          <a:off x="0" y="0"/>
          <a:ext cx="0" cy="0"/>
          <a:chOff x="0" y="0"/>
          <a:chExt cx="0" cy="0"/>
        </a:xfrm>
      </p:grpSpPr>
      <p:sp>
        <p:nvSpPr>
          <p:cNvPr id="2" name="Text 0"/>
          <p:cNvSpPr txBox="1"/>
          <p:nvPr/>
        </p:nvSpPr>
        <p:spPr>
          <a:xfrm>
            <a:off x="640080" y="1097280"/>
            <a:ext cx="10911535" cy="457200"/>
          </a:xfrm>
          <a:prstGeom prst="rect">
            <a:avLst/>
          </a:prstGeom>
          <a:noFill/>
          <a:ln/>
        </p:spPr>
        <p:txBody>
          <a:bodyPr wrap="square" lIns="0" tIns="0" rIns="0" bIns="0" rtlCol="0" anchor="ctr"/>
          <a:lstStyle/>
          <a:p>
            <a:pPr marL="0" indent="0">
              <a:buNone/>
            </a:pPr>
            <a:r>
              <a:rPr lang="en-US" sz="1800" b="1" kern="0" spc="300" dirty="0">
                <a:solidFill>
                  <a:srgbClr val="E8590C"/>
                </a:solidFill>
                <a:latin typeface="Calibri" pitchFamily="34" charset="0"/>
                <a:ea typeface="Calibri" pitchFamily="34" charset="-122"/>
                <a:cs typeface="Calibri" pitchFamily="34" charset="-120"/>
              </a:rPr>
              <a:t>À retenir</a:t>
            </a:r>
            <a:endParaRPr lang="en-US" sz="1800" dirty="0"/>
          </a:p>
        </p:txBody>
      </p:sp>
      <p:sp>
        <p:nvSpPr>
          <p:cNvPr id="3" name="Text 1"/>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9AA0A8"/>
                </a:solidFill>
                <a:latin typeface="Calibri" pitchFamily="34" charset="0"/>
                <a:ea typeface="Calibri" pitchFamily="34" charset="-122"/>
                <a:cs typeface="Calibri" pitchFamily="34" charset="-120"/>
              </a:rPr>
              <a:t>Complément Application · S1</a:t>
            </a:r>
            <a:endParaRPr lang="en-US" sz="1000" dirty="0"/>
          </a:p>
        </p:txBody>
      </p:sp>
      <p:sp>
        <p:nvSpPr>
          <p:cNvPr id="4" name="Text 2"/>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9AA0A8"/>
                </a:solidFill>
                <a:latin typeface="Calibri" pitchFamily="34" charset="0"/>
                <a:ea typeface="Calibri" pitchFamily="34" charset="-122"/>
                <a:cs typeface="Calibri" pitchFamily="34" charset="-120"/>
              </a:rPr>
              <a:t>80</a:t>
            </a:r>
            <a:endParaRPr lang="en-US" sz="1000" dirty="0"/>
          </a:p>
        </p:txBody>
      </p:sp>
      <p:sp>
        <p:nvSpPr>
          <p:cNvPr id="6" name="Text 3"/>
          <p:cNvSpPr txBox="1"/>
          <p:nvPr/>
        </p:nvSpPr>
        <p:spPr>
          <a:xfrm>
            <a:off x="640080" y="1737360"/>
            <a:ext cx="10911535" cy="2743200"/>
          </a:xfrm>
          <a:prstGeom prst="rect">
            <a:avLst/>
          </a:prstGeom>
          <a:noFill/>
          <a:ln/>
        </p:spPr>
        <p:txBody>
          <a:bodyPr wrap="square" lIns="0" tIns="0" rIns="0" bIns="0" rtlCol="0" anchor="t"/>
          <a:lstStyle/>
          <a:p>
            <a:pPr marL="0" indent="0">
              <a:buNone/>
            </a:pPr>
            <a:r>
              <a:rPr lang="en-US" sz="4000" b="1" dirty="0">
                <a:solidFill>
                  <a:srgbClr val="FFFFFF"/>
                </a:solidFill>
                <a:latin typeface="Arial" pitchFamily="34" charset="0"/>
                <a:ea typeface="Arial" pitchFamily="34" charset="-122"/>
                <a:cs typeface="Arial" pitchFamily="34" charset="-120"/>
              </a:rPr>
              <a:t>L'IA ne connaît pas vos règles.</a:t>
            </a:r>
            <a:endParaRPr lang="en-US" sz="4000" dirty="0"/>
          </a:p>
          <a:p>
            <a:pPr marL="0" indent="0">
              <a:buNone/>
            </a:pPr>
            <a:r>
              <a:rPr lang="en-US" sz="4000" b="1" dirty="0">
                <a:solidFill>
                  <a:srgbClr val="FFFFFF"/>
                </a:solidFill>
                <a:latin typeface="Arial" pitchFamily="34" charset="0"/>
                <a:ea typeface="Arial" pitchFamily="34" charset="-122"/>
                <a:cs typeface="Arial" pitchFamily="34" charset="-120"/>
              </a:rPr>
              <a:t>C'est à vous de les lui donner,</a:t>
            </a:r>
            <a:endParaRPr lang="en-US" sz="4000" dirty="0"/>
          </a:p>
          <a:p>
            <a:pPr marL="0" indent="0">
              <a:buNone/>
            </a:pPr>
            <a:r>
              <a:rPr lang="en-US" sz="4000" b="1" dirty="0">
                <a:solidFill>
                  <a:srgbClr val="FFFFFF"/>
                </a:solidFill>
                <a:latin typeface="Arial" pitchFamily="34" charset="0"/>
                <a:ea typeface="Arial" pitchFamily="34" charset="-122"/>
                <a:cs typeface="Arial" pitchFamily="34" charset="-120"/>
              </a:rPr>
              <a:t>puis de vérifier qu'elle les a respectées.</a:t>
            </a:r>
            <a:endParaRPr lang="en-US" sz="4000" dirty="0"/>
          </a:p>
        </p:txBody>
      </p:sp>
      <p:sp>
        <p:nvSpPr>
          <p:cNvPr id="7" name="Text 4"/>
          <p:cNvSpPr txBox="1"/>
          <p:nvPr/>
        </p:nvSpPr>
        <p:spPr>
          <a:xfrm>
            <a:off x="640080" y="4663440"/>
            <a:ext cx="10911535" cy="914400"/>
          </a:xfrm>
          <a:prstGeom prst="rect">
            <a:avLst/>
          </a:prstGeom>
          <a:noFill/>
          <a:ln/>
        </p:spPr>
        <p:txBody>
          <a:bodyPr wrap="square" lIns="0" tIns="0" rIns="0" bIns="0" rtlCol="0" anchor="ctr"/>
          <a:lstStyle/>
          <a:p>
            <a:pPr marL="0" indent="0">
              <a:buNone/>
            </a:pPr>
            <a:r>
              <a:rPr lang="en-US" sz="2000" dirty="0">
                <a:solidFill>
                  <a:srgbClr val="C9CDD3"/>
                </a:solidFill>
                <a:latin typeface="Calibri" pitchFamily="34" charset="0"/>
                <a:ea typeface="Calibri" pitchFamily="34" charset="-122"/>
                <a:cs typeface="Calibri" pitchFamily="34" charset="-120"/>
              </a:rPr>
              <a:t>Le prompt structuré, c'est notre diagramme UML écrit en phrases. Pour vérifier, il faut comprendre : c'est pour ça qu'on apprend la POO.</a:t>
            </a:r>
            <a:endParaRPr lang="en-US" sz="20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POUR LA SÉANCE 2</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Avant mercredi prochain</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81</a:t>
            </a:r>
            <a:endParaRPr lang="en-US" sz="1000" dirty="0"/>
          </a:p>
        </p:txBody>
      </p:sp>
      <p:sp>
        <p:nvSpPr>
          <p:cNvPr id="8" name="Shape 5"/>
          <p:cNvSpPr/>
          <p:nvPr/>
        </p:nvSpPr>
        <p:spPr>
          <a:xfrm>
            <a:off x="640080" y="1920240"/>
            <a:ext cx="731520" cy="731520"/>
          </a:xfrm>
          <a:prstGeom prst="ellipse">
            <a:avLst/>
          </a:prstGeom>
          <a:solidFill>
            <a:srgbClr val="16181D"/>
          </a:solidFill>
          <a:ln w="12700">
            <a:solidFill>
              <a:srgbClr val="16181D"/>
            </a:solidFill>
            <a:prstDash val="solid"/>
          </a:ln>
        </p:spPr>
        <p:txBody>
          <a:bodyPr/>
          <a:lstStyle/>
          <a:p>
            <a:endParaRPr lang="fr-BE"/>
          </a:p>
        </p:txBody>
      </p:sp>
      <p:sp>
        <p:nvSpPr>
          <p:cNvPr id="9" name="Text 6"/>
          <p:cNvSpPr txBox="1"/>
          <p:nvPr/>
        </p:nvSpPr>
        <p:spPr>
          <a:xfrm>
            <a:off x="640080" y="1920240"/>
            <a:ext cx="731520" cy="73152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10" name="Text 7"/>
          <p:cNvSpPr txBox="1"/>
          <p:nvPr/>
        </p:nvSpPr>
        <p:spPr>
          <a:xfrm>
            <a:off x="1645920" y="1828800"/>
            <a:ext cx="9144000" cy="502920"/>
          </a:xfrm>
          <a:prstGeom prst="rect">
            <a:avLst/>
          </a:prstGeom>
          <a:noFill/>
          <a:ln/>
        </p:spPr>
        <p:txBody>
          <a:bodyPr wrap="square" lIns="0" tIns="0" rIns="0" bIns="0" rtlCol="0" anchor="ctr"/>
          <a:lstStyle/>
          <a:p>
            <a:pPr marL="0" indent="0">
              <a:buNone/>
            </a:pPr>
            <a:r>
              <a:rPr lang="en-US" sz="2200" b="1" dirty="0">
                <a:solidFill>
                  <a:srgbClr val="16181D"/>
                </a:solidFill>
                <a:latin typeface="Arial" pitchFamily="34" charset="0"/>
                <a:ea typeface="Arial" pitchFamily="34" charset="-122"/>
                <a:cs typeface="Arial" pitchFamily="34" charset="-120"/>
              </a:rPr>
              <a:t>Installer .NET 10 et Rider</a:t>
            </a:r>
            <a:endParaRPr lang="en-US" sz="2200" dirty="0"/>
          </a:p>
        </p:txBody>
      </p:sp>
      <p:sp>
        <p:nvSpPr>
          <p:cNvPr id="11" name="Text 8"/>
          <p:cNvSpPr txBox="1"/>
          <p:nvPr/>
        </p:nvSpPr>
        <p:spPr>
          <a:xfrm>
            <a:off x="1645920" y="2331720"/>
            <a:ext cx="9144000" cy="457200"/>
          </a:xfrm>
          <a:prstGeom prst="rect">
            <a:avLst/>
          </a:prstGeom>
          <a:noFill/>
          <a:ln/>
        </p:spPr>
        <p:txBody>
          <a:bodyPr wrap="square" lIns="0" tIns="0" rIns="0" bIns="0" rtlCol="0" anchor="ctr"/>
          <a:lstStyle/>
          <a:p>
            <a:pPr marL="0" indent="0">
              <a:buNone/>
            </a:pPr>
            <a:r>
              <a:rPr lang="en-US" sz="1700" dirty="0">
                <a:solidFill>
                  <a:srgbClr val="5F6670"/>
                </a:solidFill>
                <a:latin typeface="Calibri" pitchFamily="34" charset="0"/>
                <a:ea typeface="Calibri" pitchFamily="34" charset="-122"/>
                <a:cs typeface="Calibri" pitchFamily="34" charset="-120"/>
              </a:rPr>
              <a:t>Guides dans Teams. Bloqué ? Canal Entraide.</a:t>
            </a:r>
            <a:endParaRPr lang="en-US" sz="1700" dirty="0"/>
          </a:p>
        </p:txBody>
      </p:sp>
      <p:sp>
        <p:nvSpPr>
          <p:cNvPr id="12" name="Shape 9"/>
          <p:cNvSpPr/>
          <p:nvPr/>
        </p:nvSpPr>
        <p:spPr>
          <a:xfrm>
            <a:off x="640080" y="3200400"/>
            <a:ext cx="731520" cy="731520"/>
          </a:xfrm>
          <a:prstGeom prst="ellipse">
            <a:avLst/>
          </a:prstGeom>
          <a:solidFill>
            <a:srgbClr val="16181D"/>
          </a:solidFill>
          <a:ln w="12700">
            <a:solidFill>
              <a:srgbClr val="16181D"/>
            </a:solidFill>
            <a:prstDash val="solid"/>
          </a:ln>
        </p:spPr>
        <p:txBody>
          <a:bodyPr/>
          <a:lstStyle/>
          <a:p>
            <a:endParaRPr lang="fr-BE"/>
          </a:p>
        </p:txBody>
      </p:sp>
      <p:sp>
        <p:nvSpPr>
          <p:cNvPr id="13" name="Text 10"/>
          <p:cNvSpPr txBox="1"/>
          <p:nvPr/>
        </p:nvSpPr>
        <p:spPr>
          <a:xfrm>
            <a:off x="640080" y="3200400"/>
            <a:ext cx="731520" cy="73152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14" name="Text 11"/>
          <p:cNvSpPr txBox="1"/>
          <p:nvPr/>
        </p:nvSpPr>
        <p:spPr>
          <a:xfrm>
            <a:off x="1645920" y="3108960"/>
            <a:ext cx="9144000" cy="502920"/>
          </a:xfrm>
          <a:prstGeom prst="rect">
            <a:avLst/>
          </a:prstGeom>
          <a:noFill/>
          <a:ln/>
        </p:spPr>
        <p:txBody>
          <a:bodyPr wrap="square" lIns="0" tIns="0" rIns="0" bIns="0" rtlCol="0" anchor="ctr"/>
          <a:lstStyle/>
          <a:p>
            <a:pPr marL="0" indent="0">
              <a:buNone/>
            </a:pPr>
            <a:r>
              <a:rPr lang="en-US" sz="2200" b="1" dirty="0">
                <a:solidFill>
                  <a:srgbClr val="16181D"/>
                </a:solidFill>
                <a:latin typeface="Arial" pitchFamily="34" charset="0"/>
                <a:ea typeface="Arial" pitchFamily="34" charset="-122"/>
                <a:cs typeface="Arial" pitchFamily="34" charset="-120"/>
              </a:rPr>
              <a:t>Vérifier que ça marche</a:t>
            </a:r>
            <a:endParaRPr lang="en-US" sz="2200" dirty="0"/>
          </a:p>
        </p:txBody>
      </p:sp>
      <p:sp>
        <p:nvSpPr>
          <p:cNvPr id="15" name="Text 12"/>
          <p:cNvSpPr txBox="1"/>
          <p:nvPr/>
        </p:nvSpPr>
        <p:spPr>
          <a:xfrm>
            <a:off x="1645920" y="3611880"/>
            <a:ext cx="9144000" cy="457200"/>
          </a:xfrm>
          <a:prstGeom prst="rect">
            <a:avLst/>
          </a:prstGeom>
          <a:noFill/>
          <a:ln/>
        </p:spPr>
        <p:txBody>
          <a:bodyPr wrap="square" lIns="0" tIns="0" rIns="0" bIns="0" rtlCol="0" anchor="ctr"/>
          <a:lstStyle/>
          <a:p>
            <a:pPr marL="0" indent="0">
              <a:buNone/>
            </a:pPr>
            <a:r>
              <a:rPr lang="en-US" sz="1700" dirty="0">
                <a:solidFill>
                  <a:srgbClr val="5F6670"/>
                </a:solidFill>
                <a:latin typeface="Calibri" pitchFamily="34" charset="0"/>
                <a:ea typeface="Calibri" pitchFamily="34" charset="-122"/>
                <a:cs typeface="Calibri" pitchFamily="34" charset="-120"/>
              </a:rPr>
              <a:t>Créer un projet console, lancer Hello World.</a:t>
            </a:r>
            <a:endParaRPr lang="en-US" sz="1700" dirty="0"/>
          </a:p>
        </p:txBody>
      </p:sp>
      <p:sp>
        <p:nvSpPr>
          <p:cNvPr id="16" name="Shape 13"/>
          <p:cNvSpPr/>
          <p:nvPr/>
        </p:nvSpPr>
        <p:spPr>
          <a:xfrm>
            <a:off x="640080" y="4480560"/>
            <a:ext cx="731520" cy="731520"/>
          </a:xfrm>
          <a:prstGeom prst="ellipse">
            <a:avLst/>
          </a:prstGeom>
          <a:solidFill>
            <a:srgbClr val="16181D"/>
          </a:solidFill>
          <a:ln w="12700">
            <a:solidFill>
              <a:srgbClr val="16181D"/>
            </a:solidFill>
            <a:prstDash val="solid"/>
          </a:ln>
        </p:spPr>
        <p:txBody>
          <a:bodyPr/>
          <a:lstStyle/>
          <a:p>
            <a:endParaRPr lang="fr-BE"/>
          </a:p>
        </p:txBody>
      </p:sp>
      <p:sp>
        <p:nvSpPr>
          <p:cNvPr id="17" name="Text 14"/>
          <p:cNvSpPr txBox="1"/>
          <p:nvPr/>
        </p:nvSpPr>
        <p:spPr>
          <a:xfrm>
            <a:off x="640080" y="4480560"/>
            <a:ext cx="731520" cy="73152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18" name="Text 15"/>
          <p:cNvSpPr txBox="1"/>
          <p:nvPr/>
        </p:nvSpPr>
        <p:spPr>
          <a:xfrm>
            <a:off x="1645920" y="4389120"/>
            <a:ext cx="9144000" cy="502920"/>
          </a:xfrm>
          <a:prstGeom prst="rect">
            <a:avLst/>
          </a:prstGeom>
          <a:noFill/>
          <a:ln/>
        </p:spPr>
        <p:txBody>
          <a:bodyPr wrap="square" lIns="0" tIns="0" rIns="0" bIns="0" rtlCol="0" anchor="ctr"/>
          <a:lstStyle/>
          <a:p>
            <a:pPr marL="0" indent="0">
              <a:buNone/>
            </a:pPr>
            <a:r>
              <a:rPr lang="en-US" sz="2200" b="1" dirty="0">
                <a:solidFill>
                  <a:srgbClr val="16181D"/>
                </a:solidFill>
                <a:latin typeface="Arial" pitchFamily="34" charset="0"/>
                <a:ea typeface="Arial" pitchFamily="34" charset="-122"/>
                <a:cs typeface="Arial" pitchFamily="34" charset="-120"/>
              </a:rPr>
              <a:t>Relire les slides de la séance</a:t>
            </a:r>
            <a:endParaRPr lang="en-US" sz="2200" dirty="0"/>
          </a:p>
        </p:txBody>
      </p:sp>
      <p:sp>
        <p:nvSpPr>
          <p:cNvPr id="19" name="Text 16"/>
          <p:cNvSpPr txBox="1"/>
          <p:nvPr/>
        </p:nvSpPr>
        <p:spPr>
          <a:xfrm>
            <a:off x="1645920" y="4892040"/>
            <a:ext cx="9144000" cy="457200"/>
          </a:xfrm>
          <a:prstGeom prst="rect">
            <a:avLst/>
          </a:prstGeom>
          <a:noFill/>
          <a:ln/>
        </p:spPr>
        <p:txBody>
          <a:bodyPr wrap="square" lIns="0" tIns="0" rIns="0" bIns="0" rtlCol="0" anchor="ctr"/>
          <a:lstStyle/>
          <a:p>
            <a:pPr marL="0" indent="0">
              <a:buNone/>
            </a:pPr>
            <a:r>
              <a:rPr lang="en-US" sz="1700" dirty="0">
                <a:solidFill>
                  <a:srgbClr val="5F6670"/>
                </a:solidFill>
                <a:latin typeface="Calibri" pitchFamily="34" charset="0"/>
                <a:ea typeface="Calibri" pitchFamily="34" charset="-122"/>
                <a:cs typeface="Calibri" pitchFamily="34" charset="-120"/>
              </a:rPr>
              <a:t>Classe et objet, encapsulation, enum, notation UML.</a:t>
            </a:r>
            <a:endParaRPr lang="en-US" sz="17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896112" y="457200"/>
            <a:ext cx="8229600" cy="365760"/>
          </a:xfrm>
          <a:prstGeom prst="rect">
            <a:avLst/>
          </a:prstGeom>
          <a:noFill/>
          <a:ln/>
        </p:spPr>
        <p:txBody>
          <a:bodyPr wrap="square" lIns="0" tIns="0" rIns="0" bIns="0" rtlCol="0" anchor="ctr"/>
          <a:lstStyle/>
          <a:p>
            <a:pPr marL="0" indent="0">
              <a:buNone/>
            </a:pPr>
            <a:r>
              <a:rPr lang="en-US" sz="1200" b="1" kern="0" spc="200" dirty="0">
                <a:solidFill>
                  <a:srgbClr val="5F6670"/>
                </a:solidFill>
                <a:latin typeface="Calibri" pitchFamily="34" charset="0"/>
                <a:ea typeface="Calibri" pitchFamily="34" charset="-122"/>
                <a:cs typeface="Calibri" pitchFamily="34" charset="-120"/>
              </a:rPr>
              <a:t>CLÔTURE</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marL="0" indent="0">
              <a:buNone/>
            </a:pPr>
            <a:r>
              <a:rPr lang="en-US" sz="3200" b="1" dirty="0">
                <a:solidFill>
                  <a:srgbClr val="16181D"/>
                </a:solidFill>
                <a:latin typeface="Arial" pitchFamily="34" charset="0"/>
                <a:ea typeface="Arial" pitchFamily="34" charset="-122"/>
                <a:cs typeface="Arial" pitchFamily="34" charset="-120"/>
              </a:rPr>
              <a:t>Check-in et QCM de rodage · 5 minutes</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marL="0" indent="0">
              <a:buNone/>
            </a:pPr>
            <a:r>
              <a:rPr lang="en-US" sz="1000" dirty="0">
                <a:solidFill>
                  <a:srgbClr val="5F6670"/>
                </a:solidFill>
                <a:latin typeface="Calibri" pitchFamily="34" charset="0"/>
                <a:ea typeface="Calibri" pitchFamily="34" charset="-122"/>
                <a:cs typeface="Calibri" pitchFamily="34" charset="-120"/>
              </a:rPr>
              <a:t>Complément Application · S1</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5F6670"/>
                </a:solidFill>
                <a:latin typeface="Calibri" pitchFamily="34" charset="0"/>
                <a:ea typeface="Calibri" pitchFamily="34" charset="-122"/>
                <a:cs typeface="Calibri" pitchFamily="34" charset="-120"/>
              </a:rPr>
              <a:t>82</a:t>
            </a:r>
            <a:endParaRPr lang="en-US" sz="1000" dirty="0"/>
          </a:p>
        </p:txBody>
      </p:sp>
      <p:sp>
        <p:nvSpPr>
          <p:cNvPr id="8" name="Text 5"/>
          <p:cNvSpPr txBox="1"/>
          <p:nvPr/>
        </p:nvSpPr>
        <p:spPr>
          <a:xfrm>
            <a:off x="640080" y="1920240"/>
            <a:ext cx="10911535" cy="731520"/>
          </a:xfrm>
          <a:prstGeom prst="rect">
            <a:avLst/>
          </a:prstGeom>
          <a:noFill/>
          <a:ln/>
        </p:spPr>
        <p:txBody>
          <a:bodyPr wrap="square" lIns="0" tIns="0" rIns="0" bIns="0" rtlCol="0" anchor="ctr"/>
          <a:lstStyle/>
          <a:p>
            <a:pPr marL="0" indent="0">
              <a:buNone/>
            </a:pPr>
            <a:r>
              <a:rPr lang="en-US" sz="3000" b="1" dirty="0">
                <a:solidFill>
                  <a:srgbClr val="E8590C"/>
                </a:solidFill>
                <a:latin typeface="Arial" pitchFamily="34" charset="0"/>
                <a:ea typeface="Arial" pitchFamily="34" charset="-122"/>
                <a:cs typeface="Arial" pitchFamily="34" charset="-120"/>
              </a:rPr>
              <a:t>Lien dans le chat.</a:t>
            </a:r>
            <a:endParaRPr lang="en-US" sz="3000" dirty="0"/>
          </a:p>
        </p:txBody>
      </p:sp>
      <p:sp>
        <p:nvSpPr>
          <p:cNvPr id="9" name="Text 6"/>
          <p:cNvSpPr txBox="1"/>
          <p:nvPr/>
        </p:nvSpPr>
        <p:spPr>
          <a:xfrm>
            <a:off x="640080" y="2926080"/>
            <a:ext cx="7315200" cy="2377440"/>
          </a:xfrm>
          <a:prstGeom prst="rect">
            <a:avLst/>
          </a:prstGeom>
          <a:noFill/>
          <a:ln/>
        </p:spPr>
        <p:txBody>
          <a:bodyPr wrap="square" lIns="0" tIns="0" rIns="0" bIns="0" rtlCol="0" anchor="t"/>
          <a:lstStyle/>
          <a:p>
            <a:pPr marL="228600" indent="-228600">
              <a:spcAft>
                <a:spcPts val="800"/>
              </a:spcAft>
              <a:buSzPct val="100000"/>
              <a:buChar char="•"/>
            </a:pPr>
            <a:r>
              <a:rPr lang="en-US" sz="2200" dirty="0">
                <a:solidFill>
                  <a:srgbClr val="16181D"/>
                </a:solidFill>
                <a:latin typeface="Calibri" pitchFamily="34" charset="0"/>
                <a:ea typeface="Calibri" pitchFamily="34" charset="-122"/>
                <a:cs typeface="Calibri" pitchFamily="34" charset="-120"/>
              </a:rPr>
              <a:t>Votre présence du jour</a:t>
            </a:r>
            <a:endParaRPr lang="en-US" sz="2200" dirty="0"/>
          </a:p>
          <a:p>
            <a:pPr marL="228600" indent="-228600">
              <a:spcAft>
                <a:spcPts val="800"/>
              </a:spcAft>
              <a:buSzPct val="100000"/>
              <a:buChar char="•"/>
            </a:pPr>
            <a:r>
              <a:rPr lang="en-US" sz="2200" dirty="0">
                <a:solidFill>
                  <a:srgbClr val="16181D"/>
                </a:solidFill>
                <a:latin typeface="Calibri" pitchFamily="34" charset="0"/>
                <a:ea typeface="Calibri" pitchFamily="34" charset="-122"/>
                <a:cs typeface="Calibri" pitchFamily="34" charset="-120"/>
              </a:rPr>
              <a:t>6 questions sur la séance</a:t>
            </a:r>
            <a:endParaRPr lang="en-US" sz="2200" dirty="0"/>
          </a:p>
          <a:p>
            <a:pPr marL="228600" indent="-228600">
              <a:spcAft>
                <a:spcPts val="800"/>
              </a:spcAft>
              <a:buSzPct val="100000"/>
              <a:buChar char="•"/>
            </a:pPr>
            <a:r>
              <a:rPr lang="en-US" sz="2200" dirty="0">
                <a:solidFill>
                  <a:srgbClr val="16181D"/>
                </a:solidFill>
                <a:latin typeface="Calibri" pitchFamily="34" charset="0"/>
                <a:ea typeface="Calibri" pitchFamily="34" charset="-122"/>
                <a:cs typeface="Calibri" pitchFamily="34" charset="-120"/>
              </a:rPr>
              <a:t>Aujourd'hui : non coté, c'est un rodage</a:t>
            </a:r>
            <a:endParaRPr lang="en-US" sz="2200" dirty="0"/>
          </a:p>
          <a:p>
            <a:pPr marL="228600" indent="-228600">
              <a:spcAft>
                <a:spcPts val="800"/>
              </a:spcAft>
              <a:buSzPct val="100000"/>
              <a:buChar char="•"/>
            </a:pPr>
            <a:r>
              <a:rPr lang="en-US" sz="2200" dirty="0">
                <a:solidFill>
                  <a:srgbClr val="16181D"/>
                </a:solidFill>
                <a:latin typeface="Calibri" pitchFamily="34" charset="0"/>
                <a:ea typeface="Calibri" pitchFamily="34" charset="-122"/>
                <a:cs typeface="Calibri" pitchFamily="34" charset="-120"/>
              </a:rPr>
              <a:t>À partir de la séance 2 : ça compte</a:t>
            </a:r>
            <a:endParaRPr lang="en-US" sz="22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640080" y="2286000"/>
            <a:ext cx="274320" cy="274320"/>
          </a:xfrm>
          <a:prstGeom prst="rect">
            <a:avLst/>
          </a:prstGeom>
          <a:solidFill>
            <a:srgbClr val="E8590C"/>
          </a:solidFill>
          <a:ln w="12700">
            <a:solidFill>
              <a:srgbClr val="E8590C"/>
            </a:solidFill>
            <a:prstDash val="solid"/>
          </a:ln>
        </p:spPr>
        <p:txBody>
          <a:bodyPr/>
          <a:lstStyle/>
          <a:p>
            <a:endParaRPr lang="fr-BE"/>
          </a:p>
        </p:txBody>
      </p:sp>
      <p:sp>
        <p:nvSpPr>
          <p:cNvPr id="3" name="Text 1"/>
          <p:cNvSpPr txBox="1"/>
          <p:nvPr/>
        </p:nvSpPr>
        <p:spPr>
          <a:xfrm>
            <a:off x="640080" y="2743200"/>
            <a:ext cx="10911535" cy="914400"/>
          </a:xfrm>
          <a:prstGeom prst="rect">
            <a:avLst/>
          </a:prstGeom>
          <a:noFill/>
          <a:ln/>
        </p:spPr>
        <p:txBody>
          <a:bodyPr wrap="square" lIns="0" tIns="0" rIns="0" bIns="0" rtlCol="0" anchor="ctr"/>
          <a:lstStyle/>
          <a:p>
            <a:pPr marL="0" indent="0">
              <a:buNone/>
            </a:pPr>
            <a:r>
              <a:rPr lang="en-US" sz="4400" b="1" dirty="0">
                <a:solidFill>
                  <a:srgbClr val="FFFFFF"/>
                </a:solidFill>
                <a:latin typeface="Arial" pitchFamily="34" charset="0"/>
                <a:ea typeface="Arial" pitchFamily="34" charset="-122"/>
                <a:cs typeface="Arial" pitchFamily="34" charset="-120"/>
              </a:rPr>
              <a:t>Merci. À mercredi prochain.</a:t>
            </a:r>
            <a:endParaRPr lang="en-US" sz="4400" dirty="0"/>
          </a:p>
        </p:txBody>
      </p:sp>
      <p:sp>
        <p:nvSpPr>
          <p:cNvPr id="4" name="Text 2"/>
          <p:cNvSpPr txBox="1"/>
          <p:nvPr/>
        </p:nvSpPr>
        <p:spPr>
          <a:xfrm>
            <a:off x="640080" y="3749040"/>
            <a:ext cx="10911535" cy="548640"/>
          </a:xfrm>
          <a:prstGeom prst="rect">
            <a:avLst/>
          </a:prstGeom>
          <a:noFill/>
          <a:ln/>
        </p:spPr>
        <p:txBody>
          <a:bodyPr wrap="square" lIns="0" tIns="0" rIns="0" bIns="0" rtlCol="0" anchor="ctr"/>
          <a:lstStyle/>
          <a:p>
            <a:pPr marL="0" indent="0">
              <a:buNone/>
            </a:pPr>
            <a:r>
              <a:rPr lang="en-US" sz="2000" dirty="0">
                <a:solidFill>
                  <a:srgbClr val="C9CDD3"/>
                </a:solidFill>
                <a:latin typeface="Calibri" pitchFamily="34" charset="0"/>
                <a:ea typeface="Calibri" pitchFamily="34" charset="-122"/>
                <a:cs typeface="Calibri" pitchFamily="34" charset="-120"/>
              </a:rPr>
              <a:t>Séance 2 · POO avancée : héritage, interfaces, polymorphisme, cas d'utilisation</a:t>
            </a:r>
            <a:endParaRPr lang="en-US" sz="2000" dirty="0"/>
          </a:p>
        </p:txBody>
      </p:sp>
      <p:sp>
        <p:nvSpPr>
          <p:cNvPr id="5" name="Text 3"/>
          <p:cNvSpPr txBox="1"/>
          <p:nvPr/>
        </p:nvSpPr>
        <p:spPr>
          <a:xfrm>
            <a:off x="640080" y="5303520"/>
            <a:ext cx="10911535" cy="365760"/>
          </a:xfrm>
          <a:prstGeom prst="rect">
            <a:avLst/>
          </a:prstGeom>
          <a:noFill/>
          <a:ln/>
        </p:spPr>
        <p:txBody>
          <a:bodyPr wrap="square" lIns="0" tIns="0" rIns="0" bIns="0" rtlCol="0" anchor="ctr"/>
          <a:lstStyle/>
          <a:p>
            <a:pPr marL="0" indent="0">
              <a:buNone/>
            </a:pPr>
            <a:r>
              <a:rPr lang="en-US" sz="1400" dirty="0">
                <a:solidFill>
                  <a:srgbClr val="9AA0A8"/>
                </a:solidFill>
                <a:latin typeface="Calibri" pitchFamily="34" charset="0"/>
                <a:ea typeface="Calibri" pitchFamily="34" charset="-122"/>
                <a:cs typeface="Calibri" pitchFamily="34" charset="-120"/>
              </a:rPr>
              <a:t>Questions : canal Teams du cours</a:t>
            </a:r>
            <a:endParaRPr lang="en-US" sz="14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marL="0" indent="0" algn="r">
              <a:buNone/>
            </a:pPr>
            <a:r>
              <a:rPr lang="en-US" sz="1000" dirty="0">
                <a:solidFill>
                  <a:srgbClr val="9AA0A8"/>
                </a:solidFill>
                <a:latin typeface="Calibri" pitchFamily="34" charset="0"/>
                <a:ea typeface="Calibri" pitchFamily="34" charset="-122"/>
                <a:cs typeface="Calibri" pitchFamily="34" charset="-120"/>
              </a:rPr>
              <a:t>83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929</TotalTime>
  <Words>12337</Words>
  <Application>Microsoft Office PowerPoint</Application>
  <PresentationFormat>Grand écran</PresentationFormat>
  <Paragraphs>1269</Paragraphs>
  <Slides>83</Slides>
  <Notes>83</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83</vt:i4>
      </vt:variant>
    </vt:vector>
  </HeadingPairs>
  <TitlesOfParts>
    <vt:vector size="87" baseType="lpstr">
      <vt:lpstr>Arial</vt:lpstr>
      <vt:lpstr>Calibri</vt:lpstr>
      <vt:lpstr>Consolas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Complément Application — Séance 1</dc:title>
  <dc:subject>PptxGenJS Presentation</dc:subject>
  <dc:creator>Ludwig Lebrun</dc:creator>
  <cp:lastModifiedBy>Ludwig Lebrun</cp:lastModifiedBy>
  <cp:revision>3</cp:revision>
  <dcterms:created xsi:type="dcterms:W3CDTF">2026-09-23T14:59:40Z</dcterms:created>
  <dcterms:modified xsi:type="dcterms:W3CDTF">2026-09-30T17:32:23Z</dcterms:modified>
</cp:coreProperties>
</file>